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21154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p1｜Title Slide</a:t>
            </a:r>
          </a:p>
          <a:p>
            <a:endParaRPr/>
          </a:p>
          <a:p>
            <a:r>
              <a:t>Good morning, professors and colleagues. I am Chih-Wei Chen from National Taiwan University. Today, we examine an essential clinical dilemma: why opening an occluded coronary artery with a stent is only the very first step in secondary prevention.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p2｜Case Presentation</a:t>
            </a:r>
          </a:p>
          <a:p>
            <a:endParaRPr/>
          </a:p>
          <a:p>
            <a:r>
              <a:t>Meet our patient, Mr. Hong, a forty-eight-year-old gentleman rushed to the ER with a severe anterior wall myocardial infarction.</a:t>
            </a:r>
          </a:p>
          <a:p>
            <a:r>
              <a:t>The cardiac team performed an exemplary job: within thirty-eight minutes, door-to-balloon time, they placed a forty-eight-millimeter drug-eluting stent and restored full TIMI three flow.</a:t>
            </a:r>
          </a:p>
          <a:p>
            <a:r>
              <a:t>However, admission lab results revealed an LDL cholesterol of 173 milligrams per deciliter. While the stent fixed a forty-eight-millimeter segment, this high systemic cholesterol continues to endanger the rest of his coronary tree.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p3｜Plaque Biology</a:t>
            </a:r>
          </a:p>
          <a:p>
            <a:endParaRPr/>
          </a:p>
          <a:p>
            <a:r>
              <a:t>To protect Mr. Hong, we must clearly distinguish between a local vascular fix and a systemic disease process.</a:t>
            </a:r>
          </a:p>
          <a:p>
            <a:r>
              <a:t>His stent covers forty-eight millimeters. But the coronary arterial tree extends over one thousand millimeters. Stenting clears only five percent of his vessels.</a:t>
            </a:r>
          </a:p>
          <a:p>
            <a:r>
              <a:t>In the PROSPECT trial, half of all recurrent heart attacks occurred at non-stented sites. High circulating LDL particles continuously infiltrate the vessel wall, creating fragile plaques that can rupture at any moment.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p4｜Target &lt; 55 mg/dL</a:t>
            </a:r>
          </a:p>
          <a:p>
            <a:endParaRPr/>
          </a:p>
          <a:p>
            <a:r>
              <a:t>What is our evidence-based goal for Mr. Hong? The latest 2026 ACC and AHA guidelines mandate two strict rules for very-high-risk patients.</a:t>
            </a:r>
          </a:p>
          <a:p>
            <a:r>
              <a:t>First, achieve at least a fifty percent reduction from baseline. Second, reach an absolute LDL level below fifty-five milligrams per deciliter.</a:t>
            </a:r>
          </a:p>
          <a:p>
            <a:r>
              <a:t>Why below fifty-five? Intravascular ultrasound trials prove that atherosclerotic plaques stop growing and actually regress only when LDL drops below this critical threshold.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p5｜Mediterranean Nutrition</a:t>
            </a:r>
          </a:p>
          <a:p>
            <a:endParaRPr/>
          </a:p>
          <a:p>
            <a:r>
              <a:t>Before adding drugs, non-pharmacological management is the indispensable foundation for every heart attack patient.</a:t>
            </a:r>
          </a:p>
          <a:p>
            <a:r>
              <a:t>First, dietary changes: shifting to a Mediterranean diet, eliminating trans fats, and adding soluble fiber and plant stanols can lower circulating LDL by ten to fifteen percent.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p6｜Cardiac Rehab</a:t>
            </a:r>
          </a:p>
          <a:p>
            <a:endParaRPr/>
          </a:p>
          <a:p>
            <a:r>
              <a:t>Second, structured cardiac rehabilitation and smoking cessation: exercising 150 minutes weekly cuts cardiovascular mortality by 26 percent and helps stabilize plaques.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p7｜The 31.5 mg/dL Gap</a:t>
            </a:r>
          </a:p>
          <a:p>
            <a:endParaRPr/>
          </a:p>
          <a:p>
            <a:r>
              <a:t>Let us calculate the clinical math for Mr. Hong on standard statin therapy.</a:t>
            </a:r>
          </a:p>
          <a:p>
            <a:r>
              <a:t>His baseline LDL is 173. A high-intensity statin lowers LDL by 50 percent, bringing him down to 86.5 milligrams per deciliter.</a:t>
            </a:r>
          </a:p>
          <a:p>
            <a:r>
              <a:t>However, our target is below fifty-five. That leaves a persistent gap of over thirty-one milligrams. Doubling the statin dose only yields six percent more reduction. Monotherapy simply cannot get him to goal.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p8｜Dual Pathway</a:t>
            </a:r>
          </a:p>
          <a:p>
            <a:endParaRPr/>
          </a:p>
          <a:p>
            <a:r>
              <a:t>How do we bridge this gap? By combining two complementary biological pathways.</a:t>
            </a:r>
          </a:p>
          <a:p>
            <a:r>
              <a:t>The statin stops the liver from synthesizing cholesterol. Ezetimibe blocks the gut from absorbing cholesterol through the NPC1L1 transporter. Together, they provide a sixty-five percent drop.</a:t>
            </a:r>
          </a:p>
          <a:p>
            <a:r>
              <a:t>The recent Ez-PAVE and IMPROVE-IT trials demonstrated that starting combination therapy upfront before discharge doubles goal achievement without increasing adverse events.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p9｜PCSK9 Inhibitors</a:t>
            </a:r>
          </a:p>
          <a:p>
            <a:endParaRPr/>
          </a:p>
          <a:p>
            <a:r>
              <a:t>What if Mr. Hong's LDL remains above fifty-five at follow-up? We deploy our third weapon: a PCSK9 inhibitor.</a:t>
            </a:r>
          </a:p>
          <a:p>
            <a:r>
              <a:t>PCSK9 is a protein that destroys LDL receptors in the liver. By blocking PCSK9 with an injectable monoclonal antibody, receptors survive to recycle over one hundred times, clearing massive amounts of LDL from the blood.</a:t>
            </a:r>
          </a:p>
          <a:p>
            <a:r>
              <a:t>In the FOURIER and ODYSSEY trials, adding a PCSK9 inhibitor produced an extra sixty percent drop, pushing LDL down to thirty or forty and slashing secondary heart attacks.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p10｜Clinical Roadmap</a:t>
            </a:r>
          </a:p>
          <a:p>
            <a:endParaRPr/>
          </a:p>
          <a:p>
            <a:r>
              <a:t>Here is Mr. Hong's complete clinical roadmap from acute admission to lifelong survival.</a:t>
            </a:r>
          </a:p>
          <a:p>
            <a:r>
              <a:t>In the acute phase, we place the stent, start combination statin plus ezetimibe before discharge, and begin bedside lifestyle and rehab counseling.</a:t>
            </a:r>
          </a:p>
          <a:p>
            <a:r>
              <a:t>In the subacute phase at week four, we recheck his lipid panel. If he is not below fifty-five, we escalate to a PCSK9 inhibitor immediately.</a:t>
            </a:r>
          </a:p>
          <a:p>
            <a:r>
              <a:t>In the chronic phase, maintaining low LDL and regular exercise ensures permanent plaque stabilization and long-term survival.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p11｜Clinical Outcome</a:t>
            </a:r>
          </a:p>
          <a:p>
            <a:endParaRPr/>
          </a:p>
          <a:p>
            <a:r>
              <a:t>To conclude, Mr. Hong's case illustrates the vital synergy of lifestyle and modern lipid pharmacology.</a:t>
            </a:r>
          </a:p>
          <a:p>
            <a:r>
              <a:t>With upfront statin plus ezetimibe and cardiac rehabilitation, Mr. Hong's six-week LDL reached fifty-two milligrams per deciliter, beating our target.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p12｜Conclusion</a:t>
            </a:r>
          </a:p>
          <a:p>
            <a:endParaRPr/>
          </a:p>
          <a:p>
            <a:r>
              <a:t>Thank you very much for your time. You can scan the QR code to review the interactive deck on your phone. I look forward to your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slide" Target="slide10.xml"/><Relationship Id="rId4" Type="http://schemas.openxmlformats.org/officeDocument/2006/relationships/slide" Target="slide5.xml"/></Relationships>
</file>

<file path=ppt/slides/_rels/slide2.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slide" Target="slide10.xml"/><Relationship Id="rId5" Type="http://schemas.openxmlformats.org/officeDocument/2006/relationships/slide" Target="slide5.xml"/><Relationship Id="rId4" Type="http://schemas.openxmlformats.org/officeDocument/2006/relationships/slide" Target="slide4.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slide" Target="slide10.xml"/><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slide" Target="slide5.xml"/><Relationship Id="rId5" Type="http://schemas.openxmlformats.org/officeDocument/2006/relationships/slide" Target="slide4.xml"/><Relationship Id="rId4" Type="http://schemas.openxmlformats.org/officeDocument/2006/relationships/slide" Target="slide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slide" Target="slide10.xml"/><Relationship Id="rId5" Type="http://schemas.openxmlformats.org/officeDocument/2006/relationships/slide" Target="slide5.xml"/><Relationship Id="rId4" Type="http://schemas.openxmlformats.org/officeDocument/2006/relationships/slide" Target="slide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slide" Target="slide10.xml"/><Relationship Id="rId5" Type="http://schemas.openxmlformats.org/officeDocument/2006/relationships/slide" Target="slide4.xml"/><Relationship Id="rId4" Type="http://schemas.openxmlformats.org/officeDocument/2006/relationships/slide" Target="slide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slide" Target="slide10.xml"/><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slide" Target="slide5.xml"/><Relationship Id="rId5" Type="http://schemas.openxmlformats.org/officeDocument/2006/relationships/slide" Target="slide4.xml"/><Relationship Id="rId4" Type="http://schemas.openxmlformats.org/officeDocument/2006/relationships/slide" Target="slide1.xml"/></Relationships>
</file>

<file path=ppt/slides/_rels/slide7.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slide" Target="slide10.xml"/><Relationship Id="rId5" Type="http://schemas.openxmlformats.org/officeDocument/2006/relationships/slide" Target="slide5.xml"/><Relationship Id="rId4" Type="http://schemas.openxmlformats.org/officeDocument/2006/relationships/slide" Target="slide4.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slide" Target="slide10.xml"/><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slide" Target="slide5.xml"/><Relationship Id="rId5" Type="http://schemas.openxmlformats.org/officeDocument/2006/relationships/slide" Target="slide4.xml"/><Relationship Id="rId4" Type="http://schemas.openxmlformats.org/officeDocument/2006/relationships/slide" Target="slide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slide" Target="slide10.xml"/><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slide" Target="slide5.xml"/><Relationship Id="rId5" Type="http://schemas.openxmlformats.org/officeDocument/2006/relationships/slide" Target="slide4.xml"/><Relationship Id="rId4" Type="http://schemas.openxmlformats.org/officeDocument/2006/relationships/slide" Target="slide1.xml"/></Relationships>
</file>

<file path=ppt/slides/_rels/slide10.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slide" Target="slide5.xml"/><Relationship Id="rId4" Type="http://schemas.openxmlformats.org/officeDocument/2006/relationships/slide" Target="slide4.xml"/></Relationships>
</file>

<file path=ppt/slides/_rels/slide11.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slide" Target="slide10.xml"/><Relationship Id="rId5" Type="http://schemas.openxmlformats.org/officeDocument/2006/relationships/slide" Target="slide5.xml"/><Relationship Id="rId4" Type="http://schemas.openxmlformats.org/officeDocument/2006/relationships/slide" Target="slide4.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slide" Target="slide10.xml"/><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slide" Target="slide5.xml"/><Relationship Id="rId5" Type="http://schemas.openxmlformats.org/officeDocument/2006/relationships/slide" Target="slide4.xml"/><Relationship Id="rId4" Type="http://schemas.openxmlformats.org/officeDocument/2006/relationships/slide" Target="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avLst/>
          </a:prstGeom>
          <a:solidFill>
            <a:srgbClr val="FFFFFF"/>
          </a:solidFill>
          <a:ln>
            <a:noFill/>
          </a:ln>
          <a:effectLst/>
        </p:spPr>
        <p:txBody>
          <a:bodyPr rtlCol="0" anchor="ctr"/>
          <a:lstStyle/>
          <a:p>
            <a:pPr algn="ctr"/>
            <a:endParaRPr/>
          </a:p>
        </p:txBody>
      </p:sp>
      <p:sp>
        <p:nvSpPr>
          <p:cNvPr id="3" name="TextBox 2"/>
          <p:cNvSpPr txBox="1"/>
          <p:nvPr/>
        </p:nvSpPr>
        <p:spPr>
          <a:xfrm>
            <a:off x="609600" y="377825"/>
            <a:ext cx="2423636" cy="152400"/>
          </a:xfrm>
          <a:prstGeom prst="rect">
            <a:avLst/>
          </a:prstGeom>
          <a:noFill/>
        </p:spPr>
        <p:txBody>
          <a:bodyPr wrap="none" lIns="0" tIns="0" rIns="0" bIns="0" anchor="t">
            <a:noAutofit/>
          </a:bodyPr>
          <a:lstStyle/>
          <a:p>
            <a:pPr algn="l">
              <a:lnSpc>
                <a:spcPts val="1120"/>
              </a:lnSpc>
            </a:pPr>
            <a:r>
              <a:rPr sz="800" b="0">
                <a:solidFill>
                  <a:srgbClr val="1E2833"/>
                </a:solidFill>
                <a:latin typeface="Microsoft JhengHei"/>
                <a:ea typeface="Microsoft JhengHei"/>
                <a:cs typeface="Microsoft JhengHei"/>
              </a:rPr>
              <a:t>NTU Medicine • Clinical Cardiology 2026</a:t>
            </a:r>
          </a:p>
        </p:txBody>
      </p:sp>
      <p:sp>
        <p:nvSpPr>
          <p:cNvPr id="4" name="Rounded Rectangle 3"/>
          <p:cNvSpPr/>
          <p:nvPr/>
        </p:nvSpPr>
        <p:spPr>
          <a:xfrm>
            <a:off x="6321108" y="330200"/>
            <a:ext cx="1908492" cy="247650"/>
          </a:xfrm>
          <a:prstGeom prst="roundRect">
            <a:avLst>
              <a:gd name="adj" fmla="val 50000"/>
            </a:avLst>
          </a:prstGeom>
          <a:solidFill>
            <a:srgbClr val="FFFFFF"/>
          </a:solidFill>
          <a:ln w="6350">
            <a:solidFill>
              <a:srgbClr val="24476E"/>
            </a:solidFill>
          </a:ln>
          <a:effectLst/>
        </p:spPr>
        <p:txBody>
          <a:bodyPr rtlCol="0" anchor="ctr"/>
          <a:lstStyle/>
          <a:p>
            <a:endParaRPr/>
          </a:p>
        </p:txBody>
      </p:sp>
      <p:sp>
        <p:nvSpPr>
          <p:cNvPr id="5" name="TextBox 4"/>
          <p:cNvSpPr txBox="1"/>
          <p:nvPr/>
        </p:nvSpPr>
        <p:spPr>
          <a:xfrm>
            <a:off x="6441758" y="374650"/>
            <a:ext cx="237109" cy="158750"/>
          </a:xfrm>
          <a:prstGeom prst="rect">
            <a:avLst/>
          </a:prstGeom>
          <a:noFill/>
        </p:spPr>
        <p:txBody>
          <a:bodyPr wrap="none" lIns="0" tIns="0" rIns="0" bIns="0" anchor="t">
            <a:noAutofit/>
          </a:bodyPr>
          <a:lstStyle/>
          <a:p>
            <a:pPr algn="l">
              <a:lnSpc>
                <a:spcPts val="1190"/>
              </a:lnSpc>
            </a:pPr>
            <a:r>
              <a:rPr sz="850" b="1">
                <a:solidFill>
                  <a:srgbClr val="24476E"/>
                </a:solidFill>
                <a:latin typeface="Microsoft JhengHei"/>
                <a:ea typeface="Microsoft JhengHei"/>
                <a:cs typeface="Microsoft JhengHei"/>
              </a:rPr>
              <a:t>🌐</a:t>
            </a:r>
          </a:p>
        </p:txBody>
      </p:sp>
      <p:sp>
        <p:nvSpPr>
          <p:cNvPr id="6" name="TextBox 5"/>
          <p:cNvSpPr txBox="1"/>
          <p:nvPr/>
        </p:nvSpPr>
        <p:spPr>
          <a:xfrm>
            <a:off x="6628130" y="374650"/>
            <a:ext cx="1851025" cy="158750"/>
          </a:xfrm>
          <a:prstGeom prst="rect">
            <a:avLst/>
          </a:prstGeom>
          <a:noFill/>
        </p:spPr>
        <p:txBody>
          <a:bodyPr wrap="none" lIns="0" tIns="0" rIns="0" bIns="0" anchor="t">
            <a:noAutofit/>
          </a:bodyPr>
          <a:lstStyle/>
          <a:p>
            <a:pPr algn="l">
              <a:lnSpc>
                <a:spcPts val="1190"/>
              </a:lnSpc>
            </a:pPr>
            <a:r>
              <a:rPr sz="850" b="1">
                <a:solidFill>
                  <a:srgbClr val="24476E"/>
                </a:solidFill>
                <a:latin typeface="Microsoft JhengHei"/>
                <a:ea typeface="Microsoft JhengHei"/>
                <a:cs typeface="Microsoft JhengHei"/>
              </a:rPr>
              <a:t>Language: EN (點擊切換中文)</a:t>
            </a:r>
          </a:p>
        </p:txBody>
      </p:sp>
      <p:sp>
        <p:nvSpPr>
          <p:cNvPr id="7" name="TextBox 6"/>
          <p:cNvSpPr txBox="1"/>
          <p:nvPr/>
        </p:nvSpPr>
        <p:spPr>
          <a:xfrm>
            <a:off x="609600" y="603250"/>
            <a:ext cx="7417435" cy="361950"/>
          </a:xfrm>
          <a:prstGeom prst="rect">
            <a:avLst/>
          </a:prstGeom>
          <a:noFill/>
        </p:spPr>
        <p:txBody>
          <a:bodyPr wrap="none" lIns="0" tIns="0" rIns="0" bIns="0" anchor="t">
            <a:noAutofit/>
          </a:bodyPr>
          <a:lstStyle/>
          <a:p>
            <a:pPr algn="l">
              <a:lnSpc>
                <a:spcPts val="2500"/>
              </a:lnSpc>
            </a:pPr>
            <a:r>
              <a:rPr sz="2000" b="1" spc="-20">
                <a:solidFill>
                  <a:srgbClr val="1E2833"/>
                </a:solidFill>
                <a:latin typeface="Microsoft JhengHei"/>
                <a:ea typeface="Microsoft JhengHei"/>
                <a:cs typeface="Microsoft JhengHei"/>
              </a:rPr>
              <a:t>Preventing the Next Heart Attack: LDL Targets</a:t>
            </a:r>
          </a:p>
        </p:txBody>
      </p:sp>
      <p:sp>
        <p:nvSpPr>
          <p:cNvPr id="8" name="TextBox 7"/>
          <p:cNvSpPr txBox="1"/>
          <p:nvPr/>
        </p:nvSpPr>
        <p:spPr>
          <a:xfrm>
            <a:off x="609600" y="977900"/>
            <a:ext cx="6578600" cy="222250"/>
          </a:xfrm>
          <a:prstGeom prst="rect">
            <a:avLst/>
          </a:prstGeom>
          <a:noFill/>
        </p:spPr>
        <p:txBody>
          <a:bodyPr wrap="none" lIns="0" tIns="0" rIns="0" bIns="0" anchor="t">
            <a:noAutofit/>
          </a:bodyPr>
          <a:lstStyle/>
          <a:p>
            <a:pPr algn="l">
              <a:lnSpc>
                <a:spcPts val="1680"/>
              </a:lnSpc>
            </a:pPr>
            <a:r>
              <a:rPr sz="1200" b="0">
                <a:solidFill>
                  <a:srgbClr val="5F6B77"/>
                </a:solidFill>
                <a:latin typeface="Microsoft JhengHei"/>
                <a:ea typeface="Microsoft JhengHei"/>
                <a:cs typeface="Microsoft JhengHei"/>
              </a:rPr>
              <a:t>CHEN, CHIH-WEI ｜ Third-Year Medical Student, National Taiwan University</a:t>
            </a:r>
          </a:p>
        </p:txBody>
      </p:sp>
      <p:sp>
        <p:nvSpPr>
          <p:cNvPr id="9" name="Rounded Rectangle 8"/>
          <p:cNvSpPr/>
          <p:nvPr/>
        </p:nvSpPr>
        <p:spPr>
          <a:xfrm>
            <a:off x="609600" y="1324546"/>
            <a:ext cx="6192456" cy="4508500"/>
          </a:xfrm>
          <a:prstGeom prst="roundRect">
            <a:avLst>
              <a:gd name="adj" fmla="val 2535"/>
            </a:avLst>
          </a:prstGeom>
          <a:solidFill>
            <a:srgbClr val="F0F2F4"/>
          </a:solidFill>
          <a:ln>
            <a:noFill/>
          </a:ln>
          <a:effectLst/>
        </p:spPr>
        <p:txBody>
          <a:bodyPr rtlCol="0" anchor="ctr"/>
          <a:lstStyle/>
          <a:p>
            <a:endParaRPr/>
          </a:p>
        </p:txBody>
      </p:sp>
      <p:sp>
        <p:nvSpPr>
          <p:cNvPr id="10" name="TextBox 9"/>
          <p:cNvSpPr txBox="1"/>
          <p:nvPr/>
        </p:nvSpPr>
        <p:spPr>
          <a:xfrm>
            <a:off x="901700" y="1591246"/>
            <a:ext cx="3025219" cy="203200"/>
          </a:xfrm>
          <a:prstGeom prst="rect">
            <a:avLst/>
          </a:prstGeom>
          <a:noFill/>
        </p:spPr>
        <p:txBody>
          <a:bodyPr wrap="none" lIns="0" tIns="0" rIns="0" bIns="0" anchor="t">
            <a:noAutofit/>
          </a:bodyPr>
          <a:lstStyle/>
          <a:p>
            <a:pPr algn="l">
              <a:lnSpc>
                <a:spcPts val="1120"/>
              </a:lnSpc>
            </a:pPr>
            <a:r>
              <a:rPr sz="1100" b="1">
                <a:solidFill>
                  <a:srgbClr val="1E2833"/>
                </a:solidFill>
                <a:latin typeface="Microsoft JhengHei"/>
                <a:ea typeface="Microsoft JhengHei"/>
                <a:cs typeface="Microsoft JhengHei"/>
              </a:rPr>
              <a:t>Clinical Dilemma from the Cath Lab</a:t>
            </a:r>
          </a:p>
        </p:txBody>
      </p:sp>
      <p:sp>
        <p:nvSpPr>
          <p:cNvPr id="11" name="Rectangle 10"/>
          <p:cNvSpPr/>
          <p:nvPr/>
        </p:nvSpPr>
        <p:spPr>
          <a:xfrm>
            <a:off x="901700" y="1591246"/>
            <a:ext cx="2420176" cy="203200"/>
          </a:xfrm>
          <a:prstGeom prst="rect">
            <a:avLst/>
          </a:prstGeom>
          <a:solidFill>
            <a:srgbClr val="B85030">
              <a:alpha val="12000"/>
            </a:srgbClr>
          </a:solidFill>
          <a:ln>
            <a:noFill/>
          </a:ln>
          <a:effectLst/>
        </p:spPr>
        <p:txBody>
          <a:bodyPr rtlCol="0" anchor="ctr"/>
          <a:lstStyle/>
          <a:p>
            <a:endParaRPr/>
          </a:p>
        </p:txBody>
      </p:sp>
      <p:sp>
        <p:nvSpPr>
          <p:cNvPr id="12" name="TextBox 11"/>
          <p:cNvSpPr txBox="1"/>
          <p:nvPr/>
        </p:nvSpPr>
        <p:spPr>
          <a:xfrm>
            <a:off x="901700" y="1934146"/>
            <a:ext cx="5616019" cy="711200"/>
          </a:xfrm>
          <a:prstGeom prst="rect">
            <a:avLst/>
          </a:prstGeom>
          <a:noFill/>
        </p:spPr>
        <p:txBody>
          <a:bodyPr wrap="none" lIns="0" tIns="0" rIns="0" bIns="0" anchor="t">
            <a:noAutofit/>
          </a:bodyPr>
          <a:lstStyle/>
          <a:p>
            <a:pPr algn="l">
              <a:lnSpc>
                <a:spcPts val="2700"/>
              </a:lnSpc>
            </a:pPr>
            <a:r>
              <a:rPr sz="2000" b="1">
                <a:solidFill>
                  <a:srgbClr val="24476E"/>
                </a:solidFill>
                <a:latin typeface="Microsoft JhengHei"/>
                <a:ea typeface="Microsoft JhengHei"/>
                <a:cs typeface="Microsoft JhengHei"/>
              </a:rPr>
              <a:t>The acute vessel is wide open.</a:t>
            </a:r>
          </a:p>
          <a:p>
            <a:pPr algn="l">
              <a:lnSpc>
                <a:spcPts val="2700"/>
              </a:lnSpc>
            </a:pPr>
            <a:r>
              <a:rPr sz="2000" b="1">
                <a:solidFill>
                  <a:srgbClr val="24476E"/>
                </a:solidFill>
                <a:latin typeface="Microsoft JhengHei"/>
                <a:ea typeface="Microsoft JhengHei"/>
                <a:cs typeface="Microsoft JhengHei"/>
              </a:rPr>
              <a:t>Why is Mr. Hong still at mortal risk?</a:t>
            </a:r>
          </a:p>
        </p:txBody>
      </p:sp>
      <p:sp>
        <p:nvSpPr>
          <p:cNvPr id="13" name="TextBox 12"/>
          <p:cNvSpPr txBox="1"/>
          <p:nvPr/>
        </p:nvSpPr>
        <p:spPr>
          <a:xfrm>
            <a:off x="901700" y="2772346"/>
            <a:ext cx="5608256" cy="1052004"/>
          </a:xfrm>
          <a:prstGeom prst="rect">
            <a:avLst/>
          </a:prstGeom>
          <a:noFill/>
        </p:spPr>
        <p:txBody>
          <a:bodyPr wrap="square" lIns="0" tIns="0" rIns="0" bIns="0" anchor="t">
            <a:noAutofit/>
          </a:bodyPr>
          <a:lstStyle/>
          <a:p>
            <a:pPr algn="l">
              <a:lnSpc>
                <a:spcPts val="2140"/>
              </a:lnSpc>
            </a:pPr>
            <a:r>
              <a:rPr sz="1300" b="0">
                <a:solidFill>
                  <a:srgbClr val="1E2833"/>
                </a:solidFill>
                <a:latin typeface="Microsoft JhengHei"/>
                <a:ea typeface="Microsoft JhengHei"/>
                <a:cs typeface="Microsoft JhengHei"/>
              </a:rPr>
              <a:t>A 48-year-old gentleman underwent successful primary PCI for an acute anterior STEMI. Revascularization was completed within 38 minutes. Yet his admission LDL-C was </a:t>
            </a:r>
            <a:r>
              <a:rPr sz="1300" b="1">
                <a:solidFill>
                  <a:srgbClr val="1E2833"/>
                </a:solidFill>
                <a:latin typeface="Microsoft JhengHei"/>
                <a:ea typeface="Microsoft JhengHei"/>
                <a:cs typeface="Microsoft JhengHei"/>
              </a:rPr>
              <a:t>173 mg/dL</a:t>
            </a:r>
            <a:r>
              <a:rPr sz="1300" b="0">
                <a:solidFill>
                  <a:srgbClr val="1E2833"/>
                </a:solidFill>
                <a:latin typeface="Microsoft JhengHei"/>
                <a:ea typeface="Microsoft JhengHei"/>
                <a:cs typeface="Microsoft JhengHei"/>
              </a:rPr>
              <a:t>. While the stent fixed a 48 mm segment, his entire vascular tree remains under attack.</a:t>
            </a:r>
          </a:p>
        </p:txBody>
      </p:sp>
      <p:sp>
        <p:nvSpPr>
          <p:cNvPr id="14" name="Rounded Rectangle 13"/>
          <p:cNvSpPr/>
          <p:nvPr/>
        </p:nvSpPr>
        <p:spPr>
          <a:xfrm>
            <a:off x="901700" y="4905946"/>
            <a:ext cx="5608256" cy="660400"/>
          </a:xfrm>
          <a:prstGeom prst="roundRect">
            <a:avLst>
              <a:gd name="adj" fmla="val 11538"/>
            </a:avLst>
          </a:prstGeom>
          <a:solidFill>
            <a:srgbClr val="FDF1ED"/>
          </a:solidFill>
          <a:ln>
            <a:noFill/>
          </a:ln>
          <a:effectLst/>
        </p:spPr>
        <p:txBody>
          <a:bodyPr rtlCol="0" anchor="ctr"/>
          <a:lstStyle/>
          <a:p>
            <a:endParaRPr/>
          </a:p>
        </p:txBody>
      </p:sp>
      <p:sp>
        <p:nvSpPr>
          <p:cNvPr id="15" name="TextBox 14"/>
          <p:cNvSpPr txBox="1"/>
          <p:nvPr/>
        </p:nvSpPr>
        <p:spPr>
          <a:xfrm>
            <a:off x="1054100" y="5020246"/>
            <a:ext cx="5303456" cy="431800"/>
          </a:xfrm>
          <a:prstGeom prst="rect">
            <a:avLst/>
          </a:prstGeom>
          <a:noFill/>
        </p:spPr>
        <p:txBody>
          <a:bodyPr wrap="square" lIns="0" tIns="0" rIns="0" bIns="0" anchor="t">
            <a:noAutofit/>
          </a:bodyPr>
          <a:lstStyle/>
          <a:p>
            <a:pPr algn="l">
              <a:lnSpc>
                <a:spcPts val="1610"/>
              </a:lnSpc>
            </a:pPr>
            <a:r>
              <a:rPr sz="1150" b="1">
                <a:solidFill>
                  <a:srgbClr val="1E2833"/>
                </a:solidFill>
                <a:latin typeface="Microsoft JhengHei"/>
                <a:ea typeface="Microsoft JhengHei"/>
                <a:cs typeface="Microsoft JhengHei"/>
              </a:rPr>
              <a:t>⚠ The acute vessel is saved today, but coronary atherosclerosis is lifelong!</a:t>
            </a:r>
          </a:p>
        </p:txBody>
      </p:sp>
      <p:sp>
        <p:nvSpPr>
          <p:cNvPr id="16" name="Rounded Rectangle 15"/>
          <p:cNvSpPr/>
          <p:nvPr/>
        </p:nvSpPr>
        <p:spPr>
          <a:xfrm>
            <a:off x="7005256" y="1324546"/>
            <a:ext cx="4577144" cy="4508500"/>
          </a:xfrm>
          <a:prstGeom prst="roundRect">
            <a:avLst>
              <a:gd name="adj" fmla="val 2535"/>
            </a:avLst>
          </a:prstGeom>
          <a:solidFill>
            <a:srgbClr val="F4F8F6"/>
          </a:solidFill>
          <a:ln w="6350">
            <a:solidFill>
              <a:srgbClr val="2A6E57"/>
            </a:solidFill>
          </a:ln>
          <a:effectLst/>
        </p:spPr>
        <p:txBody>
          <a:bodyPr rtlCol="0" anchor="ctr"/>
          <a:lstStyle/>
          <a:p>
            <a:endParaRPr/>
          </a:p>
        </p:txBody>
      </p:sp>
      <p:sp>
        <p:nvSpPr>
          <p:cNvPr id="17" name="TextBox 16"/>
          <p:cNvSpPr txBox="1"/>
          <p:nvPr/>
        </p:nvSpPr>
        <p:spPr>
          <a:xfrm>
            <a:off x="7252906" y="1584896"/>
            <a:ext cx="2995930" cy="279400"/>
          </a:xfrm>
          <a:prstGeom prst="rect">
            <a:avLst/>
          </a:prstGeom>
          <a:noFill/>
        </p:spPr>
        <p:txBody>
          <a:bodyPr wrap="none" lIns="0" tIns="0" rIns="0" bIns="0" anchor="t">
            <a:noAutofit/>
          </a:bodyPr>
          <a:lstStyle/>
          <a:p>
            <a:pPr algn="l">
              <a:lnSpc>
                <a:spcPts val="2100"/>
              </a:lnSpc>
            </a:pPr>
            <a:r>
              <a:rPr sz="1500" b="1">
                <a:solidFill>
                  <a:srgbClr val="3F7A55"/>
                </a:solidFill>
                <a:latin typeface="Microsoft JhengHei"/>
                <a:ea typeface="Microsoft JhengHei"/>
                <a:cs typeface="Microsoft JhengHei"/>
              </a:rPr>
              <a:t>Core Presentation Pillars</a:t>
            </a:r>
          </a:p>
        </p:txBody>
      </p:sp>
      <p:sp>
        <p:nvSpPr>
          <p:cNvPr id="18" name="Rounded Rectangle 17"/>
          <p:cNvSpPr/>
          <p:nvPr/>
        </p:nvSpPr>
        <p:spPr>
          <a:xfrm>
            <a:off x="7252906" y="2003996"/>
            <a:ext cx="4081843" cy="755650"/>
          </a:xfrm>
          <a:prstGeom prst="roundRect">
            <a:avLst>
              <a:gd name="adj" fmla="val 11764"/>
            </a:avLst>
          </a:prstGeom>
          <a:solidFill>
            <a:srgbClr val="FFFFFF"/>
          </a:solidFill>
          <a:ln>
            <a:noFill/>
          </a:ln>
          <a:effectLst/>
        </p:spPr>
        <p:txBody>
          <a:bodyPr rtlCol="0" anchor="ctr"/>
          <a:lstStyle/>
          <a:p>
            <a:endParaRPr/>
          </a:p>
        </p:txBody>
      </p:sp>
      <p:sp>
        <p:nvSpPr>
          <p:cNvPr id="19" name="Rectangle 18"/>
          <p:cNvSpPr/>
          <p:nvPr/>
        </p:nvSpPr>
        <p:spPr>
          <a:xfrm>
            <a:off x="7252906" y="2003996"/>
            <a:ext cx="38100" cy="755650"/>
          </a:xfrm>
          <a:prstGeom prst="rect">
            <a:avLst/>
          </a:prstGeom>
          <a:solidFill>
            <a:srgbClr val="3F7A55"/>
          </a:solidFill>
          <a:ln>
            <a:noFill/>
          </a:ln>
          <a:effectLst/>
        </p:spPr>
        <p:txBody>
          <a:bodyPr rtlCol="0" anchor="ctr"/>
          <a:lstStyle/>
          <a:p>
            <a:endParaRPr/>
          </a:p>
        </p:txBody>
      </p:sp>
      <p:sp>
        <p:nvSpPr>
          <p:cNvPr id="20" name="TextBox 19"/>
          <p:cNvSpPr txBox="1"/>
          <p:nvPr/>
        </p:nvSpPr>
        <p:spPr>
          <a:xfrm>
            <a:off x="7443406" y="2143696"/>
            <a:ext cx="1854438" cy="228600"/>
          </a:xfrm>
          <a:prstGeom prst="rect">
            <a:avLst/>
          </a:prstGeom>
          <a:noFill/>
        </p:spPr>
        <p:txBody>
          <a:bodyPr wrap="none" lIns="0" tIns="0" rIns="0" bIns="0" anchor="t">
            <a:noAutofit/>
          </a:bodyPr>
          <a:lstStyle/>
          <a:p>
            <a:pPr algn="l">
              <a:lnSpc>
                <a:spcPts val="1120"/>
              </a:lnSpc>
            </a:pPr>
            <a:r>
              <a:rPr sz="1250" b="1">
                <a:solidFill>
                  <a:srgbClr val="24476E"/>
                </a:solidFill>
                <a:latin typeface="Microsoft JhengHei"/>
                <a:ea typeface="Microsoft JhengHei"/>
                <a:cs typeface="Microsoft JhengHei"/>
              </a:rPr>
              <a:t>1. Stent vs. Biology</a:t>
            </a:r>
          </a:p>
        </p:txBody>
      </p:sp>
      <p:sp>
        <p:nvSpPr>
          <p:cNvPr id="21" name="TextBox 20"/>
          <p:cNvSpPr txBox="1"/>
          <p:nvPr/>
        </p:nvSpPr>
        <p:spPr>
          <a:xfrm>
            <a:off x="7443406" y="2410396"/>
            <a:ext cx="4237514" cy="203200"/>
          </a:xfrm>
          <a:prstGeom prst="rect">
            <a:avLst/>
          </a:prstGeom>
          <a:noFill/>
        </p:spPr>
        <p:txBody>
          <a:bodyPr wrap="none" lIns="0" tIns="0" rIns="0" bIns="0" anchor="t">
            <a:noAutofit/>
          </a:bodyPr>
          <a:lstStyle/>
          <a:p>
            <a:pPr algn="l">
              <a:lnSpc>
                <a:spcPts val="1650"/>
              </a:lnSpc>
            </a:pPr>
            <a:r>
              <a:rPr sz="1100" b="0">
                <a:solidFill>
                  <a:srgbClr val="1E2833"/>
                </a:solidFill>
                <a:latin typeface="Microsoft JhengHei"/>
                <a:ea typeface="Microsoft JhengHei"/>
                <a:cs typeface="Microsoft JhengHei"/>
              </a:rPr>
              <a:t>Why 50% of recurrent MIs occur at non-stented sites.</a:t>
            </a:r>
          </a:p>
        </p:txBody>
      </p:sp>
      <p:sp>
        <p:nvSpPr>
          <p:cNvPr id="22" name="Rounded Rectangle 21"/>
          <p:cNvSpPr/>
          <p:nvPr/>
        </p:nvSpPr>
        <p:spPr>
          <a:xfrm>
            <a:off x="7252906" y="2886646"/>
            <a:ext cx="4081843" cy="755650"/>
          </a:xfrm>
          <a:prstGeom prst="roundRect">
            <a:avLst>
              <a:gd name="adj" fmla="val 11764"/>
            </a:avLst>
          </a:prstGeom>
          <a:solidFill>
            <a:srgbClr val="FFFFFF"/>
          </a:solidFill>
          <a:ln>
            <a:noFill/>
          </a:ln>
          <a:effectLst/>
        </p:spPr>
        <p:txBody>
          <a:bodyPr rtlCol="0" anchor="ctr"/>
          <a:lstStyle/>
          <a:p>
            <a:endParaRPr/>
          </a:p>
        </p:txBody>
      </p:sp>
      <p:sp>
        <p:nvSpPr>
          <p:cNvPr id="23" name="TextBox 22"/>
          <p:cNvSpPr txBox="1"/>
          <p:nvPr/>
        </p:nvSpPr>
        <p:spPr>
          <a:xfrm>
            <a:off x="7405306" y="3026346"/>
            <a:ext cx="2414508" cy="228600"/>
          </a:xfrm>
          <a:prstGeom prst="rect">
            <a:avLst/>
          </a:prstGeom>
          <a:noFill/>
        </p:spPr>
        <p:txBody>
          <a:bodyPr wrap="none" lIns="0" tIns="0" rIns="0" bIns="0" anchor="t">
            <a:noAutofit/>
          </a:bodyPr>
          <a:lstStyle/>
          <a:p>
            <a:pPr algn="l">
              <a:lnSpc>
                <a:spcPts val="1120"/>
              </a:lnSpc>
            </a:pPr>
            <a:r>
              <a:rPr sz="1250" b="1">
                <a:solidFill>
                  <a:srgbClr val="24476E"/>
                </a:solidFill>
                <a:latin typeface="Microsoft JhengHei"/>
                <a:ea typeface="Microsoft JhengHei"/>
                <a:cs typeface="Microsoft JhengHei"/>
              </a:rPr>
              <a:t>2. Dual Guideline Targets</a:t>
            </a:r>
          </a:p>
        </p:txBody>
      </p:sp>
      <p:sp>
        <p:nvSpPr>
          <p:cNvPr id="24" name="TextBox 23"/>
          <p:cNvSpPr txBox="1"/>
          <p:nvPr/>
        </p:nvSpPr>
        <p:spPr>
          <a:xfrm>
            <a:off x="7405306" y="3293046"/>
            <a:ext cx="3835797" cy="203200"/>
          </a:xfrm>
          <a:prstGeom prst="rect">
            <a:avLst/>
          </a:prstGeom>
          <a:noFill/>
        </p:spPr>
        <p:txBody>
          <a:bodyPr wrap="none" lIns="0" tIns="0" rIns="0" bIns="0" anchor="t">
            <a:noAutofit/>
          </a:bodyPr>
          <a:lstStyle/>
          <a:p>
            <a:pPr algn="l">
              <a:lnSpc>
                <a:spcPts val="1650"/>
              </a:lnSpc>
            </a:pPr>
            <a:r>
              <a:rPr sz="1100" b="0">
                <a:solidFill>
                  <a:srgbClr val="1E2833"/>
                </a:solidFill>
                <a:latin typeface="Microsoft JhengHei"/>
                <a:ea typeface="Microsoft JhengHei"/>
                <a:cs typeface="Microsoft JhengHei"/>
              </a:rPr>
              <a:t>≥50% reduction AND absolute LDL &lt; 55 mg/dL.</a:t>
            </a:r>
          </a:p>
        </p:txBody>
      </p:sp>
      <p:sp>
        <p:nvSpPr>
          <p:cNvPr id="25" name="Rounded Rectangle 24"/>
          <p:cNvSpPr/>
          <p:nvPr/>
        </p:nvSpPr>
        <p:spPr>
          <a:xfrm>
            <a:off x="7252906" y="3769296"/>
            <a:ext cx="4081843" cy="755650"/>
          </a:xfrm>
          <a:prstGeom prst="roundRect">
            <a:avLst>
              <a:gd name="adj" fmla="val 11764"/>
            </a:avLst>
          </a:prstGeom>
          <a:solidFill>
            <a:srgbClr val="FFFFFF"/>
          </a:solidFill>
          <a:ln>
            <a:noFill/>
          </a:ln>
          <a:effectLst/>
        </p:spPr>
        <p:txBody>
          <a:bodyPr rtlCol="0" anchor="ctr"/>
          <a:lstStyle/>
          <a:p>
            <a:endParaRPr/>
          </a:p>
        </p:txBody>
      </p:sp>
      <p:sp>
        <p:nvSpPr>
          <p:cNvPr id="26" name="TextBox 25"/>
          <p:cNvSpPr txBox="1"/>
          <p:nvPr/>
        </p:nvSpPr>
        <p:spPr>
          <a:xfrm>
            <a:off x="7405306" y="3908996"/>
            <a:ext cx="3041094" cy="228600"/>
          </a:xfrm>
          <a:prstGeom prst="rect">
            <a:avLst/>
          </a:prstGeom>
          <a:noFill/>
        </p:spPr>
        <p:txBody>
          <a:bodyPr wrap="none" lIns="0" tIns="0" rIns="0" bIns="0" anchor="t">
            <a:noAutofit/>
          </a:bodyPr>
          <a:lstStyle/>
          <a:p>
            <a:pPr algn="l">
              <a:lnSpc>
                <a:spcPts val="1120"/>
              </a:lnSpc>
            </a:pPr>
            <a:r>
              <a:rPr sz="1250" b="1">
                <a:solidFill>
                  <a:srgbClr val="24476E"/>
                </a:solidFill>
                <a:latin typeface="Microsoft JhengHei"/>
                <a:ea typeface="Microsoft JhengHei"/>
                <a:cs typeface="Microsoft JhengHei"/>
              </a:rPr>
              <a:t>3. Lifestyle &amp; Pharmacotherapy</a:t>
            </a:r>
          </a:p>
        </p:txBody>
      </p:sp>
      <p:sp>
        <p:nvSpPr>
          <p:cNvPr id="27" name="TextBox 26"/>
          <p:cNvSpPr txBox="1"/>
          <p:nvPr/>
        </p:nvSpPr>
        <p:spPr>
          <a:xfrm>
            <a:off x="7405306" y="4175696"/>
            <a:ext cx="3897471" cy="203200"/>
          </a:xfrm>
          <a:prstGeom prst="rect">
            <a:avLst/>
          </a:prstGeom>
          <a:noFill/>
        </p:spPr>
        <p:txBody>
          <a:bodyPr wrap="none" lIns="0" tIns="0" rIns="0" bIns="0" anchor="t">
            <a:noAutofit/>
          </a:bodyPr>
          <a:lstStyle/>
          <a:p>
            <a:pPr algn="l">
              <a:lnSpc>
                <a:spcPts val="1650"/>
              </a:lnSpc>
            </a:pPr>
            <a:r>
              <a:rPr sz="1100" b="0">
                <a:solidFill>
                  <a:srgbClr val="1E2833"/>
                </a:solidFill>
                <a:latin typeface="Microsoft JhengHei"/>
                <a:ea typeface="Microsoft JhengHei"/>
                <a:cs typeface="Microsoft JhengHei"/>
              </a:rPr>
              <a:t>Nutrition, rehab, and upfront Statin + Ezetimibe.</a:t>
            </a:r>
          </a:p>
        </p:txBody>
      </p:sp>
      <p:sp>
        <p:nvSpPr>
          <p:cNvPr id="28" name="TextBox 27"/>
          <p:cNvSpPr txBox="1"/>
          <p:nvPr/>
        </p:nvSpPr>
        <p:spPr>
          <a:xfrm>
            <a:off x="7297515" y="5388546"/>
            <a:ext cx="3992562" cy="184150"/>
          </a:xfrm>
          <a:prstGeom prst="rect">
            <a:avLst/>
          </a:prstGeom>
          <a:noFill/>
        </p:spPr>
        <p:txBody>
          <a:bodyPr wrap="none" lIns="0" tIns="0" rIns="0" bIns="0" anchor="t">
            <a:noAutofit/>
          </a:bodyPr>
          <a:lstStyle/>
          <a:p>
            <a:pPr algn="ctr">
              <a:lnSpc>
                <a:spcPts val="1400"/>
              </a:lnSpc>
            </a:pPr>
            <a:r>
              <a:rPr sz="1000" b="0">
                <a:solidFill>
                  <a:srgbClr val="5F6B77"/>
                </a:solidFill>
                <a:latin typeface="Microsoft JhengHei"/>
                <a:ea typeface="Microsoft JhengHei"/>
                <a:cs typeface="Microsoft JhengHei"/>
              </a:rPr>
              <a:t>Click anywhere or press Space / Arrow keys to proceed</a:t>
            </a:r>
          </a:p>
        </p:txBody>
      </p:sp>
      <p:sp>
        <p:nvSpPr>
          <p:cNvPr id="29" name="Rectangle 28"/>
          <p:cNvSpPr/>
          <p:nvPr/>
        </p:nvSpPr>
        <p:spPr>
          <a:xfrm>
            <a:off x="609600" y="6066854"/>
            <a:ext cx="10972800" cy="6350"/>
          </a:xfrm>
          <a:prstGeom prst="rect">
            <a:avLst/>
          </a:prstGeom>
          <a:solidFill>
            <a:srgbClr val="F0F2F4"/>
          </a:solidFill>
          <a:ln>
            <a:noFill/>
          </a:ln>
          <a:effectLst/>
        </p:spPr>
        <p:txBody>
          <a:bodyPr rtlCol="0" anchor="ctr"/>
          <a:lstStyle/>
          <a:p>
            <a:endParaRPr/>
          </a:p>
        </p:txBody>
      </p:sp>
      <p:sp>
        <p:nvSpPr>
          <p:cNvPr id="30" name="TextBox 29"/>
          <p:cNvSpPr txBox="1"/>
          <p:nvPr/>
        </p:nvSpPr>
        <p:spPr>
          <a:xfrm>
            <a:off x="609600" y="6130354"/>
            <a:ext cx="8197294" cy="171450"/>
          </a:xfrm>
          <a:prstGeom prst="rect">
            <a:avLst/>
          </a:prstGeom>
          <a:noFill/>
        </p:spPr>
        <p:txBody>
          <a:bodyPr wrap="none" lIns="0" tIns="0" rIns="0" bIns="0" anchor="t">
            <a:noAutofit/>
          </a:bodyPr>
          <a:lstStyle/>
          <a:p>
            <a:pPr algn="l">
              <a:lnSpc>
                <a:spcPts val="1330"/>
              </a:lnSpc>
            </a:pPr>
            <a:r>
              <a:rPr sz="950" b="0">
                <a:solidFill>
                  <a:srgbClr val="5F6B77"/>
                </a:solidFill>
                <a:latin typeface="Microsoft JhengHei"/>
                <a:ea typeface="Microsoft JhengHei"/>
                <a:cs typeface="Microsoft JhengHei"/>
              </a:rPr>
              <a:t>1. 2026 ACC/AHA Guideline on Blood Cholesterol. Circulation. 2026;153(1):e1-e120. | 2. NTU Medicine Case Study 2026.</a:t>
            </a:r>
          </a:p>
        </p:txBody>
      </p:sp>
      <p:sp>
        <p:nvSpPr>
          <p:cNvPr id="31" name="Rounded Rectangle 30"/>
          <p:cNvSpPr/>
          <p:nvPr/>
        </p:nvSpPr>
        <p:spPr>
          <a:xfrm>
            <a:off x="8473948" y="190500"/>
            <a:ext cx="599313" cy="266700"/>
          </a:xfrm>
          <a:prstGeom prst="roundRect">
            <a:avLst>
              <a:gd name="adj" fmla="val 50000"/>
            </a:avLst>
          </a:prstGeom>
          <a:solidFill>
            <a:srgbClr val="24476E"/>
          </a:solidFill>
          <a:ln w="12700">
            <a:solidFill>
              <a:srgbClr val="24476E"/>
            </a:solidFill>
          </a:ln>
          <a:effectLst/>
        </p:spPr>
        <p:txBody>
          <a:bodyPr rtlCol="0" anchor="ctr"/>
          <a:lstStyle/>
          <a:p>
            <a:endParaRPr/>
          </a:p>
        </p:txBody>
      </p:sp>
      <p:sp>
        <p:nvSpPr>
          <p:cNvPr id="32" name="TextBox 31"/>
          <p:cNvSpPr txBox="1"/>
          <p:nvPr/>
        </p:nvSpPr>
        <p:spPr>
          <a:xfrm>
            <a:off x="8575548" y="241300"/>
            <a:ext cx="495141" cy="165100"/>
          </a:xfrm>
          <a:prstGeom prst="rect">
            <a:avLst/>
          </a:prstGeom>
          <a:noFill/>
        </p:spPr>
        <p:txBody>
          <a:bodyPr wrap="none" lIns="0" tIns="0" rIns="0" bIns="0" anchor="t">
            <a:noAutofit/>
          </a:bodyPr>
          <a:lstStyle/>
          <a:p>
            <a:pPr algn="l">
              <a:lnSpc>
                <a:spcPts val="1260"/>
              </a:lnSpc>
            </a:pPr>
            <a:r>
              <a:rPr sz="900" b="1">
                <a:solidFill>
                  <a:srgbClr val="FFFFFF"/>
                </a:solidFill>
                <a:latin typeface="Microsoft JhengHei"/>
                <a:ea typeface="Microsoft JhengHei"/>
                <a:cs typeface="Microsoft JhengHei"/>
              </a:rPr>
              <a:t>1. Case</a:t>
            </a:r>
          </a:p>
        </p:txBody>
      </p:sp>
      <p:sp>
        <p:nvSpPr>
          <p:cNvPr id="33" name="Rounded Rectangle 32"/>
          <p:cNvSpPr/>
          <p:nvPr/>
        </p:nvSpPr>
        <p:spPr>
          <a:xfrm>
            <a:off x="9124061" y="190500"/>
            <a:ext cx="689483"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34" name="TextBox 33"/>
          <p:cNvSpPr txBox="1"/>
          <p:nvPr/>
        </p:nvSpPr>
        <p:spPr>
          <a:xfrm>
            <a:off x="9225661" y="241300"/>
            <a:ext cx="607854"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2. Target</a:t>
            </a:r>
          </a:p>
        </p:txBody>
      </p:sp>
      <p:sp>
        <p:nvSpPr>
          <p:cNvPr id="35" name="Rounded Rectangle 34"/>
          <p:cNvSpPr/>
          <p:nvPr/>
        </p:nvSpPr>
        <p:spPr>
          <a:xfrm>
            <a:off x="9864344" y="190500"/>
            <a:ext cx="795718"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36" name="TextBox 35"/>
          <p:cNvSpPr txBox="1"/>
          <p:nvPr/>
        </p:nvSpPr>
        <p:spPr>
          <a:xfrm>
            <a:off x="9965944" y="241300"/>
            <a:ext cx="740648"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3. Therapy</a:t>
            </a:r>
          </a:p>
        </p:txBody>
      </p:sp>
      <p:sp>
        <p:nvSpPr>
          <p:cNvPr id="37" name="Rounded Rectangle 36"/>
          <p:cNvSpPr/>
          <p:nvPr/>
        </p:nvSpPr>
        <p:spPr>
          <a:xfrm>
            <a:off x="10710862" y="190500"/>
            <a:ext cx="871538"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38" name="TextBox 37"/>
          <p:cNvSpPr txBox="1"/>
          <p:nvPr/>
        </p:nvSpPr>
        <p:spPr>
          <a:xfrm>
            <a:off x="10812462" y="241300"/>
            <a:ext cx="835422"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4. Roadmap</a:t>
            </a:r>
          </a:p>
        </p:txBody>
      </p:sp>
      <p:sp>
        <p:nvSpPr>
          <p:cNvPr id="39" name="Rectangle 38"/>
          <p:cNvSpPr/>
          <p:nvPr/>
        </p:nvSpPr>
        <p:spPr>
          <a:xfrm>
            <a:off x="0" y="6527800"/>
            <a:ext cx="12192000" cy="330200"/>
          </a:xfrm>
          <a:prstGeom prst="rect">
            <a:avLst/>
          </a:prstGeom>
          <a:solidFill>
            <a:srgbClr val="FFFFFF"/>
          </a:solidFill>
          <a:ln>
            <a:noFill/>
          </a:ln>
          <a:effectLst/>
        </p:spPr>
        <p:txBody>
          <a:bodyPr rtlCol="0" anchor="ctr"/>
          <a:lstStyle/>
          <a:p>
            <a:endParaRPr/>
          </a:p>
        </p:txBody>
      </p:sp>
      <p:sp>
        <p:nvSpPr>
          <p:cNvPr id="40" name="Rectangle 39"/>
          <p:cNvSpPr/>
          <p:nvPr/>
        </p:nvSpPr>
        <p:spPr>
          <a:xfrm>
            <a:off x="0" y="6527800"/>
            <a:ext cx="12192000" cy="12700"/>
          </a:xfrm>
          <a:prstGeom prst="rect">
            <a:avLst/>
          </a:prstGeom>
          <a:solidFill>
            <a:srgbClr val="F0F2F4"/>
          </a:solidFill>
          <a:ln>
            <a:noFill/>
          </a:ln>
          <a:effectLst/>
        </p:spPr>
        <p:txBody>
          <a:bodyPr rtlCol="0" anchor="ctr"/>
          <a:lstStyle/>
          <a:p>
            <a:endParaRPr/>
          </a:p>
        </p:txBody>
      </p:sp>
      <p:sp>
        <p:nvSpPr>
          <p:cNvPr id="41" name="TextBox 40"/>
          <p:cNvSpPr txBox="1"/>
          <p:nvPr/>
        </p:nvSpPr>
        <p:spPr>
          <a:xfrm>
            <a:off x="609600" y="6613525"/>
            <a:ext cx="538162" cy="171450"/>
          </a:xfrm>
          <a:prstGeom prst="rect">
            <a:avLst/>
          </a:prstGeom>
          <a:noFill/>
        </p:spPr>
        <p:txBody>
          <a:bodyPr wrap="none" lIns="0" tIns="0" rIns="0" bIns="0" anchor="t">
            <a:noAutofit/>
          </a:bodyPr>
          <a:lstStyle/>
          <a:p>
            <a:pPr algn="l">
              <a:lnSpc>
                <a:spcPts val="1330"/>
              </a:lnSpc>
            </a:pPr>
            <a:r>
              <a:rPr sz="950" b="1">
                <a:solidFill>
                  <a:srgbClr val="24476E"/>
                </a:solidFill>
                <a:latin typeface="Microsoft JhengHei"/>
                <a:ea typeface="Microsoft JhengHei"/>
                <a:cs typeface="Microsoft JhengHei"/>
              </a:rPr>
              <a:t>1. Case</a:t>
            </a:r>
          </a:p>
        </p:txBody>
      </p:sp>
      <p:sp>
        <p:nvSpPr>
          <p:cNvPr id="42" name="Rounded Rectangle 41"/>
          <p:cNvSpPr/>
          <p:nvPr/>
        </p:nvSpPr>
        <p:spPr>
          <a:xfrm>
            <a:off x="1179830" y="6680200"/>
            <a:ext cx="9867202" cy="38100"/>
          </a:xfrm>
          <a:prstGeom prst="roundRect">
            <a:avLst>
              <a:gd name="adj" fmla="val 50000"/>
            </a:avLst>
          </a:prstGeom>
          <a:solidFill>
            <a:srgbClr val="F0F2F4"/>
          </a:solidFill>
          <a:ln>
            <a:noFill/>
          </a:ln>
          <a:effectLst/>
        </p:spPr>
        <p:txBody>
          <a:bodyPr rtlCol="0" anchor="ctr"/>
          <a:lstStyle/>
          <a:p>
            <a:endParaRPr/>
          </a:p>
        </p:txBody>
      </p:sp>
      <p:sp>
        <p:nvSpPr>
          <p:cNvPr id="43" name="Rectangle 42"/>
          <p:cNvSpPr/>
          <p:nvPr/>
        </p:nvSpPr>
        <p:spPr>
          <a:xfrm>
            <a:off x="1179830" y="6680200"/>
            <a:ext cx="822198" cy="38100"/>
          </a:xfrm>
          <a:prstGeom prst="rect">
            <a:avLst/>
          </a:prstGeom>
          <a:solidFill>
            <a:srgbClr val="F3C84B"/>
          </a:solidFill>
          <a:ln>
            <a:noFill/>
          </a:ln>
          <a:effectLst/>
        </p:spPr>
        <p:txBody>
          <a:bodyPr rtlCol="0" anchor="ctr"/>
          <a:lstStyle/>
          <a:p>
            <a:endParaRPr/>
          </a:p>
        </p:txBody>
      </p:sp>
      <p:sp>
        <p:nvSpPr>
          <p:cNvPr id="44" name="TextBox 43"/>
          <p:cNvSpPr txBox="1"/>
          <p:nvPr/>
        </p:nvSpPr>
        <p:spPr>
          <a:xfrm>
            <a:off x="11186732" y="6613525"/>
            <a:ext cx="494586" cy="171450"/>
          </a:xfrm>
          <a:prstGeom prst="rect">
            <a:avLst/>
          </a:prstGeom>
          <a:noFill/>
        </p:spPr>
        <p:txBody>
          <a:bodyPr wrap="none" lIns="0" tIns="0" rIns="0" bIns="0" anchor="t">
            <a:noAutofit/>
          </a:bodyPr>
          <a:lstStyle/>
          <a:p>
            <a:pPr algn="l">
              <a:lnSpc>
                <a:spcPts val="1330"/>
              </a:lnSpc>
            </a:pPr>
            <a:r>
              <a:rPr sz="950" b="1">
                <a:solidFill>
                  <a:srgbClr val="3B4754"/>
                </a:solidFill>
                <a:latin typeface="Microsoft JhengHei"/>
                <a:ea typeface="Microsoft JhengHei"/>
                <a:cs typeface="Microsoft JhengHei"/>
              </a:rPr>
              <a:t>01 / 12</a:t>
            </a:r>
          </a:p>
        </p:txBody>
      </p:sp>
      <p:sp>
        <p:nvSpPr>
          <p:cNvPr id="45" name="LINK_Rectangle 44">
            <a:hlinkClick r:id="rId3" action="ppaction://hlinksldjump"/>
          </p:cNvPr>
          <p:cNvSpPr/>
          <p:nvPr/>
        </p:nvSpPr>
        <p:spPr>
          <a:xfrm>
            <a:off x="9124057" y="190500"/>
            <a:ext cx="689471" cy="266700"/>
          </a:xfrm>
          <a:prstGeom prst="rect">
            <a:avLst/>
          </a:prstGeom>
          <a:solidFill>
            <a:srgbClr val="FFFFFF">
              <a:alpha val="0"/>
            </a:srgbClr>
          </a:solidFill>
          <a:ln>
            <a:noFill/>
          </a:ln>
          <a:effectLst/>
        </p:spPr>
        <p:txBody>
          <a:bodyPr rtlCol="0" anchor="ctr"/>
          <a:lstStyle/>
          <a:p>
            <a:pPr algn="ctr"/>
            <a:endParaRPr/>
          </a:p>
        </p:txBody>
      </p:sp>
      <p:sp>
        <p:nvSpPr>
          <p:cNvPr id="46" name="LINK_Rectangle 45">
            <a:hlinkClick r:id="rId4" action="ppaction://hlinksldjump"/>
          </p:cNvPr>
          <p:cNvSpPr/>
          <p:nvPr/>
        </p:nvSpPr>
        <p:spPr>
          <a:xfrm>
            <a:off x="9864328" y="190500"/>
            <a:ext cx="795734" cy="266700"/>
          </a:xfrm>
          <a:prstGeom prst="rect">
            <a:avLst/>
          </a:prstGeom>
          <a:solidFill>
            <a:srgbClr val="FFFFFF">
              <a:alpha val="0"/>
            </a:srgbClr>
          </a:solidFill>
          <a:ln>
            <a:noFill/>
          </a:ln>
          <a:effectLst/>
        </p:spPr>
        <p:txBody>
          <a:bodyPr rtlCol="0" anchor="ctr"/>
          <a:lstStyle/>
          <a:p>
            <a:pPr algn="ctr"/>
            <a:endParaRPr/>
          </a:p>
        </p:txBody>
      </p:sp>
      <p:sp>
        <p:nvSpPr>
          <p:cNvPr id="47" name="LINK_Rectangle 46">
            <a:hlinkClick r:id="rId5" action="ppaction://hlinksldjump"/>
          </p:cNvPr>
          <p:cNvSpPr/>
          <p:nvPr/>
        </p:nvSpPr>
        <p:spPr>
          <a:xfrm>
            <a:off x="10710862" y="190500"/>
            <a:ext cx="871538" cy="266700"/>
          </a:xfrm>
          <a:prstGeom prst="rect">
            <a:avLst/>
          </a:prstGeom>
          <a:solidFill>
            <a:srgbClr val="FFFFFF">
              <a:alpha val="0"/>
            </a:srgbClr>
          </a:solidFill>
          <a:ln>
            <a:noFill/>
          </a:ln>
          <a:effectLst/>
        </p:spPr>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avLst/>
          </a:prstGeom>
          <a:solidFill>
            <a:srgbClr val="FFFFFF"/>
          </a:solidFill>
          <a:ln>
            <a:noFill/>
          </a:ln>
          <a:effectLst/>
        </p:spPr>
        <p:txBody>
          <a:bodyPr rtlCol="0" anchor="ctr"/>
          <a:lstStyle/>
          <a:p>
            <a:pPr algn="ctr"/>
            <a:endParaRPr/>
          </a:p>
        </p:txBody>
      </p:sp>
      <p:sp>
        <p:nvSpPr>
          <p:cNvPr id="3" name="TextBox 2"/>
          <p:cNvSpPr txBox="1"/>
          <p:nvPr/>
        </p:nvSpPr>
        <p:spPr>
          <a:xfrm>
            <a:off x="609600" y="377825"/>
            <a:ext cx="2235438" cy="152400"/>
          </a:xfrm>
          <a:prstGeom prst="rect">
            <a:avLst/>
          </a:prstGeom>
          <a:noFill/>
        </p:spPr>
        <p:txBody>
          <a:bodyPr wrap="none" lIns="0" tIns="0" rIns="0" bIns="0" anchor="t">
            <a:noAutofit/>
          </a:bodyPr>
          <a:lstStyle/>
          <a:p>
            <a:pPr algn="l">
              <a:lnSpc>
                <a:spcPts val="1120"/>
              </a:lnSpc>
            </a:pPr>
            <a:r>
              <a:rPr sz="800" b="0">
                <a:solidFill>
                  <a:srgbClr val="1E2833"/>
                </a:solidFill>
                <a:latin typeface="Microsoft JhengHei"/>
                <a:ea typeface="Microsoft JhengHei"/>
                <a:cs typeface="Microsoft JhengHei"/>
              </a:rPr>
              <a:t>Case Presentation • 48-Year-Old Male</a:t>
            </a:r>
          </a:p>
        </p:txBody>
      </p:sp>
      <p:sp>
        <p:nvSpPr>
          <p:cNvPr id="4" name="Rounded Rectangle 3"/>
          <p:cNvSpPr/>
          <p:nvPr/>
        </p:nvSpPr>
        <p:spPr>
          <a:xfrm>
            <a:off x="7344664" y="330200"/>
            <a:ext cx="884936" cy="247650"/>
          </a:xfrm>
          <a:prstGeom prst="roundRect">
            <a:avLst>
              <a:gd name="adj" fmla="val 50000"/>
            </a:avLst>
          </a:prstGeom>
          <a:solidFill>
            <a:srgbClr val="FFFFFF"/>
          </a:solidFill>
          <a:ln w="6350">
            <a:solidFill>
              <a:srgbClr val="24476E"/>
            </a:solidFill>
          </a:ln>
          <a:effectLst/>
        </p:spPr>
        <p:txBody>
          <a:bodyPr rtlCol="0" anchor="ctr"/>
          <a:lstStyle/>
          <a:p>
            <a:endParaRPr/>
          </a:p>
        </p:txBody>
      </p:sp>
      <p:sp>
        <p:nvSpPr>
          <p:cNvPr id="5" name="TextBox 4"/>
          <p:cNvSpPr txBox="1"/>
          <p:nvPr/>
        </p:nvSpPr>
        <p:spPr>
          <a:xfrm>
            <a:off x="7465314" y="374650"/>
            <a:ext cx="237109" cy="158750"/>
          </a:xfrm>
          <a:prstGeom prst="rect">
            <a:avLst/>
          </a:prstGeom>
          <a:noFill/>
        </p:spPr>
        <p:txBody>
          <a:bodyPr wrap="none" lIns="0" tIns="0" rIns="0" bIns="0" anchor="t">
            <a:noAutofit/>
          </a:bodyPr>
          <a:lstStyle/>
          <a:p>
            <a:pPr algn="l">
              <a:lnSpc>
                <a:spcPts val="1190"/>
              </a:lnSpc>
            </a:pPr>
            <a:r>
              <a:rPr sz="850" b="1">
                <a:solidFill>
                  <a:srgbClr val="24476E"/>
                </a:solidFill>
                <a:latin typeface="Microsoft JhengHei"/>
                <a:ea typeface="Microsoft JhengHei"/>
                <a:cs typeface="Microsoft JhengHei"/>
              </a:rPr>
              <a:t>🌐</a:t>
            </a:r>
          </a:p>
        </p:txBody>
      </p:sp>
      <p:sp>
        <p:nvSpPr>
          <p:cNvPr id="6" name="TextBox 5"/>
          <p:cNvSpPr txBox="1"/>
          <p:nvPr/>
        </p:nvSpPr>
        <p:spPr>
          <a:xfrm>
            <a:off x="7651623" y="374650"/>
            <a:ext cx="571659" cy="158750"/>
          </a:xfrm>
          <a:prstGeom prst="rect">
            <a:avLst/>
          </a:prstGeom>
          <a:noFill/>
        </p:spPr>
        <p:txBody>
          <a:bodyPr wrap="none" lIns="0" tIns="0" rIns="0" bIns="0" anchor="t">
            <a:noAutofit/>
          </a:bodyPr>
          <a:lstStyle/>
          <a:p>
            <a:pPr algn="l">
              <a:lnSpc>
                <a:spcPts val="1190"/>
              </a:lnSpc>
            </a:pPr>
            <a:r>
              <a:rPr sz="850" b="1">
                <a:solidFill>
                  <a:srgbClr val="24476E"/>
                </a:solidFill>
                <a:latin typeface="Microsoft JhengHei"/>
                <a:ea typeface="Microsoft JhengHei"/>
                <a:cs typeface="Microsoft JhengHei"/>
              </a:rPr>
              <a:t>EN / 中文</a:t>
            </a:r>
          </a:p>
        </p:txBody>
      </p:sp>
      <p:sp>
        <p:nvSpPr>
          <p:cNvPr id="7" name="TextBox 6"/>
          <p:cNvSpPr txBox="1"/>
          <p:nvPr/>
        </p:nvSpPr>
        <p:spPr>
          <a:xfrm>
            <a:off x="609600" y="603250"/>
            <a:ext cx="7823914" cy="361950"/>
          </a:xfrm>
          <a:prstGeom prst="rect">
            <a:avLst/>
          </a:prstGeom>
          <a:noFill/>
        </p:spPr>
        <p:txBody>
          <a:bodyPr wrap="none" lIns="0" tIns="0" rIns="0" bIns="0" anchor="t">
            <a:noAutofit/>
          </a:bodyPr>
          <a:lstStyle/>
          <a:p>
            <a:pPr algn="l">
              <a:lnSpc>
                <a:spcPts val="2500"/>
              </a:lnSpc>
            </a:pPr>
            <a:r>
              <a:rPr sz="2000" b="1" spc="-20">
                <a:solidFill>
                  <a:srgbClr val="1E2833"/>
                </a:solidFill>
                <a:latin typeface="Microsoft JhengHei"/>
                <a:ea typeface="Microsoft JhengHei"/>
                <a:cs typeface="Microsoft JhengHei"/>
              </a:rPr>
              <a:t>Meet Mr. Hong: Successful Stent, Hidden Danger</a:t>
            </a:r>
          </a:p>
        </p:txBody>
      </p:sp>
      <p:sp>
        <p:nvSpPr>
          <p:cNvPr id="8" name="TextBox 7"/>
          <p:cNvSpPr txBox="1"/>
          <p:nvPr/>
        </p:nvSpPr>
        <p:spPr>
          <a:xfrm>
            <a:off x="609600" y="977900"/>
            <a:ext cx="8549958" cy="222250"/>
          </a:xfrm>
          <a:prstGeom prst="rect">
            <a:avLst/>
          </a:prstGeom>
          <a:noFill/>
        </p:spPr>
        <p:txBody>
          <a:bodyPr wrap="none" lIns="0" tIns="0" rIns="0" bIns="0" anchor="t">
            <a:noAutofit/>
          </a:bodyPr>
          <a:lstStyle/>
          <a:p>
            <a:pPr algn="l">
              <a:lnSpc>
                <a:spcPts val="1680"/>
              </a:lnSpc>
            </a:pPr>
            <a:r>
              <a:rPr sz="1200" b="0">
                <a:solidFill>
                  <a:srgbClr val="5F6B77"/>
                </a:solidFill>
                <a:latin typeface="Microsoft JhengHei"/>
                <a:ea typeface="Microsoft JhengHei"/>
                <a:cs typeface="Microsoft JhengHei"/>
              </a:rPr>
              <a:t>A 48-year-old gentleman revascularized within 38 minutes presents a critical metabolic challenge</a:t>
            </a:r>
          </a:p>
        </p:txBody>
      </p:sp>
      <p:sp>
        <p:nvSpPr>
          <p:cNvPr id="9" name="Rounded Rectangle 8"/>
          <p:cNvSpPr/>
          <p:nvPr/>
        </p:nvSpPr>
        <p:spPr>
          <a:xfrm>
            <a:off x="609600" y="1324546"/>
            <a:ext cx="5384800" cy="4508500"/>
          </a:xfrm>
          <a:prstGeom prst="roundRect">
            <a:avLst>
              <a:gd name="adj" fmla="val 2535"/>
            </a:avLst>
          </a:prstGeom>
          <a:solidFill>
            <a:srgbClr val="F0F2F4"/>
          </a:solidFill>
          <a:ln>
            <a:noFill/>
          </a:ln>
          <a:effectLst/>
        </p:spPr>
        <p:txBody>
          <a:bodyPr rtlCol="0" anchor="ctr"/>
          <a:lstStyle/>
          <a:p>
            <a:endParaRPr/>
          </a:p>
        </p:txBody>
      </p:sp>
      <p:sp>
        <p:nvSpPr>
          <p:cNvPr id="10" name="Rectangle 9"/>
          <p:cNvSpPr/>
          <p:nvPr/>
        </p:nvSpPr>
        <p:spPr>
          <a:xfrm>
            <a:off x="609600" y="1324546"/>
            <a:ext cx="50800" cy="4508500"/>
          </a:xfrm>
          <a:prstGeom prst="rect">
            <a:avLst/>
          </a:prstGeom>
          <a:solidFill>
            <a:srgbClr val="3F7A55"/>
          </a:solidFill>
          <a:ln>
            <a:noFill/>
          </a:ln>
          <a:effectLst/>
        </p:spPr>
        <p:txBody>
          <a:bodyPr rtlCol="0" anchor="ctr"/>
          <a:lstStyle/>
          <a:p>
            <a:endParaRPr/>
          </a:p>
        </p:txBody>
      </p:sp>
      <p:sp>
        <p:nvSpPr>
          <p:cNvPr id="11" name="TextBox 10"/>
          <p:cNvSpPr txBox="1"/>
          <p:nvPr/>
        </p:nvSpPr>
        <p:spPr>
          <a:xfrm>
            <a:off x="914400" y="1553146"/>
            <a:ext cx="1460897" cy="203200"/>
          </a:xfrm>
          <a:prstGeom prst="rect">
            <a:avLst/>
          </a:prstGeom>
          <a:noFill/>
        </p:spPr>
        <p:txBody>
          <a:bodyPr wrap="none" lIns="0" tIns="0" rIns="0" bIns="0" anchor="t">
            <a:noAutofit/>
          </a:bodyPr>
          <a:lstStyle/>
          <a:p>
            <a:pPr algn="l">
              <a:lnSpc>
                <a:spcPts val="1120"/>
              </a:lnSpc>
            </a:pPr>
            <a:r>
              <a:rPr sz="1100" b="1">
                <a:solidFill>
                  <a:srgbClr val="3F7A55"/>
                </a:solidFill>
                <a:latin typeface="Microsoft JhengHei"/>
                <a:ea typeface="Microsoft JhengHei"/>
                <a:cs typeface="Microsoft JhengHei"/>
              </a:rPr>
              <a:t>Cath Lab Success</a:t>
            </a:r>
          </a:p>
        </p:txBody>
      </p:sp>
      <p:sp>
        <p:nvSpPr>
          <p:cNvPr id="12" name="Rectangle 11"/>
          <p:cNvSpPr/>
          <p:nvPr/>
        </p:nvSpPr>
        <p:spPr>
          <a:xfrm>
            <a:off x="914400" y="1553146"/>
            <a:ext cx="1168718" cy="203200"/>
          </a:xfrm>
          <a:prstGeom prst="rect">
            <a:avLst/>
          </a:prstGeom>
          <a:solidFill>
            <a:srgbClr val="2A6E57">
              <a:alpha val="12000"/>
            </a:srgbClr>
          </a:solidFill>
          <a:ln>
            <a:noFill/>
          </a:ln>
          <a:effectLst/>
        </p:spPr>
        <p:txBody>
          <a:bodyPr rtlCol="0" anchor="ctr"/>
          <a:lstStyle/>
          <a:p>
            <a:endParaRPr/>
          </a:p>
        </p:txBody>
      </p:sp>
      <p:sp>
        <p:nvSpPr>
          <p:cNvPr id="13" name="TextBox 12"/>
          <p:cNvSpPr txBox="1"/>
          <p:nvPr/>
        </p:nvSpPr>
        <p:spPr>
          <a:xfrm>
            <a:off x="914400" y="1851596"/>
            <a:ext cx="3739039" cy="330200"/>
          </a:xfrm>
          <a:prstGeom prst="rect">
            <a:avLst/>
          </a:prstGeom>
          <a:noFill/>
        </p:spPr>
        <p:txBody>
          <a:bodyPr wrap="none" lIns="0" tIns="0" rIns="0" bIns="0" anchor="t">
            <a:noAutofit/>
          </a:bodyPr>
          <a:lstStyle/>
          <a:p>
            <a:pPr algn="l">
              <a:lnSpc>
                <a:spcPts val="2340"/>
              </a:lnSpc>
            </a:pPr>
            <a:r>
              <a:rPr sz="1800" b="1">
                <a:solidFill>
                  <a:srgbClr val="3F7A55"/>
                </a:solidFill>
                <a:latin typeface="Microsoft JhengHei"/>
                <a:ea typeface="Microsoft JhengHei"/>
                <a:cs typeface="Microsoft JhengHei"/>
              </a:rPr>
              <a:t>1. The Blockage is Cleared</a:t>
            </a:r>
          </a:p>
        </p:txBody>
      </p:sp>
      <p:sp>
        <p:nvSpPr>
          <p:cNvPr id="14" name="TextBox 13"/>
          <p:cNvSpPr txBox="1"/>
          <p:nvPr/>
        </p:nvSpPr>
        <p:spPr>
          <a:xfrm>
            <a:off x="1016000" y="2371026"/>
            <a:ext cx="2501821" cy="666750"/>
          </a:xfrm>
          <a:prstGeom prst="rect">
            <a:avLst/>
          </a:prstGeom>
          <a:noFill/>
        </p:spPr>
        <p:txBody>
          <a:bodyPr wrap="none" lIns="0" tIns="0" rIns="0" bIns="0" anchor="t">
            <a:noAutofit/>
          </a:bodyPr>
          <a:lstStyle/>
          <a:p>
            <a:pPr algn="l">
              <a:lnSpc>
                <a:spcPts val="1120"/>
              </a:lnSpc>
            </a:pPr>
            <a:r>
              <a:rPr sz="3600" b="0">
                <a:solidFill>
                  <a:srgbClr val="3F7A55"/>
                </a:solidFill>
                <a:latin typeface="Microsoft JhengHei"/>
                <a:ea typeface="Microsoft JhengHei"/>
                <a:cs typeface="Microsoft JhengHei"/>
              </a:rPr>
              <a:t>38m</a:t>
            </a:r>
          </a:p>
          <a:p>
            <a:pPr algn="l">
              <a:lnSpc>
                <a:spcPts val="1120"/>
              </a:lnSpc>
            </a:pPr>
            <a:r>
              <a:rPr sz="800" b="0">
                <a:solidFill>
                  <a:srgbClr val="1E2833"/>
                </a:solidFill>
                <a:latin typeface="Microsoft JhengHei"/>
                <a:ea typeface="Microsoft JhengHei"/>
                <a:cs typeface="Microsoft JhengHei"/>
              </a:rPr>
              <a:t> </a:t>
            </a:r>
            <a:r>
              <a:rPr sz="1100" b="0">
                <a:solidFill>
                  <a:srgbClr val="1E2833"/>
                </a:solidFill>
                <a:latin typeface="Microsoft JhengHei"/>
                <a:ea typeface="Microsoft JhengHei"/>
                <a:cs typeface="Microsoft JhengHei"/>
              </a:rPr>
              <a:t>Door-to-Balloon</a:t>
            </a:r>
          </a:p>
        </p:txBody>
      </p:sp>
      <p:sp>
        <p:nvSpPr>
          <p:cNvPr id="15" name="TextBox 14"/>
          <p:cNvSpPr txBox="1"/>
          <p:nvPr/>
        </p:nvSpPr>
        <p:spPr>
          <a:xfrm>
            <a:off x="3517900" y="2409126"/>
            <a:ext cx="2342833" cy="869950"/>
          </a:xfrm>
          <a:prstGeom prst="rect">
            <a:avLst/>
          </a:prstGeom>
          <a:noFill/>
        </p:spPr>
        <p:txBody>
          <a:bodyPr wrap="none" lIns="0" tIns="0" rIns="0" bIns="0" anchor="t">
            <a:noAutofit/>
          </a:bodyPr>
          <a:lstStyle/>
          <a:p>
            <a:pPr algn="l">
              <a:lnSpc>
                <a:spcPts val="1120"/>
              </a:lnSpc>
            </a:pPr>
            <a:r>
              <a:rPr sz="3600" b="0">
                <a:solidFill>
                  <a:srgbClr val="3F7A55"/>
                </a:solidFill>
                <a:latin typeface="Microsoft JhengHei"/>
                <a:ea typeface="Microsoft JhengHei"/>
                <a:cs typeface="Microsoft JhengHei"/>
              </a:rPr>
              <a:t>TIMI 3</a:t>
            </a:r>
          </a:p>
          <a:p>
            <a:pPr algn="l">
              <a:lnSpc>
                <a:spcPts val="1120"/>
              </a:lnSpc>
            </a:pPr>
            <a:r>
              <a:rPr sz="800" b="0">
                <a:solidFill>
                  <a:srgbClr val="1E2833"/>
                </a:solidFill>
                <a:latin typeface="Microsoft JhengHei"/>
                <a:ea typeface="Microsoft JhengHei"/>
                <a:cs typeface="Microsoft JhengHei"/>
              </a:rPr>
              <a:t> </a:t>
            </a:r>
            <a:r>
              <a:rPr sz="1100" b="0">
                <a:solidFill>
                  <a:srgbClr val="1E2833"/>
                </a:solidFill>
                <a:latin typeface="Microsoft JhengHei"/>
                <a:ea typeface="Microsoft JhengHei"/>
                <a:cs typeface="Microsoft JhengHei"/>
              </a:rPr>
              <a:t>Full Flow Restored</a:t>
            </a:r>
          </a:p>
        </p:txBody>
      </p:sp>
      <p:sp>
        <p:nvSpPr>
          <p:cNvPr id="16" name="TextBox 15"/>
          <p:cNvSpPr txBox="1"/>
          <p:nvPr/>
        </p:nvSpPr>
        <p:spPr>
          <a:xfrm>
            <a:off x="1066800" y="3501326"/>
            <a:ext cx="4952365" cy="222250"/>
          </a:xfrm>
          <a:prstGeom prst="rect">
            <a:avLst/>
          </a:prstGeom>
          <a:noFill/>
        </p:spPr>
        <p:txBody>
          <a:bodyPr wrap="none" lIns="0" tIns="0" rIns="0" bIns="0" anchor="t">
            <a:noAutofit/>
          </a:bodyPr>
          <a:lstStyle/>
          <a:p>
            <a:pPr algn="l">
              <a:lnSpc>
                <a:spcPts val="186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LAD Occlusion:</a:t>
            </a:r>
            <a:r>
              <a:rPr sz="1200" b="0">
                <a:solidFill>
                  <a:srgbClr val="1E2833"/>
                </a:solidFill>
                <a:latin typeface="Microsoft JhengHei"/>
                <a:ea typeface="Microsoft JhengHei"/>
                <a:cs typeface="Microsoft JhengHei"/>
              </a:rPr>
              <a:t> 100% blocked with acute red thrombus.</a:t>
            </a:r>
          </a:p>
        </p:txBody>
      </p:sp>
      <p:sp>
        <p:nvSpPr>
          <p:cNvPr id="17" name="TextBox 16"/>
          <p:cNvSpPr txBox="1"/>
          <p:nvPr/>
        </p:nvSpPr>
        <p:spPr>
          <a:xfrm>
            <a:off x="1066800" y="3737483"/>
            <a:ext cx="5683964" cy="222250"/>
          </a:xfrm>
          <a:prstGeom prst="rect">
            <a:avLst/>
          </a:prstGeom>
          <a:noFill/>
        </p:spPr>
        <p:txBody>
          <a:bodyPr wrap="none" lIns="0" tIns="0" rIns="0" bIns="0" anchor="t">
            <a:noAutofit/>
          </a:bodyPr>
          <a:lstStyle/>
          <a:p>
            <a:pPr algn="l">
              <a:lnSpc>
                <a:spcPts val="186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Synergy Stent:</a:t>
            </a:r>
            <a:r>
              <a:rPr sz="1200" b="0">
                <a:solidFill>
                  <a:srgbClr val="1E2833"/>
                </a:solidFill>
                <a:latin typeface="Microsoft JhengHei"/>
                <a:ea typeface="Microsoft JhengHei"/>
                <a:cs typeface="Microsoft JhengHei"/>
              </a:rPr>
              <a:t> 48 mm drug-eluting stent successfully deployed.</a:t>
            </a:r>
          </a:p>
        </p:txBody>
      </p:sp>
      <p:sp>
        <p:nvSpPr>
          <p:cNvPr id="18" name="TextBox 17"/>
          <p:cNvSpPr txBox="1"/>
          <p:nvPr/>
        </p:nvSpPr>
        <p:spPr>
          <a:xfrm>
            <a:off x="1066800" y="3973640"/>
            <a:ext cx="4334907" cy="222250"/>
          </a:xfrm>
          <a:prstGeom prst="rect">
            <a:avLst/>
          </a:prstGeom>
          <a:noFill/>
        </p:spPr>
        <p:txBody>
          <a:bodyPr wrap="none" lIns="0" tIns="0" rIns="0" bIns="0" anchor="t">
            <a:noAutofit/>
          </a:bodyPr>
          <a:lstStyle/>
          <a:p>
            <a:pPr algn="l">
              <a:lnSpc>
                <a:spcPts val="186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Heart Function:</a:t>
            </a:r>
            <a:r>
              <a:rPr sz="1200" b="0">
                <a:solidFill>
                  <a:srgbClr val="1E2833"/>
                </a:solidFill>
                <a:latin typeface="Microsoft JhengHei"/>
                <a:ea typeface="Microsoft JhengHei"/>
                <a:cs typeface="Microsoft JhengHei"/>
              </a:rPr>
              <a:t> Post-PCI LVEF preserved at 58%.</a:t>
            </a:r>
          </a:p>
        </p:txBody>
      </p:sp>
      <p:sp>
        <p:nvSpPr>
          <p:cNvPr id="19" name="Rounded Rectangle 18"/>
          <p:cNvSpPr/>
          <p:nvPr/>
        </p:nvSpPr>
        <p:spPr>
          <a:xfrm>
            <a:off x="914400" y="5159946"/>
            <a:ext cx="4826000" cy="444500"/>
          </a:xfrm>
          <a:prstGeom prst="roundRect">
            <a:avLst>
              <a:gd name="adj" fmla="val 17142"/>
            </a:avLst>
          </a:prstGeom>
          <a:solidFill>
            <a:srgbClr val="EAF4EE"/>
          </a:solidFill>
          <a:ln>
            <a:noFill/>
          </a:ln>
          <a:effectLst/>
        </p:spPr>
        <p:txBody>
          <a:bodyPr rtlCol="0" anchor="ctr"/>
          <a:lstStyle/>
          <a:p>
            <a:endParaRPr/>
          </a:p>
        </p:txBody>
      </p:sp>
      <p:sp>
        <p:nvSpPr>
          <p:cNvPr id="20" name="TextBox 19"/>
          <p:cNvSpPr txBox="1"/>
          <p:nvPr/>
        </p:nvSpPr>
        <p:spPr>
          <a:xfrm>
            <a:off x="1066800" y="5274246"/>
            <a:ext cx="2554288" cy="215900"/>
          </a:xfrm>
          <a:prstGeom prst="rect">
            <a:avLst/>
          </a:prstGeom>
          <a:noFill/>
        </p:spPr>
        <p:txBody>
          <a:bodyPr wrap="none" lIns="0" tIns="0" rIns="0" bIns="0" anchor="t">
            <a:noAutofit/>
          </a:bodyPr>
          <a:lstStyle/>
          <a:p>
            <a:pPr algn="l">
              <a:lnSpc>
                <a:spcPts val="1610"/>
              </a:lnSpc>
            </a:pPr>
            <a:r>
              <a:rPr sz="1150" b="1">
                <a:solidFill>
                  <a:srgbClr val="3F7A55"/>
                </a:solidFill>
                <a:latin typeface="Microsoft JhengHei"/>
                <a:ea typeface="Microsoft JhengHei"/>
                <a:cs typeface="Microsoft JhengHei"/>
              </a:rPr>
              <a:t>✓ Heart muscle saved today!</a:t>
            </a:r>
          </a:p>
        </p:txBody>
      </p:sp>
      <p:sp>
        <p:nvSpPr>
          <p:cNvPr id="21" name="Rounded Rectangle 20"/>
          <p:cNvSpPr/>
          <p:nvPr/>
        </p:nvSpPr>
        <p:spPr>
          <a:xfrm>
            <a:off x="6197600" y="1324546"/>
            <a:ext cx="5384800" cy="4508500"/>
          </a:xfrm>
          <a:prstGeom prst="roundRect">
            <a:avLst>
              <a:gd name="adj" fmla="val 2535"/>
            </a:avLst>
          </a:prstGeom>
          <a:solidFill>
            <a:srgbClr val="F0F2F4"/>
          </a:solidFill>
          <a:ln>
            <a:noFill/>
          </a:ln>
          <a:effectLst/>
        </p:spPr>
        <p:txBody>
          <a:bodyPr rtlCol="0" anchor="ctr"/>
          <a:lstStyle/>
          <a:p>
            <a:endParaRPr/>
          </a:p>
        </p:txBody>
      </p:sp>
      <p:sp>
        <p:nvSpPr>
          <p:cNvPr id="22" name="TextBox 21"/>
          <p:cNvSpPr txBox="1"/>
          <p:nvPr/>
        </p:nvSpPr>
        <p:spPr>
          <a:xfrm>
            <a:off x="6451600" y="1553146"/>
            <a:ext cx="1707912" cy="203200"/>
          </a:xfrm>
          <a:prstGeom prst="rect">
            <a:avLst/>
          </a:prstGeom>
          <a:noFill/>
        </p:spPr>
        <p:txBody>
          <a:bodyPr wrap="none" lIns="0" tIns="0" rIns="0" bIns="0" anchor="t">
            <a:noAutofit/>
          </a:bodyPr>
          <a:lstStyle/>
          <a:p>
            <a:pPr algn="l">
              <a:lnSpc>
                <a:spcPts val="1120"/>
              </a:lnSpc>
            </a:pPr>
            <a:r>
              <a:rPr sz="1100" b="1">
                <a:solidFill>
                  <a:srgbClr val="1E2833"/>
                </a:solidFill>
                <a:latin typeface="Microsoft JhengHei"/>
                <a:ea typeface="Microsoft JhengHei"/>
                <a:cs typeface="Microsoft JhengHei"/>
              </a:rPr>
              <a:t>Laboratory Warning</a:t>
            </a:r>
          </a:p>
        </p:txBody>
      </p:sp>
      <p:sp>
        <p:nvSpPr>
          <p:cNvPr id="23" name="Rectangle 22"/>
          <p:cNvSpPr/>
          <p:nvPr/>
        </p:nvSpPr>
        <p:spPr>
          <a:xfrm>
            <a:off x="6451600" y="1553146"/>
            <a:ext cx="1366330" cy="203200"/>
          </a:xfrm>
          <a:prstGeom prst="rect">
            <a:avLst/>
          </a:prstGeom>
          <a:solidFill>
            <a:srgbClr val="B85030">
              <a:alpha val="12000"/>
            </a:srgbClr>
          </a:solidFill>
          <a:ln>
            <a:noFill/>
          </a:ln>
          <a:effectLst/>
        </p:spPr>
        <p:txBody>
          <a:bodyPr rtlCol="0" anchor="ctr"/>
          <a:lstStyle/>
          <a:p>
            <a:endParaRPr/>
          </a:p>
        </p:txBody>
      </p:sp>
      <p:sp>
        <p:nvSpPr>
          <p:cNvPr id="24" name="TextBox 23"/>
          <p:cNvSpPr txBox="1"/>
          <p:nvPr/>
        </p:nvSpPr>
        <p:spPr>
          <a:xfrm>
            <a:off x="6451600" y="1851596"/>
            <a:ext cx="3586480" cy="330200"/>
          </a:xfrm>
          <a:prstGeom prst="rect">
            <a:avLst/>
          </a:prstGeom>
          <a:noFill/>
        </p:spPr>
        <p:txBody>
          <a:bodyPr wrap="none" lIns="0" tIns="0" rIns="0" bIns="0" anchor="t">
            <a:noAutofit/>
          </a:bodyPr>
          <a:lstStyle/>
          <a:p>
            <a:pPr algn="l">
              <a:lnSpc>
                <a:spcPts val="2340"/>
              </a:lnSpc>
            </a:pPr>
            <a:r>
              <a:rPr sz="1800" b="1">
                <a:solidFill>
                  <a:srgbClr val="1E2833"/>
                </a:solidFill>
                <a:latin typeface="Microsoft JhengHei"/>
                <a:ea typeface="Microsoft JhengHei"/>
                <a:cs typeface="Microsoft JhengHei"/>
              </a:rPr>
              <a:t>2. The Underlying Threat</a:t>
            </a:r>
          </a:p>
        </p:txBody>
      </p:sp>
      <p:sp>
        <p:nvSpPr>
          <p:cNvPr id="25" name="TextBox 24"/>
          <p:cNvSpPr txBox="1"/>
          <p:nvPr/>
        </p:nvSpPr>
        <p:spPr>
          <a:xfrm>
            <a:off x="6553200" y="2371026"/>
            <a:ext cx="2712641" cy="666750"/>
          </a:xfrm>
          <a:prstGeom prst="rect">
            <a:avLst/>
          </a:prstGeom>
          <a:noFill/>
        </p:spPr>
        <p:txBody>
          <a:bodyPr wrap="none" lIns="0" tIns="0" rIns="0" bIns="0" anchor="t">
            <a:noAutofit/>
          </a:bodyPr>
          <a:lstStyle/>
          <a:p>
            <a:pPr algn="l">
              <a:lnSpc>
                <a:spcPts val="1120"/>
              </a:lnSpc>
            </a:pPr>
            <a:r>
              <a:rPr sz="3600" b="0">
                <a:solidFill>
                  <a:srgbClr val="1E2833"/>
                </a:solidFill>
                <a:latin typeface="Microsoft JhengHei"/>
                <a:ea typeface="Microsoft JhengHei"/>
                <a:cs typeface="Microsoft JhengHei"/>
              </a:rPr>
              <a:t>173</a:t>
            </a:r>
          </a:p>
          <a:p>
            <a:pPr algn="l">
              <a:lnSpc>
                <a:spcPts val="1120"/>
              </a:lnSpc>
            </a:pPr>
            <a:r>
              <a:rPr sz="800" b="0">
                <a:solidFill>
                  <a:srgbClr val="1E2833"/>
                </a:solidFill>
                <a:latin typeface="Microsoft JhengHei"/>
                <a:ea typeface="Microsoft JhengHei"/>
                <a:cs typeface="Microsoft JhengHei"/>
              </a:rPr>
              <a:t> </a:t>
            </a:r>
            <a:r>
              <a:rPr sz="1100" b="0">
                <a:solidFill>
                  <a:srgbClr val="1E2833"/>
                </a:solidFill>
                <a:latin typeface="Microsoft JhengHei"/>
                <a:ea typeface="Microsoft JhengHei"/>
                <a:cs typeface="Microsoft JhengHei"/>
              </a:rPr>
              <a:t>Baseline LDL (mg/dL)</a:t>
            </a:r>
          </a:p>
        </p:txBody>
      </p:sp>
      <p:sp>
        <p:nvSpPr>
          <p:cNvPr id="26" name="TextBox 25"/>
          <p:cNvSpPr txBox="1"/>
          <p:nvPr/>
        </p:nvSpPr>
        <p:spPr>
          <a:xfrm>
            <a:off x="9080500" y="2409126"/>
            <a:ext cx="2399586" cy="666750"/>
          </a:xfrm>
          <a:prstGeom prst="rect">
            <a:avLst/>
          </a:prstGeom>
          <a:noFill/>
        </p:spPr>
        <p:txBody>
          <a:bodyPr wrap="none" lIns="0" tIns="0" rIns="0" bIns="0" anchor="t">
            <a:noAutofit/>
          </a:bodyPr>
          <a:lstStyle/>
          <a:p>
            <a:pPr algn="l">
              <a:lnSpc>
                <a:spcPts val="1120"/>
              </a:lnSpc>
            </a:pPr>
            <a:r>
              <a:rPr sz="3600" b="0">
                <a:solidFill>
                  <a:srgbClr val="1E2833"/>
                </a:solidFill>
                <a:latin typeface="Microsoft JhengHei"/>
                <a:ea typeface="Microsoft JhengHei"/>
                <a:cs typeface="Microsoft JhengHei"/>
              </a:rPr>
              <a:t>756</a:t>
            </a:r>
          </a:p>
          <a:p>
            <a:pPr algn="l">
              <a:lnSpc>
                <a:spcPts val="1120"/>
              </a:lnSpc>
            </a:pPr>
            <a:r>
              <a:rPr sz="800" b="0">
                <a:solidFill>
                  <a:srgbClr val="1E2833"/>
                </a:solidFill>
                <a:latin typeface="Microsoft JhengHei"/>
                <a:ea typeface="Microsoft JhengHei"/>
                <a:cs typeface="Microsoft JhengHei"/>
              </a:rPr>
              <a:t> </a:t>
            </a:r>
            <a:r>
              <a:rPr sz="1100" b="0">
                <a:solidFill>
                  <a:srgbClr val="1E2833"/>
                </a:solidFill>
                <a:latin typeface="Microsoft JhengHei"/>
                <a:ea typeface="Microsoft JhengHei"/>
                <a:cs typeface="Microsoft JhengHei"/>
              </a:rPr>
              <a:t>Troponin T (ng/L)</a:t>
            </a:r>
          </a:p>
        </p:txBody>
      </p:sp>
      <p:sp>
        <p:nvSpPr>
          <p:cNvPr id="27" name="TextBox 26"/>
          <p:cNvSpPr txBox="1"/>
          <p:nvPr/>
        </p:nvSpPr>
        <p:spPr>
          <a:xfrm>
            <a:off x="6604000" y="3298126"/>
            <a:ext cx="5588000" cy="222250"/>
          </a:xfrm>
          <a:prstGeom prst="rect">
            <a:avLst/>
          </a:prstGeom>
          <a:noFill/>
        </p:spPr>
        <p:txBody>
          <a:bodyPr wrap="none" lIns="0" tIns="0" rIns="0" bIns="0" anchor="t">
            <a:noAutofit/>
          </a:bodyPr>
          <a:lstStyle/>
          <a:p>
            <a:pPr algn="l">
              <a:lnSpc>
                <a:spcPts val="186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Low Protective HDL:</a:t>
            </a:r>
            <a:r>
              <a:rPr sz="1200" b="0">
                <a:solidFill>
                  <a:srgbClr val="1E2833"/>
                </a:solidFill>
                <a:latin typeface="Microsoft JhengHei"/>
                <a:ea typeface="Microsoft JhengHei"/>
                <a:cs typeface="Microsoft JhengHei"/>
              </a:rPr>
              <a:t> 38 mg/dL (Non-diabetic, non-hypertensive).</a:t>
            </a:r>
          </a:p>
        </p:txBody>
      </p:sp>
      <p:sp>
        <p:nvSpPr>
          <p:cNvPr id="28" name="TextBox 27"/>
          <p:cNvSpPr txBox="1"/>
          <p:nvPr/>
        </p:nvSpPr>
        <p:spPr>
          <a:xfrm>
            <a:off x="6604000" y="3534283"/>
            <a:ext cx="5518706" cy="222250"/>
          </a:xfrm>
          <a:prstGeom prst="rect">
            <a:avLst/>
          </a:prstGeom>
          <a:noFill/>
        </p:spPr>
        <p:txBody>
          <a:bodyPr wrap="none" lIns="0" tIns="0" rIns="0" bIns="0" anchor="t">
            <a:noAutofit/>
          </a:bodyPr>
          <a:lstStyle/>
          <a:p>
            <a:pPr algn="l">
              <a:lnSpc>
                <a:spcPts val="186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Total Cholesterol:</a:t>
            </a:r>
            <a:r>
              <a:rPr sz="1200" b="0">
                <a:solidFill>
                  <a:srgbClr val="1E2833"/>
                </a:solidFill>
                <a:latin typeface="Microsoft JhengHei"/>
                <a:ea typeface="Microsoft JhengHei"/>
                <a:cs typeface="Microsoft JhengHei"/>
              </a:rPr>
              <a:t> 248 mg/dL with severe atherogenic burden.</a:t>
            </a:r>
          </a:p>
        </p:txBody>
      </p:sp>
      <p:sp>
        <p:nvSpPr>
          <p:cNvPr id="29" name="TextBox 28"/>
          <p:cNvSpPr txBox="1"/>
          <p:nvPr/>
        </p:nvSpPr>
        <p:spPr>
          <a:xfrm>
            <a:off x="6604000" y="3770440"/>
            <a:ext cx="4724400" cy="458406"/>
          </a:xfrm>
          <a:prstGeom prst="rect">
            <a:avLst/>
          </a:prstGeom>
          <a:noFill/>
        </p:spPr>
        <p:txBody>
          <a:bodyPr wrap="square" lIns="0" tIns="0" rIns="0" bIns="0" anchor="t">
            <a:noAutofit/>
          </a:bodyPr>
          <a:lstStyle/>
          <a:p>
            <a:pPr algn="l">
              <a:lnSpc>
                <a:spcPts val="186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The Core Dilemma:</a:t>
            </a:r>
            <a:r>
              <a:rPr sz="1200" b="0">
                <a:solidFill>
                  <a:srgbClr val="1E2833"/>
                </a:solidFill>
                <a:latin typeface="Microsoft JhengHei"/>
                <a:ea typeface="Microsoft JhengHei"/>
                <a:cs typeface="Microsoft JhengHei"/>
              </a:rPr>
              <a:t> Stent fixed 48 mm. But with LDL 173, what about the rest?</a:t>
            </a:r>
          </a:p>
        </p:txBody>
      </p:sp>
      <p:sp>
        <p:nvSpPr>
          <p:cNvPr id="30" name="Rounded Rectangle 29"/>
          <p:cNvSpPr/>
          <p:nvPr/>
        </p:nvSpPr>
        <p:spPr>
          <a:xfrm>
            <a:off x="6451600" y="5159946"/>
            <a:ext cx="4876800" cy="444500"/>
          </a:xfrm>
          <a:prstGeom prst="roundRect">
            <a:avLst>
              <a:gd name="adj" fmla="val 17142"/>
            </a:avLst>
          </a:prstGeom>
          <a:solidFill>
            <a:srgbClr val="FDF1ED"/>
          </a:solidFill>
          <a:ln>
            <a:noFill/>
          </a:ln>
          <a:effectLst/>
        </p:spPr>
        <p:txBody>
          <a:bodyPr rtlCol="0" anchor="ctr"/>
          <a:lstStyle/>
          <a:p>
            <a:endParaRPr/>
          </a:p>
        </p:txBody>
      </p:sp>
      <p:sp>
        <p:nvSpPr>
          <p:cNvPr id="31" name="TextBox 30"/>
          <p:cNvSpPr txBox="1"/>
          <p:nvPr/>
        </p:nvSpPr>
        <p:spPr>
          <a:xfrm>
            <a:off x="6604000" y="5274246"/>
            <a:ext cx="4076303" cy="215900"/>
          </a:xfrm>
          <a:prstGeom prst="rect">
            <a:avLst/>
          </a:prstGeom>
          <a:noFill/>
        </p:spPr>
        <p:txBody>
          <a:bodyPr wrap="none" lIns="0" tIns="0" rIns="0" bIns="0" anchor="t">
            <a:noAutofit/>
          </a:bodyPr>
          <a:lstStyle/>
          <a:p>
            <a:pPr algn="l">
              <a:lnSpc>
                <a:spcPts val="1610"/>
              </a:lnSpc>
            </a:pPr>
            <a:r>
              <a:rPr sz="1150" b="1">
                <a:solidFill>
                  <a:srgbClr val="1E2833"/>
                </a:solidFill>
                <a:latin typeface="Microsoft JhengHei"/>
                <a:ea typeface="Microsoft JhengHei"/>
                <a:cs typeface="Microsoft JhengHei"/>
              </a:rPr>
              <a:t>⚠ Systemic vascular risk remains fully active!</a:t>
            </a:r>
          </a:p>
        </p:txBody>
      </p:sp>
      <p:sp>
        <p:nvSpPr>
          <p:cNvPr id="32" name="Rectangle 31"/>
          <p:cNvSpPr/>
          <p:nvPr/>
        </p:nvSpPr>
        <p:spPr>
          <a:xfrm>
            <a:off x="609600" y="6066854"/>
            <a:ext cx="10972800" cy="6350"/>
          </a:xfrm>
          <a:prstGeom prst="rect">
            <a:avLst/>
          </a:prstGeom>
          <a:solidFill>
            <a:srgbClr val="F0F2F4"/>
          </a:solidFill>
          <a:ln>
            <a:noFill/>
          </a:ln>
          <a:effectLst/>
        </p:spPr>
        <p:txBody>
          <a:bodyPr rtlCol="0" anchor="ctr"/>
          <a:lstStyle/>
          <a:p>
            <a:endParaRPr/>
          </a:p>
        </p:txBody>
      </p:sp>
      <p:sp>
        <p:nvSpPr>
          <p:cNvPr id="33" name="TextBox 32"/>
          <p:cNvSpPr txBox="1"/>
          <p:nvPr/>
        </p:nvSpPr>
        <p:spPr>
          <a:xfrm>
            <a:off x="609600" y="6130354"/>
            <a:ext cx="9590246" cy="171450"/>
          </a:xfrm>
          <a:prstGeom prst="rect">
            <a:avLst/>
          </a:prstGeom>
          <a:noFill/>
        </p:spPr>
        <p:txBody>
          <a:bodyPr wrap="none" lIns="0" tIns="0" rIns="0" bIns="0" anchor="t">
            <a:noAutofit/>
          </a:bodyPr>
          <a:lstStyle/>
          <a:p>
            <a:pPr algn="l">
              <a:lnSpc>
                <a:spcPts val="1330"/>
              </a:lnSpc>
            </a:pPr>
            <a:r>
              <a:rPr sz="950" b="0">
                <a:solidFill>
                  <a:srgbClr val="5F6B77"/>
                </a:solidFill>
                <a:latin typeface="Microsoft JhengHei"/>
                <a:ea typeface="Microsoft JhengHei"/>
                <a:cs typeface="Microsoft JhengHei"/>
              </a:rPr>
              <a:t>1. Damluji AA, et al. Mechanical Complications of Acute Myocardial Infarction. Circulation. 2021;144(2):e16-e35. | 2. NTU Case Record 2026.</a:t>
            </a:r>
          </a:p>
        </p:txBody>
      </p:sp>
      <p:sp>
        <p:nvSpPr>
          <p:cNvPr id="34" name="Rounded Rectangle 33"/>
          <p:cNvSpPr/>
          <p:nvPr/>
        </p:nvSpPr>
        <p:spPr>
          <a:xfrm>
            <a:off x="8473948" y="190500"/>
            <a:ext cx="599313" cy="266700"/>
          </a:xfrm>
          <a:prstGeom prst="roundRect">
            <a:avLst>
              <a:gd name="adj" fmla="val 50000"/>
            </a:avLst>
          </a:prstGeom>
          <a:solidFill>
            <a:srgbClr val="24476E"/>
          </a:solidFill>
          <a:ln w="12700">
            <a:solidFill>
              <a:srgbClr val="24476E"/>
            </a:solidFill>
          </a:ln>
          <a:effectLst/>
        </p:spPr>
        <p:txBody>
          <a:bodyPr rtlCol="0" anchor="ctr"/>
          <a:lstStyle/>
          <a:p>
            <a:endParaRPr/>
          </a:p>
        </p:txBody>
      </p:sp>
      <p:sp>
        <p:nvSpPr>
          <p:cNvPr id="35" name="TextBox 34"/>
          <p:cNvSpPr txBox="1"/>
          <p:nvPr/>
        </p:nvSpPr>
        <p:spPr>
          <a:xfrm>
            <a:off x="8575548" y="241300"/>
            <a:ext cx="495141" cy="165100"/>
          </a:xfrm>
          <a:prstGeom prst="rect">
            <a:avLst/>
          </a:prstGeom>
          <a:noFill/>
        </p:spPr>
        <p:txBody>
          <a:bodyPr wrap="none" lIns="0" tIns="0" rIns="0" bIns="0" anchor="t">
            <a:noAutofit/>
          </a:bodyPr>
          <a:lstStyle/>
          <a:p>
            <a:pPr algn="l">
              <a:lnSpc>
                <a:spcPts val="1260"/>
              </a:lnSpc>
            </a:pPr>
            <a:r>
              <a:rPr sz="900" b="1">
                <a:solidFill>
                  <a:srgbClr val="FFFFFF"/>
                </a:solidFill>
                <a:latin typeface="Microsoft JhengHei"/>
                <a:ea typeface="Microsoft JhengHei"/>
                <a:cs typeface="Microsoft JhengHei"/>
              </a:rPr>
              <a:t>1. Case</a:t>
            </a:r>
          </a:p>
        </p:txBody>
      </p:sp>
      <p:sp>
        <p:nvSpPr>
          <p:cNvPr id="36" name="Rounded Rectangle 35"/>
          <p:cNvSpPr/>
          <p:nvPr/>
        </p:nvSpPr>
        <p:spPr>
          <a:xfrm>
            <a:off x="9124061" y="190500"/>
            <a:ext cx="689483"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37" name="TextBox 36"/>
          <p:cNvSpPr txBox="1"/>
          <p:nvPr/>
        </p:nvSpPr>
        <p:spPr>
          <a:xfrm>
            <a:off x="9225661" y="241300"/>
            <a:ext cx="607854"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2. Target</a:t>
            </a:r>
          </a:p>
        </p:txBody>
      </p:sp>
      <p:sp>
        <p:nvSpPr>
          <p:cNvPr id="38" name="Rounded Rectangle 37"/>
          <p:cNvSpPr/>
          <p:nvPr/>
        </p:nvSpPr>
        <p:spPr>
          <a:xfrm>
            <a:off x="9864344" y="190500"/>
            <a:ext cx="795718"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39" name="TextBox 38"/>
          <p:cNvSpPr txBox="1"/>
          <p:nvPr/>
        </p:nvSpPr>
        <p:spPr>
          <a:xfrm>
            <a:off x="9965944" y="241300"/>
            <a:ext cx="740648"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3. Therapy</a:t>
            </a:r>
          </a:p>
        </p:txBody>
      </p:sp>
      <p:sp>
        <p:nvSpPr>
          <p:cNvPr id="40" name="Rounded Rectangle 39"/>
          <p:cNvSpPr/>
          <p:nvPr/>
        </p:nvSpPr>
        <p:spPr>
          <a:xfrm>
            <a:off x="10710862" y="190500"/>
            <a:ext cx="871538"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41" name="TextBox 40"/>
          <p:cNvSpPr txBox="1"/>
          <p:nvPr/>
        </p:nvSpPr>
        <p:spPr>
          <a:xfrm>
            <a:off x="10812462" y="241300"/>
            <a:ext cx="835422"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4. Roadmap</a:t>
            </a:r>
          </a:p>
        </p:txBody>
      </p:sp>
      <p:sp>
        <p:nvSpPr>
          <p:cNvPr id="42" name="Rectangle 41"/>
          <p:cNvSpPr/>
          <p:nvPr/>
        </p:nvSpPr>
        <p:spPr>
          <a:xfrm>
            <a:off x="0" y="6527800"/>
            <a:ext cx="12192000" cy="330200"/>
          </a:xfrm>
          <a:prstGeom prst="rect">
            <a:avLst/>
          </a:prstGeom>
          <a:solidFill>
            <a:srgbClr val="FFFFFF"/>
          </a:solidFill>
          <a:ln>
            <a:noFill/>
          </a:ln>
          <a:effectLst/>
        </p:spPr>
        <p:txBody>
          <a:bodyPr rtlCol="0" anchor="ctr"/>
          <a:lstStyle/>
          <a:p>
            <a:endParaRPr/>
          </a:p>
        </p:txBody>
      </p:sp>
      <p:sp>
        <p:nvSpPr>
          <p:cNvPr id="43" name="Rectangle 42"/>
          <p:cNvSpPr/>
          <p:nvPr/>
        </p:nvSpPr>
        <p:spPr>
          <a:xfrm>
            <a:off x="0" y="6527800"/>
            <a:ext cx="12192000" cy="12700"/>
          </a:xfrm>
          <a:prstGeom prst="rect">
            <a:avLst/>
          </a:prstGeom>
          <a:solidFill>
            <a:srgbClr val="F0F2F4"/>
          </a:solidFill>
          <a:ln>
            <a:noFill/>
          </a:ln>
          <a:effectLst/>
        </p:spPr>
        <p:txBody>
          <a:bodyPr rtlCol="0" anchor="ctr"/>
          <a:lstStyle/>
          <a:p>
            <a:endParaRPr/>
          </a:p>
        </p:txBody>
      </p:sp>
      <p:sp>
        <p:nvSpPr>
          <p:cNvPr id="44" name="TextBox 43"/>
          <p:cNvSpPr txBox="1"/>
          <p:nvPr/>
        </p:nvSpPr>
        <p:spPr>
          <a:xfrm>
            <a:off x="609600" y="6613525"/>
            <a:ext cx="538162" cy="171450"/>
          </a:xfrm>
          <a:prstGeom prst="rect">
            <a:avLst/>
          </a:prstGeom>
          <a:noFill/>
        </p:spPr>
        <p:txBody>
          <a:bodyPr wrap="none" lIns="0" tIns="0" rIns="0" bIns="0" anchor="t">
            <a:noAutofit/>
          </a:bodyPr>
          <a:lstStyle/>
          <a:p>
            <a:pPr algn="l">
              <a:lnSpc>
                <a:spcPts val="1330"/>
              </a:lnSpc>
            </a:pPr>
            <a:r>
              <a:rPr sz="950" b="1">
                <a:solidFill>
                  <a:srgbClr val="24476E"/>
                </a:solidFill>
                <a:latin typeface="Microsoft JhengHei"/>
                <a:ea typeface="Microsoft JhengHei"/>
                <a:cs typeface="Microsoft JhengHei"/>
              </a:rPr>
              <a:t>1. Case</a:t>
            </a:r>
          </a:p>
        </p:txBody>
      </p:sp>
      <p:sp>
        <p:nvSpPr>
          <p:cNvPr id="45" name="Rounded Rectangle 44"/>
          <p:cNvSpPr/>
          <p:nvPr/>
        </p:nvSpPr>
        <p:spPr>
          <a:xfrm>
            <a:off x="1179830" y="6680200"/>
            <a:ext cx="9867202" cy="38100"/>
          </a:xfrm>
          <a:prstGeom prst="roundRect">
            <a:avLst>
              <a:gd name="adj" fmla="val 50000"/>
            </a:avLst>
          </a:prstGeom>
          <a:solidFill>
            <a:srgbClr val="F0F2F4"/>
          </a:solidFill>
          <a:ln>
            <a:noFill/>
          </a:ln>
          <a:effectLst/>
        </p:spPr>
        <p:txBody>
          <a:bodyPr rtlCol="0" anchor="ctr"/>
          <a:lstStyle/>
          <a:p>
            <a:endParaRPr/>
          </a:p>
        </p:txBody>
      </p:sp>
      <p:sp>
        <p:nvSpPr>
          <p:cNvPr id="46" name="Rectangle 45"/>
          <p:cNvSpPr/>
          <p:nvPr/>
        </p:nvSpPr>
        <p:spPr>
          <a:xfrm>
            <a:off x="1179830" y="6680200"/>
            <a:ext cx="1644460" cy="38100"/>
          </a:xfrm>
          <a:prstGeom prst="rect">
            <a:avLst/>
          </a:prstGeom>
          <a:solidFill>
            <a:srgbClr val="F3C84B"/>
          </a:solidFill>
          <a:ln>
            <a:noFill/>
          </a:ln>
          <a:effectLst/>
        </p:spPr>
        <p:txBody>
          <a:bodyPr rtlCol="0" anchor="ctr"/>
          <a:lstStyle/>
          <a:p>
            <a:endParaRPr/>
          </a:p>
        </p:txBody>
      </p:sp>
      <p:sp>
        <p:nvSpPr>
          <p:cNvPr id="47" name="TextBox 46"/>
          <p:cNvSpPr txBox="1"/>
          <p:nvPr/>
        </p:nvSpPr>
        <p:spPr>
          <a:xfrm>
            <a:off x="11186732" y="6613525"/>
            <a:ext cx="494586" cy="171450"/>
          </a:xfrm>
          <a:prstGeom prst="rect">
            <a:avLst/>
          </a:prstGeom>
          <a:noFill/>
        </p:spPr>
        <p:txBody>
          <a:bodyPr wrap="none" lIns="0" tIns="0" rIns="0" bIns="0" anchor="t">
            <a:noAutofit/>
          </a:bodyPr>
          <a:lstStyle/>
          <a:p>
            <a:pPr algn="l">
              <a:lnSpc>
                <a:spcPts val="1330"/>
              </a:lnSpc>
            </a:pPr>
            <a:r>
              <a:rPr sz="950" b="1">
                <a:solidFill>
                  <a:srgbClr val="3B4754"/>
                </a:solidFill>
                <a:latin typeface="Microsoft JhengHei"/>
                <a:ea typeface="Microsoft JhengHei"/>
                <a:cs typeface="Microsoft JhengHei"/>
              </a:rPr>
              <a:t>02 / 12</a:t>
            </a:r>
          </a:p>
        </p:txBody>
      </p:sp>
      <p:sp>
        <p:nvSpPr>
          <p:cNvPr id="48" name="LINK_Rectangle 47">
            <a:hlinkClick r:id="rId3" action="ppaction://hlinksldjump"/>
          </p:cNvPr>
          <p:cNvSpPr/>
          <p:nvPr/>
        </p:nvSpPr>
        <p:spPr>
          <a:xfrm>
            <a:off x="8473976" y="190500"/>
            <a:ext cx="599281" cy="266700"/>
          </a:xfrm>
          <a:prstGeom prst="rect">
            <a:avLst/>
          </a:prstGeom>
          <a:solidFill>
            <a:srgbClr val="FFFFFF">
              <a:alpha val="0"/>
            </a:srgbClr>
          </a:solidFill>
          <a:ln>
            <a:noFill/>
          </a:ln>
          <a:effectLst/>
        </p:spPr>
        <p:txBody>
          <a:bodyPr rtlCol="0" anchor="ctr"/>
          <a:lstStyle/>
          <a:p>
            <a:pPr algn="ctr"/>
            <a:endParaRPr/>
          </a:p>
        </p:txBody>
      </p:sp>
      <p:sp>
        <p:nvSpPr>
          <p:cNvPr id="49" name="LINK_Rectangle 48">
            <a:hlinkClick r:id="rId4" action="ppaction://hlinksldjump"/>
          </p:cNvPr>
          <p:cNvSpPr/>
          <p:nvPr/>
        </p:nvSpPr>
        <p:spPr>
          <a:xfrm>
            <a:off x="9124057" y="190500"/>
            <a:ext cx="689471" cy="266700"/>
          </a:xfrm>
          <a:prstGeom prst="rect">
            <a:avLst/>
          </a:prstGeom>
          <a:solidFill>
            <a:srgbClr val="FFFFFF">
              <a:alpha val="0"/>
            </a:srgbClr>
          </a:solidFill>
          <a:ln>
            <a:noFill/>
          </a:ln>
          <a:effectLst/>
        </p:spPr>
        <p:txBody>
          <a:bodyPr rtlCol="0" anchor="ctr"/>
          <a:lstStyle/>
          <a:p>
            <a:pPr algn="ctr"/>
            <a:endParaRPr/>
          </a:p>
        </p:txBody>
      </p:sp>
      <p:sp>
        <p:nvSpPr>
          <p:cNvPr id="50" name="LINK_Rectangle 49">
            <a:hlinkClick r:id="rId5" action="ppaction://hlinksldjump"/>
          </p:cNvPr>
          <p:cNvSpPr/>
          <p:nvPr/>
        </p:nvSpPr>
        <p:spPr>
          <a:xfrm>
            <a:off x="9864328" y="190500"/>
            <a:ext cx="795734" cy="266700"/>
          </a:xfrm>
          <a:prstGeom prst="rect">
            <a:avLst/>
          </a:prstGeom>
          <a:solidFill>
            <a:srgbClr val="FFFFFF">
              <a:alpha val="0"/>
            </a:srgbClr>
          </a:solidFill>
          <a:ln>
            <a:noFill/>
          </a:ln>
          <a:effectLst/>
        </p:spPr>
        <p:txBody>
          <a:bodyPr rtlCol="0" anchor="ctr"/>
          <a:lstStyle/>
          <a:p>
            <a:pPr algn="ctr"/>
            <a:endParaRPr/>
          </a:p>
        </p:txBody>
      </p:sp>
      <p:sp>
        <p:nvSpPr>
          <p:cNvPr id="51" name="LINK_Rectangle 50">
            <a:hlinkClick r:id="rId6" action="ppaction://hlinksldjump"/>
          </p:cNvPr>
          <p:cNvSpPr/>
          <p:nvPr/>
        </p:nvSpPr>
        <p:spPr>
          <a:xfrm>
            <a:off x="10710862" y="190500"/>
            <a:ext cx="871538" cy="266700"/>
          </a:xfrm>
          <a:prstGeom prst="rect">
            <a:avLst/>
          </a:prstGeom>
          <a:solidFill>
            <a:srgbClr val="FFFFFF">
              <a:alpha val="0"/>
            </a:srgbClr>
          </a:solidFill>
          <a:ln>
            <a:noFill/>
          </a:ln>
          <a:effectLst/>
        </p:spPr>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avLst/>
          </a:prstGeom>
          <a:solidFill>
            <a:srgbClr val="FFFFFF"/>
          </a:solidFill>
          <a:ln>
            <a:noFill/>
          </a:ln>
          <a:effectLst/>
        </p:spPr>
        <p:txBody>
          <a:bodyPr rtlCol="0" anchor="ctr"/>
          <a:lstStyle/>
          <a:p>
            <a:pPr algn="ctr"/>
            <a:endParaRPr/>
          </a:p>
        </p:txBody>
      </p:sp>
      <p:sp>
        <p:nvSpPr>
          <p:cNvPr id="3" name="TextBox 2"/>
          <p:cNvSpPr txBox="1"/>
          <p:nvPr/>
        </p:nvSpPr>
        <p:spPr>
          <a:xfrm>
            <a:off x="609600" y="377825"/>
            <a:ext cx="2462133" cy="152400"/>
          </a:xfrm>
          <a:prstGeom prst="rect">
            <a:avLst/>
          </a:prstGeom>
          <a:noFill/>
        </p:spPr>
        <p:txBody>
          <a:bodyPr wrap="none" lIns="0" tIns="0" rIns="0" bIns="0" anchor="t">
            <a:noAutofit/>
          </a:bodyPr>
          <a:lstStyle/>
          <a:p>
            <a:pPr algn="l">
              <a:lnSpc>
                <a:spcPts val="1120"/>
              </a:lnSpc>
            </a:pPr>
            <a:r>
              <a:rPr sz="800" b="0">
                <a:solidFill>
                  <a:srgbClr val="1E2833"/>
                </a:solidFill>
                <a:latin typeface="Microsoft JhengHei"/>
                <a:ea typeface="Microsoft JhengHei"/>
                <a:cs typeface="Microsoft JhengHei"/>
              </a:rPr>
              <a:t>Vascular Biology • Pathology Mechanism</a:t>
            </a:r>
          </a:p>
        </p:txBody>
      </p:sp>
      <p:sp>
        <p:nvSpPr>
          <p:cNvPr id="4" name="Rounded Rectangle 3"/>
          <p:cNvSpPr/>
          <p:nvPr/>
        </p:nvSpPr>
        <p:spPr>
          <a:xfrm>
            <a:off x="7344664" y="330200"/>
            <a:ext cx="884936" cy="247650"/>
          </a:xfrm>
          <a:prstGeom prst="roundRect">
            <a:avLst>
              <a:gd name="adj" fmla="val 50000"/>
            </a:avLst>
          </a:prstGeom>
          <a:solidFill>
            <a:srgbClr val="FFFFFF"/>
          </a:solidFill>
          <a:ln w="6350">
            <a:solidFill>
              <a:srgbClr val="24476E"/>
            </a:solidFill>
          </a:ln>
          <a:effectLst/>
        </p:spPr>
        <p:txBody>
          <a:bodyPr rtlCol="0" anchor="ctr"/>
          <a:lstStyle/>
          <a:p>
            <a:endParaRPr/>
          </a:p>
        </p:txBody>
      </p:sp>
      <p:sp>
        <p:nvSpPr>
          <p:cNvPr id="5" name="TextBox 4"/>
          <p:cNvSpPr txBox="1"/>
          <p:nvPr/>
        </p:nvSpPr>
        <p:spPr>
          <a:xfrm>
            <a:off x="7465314" y="374650"/>
            <a:ext cx="237109" cy="158750"/>
          </a:xfrm>
          <a:prstGeom prst="rect">
            <a:avLst/>
          </a:prstGeom>
          <a:noFill/>
        </p:spPr>
        <p:txBody>
          <a:bodyPr wrap="none" lIns="0" tIns="0" rIns="0" bIns="0" anchor="t">
            <a:noAutofit/>
          </a:bodyPr>
          <a:lstStyle/>
          <a:p>
            <a:pPr algn="l">
              <a:lnSpc>
                <a:spcPts val="1190"/>
              </a:lnSpc>
            </a:pPr>
            <a:r>
              <a:rPr sz="850" b="1">
                <a:solidFill>
                  <a:srgbClr val="24476E"/>
                </a:solidFill>
                <a:latin typeface="Microsoft JhengHei"/>
                <a:ea typeface="Microsoft JhengHei"/>
                <a:cs typeface="Microsoft JhengHei"/>
              </a:rPr>
              <a:t>🌐</a:t>
            </a:r>
          </a:p>
        </p:txBody>
      </p:sp>
      <p:sp>
        <p:nvSpPr>
          <p:cNvPr id="6" name="TextBox 5"/>
          <p:cNvSpPr txBox="1"/>
          <p:nvPr/>
        </p:nvSpPr>
        <p:spPr>
          <a:xfrm>
            <a:off x="7651623" y="374650"/>
            <a:ext cx="571659" cy="158750"/>
          </a:xfrm>
          <a:prstGeom prst="rect">
            <a:avLst/>
          </a:prstGeom>
          <a:noFill/>
        </p:spPr>
        <p:txBody>
          <a:bodyPr wrap="none" lIns="0" tIns="0" rIns="0" bIns="0" anchor="t">
            <a:noAutofit/>
          </a:bodyPr>
          <a:lstStyle/>
          <a:p>
            <a:pPr algn="l">
              <a:lnSpc>
                <a:spcPts val="1190"/>
              </a:lnSpc>
            </a:pPr>
            <a:r>
              <a:rPr sz="850" b="1">
                <a:solidFill>
                  <a:srgbClr val="24476E"/>
                </a:solidFill>
                <a:latin typeface="Microsoft JhengHei"/>
                <a:ea typeface="Microsoft JhengHei"/>
                <a:cs typeface="Microsoft JhengHei"/>
              </a:rPr>
              <a:t>EN / 中文</a:t>
            </a:r>
          </a:p>
        </p:txBody>
      </p:sp>
      <p:sp>
        <p:nvSpPr>
          <p:cNvPr id="7" name="TextBox 6"/>
          <p:cNvSpPr txBox="1"/>
          <p:nvPr/>
        </p:nvSpPr>
        <p:spPr>
          <a:xfrm>
            <a:off x="609600" y="603250"/>
            <a:ext cx="6324918" cy="361950"/>
          </a:xfrm>
          <a:prstGeom prst="rect">
            <a:avLst/>
          </a:prstGeom>
          <a:noFill/>
        </p:spPr>
        <p:txBody>
          <a:bodyPr wrap="none" lIns="0" tIns="0" rIns="0" bIns="0" anchor="t">
            <a:noAutofit/>
          </a:bodyPr>
          <a:lstStyle/>
          <a:p>
            <a:pPr algn="l">
              <a:lnSpc>
                <a:spcPts val="2500"/>
              </a:lnSpc>
            </a:pPr>
            <a:r>
              <a:rPr sz="2000" b="1" spc="-20">
                <a:solidFill>
                  <a:srgbClr val="1E2833"/>
                </a:solidFill>
                <a:latin typeface="Microsoft JhengHei"/>
                <a:ea typeface="Microsoft JhengHei"/>
                <a:cs typeface="Microsoft JhengHei"/>
              </a:rPr>
              <a:t>Local Stent vs. Systemic Plaque Biology</a:t>
            </a:r>
          </a:p>
        </p:txBody>
      </p:sp>
      <p:sp>
        <p:nvSpPr>
          <p:cNvPr id="8" name="TextBox 7"/>
          <p:cNvSpPr txBox="1"/>
          <p:nvPr/>
        </p:nvSpPr>
        <p:spPr>
          <a:xfrm>
            <a:off x="609600" y="977900"/>
            <a:ext cx="7089458" cy="222250"/>
          </a:xfrm>
          <a:prstGeom prst="rect">
            <a:avLst/>
          </a:prstGeom>
          <a:noFill/>
        </p:spPr>
        <p:txBody>
          <a:bodyPr wrap="none" lIns="0" tIns="0" rIns="0" bIns="0" anchor="t">
            <a:noAutofit/>
          </a:bodyPr>
          <a:lstStyle/>
          <a:p>
            <a:pPr algn="l">
              <a:lnSpc>
                <a:spcPts val="1680"/>
              </a:lnSpc>
            </a:pPr>
            <a:r>
              <a:rPr sz="1200" b="0">
                <a:solidFill>
                  <a:srgbClr val="5F6B77"/>
                </a:solidFill>
                <a:latin typeface="Microsoft JhengHei"/>
                <a:ea typeface="Microsoft JhengHei"/>
                <a:cs typeface="Microsoft JhengHei"/>
              </a:rPr>
              <a:t>Why 50% of recurrent myocardial infarctions occur at non-stented coronary sites</a:t>
            </a:r>
          </a:p>
        </p:txBody>
      </p:sp>
      <p:sp>
        <p:nvSpPr>
          <p:cNvPr id="9" name="Rounded Rectangle 8"/>
          <p:cNvSpPr/>
          <p:nvPr/>
        </p:nvSpPr>
        <p:spPr>
          <a:xfrm>
            <a:off x="609600" y="1324546"/>
            <a:ext cx="5115496" cy="4508500"/>
          </a:xfrm>
          <a:prstGeom prst="roundRect">
            <a:avLst>
              <a:gd name="adj" fmla="val 2535"/>
            </a:avLst>
          </a:prstGeom>
          <a:solidFill>
            <a:srgbClr val="F0F2F4"/>
          </a:solidFill>
          <a:ln>
            <a:noFill/>
          </a:ln>
          <a:effectLst/>
        </p:spPr>
        <p:txBody>
          <a:bodyPr rtlCol="0" anchor="ctr"/>
          <a:lstStyle/>
          <a:p>
            <a:endParaRPr/>
          </a:p>
        </p:txBody>
      </p:sp>
      <p:sp>
        <p:nvSpPr>
          <p:cNvPr id="10" name="Rectangle 9"/>
          <p:cNvSpPr/>
          <p:nvPr/>
        </p:nvSpPr>
        <p:spPr>
          <a:xfrm>
            <a:off x="609600" y="1324546"/>
            <a:ext cx="50800" cy="4508500"/>
          </a:xfrm>
          <a:prstGeom prst="rect">
            <a:avLst/>
          </a:prstGeom>
          <a:solidFill>
            <a:srgbClr val="24476E"/>
          </a:solidFill>
          <a:ln>
            <a:noFill/>
          </a:ln>
          <a:effectLst/>
        </p:spPr>
        <p:txBody>
          <a:bodyPr rtlCol="0" anchor="ctr"/>
          <a:lstStyle/>
          <a:p>
            <a:endParaRPr/>
          </a:p>
        </p:txBody>
      </p:sp>
      <p:sp>
        <p:nvSpPr>
          <p:cNvPr id="11" name="TextBox 10"/>
          <p:cNvSpPr txBox="1"/>
          <p:nvPr/>
        </p:nvSpPr>
        <p:spPr>
          <a:xfrm>
            <a:off x="901700" y="1540446"/>
            <a:ext cx="2216388" cy="203200"/>
          </a:xfrm>
          <a:prstGeom prst="rect">
            <a:avLst/>
          </a:prstGeom>
          <a:noFill/>
        </p:spPr>
        <p:txBody>
          <a:bodyPr wrap="none" lIns="0" tIns="0" rIns="0" bIns="0" anchor="t">
            <a:noAutofit/>
          </a:bodyPr>
          <a:lstStyle/>
          <a:p>
            <a:pPr algn="l">
              <a:lnSpc>
                <a:spcPts val="1120"/>
              </a:lnSpc>
            </a:pPr>
            <a:r>
              <a:rPr sz="1100" b="1">
                <a:solidFill>
                  <a:srgbClr val="24476E"/>
                </a:solidFill>
                <a:latin typeface="Microsoft JhengHei"/>
                <a:ea typeface="Microsoft JhengHei"/>
                <a:cs typeface="Microsoft JhengHei"/>
              </a:rPr>
              <a:t>The Mechanical Boundary</a:t>
            </a:r>
          </a:p>
        </p:txBody>
      </p:sp>
      <p:sp>
        <p:nvSpPr>
          <p:cNvPr id="12" name="Rectangle 11"/>
          <p:cNvSpPr/>
          <p:nvPr/>
        </p:nvSpPr>
        <p:spPr>
          <a:xfrm>
            <a:off x="901700" y="1540446"/>
            <a:ext cx="1773110" cy="203200"/>
          </a:xfrm>
          <a:prstGeom prst="rect">
            <a:avLst/>
          </a:prstGeom>
          <a:solidFill>
            <a:srgbClr val="1E3A5F">
              <a:alpha val="12000"/>
            </a:srgbClr>
          </a:solidFill>
          <a:ln>
            <a:noFill/>
          </a:ln>
          <a:effectLst/>
        </p:spPr>
        <p:txBody>
          <a:bodyPr rtlCol="0" anchor="ctr"/>
          <a:lstStyle/>
          <a:p>
            <a:endParaRPr/>
          </a:p>
        </p:txBody>
      </p:sp>
      <p:sp>
        <p:nvSpPr>
          <p:cNvPr id="13" name="TextBox 12"/>
          <p:cNvSpPr txBox="1"/>
          <p:nvPr/>
        </p:nvSpPr>
        <p:spPr>
          <a:xfrm>
            <a:off x="901700" y="1838896"/>
            <a:ext cx="3459639" cy="330200"/>
          </a:xfrm>
          <a:prstGeom prst="rect">
            <a:avLst/>
          </a:prstGeom>
          <a:noFill/>
        </p:spPr>
        <p:txBody>
          <a:bodyPr wrap="none" lIns="0" tIns="0" rIns="0" bIns="0" anchor="t">
            <a:noAutofit/>
          </a:bodyPr>
          <a:lstStyle/>
          <a:p>
            <a:pPr algn="l">
              <a:lnSpc>
                <a:spcPts val="2340"/>
              </a:lnSpc>
            </a:pPr>
            <a:r>
              <a:rPr sz="1800" b="1">
                <a:solidFill>
                  <a:srgbClr val="24476E"/>
                </a:solidFill>
                <a:latin typeface="Microsoft JhengHei"/>
                <a:ea typeface="Microsoft JhengHei"/>
                <a:cs typeface="Microsoft JhengHei"/>
              </a:rPr>
              <a:t>Stenting Clears Only 5%</a:t>
            </a:r>
          </a:p>
        </p:txBody>
      </p:sp>
      <p:sp>
        <p:nvSpPr>
          <p:cNvPr id="14" name="TextBox 13"/>
          <p:cNvSpPr txBox="1"/>
          <p:nvPr/>
        </p:nvSpPr>
        <p:spPr>
          <a:xfrm>
            <a:off x="1016000" y="2383726"/>
            <a:ext cx="2250996" cy="774700"/>
          </a:xfrm>
          <a:prstGeom prst="rect">
            <a:avLst/>
          </a:prstGeom>
          <a:noFill/>
        </p:spPr>
        <p:txBody>
          <a:bodyPr wrap="none" lIns="0" tIns="0" rIns="0" bIns="0" anchor="t">
            <a:noAutofit/>
          </a:bodyPr>
          <a:lstStyle/>
          <a:p>
            <a:pPr algn="l">
              <a:lnSpc>
                <a:spcPts val="1120"/>
              </a:lnSpc>
            </a:pPr>
            <a:r>
              <a:rPr sz="3200" b="0">
                <a:solidFill>
                  <a:srgbClr val="24476E"/>
                </a:solidFill>
                <a:latin typeface="Microsoft JhengHei"/>
                <a:ea typeface="Microsoft JhengHei"/>
                <a:cs typeface="Microsoft JhengHei"/>
              </a:rPr>
              <a:t>48 mm</a:t>
            </a:r>
          </a:p>
          <a:p>
            <a:pPr algn="l">
              <a:lnSpc>
                <a:spcPts val="1120"/>
              </a:lnSpc>
            </a:pPr>
            <a:r>
              <a:rPr sz="800" b="0">
                <a:solidFill>
                  <a:srgbClr val="1E2833"/>
                </a:solidFill>
                <a:latin typeface="Microsoft JhengHei"/>
                <a:ea typeface="Microsoft JhengHei"/>
                <a:cs typeface="Microsoft JhengHei"/>
              </a:rPr>
              <a:t> </a:t>
            </a:r>
            <a:r>
              <a:rPr sz="1050" b="0">
                <a:solidFill>
                  <a:srgbClr val="1E2833"/>
                </a:solidFill>
                <a:latin typeface="Microsoft JhengHei"/>
                <a:ea typeface="Microsoft JhengHei"/>
                <a:cs typeface="Microsoft JhengHei"/>
              </a:rPr>
              <a:t>Stented Segment</a:t>
            </a:r>
          </a:p>
        </p:txBody>
      </p:sp>
      <p:sp>
        <p:nvSpPr>
          <p:cNvPr id="15" name="TextBox 14"/>
          <p:cNvSpPr txBox="1"/>
          <p:nvPr/>
        </p:nvSpPr>
        <p:spPr>
          <a:xfrm>
            <a:off x="3364230" y="2383726"/>
            <a:ext cx="2464356" cy="774700"/>
          </a:xfrm>
          <a:prstGeom prst="rect">
            <a:avLst/>
          </a:prstGeom>
          <a:noFill/>
        </p:spPr>
        <p:txBody>
          <a:bodyPr wrap="none" lIns="0" tIns="0" rIns="0" bIns="0" anchor="t">
            <a:noAutofit/>
          </a:bodyPr>
          <a:lstStyle/>
          <a:p>
            <a:pPr algn="l">
              <a:lnSpc>
                <a:spcPts val="1120"/>
              </a:lnSpc>
            </a:pPr>
            <a:r>
              <a:rPr sz="3200" b="0">
                <a:solidFill>
                  <a:srgbClr val="1E2833"/>
                </a:solidFill>
                <a:latin typeface="Microsoft JhengHei"/>
                <a:ea typeface="Microsoft JhengHei"/>
                <a:cs typeface="Microsoft JhengHei"/>
              </a:rPr>
              <a:t>&gt;1000 mm</a:t>
            </a:r>
          </a:p>
          <a:p>
            <a:pPr algn="l">
              <a:lnSpc>
                <a:spcPts val="1120"/>
              </a:lnSpc>
            </a:pPr>
            <a:r>
              <a:rPr sz="800" b="0">
                <a:solidFill>
                  <a:srgbClr val="1E2833"/>
                </a:solidFill>
                <a:latin typeface="Microsoft JhengHei"/>
                <a:ea typeface="Microsoft JhengHei"/>
                <a:cs typeface="Microsoft JhengHei"/>
              </a:rPr>
              <a:t> </a:t>
            </a:r>
            <a:r>
              <a:rPr sz="1050" b="0">
                <a:solidFill>
                  <a:srgbClr val="1E2833"/>
                </a:solidFill>
                <a:latin typeface="Microsoft JhengHei"/>
                <a:ea typeface="Microsoft JhengHei"/>
                <a:cs typeface="Microsoft JhengHei"/>
              </a:rPr>
              <a:t>Coronary Tree</a:t>
            </a:r>
          </a:p>
        </p:txBody>
      </p:sp>
      <p:sp>
        <p:nvSpPr>
          <p:cNvPr id="16" name="TextBox 15"/>
          <p:cNvSpPr txBox="1"/>
          <p:nvPr/>
        </p:nvSpPr>
        <p:spPr>
          <a:xfrm>
            <a:off x="1054100" y="3393376"/>
            <a:ext cx="4429696" cy="466026"/>
          </a:xfrm>
          <a:prstGeom prst="rect">
            <a:avLst/>
          </a:prstGeom>
          <a:noFill/>
        </p:spPr>
        <p:txBody>
          <a:bodyPr wrap="square" lIns="0" tIns="0" rIns="0" bIns="0" anchor="t">
            <a:noAutofit/>
          </a:bodyPr>
          <a:lstStyle/>
          <a:p>
            <a:pPr algn="l">
              <a:lnSpc>
                <a:spcPts val="192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PROSPECT Trial:</a:t>
            </a:r>
            <a:r>
              <a:rPr sz="1200" b="0">
                <a:solidFill>
                  <a:srgbClr val="1E2833"/>
                </a:solidFill>
                <a:latin typeface="Microsoft JhengHei"/>
                <a:ea typeface="Microsoft JhengHei"/>
                <a:cs typeface="Microsoft JhengHei"/>
              </a:rPr>
              <a:t> 50% of recurrent events occur at untreated, non-stented sites.</a:t>
            </a:r>
          </a:p>
        </p:txBody>
      </p:sp>
      <p:sp>
        <p:nvSpPr>
          <p:cNvPr id="17" name="TextBox 16"/>
          <p:cNvSpPr txBox="1"/>
          <p:nvPr/>
        </p:nvSpPr>
        <p:spPr>
          <a:xfrm>
            <a:off x="1054100" y="3880929"/>
            <a:ext cx="4429696" cy="466026"/>
          </a:xfrm>
          <a:prstGeom prst="rect">
            <a:avLst/>
          </a:prstGeom>
          <a:noFill/>
        </p:spPr>
        <p:txBody>
          <a:bodyPr wrap="square" lIns="0" tIns="0" rIns="0" bIns="0" anchor="t">
            <a:noAutofit/>
          </a:bodyPr>
          <a:lstStyle/>
          <a:p>
            <a:pPr algn="l">
              <a:lnSpc>
                <a:spcPts val="192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Systemic Danger:</a:t>
            </a:r>
            <a:r>
              <a:rPr sz="1200" b="0">
                <a:solidFill>
                  <a:srgbClr val="1E2833"/>
                </a:solidFill>
                <a:latin typeface="Microsoft JhengHei"/>
                <a:ea typeface="Microsoft JhengHei"/>
                <a:cs typeface="Microsoft JhengHei"/>
              </a:rPr>
              <a:t> Circulating LDL continuously infiltrates the intima of the entire coronary tree.</a:t>
            </a:r>
          </a:p>
        </p:txBody>
      </p:sp>
      <p:sp>
        <p:nvSpPr>
          <p:cNvPr id="18" name="Rounded Rectangle 17"/>
          <p:cNvSpPr/>
          <p:nvPr/>
        </p:nvSpPr>
        <p:spPr>
          <a:xfrm>
            <a:off x="901700" y="4982146"/>
            <a:ext cx="4582096" cy="635000"/>
          </a:xfrm>
          <a:prstGeom prst="roundRect">
            <a:avLst>
              <a:gd name="adj" fmla="val 12000"/>
            </a:avLst>
          </a:prstGeom>
          <a:solidFill>
            <a:srgbClr val="F4F6F9"/>
          </a:solidFill>
          <a:ln>
            <a:noFill/>
          </a:ln>
          <a:effectLst/>
        </p:spPr>
        <p:txBody>
          <a:bodyPr rtlCol="0" anchor="ctr"/>
          <a:lstStyle/>
          <a:p>
            <a:endParaRPr/>
          </a:p>
        </p:txBody>
      </p:sp>
      <p:sp>
        <p:nvSpPr>
          <p:cNvPr id="19" name="TextBox 18"/>
          <p:cNvSpPr txBox="1"/>
          <p:nvPr/>
        </p:nvSpPr>
        <p:spPr>
          <a:xfrm>
            <a:off x="1041400" y="5096446"/>
            <a:ext cx="4302696" cy="406400"/>
          </a:xfrm>
          <a:prstGeom prst="rect">
            <a:avLst/>
          </a:prstGeom>
          <a:noFill/>
        </p:spPr>
        <p:txBody>
          <a:bodyPr wrap="square" lIns="0" tIns="0" rIns="0" bIns="0" anchor="t">
            <a:noAutofit/>
          </a:bodyPr>
          <a:lstStyle/>
          <a:p>
            <a:pPr algn="l">
              <a:lnSpc>
                <a:spcPts val="1540"/>
              </a:lnSpc>
            </a:pPr>
            <a:r>
              <a:rPr sz="1100" b="1">
                <a:solidFill>
                  <a:srgbClr val="24476E"/>
                </a:solidFill>
                <a:latin typeface="Microsoft JhengHei"/>
                <a:ea typeface="Microsoft JhengHei"/>
                <a:cs typeface="Microsoft JhengHei"/>
              </a:rPr>
              <a:t>💡 Stents treat the acute crime scene; systemic lipid lowering prevents future crimes!</a:t>
            </a:r>
          </a:p>
        </p:txBody>
      </p:sp>
      <p:sp>
        <p:nvSpPr>
          <p:cNvPr id="20" name="Rounded Rectangle 19"/>
          <p:cNvSpPr/>
          <p:nvPr/>
        </p:nvSpPr>
        <p:spPr>
          <a:xfrm>
            <a:off x="5928296" y="1324546"/>
            <a:ext cx="5653976" cy="4508500"/>
          </a:xfrm>
          <a:prstGeom prst="roundRect">
            <a:avLst>
              <a:gd name="adj" fmla="val 2535"/>
            </a:avLst>
          </a:prstGeom>
          <a:solidFill>
            <a:srgbClr val="F0F2F4"/>
          </a:solidFill>
          <a:ln>
            <a:noFill/>
          </a:ln>
          <a:effectLst/>
        </p:spPr>
        <p:txBody>
          <a:bodyPr rtlCol="0" anchor="ctr"/>
          <a:lstStyle/>
          <a:p>
            <a:endParaRPr/>
          </a:p>
        </p:txBody>
      </p:sp>
      <p:sp>
        <p:nvSpPr>
          <p:cNvPr id="21" name="TextBox 20"/>
          <p:cNvSpPr txBox="1"/>
          <p:nvPr/>
        </p:nvSpPr>
        <p:spPr>
          <a:xfrm>
            <a:off x="6131496" y="1515046"/>
            <a:ext cx="3444478" cy="234950"/>
          </a:xfrm>
          <a:prstGeom prst="rect">
            <a:avLst/>
          </a:prstGeom>
          <a:noFill/>
        </p:spPr>
        <p:txBody>
          <a:bodyPr wrap="none" lIns="0" tIns="0" rIns="0" bIns="0" anchor="t">
            <a:noAutofit/>
          </a:bodyPr>
          <a:lstStyle/>
          <a:p>
            <a:pPr algn="l">
              <a:lnSpc>
                <a:spcPts val="1820"/>
              </a:lnSpc>
            </a:pPr>
            <a:r>
              <a:rPr sz="1300" b="1">
                <a:solidFill>
                  <a:srgbClr val="1E2833"/>
                </a:solidFill>
                <a:latin typeface="Microsoft JhengHei"/>
                <a:ea typeface="Microsoft JhengHei"/>
                <a:cs typeface="Microsoft JhengHei"/>
              </a:rPr>
              <a:t>Plaque Pathology &amp; Vulnerability</a:t>
            </a:r>
          </a:p>
        </p:txBody>
      </p:sp>
      <p:sp>
        <p:nvSpPr>
          <p:cNvPr id="22" name="TextBox 21"/>
          <p:cNvSpPr txBox="1"/>
          <p:nvPr/>
        </p:nvSpPr>
        <p:spPr>
          <a:xfrm>
            <a:off x="10100754" y="1553146"/>
            <a:ext cx="1597898" cy="158750"/>
          </a:xfrm>
          <a:prstGeom prst="rect">
            <a:avLst/>
          </a:prstGeom>
          <a:noFill/>
        </p:spPr>
        <p:txBody>
          <a:bodyPr wrap="none" lIns="0" tIns="0" rIns="0" bIns="0" anchor="t">
            <a:noAutofit/>
          </a:bodyPr>
          <a:lstStyle/>
          <a:p>
            <a:pPr algn="l">
              <a:lnSpc>
                <a:spcPts val="1190"/>
              </a:lnSpc>
            </a:pPr>
            <a:r>
              <a:rPr sz="850" b="0">
                <a:solidFill>
                  <a:srgbClr val="5F6B77"/>
                </a:solidFill>
                <a:latin typeface="Microsoft JhengHei"/>
                <a:ea typeface="Microsoft JhengHei"/>
                <a:cs typeface="Microsoft JhengHei"/>
              </a:rPr>
              <a:t>Click image to enlarge 🔍</a:t>
            </a:r>
          </a:p>
        </p:txBody>
      </p:sp>
      <p:sp>
        <p:nvSpPr>
          <p:cNvPr id="23" name="Rounded Rectangle 22"/>
          <p:cNvSpPr/>
          <p:nvPr/>
        </p:nvSpPr>
        <p:spPr>
          <a:xfrm>
            <a:off x="6131496" y="2222182"/>
            <a:ext cx="5247576" cy="2286000"/>
          </a:xfrm>
          <a:prstGeom prst="roundRect">
            <a:avLst>
              <a:gd name="adj" fmla="val 3888"/>
            </a:avLst>
          </a:prstGeom>
          <a:solidFill>
            <a:srgbClr val="FFFFFF"/>
          </a:solidFill>
          <a:ln w="6350">
            <a:solidFill>
              <a:srgbClr val="E3E6E9"/>
            </a:solidFill>
          </a:ln>
          <a:effectLst/>
        </p:spPr>
        <p:txBody>
          <a:bodyPr rtlCol="0" anchor="ctr"/>
          <a:lstStyle/>
          <a:p>
            <a:endParaRPr/>
          </a:p>
        </p:txBody>
      </p:sp>
      <p:pic>
        <p:nvPicPr>
          <p:cNvPr id="24" name="Picture 23" descr="plaque_pathology.png"/>
          <p:cNvPicPr>
            <a:picLocks noChangeAspect="1"/>
          </p:cNvPicPr>
          <p:nvPr/>
        </p:nvPicPr>
        <p:blipFill>
          <a:blip r:embed="rId3"/>
          <a:srcRect t="11550" b="11550"/>
          <a:stretch>
            <a:fillRect/>
          </a:stretch>
        </p:blipFill>
        <p:spPr>
          <a:xfrm>
            <a:off x="6137846" y="2228532"/>
            <a:ext cx="5234876" cy="2273300"/>
          </a:xfrm>
          <a:prstGeom prst="rect">
            <a:avLst/>
          </a:prstGeom>
        </p:spPr>
      </p:pic>
      <p:sp>
        <p:nvSpPr>
          <p:cNvPr id="25" name="TextBox 24"/>
          <p:cNvSpPr txBox="1"/>
          <p:nvPr/>
        </p:nvSpPr>
        <p:spPr>
          <a:xfrm>
            <a:off x="6131496" y="4999418"/>
            <a:ext cx="5247576" cy="636206"/>
          </a:xfrm>
          <a:prstGeom prst="rect">
            <a:avLst/>
          </a:prstGeom>
          <a:noFill/>
        </p:spPr>
        <p:txBody>
          <a:bodyPr wrap="square" lIns="0" tIns="0" rIns="0" bIns="0" anchor="t">
            <a:noAutofit/>
          </a:bodyPr>
          <a:lstStyle/>
          <a:p>
            <a:pPr algn="l">
              <a:lnSpc>
                <a:spcPts val="1659"/>
              </a:lnSpc>
            </a:pPr>
            <a:r>
              <a:rPr sz="1067" b="1">
                <a:solidFill>
                  <a:srgbClr val="5F6B77"/>
                </a:solidFill>
                <a:latin typeface="Microsoft JhengHei"/>
                <a:ea typeface="Microsoft JhengHei"/>
                <a:cs typeface="Microsoft JhengHei"/>
              </a:rPr>
              <a:t>Thin-Cap Fibroatheroma (TCFA):</a:t>
            </a:r>
            <a:r>
              <a:rPr sz="1067" b="0">
                <a:solidFill>
                  <a:srgbClr val="5F6B77"/>
                </a:solidFill>
                <a:latin typeface="Microsoft JhengHei"/>
                <a:ea typeface="Microsoft JhengHei"/>
                <a:cs typeface="Microsoft JhengHei"/>
              </a:rPr>
              <a:t> Massive necrotic lipid core covered by a fragile fibrous cap (&lt;65 μm). Macrophage foam cells secrete matrix metalloproteinases (MMPs), weakening the cap until rupture triggers sudden thrombosis.</a:t>
            </a:r>
          </a:p>
        </p:txBody>
      </p:sp>
      <p:sp>
        <p:nvSpPr>
          <p:cNvPr id="26" name="Rectangle 25"/>
          <p:cNvSpPr/>
          <p:nvPr/>
        </p:nvSpPr>
        <p:spPr>
          <a:xfrm>
            <a:off x="609600" y="6066854"/>
            <a:ext cx="10972800" cy="6350"/>
          </a:xfrm>
          <a:prstGeom prst="rect">
            <a:avLst/>
          </a:prstGeom>
          <a:solidFill>
            <a:srgbClr val="F0F2F4"/>
          </a:solidFill>
          <a:ln>
            <a:noFill/>
          </a:ln>
          <a:effectLst/>
        </p:spPr>
        <p:txBody>
          <a:bodyPr rtlCol="0" anchor="ctr"/>
          <a:lstStyle/>
          <a:p>
            <a:endParaRPr/>
          </a:p>
        </p:txBody>
      </p:sp>
      <p:sp>
        <p:nvSpPr>
          <p:cNvPr id="27" name="TextBox 26"/>
          <p:cNvSpPr txBox="1"/>
          <p:nvPr/>
        </p:nvSpPr>
        <p:spPr>
          <a:xfrm>
            <a:off x="609600" y="6130354"/>
            <a:ext cx="9330769" cy="171450"/>
          </a:xfrm>
          <a:prstGeom prst="rect">
            <a:avLst/>
          </a:prstGeom>
          <a:noFill/>
        </p:spPr>
        <p:txBody>
          <a:bodyPr wrap="none" lIns="0" tIns="0" rIns="0" bIns="0" anchor="t">
            <a:noAutofit/>
          </a:bodyPr>
          <a:lstStyle/>
          <a:p>
            <a:pPr algn="l">
              <a:lnSpc>
                <a:spcPts val="1330"/>
              </a:lnSpc>
            </a:pPr>
            <a:r>
              <a:rPr sz="950" b="0">
                <a:solidFill>
                  <a:srgbClr val="5F6B77"/>
                </a:solidFill>
                <a:latin typeface="Microsoft JhengHei"/>
                <a:ea typeface="Microsoft JhengHei"/>
                <a:cs typeface="Microsoft JhengHei"/>
              </a:rPr>
              <a:t>Stone GW, et al. A Prospective Natural-History Study of Coronary Atherosclerosis (PROSPECT Trial). N Engl J Med. 2011;364(3):226-235.</a:t>
            </a:r>
          </a:p>
        </p:txBody>
      </p:sp>
      <p:sp>
        <p:nvSpPr>
          <p:cNvPr id="28" name="Rounded Rectangle 27"/>
          <p:cNvSpPr/>
          <p:nvPr/>
        </p:nvSpPr>
        <p:spPr>
          <a:xfrm>
            <a:off x="8473948" y="190500"/>
            <a:ext cx="599313" cy="266700"/>
          </a:xfrm>
          <a:prstGeom prst="roundRect">
            <a:avLst>
              <a:gd name="adj" fmla="val 50000"/>
            </a:avLst>
          </a:prstGeom>
          <a:solidFill>
            <a:srgbClr val="24476E"/>
          </a:solidFill>
          <a:ln w="12700">
            <a:solidFill>
              <a:srgbClr val="24476E"/>
            </a:solidFill>
          </a:ln>
          <a:effectLst/>
        </p:spPr>
        <p:txBody>
          <a:bodyPr rtlCol="0" anchor="ctr"/>
          <a:lstStyle/>
          <a:p>
            <a:endParaRPr/>
          </a:p>
        </p:txBody>
      </p:sp>
      <p:sp>
        <p:nvSpPr>
          <p:cNvPr id="29" name="TextBox 28"/>
          <p:cNvSpPr txBox="1"/>
          <p:nvPr/>
        </p:nvSpPr>
        <p:spPr>
          <a:xfrm>
            <a:off x="8575548" y="241300"/>
            <a:ext cx="495141" cy="165100"/>
          </a:xfrm>
          <a:prstGeom prst="rect">
            <a:avLst/>
          </a:prstGeom>
          <a:noFill/>
        </p:spPr>
        <p:txBody>
          <a:bodyPr wrap="none" lIns="0" tIns="0" rIns="0" bIns="0" anchor="t">
            <a:noAutofit/>
          </a:bodyPr>
          <a:lstStyle/>
          <a:p>
            <a:pPr algn="l">
              <a:lnSpc>
                <a:spcPts val="1260"/>
              </a:lnSpc>
            </a:pPr>
            <a:r>
              <a:rPr sz="900" b="1">
                <a:solidFill>
                  <a:srgbClr val="FFFFFF"/>
                </a:solidFill>
                <a:latin typeface="Microsoft JhengHei"/>
                <a:ea typeface="Microsoft JhengHei"/>
                <a:cs typeface="Microsoft JhengHei"/>
              </a:rPr>
              <a:t>1. Case</a:t>
            </a:r>
          </a:p>
        </p:txBody>
      </p:sp>
      <p:sp>
        <p:nvSpPr>
          <p:cNvPr id="30" name="Rounded Rectangle 29"/>
          <p:cNvSpPr/>
          <p:nvPr/>
        </p:nvSpPr>
        <p:spPr>
          <a:xfrm>
            <a:off x="9124061" y="190500"/>
            <a:ext cx="689483"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31" name="TextBox 30"/>
          <p:cNvSpPr txBox="1"/>
          <p:nvPr/>
        </p:nvSpPr>
        <p:spPr>
          <a:xfrm>
            <a:off x="9225661" y="241300"/>
            <a:ext cx="607854"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2. Target</a:t>
            </a:r>
          </a:p>
        </p:txBody>
      </p:sp>
      <p:sp>
        <p:nvSpPr>
          <p:cNvPr id="32" name="Rounded Rectangle 31"/>
          <p:cNvSpPr/>
          <p:nvPr/>
        </p:nvSpPr>
        <p:spPr>
          <a:xfrm>
            <a:off x="9864344" y="190500"/>
            <a:ext cx="795718"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33" name="TextBox 32"/>
          <p:cNvSpPr txBox="1"/>
          <p:nvPr/>
        </p:nvSpPr>
        <p:spPr>
          <a:xfrm>
            <a:off x="9965944" y="241300"/>
            <a:ext cx="740648"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3. Therapy</a:t>
            </a:r>
          </a:p>
        </p:txBody>
      </p:sp>
      <p:sp>
        <p:nvSpPr>
          <p:cNvPr id="34" name="Rounded Rectangle 33"/>
          <p:cNvSpPr/>
          <p:nvPr/>
        </p:nvSpPr>
        <p:spPr>
          <a:xfrm>
            <a:off x="10710862" y="190500"/>
            <a:ext cx="871538"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35" name="TextBox 34"/>
          <p:cNvSpPr txBox="1"/>
          <p:nvPr/>
        </p:nvSpPr>
        <p:spPr>
          <a:xfrm>
            <a:off x="10812462" y="241300"/>
            <a:ext cx="835422"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4. Roadmap</a:t>
            </a:r>
          </a:p>
        </p:txBody>
      </p:sp>
      <p:sp>
        <p:nvSpPr>
          <p:cNvPr id="36" name="Rectangle 35"/>
          <p:cNvSpPr/>
          <p:nvPr/>
        </p:nvSpPr>
        <p:spPr>
          <a:xfrm>
            <a:off x="0" y="6527800"/>
            <a:ext cx="12192000" cy="330200"/>
          </a:xfrm>
          <a:prstGeom prst="rect">
            <a:avLst/>
          </a:prstGeom>
          <a:solidFill>
            <a:srgbClr val="FFFFFF"/>
          </a:solidFill>
          <a:ln>
            <a:noFill/>
          </a:ln>
          <a:effectLst/>
        </p:spPr>
        <p:txBody>
          <a:bodyPr rtlCol="0" anchor="ctr"/>
          <a:lstStyle/>
          <a:p>
            <a:endParaRPr/>
          </a:p>
        </p:txBody>
      </p:sp>
      <p:sp>
        <p:nvSpPr>
          <p:cNvPr id="37" name="Rectangle 36"/>
          <p:cNvSpPr/>
          <p:nvPr/>
        </p:nvSpPr>
        <p:spPr>
          <a:xfrm>
            <a:off x="0" y="6527800"/>
            <a:ext cx="12192000" cy="12700"/>
          </a:xfrm>
          <a:prstGeom prst="rect">
            <a:avLst/>
          </a:prstGeom>
          <a:solidFill>
            <a:srgbClr val="F0F2F4"/>
          </a:solidFill>
          <a:ln>
            <a:noFill/>
          </a:ln>
          <a:effectLst/>
        </p:spPr>
        <p:txBody>
          <a:bodyPr rtlCol="0" anchor="ctr"/>
          <a:lstStyle/>
          <a:p>
            <a:endParaRPr/>
          </a:p>
        </p:txBody>
      </p:sp>
      <p:sp>
        <p:nvSpPr>
          <p:cNvPr id="38" name="TextBox 37"/>
          <p:cNvSpPr txBox="1"/>
          <p:nvPr/>
        </p:nvSpPr>
        <p:spPr>
          <a:xfrm>
            <a:off x="609600" y="6613525"/>
            <a:ext cx="538162" cy="171450"/>
          </a:xfrm>
          <a:prstGeom prst="rect">
            <a:avLst/>
          </a:prstGeom>
          <a:noFill/>
        </p:spPr>
        <p:txBody>
          <a:bodyPr wrap="none" lIns="0" tIns="0" rIns="0" bIns="0" anchor="t">
            <a:noAutofit/>
          </a:bodyPr>
          <a:lstStyle/>
          <a:p>
            <a:pPr algn="l">
              <a:lnSpc>
                <a:spcPts val="1330"/>
              </a:lnSpc>
            </a:pPr>
            <a:r>
              <a:rPr sz="950" b="1">
                <a:solidFill>
                  <a:srgbClr val="24476E"/>
                </a:solidFill>
                <a:latin typeface="Microsoft JhengHei"/>
                <a:ea typeface="Microsoft JhengHei"/>
                <a:cs typeface="Microsoft JhengHei"/>
              </a:rPr>
              <a:t>1. Case</a:t>
            </a:r>
          </a:p>
        </p:txBody>
      </p:sp>
      <p:sp>
        <p:nvSpPr>
          <p:cNvPr id="39" name="Rounded Rectangle 38"/>
          <p:cNvSpPr/>
          <p:nvPr/>
        </p:nvSpPr>
        <p:spPr>
          <a:xfrm>
            <a:off x="1179830" y="6680200"/>
            <a:ext cx="9867202" cy="38100"/>
          </a:xfrm>
          <a:prstGeom prst="roundRect">
            <a:avLst>
              <a:gd name="adj" fmla="val 50000"/>
            </a:avLst>
          </a:prstGeom>
          <a:solidFill>
            <a:srgbClr val="F0F2F4"/>
          </a:solidFill>
          <a:ln>
            <a:noFill/>
          </a:ln>
          <a:effectLst/>
        </p:spPr>
        <p:txBody>
          <a:bodyPr rtlCol="0" anchor="ctr"/>
          <a:lstStyle/>
          <a:p>
            <a:endParaRPr/>
          </a:p>
        </p:txBody>
      </p:sp>
      <p:sp>
        <p:nvSpPr>
          <p:cNvPr id="40" name="Rectangle 39"/>
          <p:cNvSpPr/>
          <p:nvPr/>
        </p:nvSpPr>
        <p:spPr>
          <a:xfrm>
            <a:off x="1179830" y="6680200"/>
            <a:ext cx="2466784" cy="38100"/>
          </a:xfrm>
          <a:prstGeom prst="rect">
            <a:avLst/>
          </a:prstGeom>
          <a:solidFill>
            <a:srgbClr val="F3C84B"/>
          </a:solidFill>
          <a:ln>
            <a:noFill/>
          </a:ln>
          <a:effectLst/>
        </p:spPr>
        <p:txBody>
          <a:bodyPr rtlCol="0" anchor="ctr"/>
          <a:lstStyle/>
          <a:p>
            <a:endParaRPr/>
          </a:p>
        </p:txBody>
      </p:sp>
      <p:sp>
        <p:nvSpPr>
          <p:cNvPr id="41" name="TextBox 40"/>
          <p:cNvSpPr txBox="1"/>
          <p:nvPr/>
        </p:nvSpPr>
        <p:spPr>
          <a:xfrm>
            <a:off x="11186732" y="6613525"/>
            <a:ext cx="494586" cy="171450"/>
          </a:xfrm>
          <a:prstGeom prst="rect">
            <a:avLst/>
          </a:prstGeom>
          <a:noFill/>
        </p:spPr>
        <p:txBody>
          <a:bodyPr wrap="none" lIns="0" tIns="0" rIns="0" bIns="0" anchor="t">
            <a:noAutofit/>
          </a:bodyPr>
          <a:lstStyle/>
          <a:p>
            <a:pPr algn="l">
              <a:lnSpc>
                <a:spcPts val="1330"/>
              </a:lnSpc>
            </a:pPr>
            <a:r>
              <a:rPr sz="950" b="1">
                <a:solidFill>
                  <a:srgbClr val="3B4754"/>
                </a:solidFill>
                <a:latin typeface="Microsoft JhengHei"/>
                <a:ea typeface="Microsoft JhengHei"/>
                <a:cs typeface="Microsoft JhengHei"/>
              </a:rPr>
              <a:t>03 / 12</a:t>
            </a:r>
          </a:p>
        </p:txBody>
      </p:sp>
      <p:sp>
        <p:nvSpPr>
          <p:cNvPr id="42" name="LINK_Rectangle 41">
            <a:hlinkClick r:id="rId4" action="ppaction://hlinksldjump"/>
          </p:cNvPr>
          <p:cNvSpPr/>
          <p:nvPr/>
        </p:nvSpPr>
        <p:spPr>
          <a:xfrm>
            <a:off x="8473976" y="190500"/>
            <a:ext cx="599281" cy="266700"/>
          </a:xfrm>
          <a:prstGeom prst="rect">
            <a:avLst/>
          </a:prstGeom>
          <a:solidFill>
            <a:srgbClr val="FFFFFF">
              <a:alpha val="0"/>
            </a:srgbClr>
          </a:solidFill>
          <a:ln>
            <a:noFill/>
          </a:ln>
          <a:effectLst/>
        </p:spPr>
        <p:txBody>
          <a:bodyPr rtlCol="0" anchor="ctr"/>
          <a:lstStyle/>
          <a:p>
            <a:pPr algn="ctr"/>
            <a:endParaRPr/>
          </a:p>
        </p:txBody>
      </p:sp>
      <p:sp>
        <p:nvSpPr>
          <p:cNvPr id="43" name="LINK_Rectangle 42">
            <a:hlinkClick r:id="rId5" action="ppaction://hlinksldjump"/>
          </p:cNvPr>
          <p:cNvSpPr/>
          <p:nvPr/>
        </p:nvSpPr>
        <p:spPr>
          <a:xfrm>
            <a:off x="9124057" y="190500"/>
            <a:ext cx="689471" cy="266700"/>
          </a:xfrm>
          <a:prstGeom prst="rect">
            <a:avLst/>
          </a:prstGeom>
          <a:solidFill>
            <a:srgbClr val="FFFFFF">
              <a:alpha val="0"/>
            </a:srgbClr>
          </a:solidFill>
          <a:ln>
            <a:noFill/>
          </a:ln>
          <a:effectLst/>
        </p:spPr>
        <p:txBody>
          <a:bodyPr rtlCol="0" anchor="ctr"/>
          <a:lstStyle/>
          <a:p>
            <a:pPr algn="ctr"/>
            <a:endParaRPr/>
          </a:p>
        </p:txBody>
      </p:sp>
      <p:sp>
        <p:nvSpPr>
          <p:cNvPr id="44" name="LINK_Rectangle 43">
            <a:hlinkClick r:id="rId6" action="ppaction://hlinksldjump"/>
          </p:cNvPr>
          <p:cNvSpPr/>
          <p:nvPr/>
        </p:nvSpPr>
        <p:spPr>
          <a:xfrm>
            <a:off x="9864328" y="190500"/>
            <a:ext cx="795734" cy="266700"/>
          </a:xfrm>
          <a:prstGeom prst="rect">
            <a:avLst/>
          </a:prstGeom>
          <a:solidFill>
            <a:srgbClr val="FFFFFF">
              <a:alpha val="0"/>
            </a:srgbClr>
          </a:solidFill>
          <a:ln>
            <a:noFill/>
          </a:ln>
          <a:effectLst/>
        </p:spPr>
        <p:txBody>
          <a:bodyPr rtlCol="0" anchor="ctr"/>
          <a:lstStyle/>
          <a:p>
            <a:pPr algn="ctr"/>
            <a:endParaRPr/>
          </a:p>
        </p:txBody>
      </p:sp>
      <p:sp>
        <p:nvSpPr>
          <p:cNvPr id="45" name="LINK_Rectangle 44">
            <a:hlinkClick r:id="rId7" action="ppaction://hlinksldjump"/>
          </p:cNvPr>
          <p:cNvSpPr/>
          <p:nvPr/>
        </p:nvSpPr>
        <p:spPr>
          <a:xfrm>
            <a:off x="10710862" y="190500"/>
            <a:ext cx="871538" cy="266700"/>
          </a:xfrm>
          <a:prstGeom prst="rect">
            <a:avLst/>
          </a:prstGeom>
          <a:solidFill>
            <a:srgbClr val="FFFFFF">
              <a:alpha val="0"/>
            </a:srgbClr>
          </a:solidFill>
          <a:ln>
            <a:noFill/>
          </a:ln>
          <a:effectLst/>
        </p:spPr>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avLst/>
          </a:prstGeom>
          <a:solidFill>
            <a:srgbClr val="FFFFFF"/>
          </a:solidFill>
          <a:ln>
            <a:noFill/>
          </a:ln>
          <a:effectLst/>
        </p:spPr>
        <p:txBody>
          <a:bodyPr rtlCol="0" anchor="ctr"/>
          <a:lstStyle/>
          <a:p>
            <a:pPr algn="ctr"/>
            <a:endParaRPr/>
          </a:p>
        </p:txBody>
      </p:sp>
      <p:sp>
        <p:nvSpPr>
          <p:cNvPr id="3" name="TextBox 2"/>
          <p:cNvSpPr txBox="1"/>
          <p:nvPr/>
        </p:nvSpPr>
        <p:spPr>
          <a:xfrm>
            <a:off x="609600" y="377825"/>
            <a:ext cx="2625328" cy="152400"/>
          </a:xfrm>
          <a:prstGeom prst="rect">
            <a:avLst/>
          </a:prstGeom>
          <a:noFill/>
        </p:spPr>
        <p:txBody>
          <a:bodyPr wrap="none" lIns="0" tIns="0" rIns="0" bIns="0" anchor="t">
            <a:noAutofit/>
          </a:bodyPr>
          <a:lstStyle/>
          <a:p>
            <a:pPr algn="l">
              <a:lnSpc>
                <a:spcPts val="1120"/>
              </a:lnSpc>
            </a:pPr>
            <a:r>
              <a:rPr sz="800" b="0">
                <a:solidFill>
                  <a:srgbClr val="1E2833"/>
                </a:solidFill>
                <a:latin typeface="Microsoft JhengHei"/>
                <a:ea typeface="Microsoft JhengHei"/>
                <a:cs typeface="Microsoft JhengHei"/>
              </a:rPr>
              <a:t>Evidence-Based Medicine • 2026 Guidelines</a:t>
            </a:r>
          </a:p>
        </p:txBody>
      </p:sp>
      <p:sp>
        <p:nvSpPr>
          <p:cNvPr id="4" name="Rounded Rectangle 3"/>
          <p:cNvSpPr/>
          <p:nvPr/>
        </p:nvSpPr>
        <p:spPr>
          <a:xfrm>
            <a:off x="7344664" y="330200"/>
            <a:ext cx="884936" cy="247650"/>
          </a:xfrm>
          <a:prstGeom prst="roundRect">
            <a:avLst>
              <a:gd name="adj" fmla="val 50000"/>
            </a:avLst>
          </a:prstGeom>
          <a:solidFill>
            <a:srgbClr val="FFFFFF"/>
          </a:solidFill>
          <a:ln w="6350">
            <a:solidFill>
              <a:srgbClr val="24476E"/>
            </a:solidFill>
          </a:ln>
          <a:effectLst/>
        </p:spPr>
        <p:txBody>
          <a:bodyPr rtlCol="0" anchor="ctr"/>
          <a:lstStyle/>
          <a:p>
            <a:endParaRPr/>
          </a:p>
        </p:txBody>
      </p:sp>
      <p:sp>
        <p:nvSpPr>
          <p:cNvPr id="5" name="TextBox 4"/>
          <p:cNvSpPr txBox="1"/>
          <p:nvPr/>
        </p:nvSpPr>
        <p:spPr>
          <a:xfrm>
            <a:off x="7465314" y="374650"/>
            <a:ext cx="237109" cy="158750"/>
          </a:xfrm>
          <a:prstGeom prst="rect">
            <a:avLst/>
          </a:prstGeom>
          <a:noFill/>
        </p:spPr>
        <p:txBody>
          <a:bodyPr wrap="none" lIns="0" tIns="0" rIns="0" bIns="0" anchor="t">
            <a:noAutofit/>
          </a:bodyPr>
          <a:lstStyle/>
          <a:p>
            <a:pPr algn="l">
              <a:lnSpc>
                <a:spcPts val="1190"/>
              </a:lnSpc>
            </a:pPr>
            <a:r>
              <a:rPr sz="850" b="1">
                <a:solidFill>
                  <a:srgbClr val="24476E"/>
                </a:solidFill>
                <a:latin typeface="Microsoft JhengHei"/>
                <a:ea typeface="Microsoft JhengHei"/>
                <a:cs typeface="Microsoft JhengHei"/>
              </a:rPr>
              <a:t>🌐</a:t>
            </a:r>
          </a:p>
        </p:txBody>
      </p:sp>
      <p:sp>
        <p:nvSpPr>
          <p:cNvPr id="6" name="TextBox 5"/>
          <p:cNvSpPr txBox="1"/>
          <p:nvPr/>
        </p:nvSpPr>
        <p:spPr>
          <a:xfrm>
            <a:off x="7651623" y="374650"/>
            <a:ext cx="571659" cy="158750"/>
          </a:xfrm>
          <a:prstGeom prst="rect">
            <a:avLst/>
          </a:prstGeom>
          <a:noFill/>
        </p:spPr>
        <p:txBody>
          <a:bodyPr wrap="none" lIns="0" tIns="0" rIns="0" bIns="0" anchor="t">
            <a:noAutofit/>
          </a:bodyPr>
          <a:lstStyle/>
          <a:p>
            <a:pPr algn="l">
              <a:lnSpc>
                <a:spcPts val="1190"/>
              </a:lnSpc>
            </a:pPr>
            <a:r>
              <a:rPr sz="850" b="1">
                <a:solidFill>
                  <a:srgbClr val="24476E"/>
                </a:solidFill>
                <a:latin typeface="Microsoft JhengHei"/>
                <a:ea typeface="Microsoft JhengHei"/>
                <a:cs typeface="Microsoft JhengHei"/>
              </a:rPr>
              <a:t>EN / 中文</a:t>
            </a:r>
          </a:p>
        </p:txBody>
      </p:sp>
      <p:sp>
        <p:nvSpPr>
          <p:cNvPr id="7" name="TextBox 6"/>
          <p:cNvSpPr txBox="1"/>
          <p:nvPr/>
        </p:nvSpPr>
        <p:spPr>
          <a:xfrm>
            <a:off x="609600" y="603250"/>
            <a:ext cx="6772910" cy="361950"/>
          </a:xfrm>
          <a:prstGeom prst="rect">
            <a:avLst/>
          </a:prstGeom>
          <a:noFill/>
        </p:spPr>
        <p:txBody>
          <a:bodyPr wrap="none" lIns="0" tIns="0" rIns="0" bIns="0" anchor="t">
            <a:noAutofit/>
          </a:bodyPr>
          <a:lstStyle/>
          <a:p>
            <a:pPr algn="l">
              <a:lnSpc>
                <a:spcPts val="2500"/>
              </a:lnSpc>
            </a:pPr>
            <a:r>
              <a:rPr sz="2000" b="1" spc="-20">
                <a:solidFill>
                  <a:srgbClr val="1E2833"/>
                </a:solidFill>
                <a:latin typeface="Microsoft JhengHei"/>
                <a:ea typeface="Microsoft JhengHei"/>
                <a:cs typeface="Microsoft JhengHei"/>
              </a:rPr>
              <a:t>2026 ACC/AHA Guideline: The Dual Target</a:t>
            </a:r>
          </a:p>
        </p:txBody>
      </p:sp>
      <p:sp>
        <p:nvSpPr>
          <p:cNvPr id="8" name="TextBox 7"/>
          <p:cNvSpPr txBox="1"/>
          <p:nvPr/>
        </p:nvSpPr>
        <p:spPr>
          <a:xfrm>
            <a:off x="609600" y="977900"/>
            <a:ext cx="6972935" cy="222250"/>
          </a:xfrm>
          <a:prstGeom prst="rect">
            <a:avLst/>
          </a:prstGeom>
          <a:noFill/>
        </p:spPr>
        <p:txBody>
          <a:bodyPr wrap="none" lIns="0" tIns="0" rIns="0" bIns="0" anchor="t">
            <a:noAutofit/>
          </a:bodyPr>
          <a:lstStyle/>
          <a:p>
            <a:pPr algn="l">
              <a:lnSpc>
                <a:spcPts val="1680"/>
              </a:lnSpc>
            </a:pPr>
            <a:r>
              <a:rPr sz="1200" b="0">
                <a:solidFill>
                  <a:srgbClr val="5F6B77"/>
                </a:solidFill>
                <a:latin typeface="Microsoft JhengHei"/>
                <a:ea typeface="Microsoft JhengHei"/>
                <a:cs typeface="Microsoft JhengHei"/>
              </a:rPr>
              <a:t>Evidence-based threshold for vascular remodeling and fibrous cap stabilization</a:t>
            </a:r>
          </a:p>
        </p:txBody>
      </p:sp>
      <p:sp>
        <p:nvSpPr>
          <p:cNvPr id="9" name="Rounded Rectangle 8"/>
          <p:cNvSpPr/>
          <p:nvPr/>
        </p:nvSpPr>
        <p:spPr>
          <a:xfrm>
            <a:off x="609600" y="1324546"/>
            <a:ext cx="5115496" cy="4508500"/>
          </a:xfrm>
          <a:prstGeom prst="roundRect">
            <a:avLst>
              <a:gd name="adj" fmla="val 2535"/>
            </a:avLst>
          </a:prstGeom>
          <a:solidFill>
            <a:srgbClr val="F0F2F4"/>
          </a:solidFill>
          <a:ln>
            <a:noFill/>
          </a:ln>
          <a:effectLst/>
        </p:spPr>
        <p:txBody>
          <a:bodyPr rtlCol="0" anchor="ctr"/>
          <a:lstStyle/>
          <a:p>
            <a:endParaRPr/>
          </a:p>
        </p:txBody>
      </p:sp>
      <p:sp>
        <p:nvSpPr>
          <p:cNvPr id="10" name="TextBox 9"/>
          <p:cNvSpPr txBox="1"/>
          <p:nvPr/>
        </p:nvSpPr>
        <p:spPr>
          <a:xfrm>
            <a:off x="850900" y="1540446"/>
            <a:ext cx="2052479" cy="203200"/>
          </a:xfrm>
          <a:prstGeom prst="rect">
            <a:avLst/>
          </a:prstGeom>
          <a:noFill/>
        </p:spPr>
        <p:txBody>
          <a:bodyPr wrap="none" lIns="0" tIns="0" rIns="0" bIns="0" anchor="t">
            <a:noAutofit/>
          </a:bodyPr>
          <a:lstStyle/>
          <a:p>
            <a:pPr algn="l">
              <a:lnSpc>
                <a:spcPts val="1120"/>
              </a:lnSpc>
            </a:pPr>
            <a:r>
              <a:rPr sz="1100" b="1">
                <a:solidFill>
                  <a:srgbClr val="1E2833"/>
                </a:solidFill>
                <a:latin typeface="Microsoft JhengHei"/>
                <a:ea typeface="Microsoft JhengHei"/>
                <a:cs typeface="Microsoft JhengHei"/>
              </a:rPr>
              <a:t>Mandatory Dual Criteria</a:t>
            </a:r>
          </a:p>
        </p:txBody>
      </p:sp>
      <p:sp>
        <p:nvSpPr>
          <p:cNvPr id="11" name="Rectangle 10"/>
          <p:cNvSpPr/>
          <p:nvPr/>
        </p:nvSpPr>
        <p:spPr>
          <a:xfrm>
            <a:off x="850900" y="1540446"/>
            <a:ext cx="1641983" cy="203200"/>
          </a:xfrm>
          <a:prstGeom prst="rect">
            <a:avLst/>
          </a:prstGeom>
          <a:solidFill>
            <a:srgbClr val="B85030">
              <a:alpha val="12000"/>
            </a:srgbClr>
          </a:solidFill>
          <a:ln>
            <a:noFill/>
          </a:ln>
          <a:effectLst/>
        </p:spPr>
        <p:txBody>
          <a:bodyPr rtlCol="0" anchor="ctr"/>
          <a:lstStyle/>
          <a:p>
            <a:endParaRPr/>
          </a:p>
        </p:txBody>
      </p:sp>
      <p:sp>
        <p:nvSpPr>
          <p:cNvPr id="12" name="TextBox 11"/>
          <p:cNvSpPr txBox="1"/>
          <p:nvPr/>
        </p:nvSpPr>
        <p:spPr>
          <a:xfrm>
            <a:off x="850900" y="1838896"/>
            <a:ext cx="3776742" cy="330200"/>
          </a:xfrm>
          <a:prstGeom prst="rect">
            <a:avLst/>
          </a:prstGeom>
          <a:noFill/>
        </p:spPr>
        <p:txBody>
          <a:bodyPr wrap="none" lIns="0" tIns="0" rIns="0" bIns="0" anchor="t">
            <a:noAutofit/>
          </a:bodyPr>
          <a:lstStyle/>
          <a:p>
            <a:pPr algn="l">
              <a:lnSpc>
                <a:spcPts val="2340"/>
              </a:lnSpc>
            </a:pPr>
            <a:r>
              <a:rPr sz="1800" b="1">
                <a:solidFill>
                  <a:srgbClr val="1E2833"/>
                </a:solidFill>
                <a:latin typeface="Microsoft JhengHei"/>
                <a:ea typeface="Microsoft JhengHei"/>
                <a:cs typeface="Microsoft JhengHei"/>
              </a:rPr>
              <a:t>Two Strict Rules for STEMI</a:t>
            </a:r>
          </a:p>
        </p:txBody>
      </p:sp>
      <p:sp>
        <p:nvSpPr>
          <p:cNvPr id="13" name="TextBox 12"/>
          <p:cNvSpPr txBox="1"/>
          <p:nvPr/>
        </p:nvSpPr>
        <p:spPr>
          <a:xfrm>
            <a:off x="965200" y="2383726"/>
            <a:ext cx="2476659" cy="774700"/>
          </a:xfrm>
          <a:prstGeom prst="rect">
            <a:avLst/>
          </a:prstGeom>
          <a:noFill/>
        </p:spPr>
        <p:txBody>
          <a:bodyPr wrap="none" lIns="0" tIns="0" rIns="0" bIns="0" anchor="t">
            <a:noAutofit/>
          </a:bodyPr>
          <a:lstStyle/>
          <a:p>
            <a:pPr algn="l">
              <a:lnSpc>
                <a:spcPts val="1120"/>
              </a:lnSpc>
            </a:pPr>
            <a:r>
              <a:rPr sz="3200" b="0">
                <a:solidFill>
                  <a:srgbClr val="1E2833"/>
                </a:solidFill>
                <a:latin typeface="Microsoft JhengHei"/>
                <a:ea typeface="Microsoft JhengHei"/>
                <a:cs typeface="Microsoft JhengHei"/>
              </a:rPr>
              <a:t>≥ 50%</a:t>
            </a:r>
          </a:p>
          <a:p>
            <a:pPr algn="l">
              <a:lnSpc>
                <a:spcPts val="1120"/>
              </a:lnSpc>
            </a:pPr>
            <a:r>
              <a:rPr sz="800" b="0">
                <a:solidFill>
                  <a:srgbClr val="1E2833"/>
                </a:solidFill>
                <a:latin typeface="Microsoft JhengHei"/>
                <a:ea typeface="Microsoft JhengHei"/>
                <a:cs typeface="Microsoft JhengHei"/>
              </a:rPr>
              <a:t> </a:t>
            </a:r>
            <a:r>
              <a:rPr sz="1050" b="0">
                <a:solidFill>
                  <a:srgbClr val="1E2833"/>
                </a:solidFill>
                <a:latin typeface="Microsoft JhengHei"/>
                <a:ea typeface="Microsoft JhengHei"/>
                <a:cs typeface="Microsoft JhengHei"/>
              </a:rPr>
              <a:t>Reduction from Baseline</a:t>
            </a:r>
          </a:p>
        </p:txBody>
      </p:sp>
      <p:sp>
        <p:nvSpPr>
          <p:cNvPr id="14" name="TextBox 13"/>
          <p:cNvSpPr txBox="1"/>
          <p:nvPr/>
        </p:nvSpPr>
        <p:spPr>
          <a:xfrm>
            <a:off x="3338830" y="2383726"/>
            <a:ext cx="2194719" cy="774700"/>
          </a:xfrm>
          <a:prstGeom prst="rect">
            <a:avLst/>
          </a:prstGeom>
          <a:noFill/>
        </p:spPr>
        <p:txBody>
          <a:bodyPr wrap="none" lIns="0" tIns="0" rIns="0" bIns="0" anchor="t">
            <a:noAutofit/>
          </a:bodyPr>
          <a:lstStyle/>
          <a:p>
            <a:pPr algn="l">
              <a:lnSpc>
                <a:spcPts val="1120"/>
              </a:lnSpc>
            </a:pPr>
            <a:r>
              <a:rPr sz="3200" b="0">
                <a:solidFill>
                  <a:srgbClr val="1E2833"/>
                </a:solidFill>
                <a:latin typeface="Microsoft JhengHei"/>
                <a:ea typeface="Microsoft JhengHei"/>
                <a:cs typeface="Microsoft JhengHei"/>
              </a:rPr>
              <a:t>&lt; 55</a:t>
            </a:r>
          </a:p>
          <a:p>
            <a:pPr algn="l">
              <a:lnSpc>
                <a:spcPts val="1120"/>
              </a:lnSpc>
            </a:pPr>
            <a:r>
              <a:rPr sz="800" b="0">
                <a:solidFill>
                  <a:srgbClr val="1E2833"/>
                </a:solidFill>
                <a:latin typeface="Microsoft JhengHei"/>
                <a:ea typeface="Microsoft JhengHei"/>
                <a:cs typeface="Microsoft JhengHei"/>
              </a:rPr>
              <a:t> </a:t>
            </a:r>
            <a:r>
              <a:rPr sz="1050" b="0">
                <a:solidFill>
                  <a:srgbClr val="1E2833"/>
                </a:solidFill>
                <a:latin typeface="Microsoft JhengHei"/>
                <a:ea typeface="Microsoft JhengHei"/>
                <a:cs typeface="Microsoft JhengHei"/>
              </a:rPr>
              <a:t>Absolute Target (mg/dL)</a:t>
            </a:r>
          </a:p>
        </p:txBody>
      </p:sp>
      <p:sp>
        <p:nvSpPr>
          <p:cNvPr id="15" name="TextBox 14"/>
          <p:cNvSpPr txBox="1"/>
          <p:nvPr/>
        </p:nvSpPr>
        <p:spPr>
          <a:xfrm>
            <a:off x="1003300" y="3393376"/>
            <a:ext cx="4480496" cy="466026"/>
          </a:xfrm>
          <a:prstGeom prst="rect">
            <a:avLst/>
          </a:prstGeom>
          <a:noFill/>
        </p:spPr>
        <p:txBody>
          <a:bodyPr wrap="square" lIns="0" tIns="0" rIns="0" bIns="0" anchor="t">
            <a:noAutofit/>
          </a:bodyPr>
          <a:lstStyle/>
          <a:p>
            <a:pPr algn="l">
              <a:lnSpc>
                <a:spcPts val="192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Both Must Be Met:</a:t>
            </a:r>
            <a:r>
              <a:rPr sz="1200" b="0">
                <a:solidFill>
                  <a:srgbClr val="1E2833"/>
                </a:solidFill>
                <a:latin typeface="Microsoft JhengHei"/>
                <a:ea typeface="Microsoft JhengHei"/>
                <a:cs typeface="Microsoft JhengHei"/>
              </a:rPr>
              <a:t> Reaching only one criterion is considered treatment failure in 2026 guidelines.</a:t>
            </a:r>
          </a:p>
        </p:txBody>
      </p:sp>
      <p:sp>
        <p:nvSpPr>
          <p:cNvPr id="16" name="TextBox 15"/>
          <p:cNvSpPr txBox="1"/>
          <p:nvPr/>
        </p:nvSpPr>
        <p:spPr>
          <a:xfrm>
            <a:off x="1003300" y="3880929"/>
            <a:ext cx="4480496" cy="466026"/>
          </a:xfrm>
          <a:prstGeom prst="rect">
            <a:avLst/>
          </a:prstGeom>
          <a:noFill/>
        </p:spPr>
        <p:txBody>
          <a:bodyPr wrap="square" lIns="0" tIns="0" rIns="0" bIns="0" anchor="t">
            <a:noAutofit/>
          </a:bodyPr>
          <a:lstStyle/>
          <a:p>
            <a:pPr algn="l">
              <a:lnSpc>
                <a:spcPts val="192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Mr. Hong's Math:</a:t>
            </a:r>
            <a:r>
              <a:rPr sz="1200" b="0">
                <a:solidFill>
                  <a:srgbClr val="1E2833"/>
                </a:solidFill>
                <a:latin typeface="Microsoft JhengHei"/>
                <a:ea typeface="Microsoft JhengHei"/>
                <a:cs typeface="Microsoft JhengHei"/>
              </a:rPr>
              <a:t> From 173 to &lt; 55 mg/dL requires a massive absolute drop of </a:t>
            </a:r>
            <a:r>
              <a:rPr sz="1200" b="1">
                <a:solidFill>
                  <a:srgbClr val="1E2833"/>
                </a:solidFill>
                <a:latin typeface="Microsoft JhengHei"/>
                <a:ea typeface="Microsoft JhengHei"/>
                <a:cs typeface="Microsoft JhengHei"/>
              </a:rPr>
              <a:t>118 mg/dL (68%)</a:t>
            </a:r>
            <a:r>
              <a:rPr sz="1200" b="0">
                <a:solidFill>
                  <a:srgbClr val="1E2833"/>
                </a:solidFill>
                <a:latin typeface="Microsoft JhengHei"/>
                <a:ea typeface="Microsoft JhengHei"/>
                <a:cs typeface="Microsoft JhengHei"/>
              </a:rPr>
              <a:t>.</a:t>
            </a:r>
          </a:p>
        </p:txBody>
      </p:sp>
      <p:sp>
        <p:nvSpPr>
          <p:cNvPr id="17" name="Rounded Rectangle 16"/>
          <p:cNvSpPr/>
          <p:nvPr/>
        </p:nvSpPr>
        <p:spPr>
          <a:xfrm>
            <a:off x="850900" y="4982146"/>
            <a:ext cx="4632896" cy="635000"/>
          </a:xfrm>
          <a:prstGeom prst="roundRect">
            <a:avLst>
              <a:gd name="adj" fmla="val 12000"/>
            </a:avLst>
          </a:prstGeom>
          <a:solidFill>
            <a:srgbClr val="FDF1ED"/>
          </a:solidFill>
          <a:ln>
            <a:noFill/>
          </a:ln>
          <a:effectLst/>
        </p:spPr>
        <p:txBody>
          <a:bodyPr rtlCol="0" anchor="ctr"/>
          <a:lstStyle/>
          <a:p>
            <a:endParaRPr/>
          </a:p>
        </p:txBody>
      </p:sp>
      <p:sp>
        <p:nvSpPr>
          <p:cNvPr id="18" name="TextBox 17"/>
          <p:cNvSpPr txBox="1"/>
          <p:nvPr/>
        </p:nvSpPr>
        <p:spPr>
          <a:xfrm>
            <a:off x="990600" y="5096446"/>
            <a:ext cx="4353496" cy="406400"/>
          </a:xfrm>
          <a:prstGeom prst="rect">
            <a:avLst/>
          </a:prstGeom>
          <a:noFill/>
        </p:spPr>
        <p:txBody>
          <a:bodyPr wrap="square" lIns="0" tIns="0" rIns="0" bIns="0" anchor="t">
            <a:noAutofit/>
          </a:bodyPr>
          <a:lstStyle/>
          <a:p>
            <a:pPr algn="l">
              <a:lnSpc>
                <a:spcPts val="1540"/>
              </a:lnSpc>
            </a:pPr>
            <a:r>
              <a:rPr sz="1100" b="1">
                <a:solidFill>
                  <a:srgbClr val="1E2833"/>
                </a:solidFill>
                <a:latin typeface="Microsoft JhengHei"/>
                <a:ea typeface="Microsoft JhengHei"/>
                <a:cs typeface="Microsoft JhengHei"/>
              </a:rPr>
              <a:t>🎯 Below 55 mg/dL is the biological turning point for plaque stabilization!</a:t>
            </a:r>
          </a:p>
        </p:txBody>
      </p:sp>
      <p:sp>
        <p:nvSpPr>
          <p:cNvPr id="19" name="Rounded Rectangle 18"/>
          <p:cNvSpPr/>
          <p:nvPr/>
        </p:nvSpPr>
        <p:spPr>
          <a:xfrm>
            <a:off x="5928296" y="1324546"/>
            <a:ext cx="5653976" cy="4508500"/>
          </a:xfrm>
          <a:prstGeom prst="roundRect">
            <a:avLst>
              <a:gd name="adj" fmla="val 2535"/>
            </a:avLst>
          </a:prstGeom>
          <a:solidFill>
            <a:srgbClr val="F0F2F4"/>
          </a:solidFill>
          <a:ln>
            <a:noFill/>
          </a:ln>
          <a:effectLst/>
        </p:spPr>
        <p:txBody>
          <a:bodyPr rtlCol="0" anchor="ctr"/>
          <a:lstStyle/>
          <a:p>
            <a:endParaRPr/>
          </a:p>
        </p:txBody>
      </p:sp>
      <p:sp>
        <p:nvSpPr>
          <p:cNvPr id="20" name="TextBox 19"/>
          <p:cNvSpPr txBox="1"/>
          <p:nvPr/>
        </p:nvSpPr>
        <p:spPr>
          <a:xfrm>
            <a:off x="6131496" y="1515046"/>
            <a:ext cx="3778726" cy="234950"/>
          </a:xfrm>
          <a:prstGeom prst="rect">
            <a:avLst/>
          </a:prstGeom>
          <a:noFill/>
        </p:spPr>
        <p:txBody>
          <a:bodyPr wrap="none" lIns="0" tIns="0" rIns="0" bIns="0" anchor="t">
            <a:noAutofit/>
          </a:bodyPr>
          <a:lstStyle/>
          <a:p>
            <a:pPr algn="l">
              <a:lnSpc>
                <a:spcPts val="1820"/>
              </a:lnSpc>
            </a:pPr>
            <a:r>
              <a:rPr sz="1300" b="1">
                <a:solidFill>
                  <a:srgbClr val="3F7A55"/>
                </a:solidFill>
                <a:latin typeface="Microsoft JhengHei"/>
                <a:ea typeface="Microsoft JhengHei"/>
                <a:cs typeface="Microsoft JhengHei"/>
              </a:rPr>
              <a:t>Cap Thickening &amp; Plaque Regression</a:t>
            </a:r>
          </a:p>
        </p:txBody>
      </p:sp>
      <p:sp>
        <p:nvSpPr>
          <p:cNvPr id="21" name="TextBox 20"/>
          <p:cNvSpPr txBox="1"/>
          <p:nvPr/>
        </p:nvSpPr>
        <p:spPr>
          <a:xfrm>
            <a:off x="10100754" y="1553146"/>
            <a:ext cx="1597898" cy="158750"/>
          </a:xfrm>
          <a:prstGeom prst="rect">
            <a:avLst/>
          </a:prstGeom>
          <a:noFill/>
        </p:spPr>
        <p:txBody>
          <a:bodyPr wrap="none" lIns="0" tIns="0" rIns="0" bIns="0" anchor="t">
            <a:noAutofit/>
          </a:bodyPr>
          <a:lstStyle/>
          <a:p>
            <a:pPr algn="l">
              <a:lnSpc>
                <a:spcPts val="1190"/>
              </a:lnSpc>
            </a:pPr>
            <a:r>
              <a:rPr sz="850" b="0">
                <a:solidFill>
                  <a:srgbClr val="5F6B77"/>
                </a:solidFill>
                <a:latin typeface="Microsoft JhengHei"/>
                <a:ea typeface="Microsoft JhengHei"/>
                <a:cs typeface="Microsoft JhengHei"/>
              </a:rPr>
              <a:t>Click image to enlarge 🔍</a:t>
            </a:r>
          </a:p>
        </p:txBody>
      </p:sp>
      <p:sp>
        <p:nvSpPr>
          <p:cNvPr id="22" name="Rounded Rectangle 21"/>
          <p:cNvSpPr/>
          <p:nvPr/>
        </p:nvSpPr>
        <p:spPr>
          <a:xfrm>
            <a:off x="6131496" y="2113978"/>
            <a:ext cx="5247576" cy="2286000"/>
          </a:xfrm>
          <a:prstGeom prst="roundRect">
            <a:avLst>
              <a:gd name="adj" fmla="val 3888"/>
            </a:avLst>
          </a:prstGeom>
          <a:solidFill>
            <a:srgbClr val="FFFFFF"/>
          </a:solidFill>
          <a:ln w="6350">
            <a:solidFill>
              <a:srgbClr val="E3E6E9"/>
            </a:solidFill>
          </a:ln>
          <a:effectLst/>
        </p:spPr>
        <p:txBody>
          <a:bodyPr rtlCol="0" anchor="ctr"/>
          <a:lstStyle/>
          <a:p>
            <a:endParaRPr/>
          </a:p>
        </p:txBody>
      </p:sp>
      <p:pic>
        <p:nvPicPr>
          <p:cNvPr id="23" name="Picture 22" descr="plaque_regression_cap.png"/>
          <p:cNvPicPr>
            <a:picLocks noChangeAspect="1"/>
          </p:cNvPicPr>
          <p:nvPr/>
        </p:nvPicPr>
        <p:blipFill>
          <a:blip r:embed="rId3"/>
          <a:srcRect t="11550" b="11550"/>
          <a:stretch>
            <a:fillRect/>
          </a:stretch>
        </p:blipFill>
        <p:spPr>
          <a:xfrm>
            <a:off x="6137846" y="2120328"/>
            <a:ext cx="5234876" cy="2273300"/>
          </a:xfrm>
          <a:prstGeom prst="rect">
            <a:avLst/>
          </a:prstGeom>
        </p:spPr>
      </p:pic>
      <p:sp>
        <p:nvSpPr>
          <p:cNvPr id="24" name="TextBox 23"/>
          <p:cNvSpPr txBox="1"/>
          <p:nvPr/>
        </p:nvSpPr>
        <p:spPr>
          <a:xfrm>
            <a:off x="6131496" y="4782947"/>
            <a:ext cx="5247576" cy="852678"/>
          </a:xfrm>
          <a:prstGeom prst="rect">
            <a:avLst/>
          </a:prstGeom>
          <a:noFill/>
        </p:spPr>
        <p:txBody>
          <a:bodyPr wrap="square" lIns="0" tIns="0" rIns="0" bIns="0" anchor="t">
            <a:noAutofit/>
          </a:bodyPr>
          <a:lstStyle/>
          <a:p>
            <a:pPr algn="l">
              <a:lnSpc>
                <a:spcPts val="1710"/>
              </a:lnSpc>
            </a:pPr>
            <a:r>
              <a:rPr sz="1100" b="1">
                <a:solidFill>
                  <a:srgbClr val="5F6B77"/>
                </a:solidFill>
                <a:latin typeface="Microsoft JhengHei"/>
                <a:ea typeface="Microsoft JhengHei"/>
                <a:cs typeface="Microsoft JhengHei"/>
              </a:rPr>
              <a:t>IVUS/OCT Evidence:</a:t>
            </a:r>
            <a:r>
              <a:rPr sz="1100" b="0">
                <a:solidFill>
                  <a:srgbClr val="5F6B77"/>
                </a:solidFill>
                <a:latin typeface="Microsoft JhengHei"/>
                <a:ea typeface="Microsoft JhengHei"/>
                <a:cs typeface="Microsoft JhengHei"/>
              </a:rPr>
              <a:t> When LDL drops below 55 mg/dL, cholesterol efflux from macrophages exceeds influx. The lipid core shrinks, and smooth muscle cells synthesize dense collagen, transforming vulnerable thin caps into thick, stable fibrous protective barriers.</a:t>
            </a:r>
          </a:p>
        </p:txBody>
      </p:sp>
      <p:sp>
        <p:nvSpPr>
          <p:cNvPr id="25" name="Rectangle 24"/>
          <p:cNvSpPr/>
          <p:nvPr/>
        </p:nvSpPr>
        <p:spPr>
          <a:xfrm>
            <a:off x="609600" y="6066854"/>
            <a:ext cx="10972800" cy="6350"/>
          </a:xfrm>
          <a:prstGeom prst="rect">
            <a:avLst/>
          </a:prstGeom>
          <a:solidFill>
            <a:srgbClr val="F0F2F4"/>
          </a:solidFill>
          <a:ln>
            <a:noFill/>
          </a:ln>
          <a:effectLst/>
        </p:spPr>
        <p:txBody>
          <a:bodyPr rtlCol="0" anchor="ctr"/>
          <a:lstStyle/>
          <a:p>
            <a:endParaRPr/>
          </a:p>
        </p:txBody>
      </p:sp>
      <p:sp>
        <p:nvSpPr>
          <p:cNvPr id="26" name="TextBox 25"/>
          <p:cNvSpPr txBox="1"/>
          <p:nvPr/>
        </p:nvSpPr>
        <p:spPr>
          <a:xfrm>
            <a:off x="609600" y="6130354"/>
            <a:ext cx="10104596" cy="171450"/>
          </a:xfrm>
          <a:prstGeom prst="rect">
            <a:avLst/>
          </a:prstGeom>
          <a:noFill/>
        </p:spPr>
        <p:txBody>
          <a:bodyPr wrap="none" lIns="0" tIns="0" rIns="0" bIns="0" anchor="t">
            <a:noAutofit/>
          </a:bodyPr>
          <a:lstStyle/>
          <a:p>
            <a:pPr algn="l">
              <a:lnSpc>
                <a:spcPts val="1330"/>
              </a:lnSpc>
            </a:pPr>
            <a:r>
              <a:rPr sz="950" b="0">
                <a:solidFill>
                  <a:srgbClr val="5F6B77"/>
                </a:solidFill>
                <a:latin typeface="Microsoft JhengHei"/>
                <a:ea typeface="Microsoft JhengHei"/>
                <a:cs typeface="Microsoft JhengHei"/>
              </a:rPr>
              <a:t>1. 2026 ACC/AHA Guideline on Blood Cholesterol. Circulation. 2026;153(1):e1-e120. | 2. Nicholls SJ, et al. J Am Coll Cardiol. 2018;72(24):3112-3121.</a:t>
            </a:r>
          </a:p>
        </p:txBody>
      </p:sp>
      <p:sp>
        <p:nvSpPr>
          <p:cNvPr id="27" name="Rounded Rectangle 26"/>
          <p:cNvSpPr/>
          <p:nvPr/>
        </p:nvSpPr>
        <p:spPr>
          <a:xfrm>
            <a:off x="8473948" y="190500"/>
            <a:ext cx="599313"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28" name="TextBox 27"/>
          <p:cNvSpPr txBox="1"/>
          <p:nvPr/>
        </p:nvSpPr>
        <p:spPr>
          <a:xfrm>
            <a:off x="8575548" y="241300"/>
            <a:ext cx="495141"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1. Case</a:t>
            </a:r>
          </a:p>
        </p:txBody>
      </p:sp>
      <p:sp>
        <p:nvSpPr>
          <p:cNvPr id="29" name="Rounded Rectangle 28"/>
          <p:cNvSpPr/>
          <p:nvPr/>
        </p:nvSpPr>
        <p:spPr>
          <a:xfrm>
            <a:off x="9124061" y="190500"/>
            <a:ext cx="689483" cy="266700"/>
          </a:xfrm>
          <a:prstGeom prst="roundRect">
            <a:avLst>
              <a:gd name="adj" fmla="val 50000"/>
            </a:avLst>
          </a:prstGeom>
          <a:solidFill>
            <a:srgbClr val="24476E"/>
          </a:solidFill>
          <a:ln w="12700">
            <a:solidFill>
              <a:srgbClr val="24476E"/>
            </a:solidFill>
          </a:ln>
          <a:effectLst/>
        </p:spPr>
        <p:txBody>
          <a:bodyPr rtlCol="0" anchor="ctr"/>
          <a:lstStyle/>
          <a:p>
            <a:endParaRPr/>
          </a:p>
        </p:txBody>
      </p:sp>
      <p:sp>
        <p:nvSpPr>
          <p:cNvPr id="30" name="TextBox 29"/>
          <p:cNvSpPr txBox="1"/>
          <p:nvPr/>
        </p:nvSpPr>
        <p:spPr>
          <a:xfrm>
            <a:off x="9225661" y="241300"/>
            <a:ext cx="607854" cy="165100"/>
          </a:xfrm>
          <a:prstGeom prst="rect">
            <a:avLst/>
          </a:prstGeom>
          <a:noFill/>
        </p:spPr>
        <p:txBody>
          <a:bodyPr wrap="none" lIns="0" tIns="0" rIns="0" bIns="0" anchor="t">
            <a:noAutofit/>
          </a:bodyPr>
          <a:lstStyle/>
          <a:p>
            <a:pPr algn="l">
              <a:lnSpc>
                <a:spcPts val="1260"/>
              </a:lnSpc>
            </a:pPr>
            <a:r>
              <a:rPr sz="900" b="1">
                <a:solidFill>
                  <a:srgbClr val="FFFFFF"/>
                </a:solidFill>
                <a:latin typeface="Microsoft JhengHei"/>
                <a:ea typeface="Microsoft JhengHei"/>
                <a:cs typeface="Microsoft JhengHei"/>
              </a:rPr>
              <a:t>2. Target</a:t>
            </a:r>
          </a:p>
        </p:txBody>
      </p:sp>
      <p:sp>
        <p:nvSpPr>
          <p:cNvPr id="31" name="Rounded Rectangle 30"/>
          <p:cNvSpPr/>
          <p:nvPr/>
        </p:nvSpPr>
        <p:spPr>
          <a:xfrm>
            <a:off x="9864344" y="190500"/>
            <a:ext cx="795718"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32" name="TextBox 31"/>
          <p:cNvSpPr txBox="1"/>
          <p:nvPr/>
        </p:nvSpPr>
        <p:spPr>
          <a:xfrm>
            <a:off x="9965944" y="241300"/>
            <a:ext cx="740648"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3. Therapy</a:t>
            </a:r>
          </a:p>
        </p:txBody>
      </p:sp>
      <p:sp>
        <p:nvSpPr>
          <p:cNvPr id="33" name="Rounded Rectangle 32"/>
          <p:cNvSpPr/>
          <p:nvPr/>
        </p:nvSpPr>
        <p:spPr>
          <a:xfrm>
            <a:off x="10710862" y="190500"/>
            <a:ext cx="871538"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34" name="TextBox 33"/>
          <p:cNvSpPr txBox="1"/>
          <p:nvPr/>
        </p:nvSpPr>
        <p:spPr>
          <a:xfrm>
            <a:off x="10812462" y="241300"/>
            <a:ext cx="835422"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4. Roadmap</a:t>
            </a:r>
          </a:p>
        </p:txBody>
      </p:sp>
      <p:sp>
        <p:nvSpPr>
          <p:cNvPr id="35" name="Rectangle 34"/>
          <p:cNvSpPr/>
          <p:nvPr/>
        </p:nvSpPr>
        <p:spPr>
          <a:xfrm>
            <a:off x="0" y="6527800"/>
            <a:ext cx="12192000" cy="330200"/>
          </a:xfrm>
          <a:prstGeom prst="rect">
            <a:avLst/>
          </a:prstGeom>
          <a:solidFill>
            <a:srgbClr val="FFFFFF"/>
          </a:solidFill>
          <a:ln>
            <a:noFill/>
          </a:ln>
          <a:effectLst/>
        </p:spPr>
        <p:txBody>
          <a:bodyPr rtlCol="0" anchor="ctr"/>
          <a:lstStyle/>
          <a:p>
            <a:endParaRPr/>
          </a:p>
        </p:txBody>
      </p:sp>
      <p:sp>
        <p:nvSpPr>
          <p:cNvPr id="36" name="Rectangle 35"/>
          <p:cNvSpPr/>
          <p:nvPr/>
        </p:nvSpPr>
        <p:spPr>
          <a:xfrm>
            <a:off x="0" y="6527800"/>
            <a:ext cx="12192000" cy="12700"/>
          </a:xfrm>
          <a:prstGeom prst="rect">
            <a:avLst/>
          </a:prstGeom>
          <a:solidFill>
            <a:srgbClr val="F0F2F4"/>
          </a:solidFill>
          <a:ln>
            <a:noFill/>
          </a:ln>
          <a:effectLst/>
        </p:spPr>
        <p:txBody>
          <a:bodyPr rtlCol="0" anchor="ctr"/>
          <a:lstStyle/>
          <a:p>
            <a:endParaRPr/>
          </a:p>
        </p:txBody>
      </p:sp>
      <p:sp>
        <p:nvSpPr>
          <p:cNvPr id="37" name="TextBox 36"/>
          <p:cNvSpPr txBox="1"/>
          <p:nvPr/>
        </p:nvSpPr>
        <p:spPr>
          <a:xfrm>
            <a:off x="609600" y="6613525"/>
            <a:ext cx="665242" cy="171450"/>
          </a:xfrm>
          <a:prstGeom prst="rect">
            <a:avLst/>
          </a:prstGeom>
          <a:noFill/>
        </p:spPr>
        <p:txBody>
          <a:bodyPr wrap="none" lIns="0" tIns="0" rIns="0" bIns="0" anchor="t">
            <a:noAutofit/>
          </a:bodyPr>
          <a:lstStyle/>
          <a:p>
            <a:pPr algn="l">
              <a:lnSpc>
                <a:spcPts val="1330"/>
              </a:lnSpc>
            </a:pPr>
            <a:r>
              <a:rPr sz="950" b="1">
                <a:solidFill>
                  <a:srgbClr val="24476E"/>
                </a:solidFill>
                <a:latin typeface="Microsoft JhengHei"/>
                <a:ea typeface="Microsoft JhengHei"/>
                <a:cs typeface="Microsoft JhengHei"/>
              </a:rPr>
              <a:t>2. Target</a:t>
            </a:r>
          </a:p>
        </p:txBody>
      </p:sp>
      <p:sp>
        <p:nvSpPr>
          <p:cNvPr id="38" name="Rounded Rectangle 37"/>
          <p:cNvSpPr/>
          <p:nvPr/>
        </p:nvSpPr>
        <p:spPr>
          <a:xfrm>
            <a:off x="1281494" y="6680200"/>
            <a:ext cx="9765538" cy="38100"/>
          </a:xfrm>
          <a:prstGeom prst="roundRect">
            <a:avLst>
              <a:gd name="adj" fmla="val 50000"/>
            </a:avLst>
          </a:prstGeom>
          <a:solidFill>
            <a:srgbClr val="F0F2F4"/>
          </a:solidFill>
          <a:ln>
            <a:noFill/>
          </a:ln>
          <a:effectLst/>
        </p:spPr>
        <p:txBody>
          <a:bodyPr rtlCol="0" anchor="ctr"/>
          <a:lstStyle/>
          <a:p>
            <a:endParaRPr/>
          </a:p>
        </p:txBody>
      </p:sp>
      <p:sp>
        <p:nvSpPr>
          <p:cNvPr id="39" name="Rectangle 38"/>
          <p:cNvSpPr/>
          <p:nvPr/>
        </p:nvSpPr>
        <p:spPr>
          <a:xfrm>
            <a:off x="1281494" y="6680200"/>
            <a:ext cx="3255074" cy="38100"/>
          </a:xfrm>
          <a:prstGeom prst="rect">
            <a:avLst/>
          </a:prstGeom>
          <a:solidFill>
            <a:srgbClr val="F3C84B"/>
          </a:solidFill>
          <a:ln>
            <a:noFill/>
          </a:ln>
          <a:effectLst/>
        </p:spPr>
        <p:txBody>
          <a:bodyPr rtlCol="0" anchor="ctr"/>
          <a:lstStyle/>
          <a:p>
            <a:endParaRPr/>
          </a:p>
        </p:txBody>
      </p:sp>
      <p:sp>
        <p:nvSpPr>
          <p:cNvPr id="40" name="TextBox 39"/>
          <p:cNvSpPr txBox="1"/>
          <p:nvPr/>
        </p:nvSpPr>
        <p:spPr>
          <a:xfrm>
            <a:off x="11186732" y="6613525"/>
            <a:ext cx="494586" cy="171450"/>
          </a:xfrm>
          <a:prstGeom prst="rect">
            <a:avLst/>
          </a:prstGeom>
          <a:noFill/>
        </p:spPr>
        <p:txBody>
          <a:bodyPr wrap="none" lIns="0" tIns="0" rIns="0" bIns="0" anchor="t">
            <a:noAutofit/>
          </a:bodyPr>
          <a:lstStyle/>
          <a:p>
            <a:pPr algn="l">
              <a:lnSpc>
                <a:spcPts val="1330"/>
              </a:lnSpc>
            </a:pPr>
            <a:r>
              <a:rPr sz="950" b="1">
                <a:solidFill>
                  <a:srgbClr val="3B4754"/>
                </a:solidFill>
                <a:latin typeface="Microsoft JhengHei"/>
                <a:ea typeface="Microsoft JhengHei"/>
                <a:cs typeface="Microsoft JhengHei"/>
              </a:rPr>
              <a:t>04 / 12</a:t>
            </a:r>
          </a:p>
        </p:txBody>
      </p:sp>
      <p:sp>
        <p:nvSpPr>
          <p:cNvPr id="41" name="LINK_Rectangle 40">
            <a:hlinkClick r:id="rId4" action="ppaction://hlinksldjump"/>
          </p:cNvPr>
          <p:cNvSpPr/>
          <p:nvPr/>
        </p:nvSpPr>
        <p:spPr>
          <a:xfrm>
            <a:off x="8473976" y="190500"/>
            <a:ext cx="599281" cy="266700"/>
          </a:xfrm>
          <a:prstGeom prst="rect">
            <a:avLst/>
          </a:prstGeom>
          <a:solidFill>
            <a:srgbClr val="FFFFFF">
              <a:alpha val="0"/>
            </a:srgbClr>
          </a:solidFill>
          <a:ln>
            <a:noFill/>
          </a:ln>
          <a:effectLst/>
        </p:spPr>
        <p:txBody>
          <a:bodyPr rtlCol="0" anchor="ctr"/>
          <a:lstStyle/>
          <a:p>
            <a:pPr algn="ctr"/>
            <a:endParaRPr/>
          </a:p>
        </p:txBody>
      </p:sp>
      <p:sp>
        <p:nvSpPr>
          <p:cNvPr id="42" name="LINK_Rectangle 41">
            <a:hlinkClick r:id="rId5" action="ppaction://hlinksldjump"/>
          </p:cNvPr>
          <p:cNvSpPr/>
          <p:nvPr/>
        </p:nvSpPr>
        <p:spPr>
          <a:xfrm>
            <a:off x="9864328" y="190500"/>
            <a:ext cx="795734" cy="266700"/>
          </a:xfrm>
          <a:prstGeom prst="rect">
            <a:avLst/>
          </a:prstGeom>
          <a:solidFill>
            <a:srgbClr val="FFFFFF">
              <a:alpha val="0"/>
            </a:srgbClr>
          </a:solidFill>
          <a:ln>
            <a:noFill/>
          </a:ln>
          <a:effectLst/>
        </p:spPr>
        <p:txBody>
          <a:bodyPr rtlCol="0" anchor="ctr"/>
          <a:lstStyle/>
          <a:p>
            <a:pPr algn="ctr"/>
            <a:endParaRPr/>
          </a:p>
        </p:txBody>
      </p:sp>
      <p:sp>
        <p:nvSpPr>
          <p:cNvPr id="43" name="LINK_Rectangle 42">
            <a:hlinkClick r:id="rId6" action="ppaction://hlinksldjump"/>
          </p:cNvPr>
          <p:cNvSpPr/>
          <p:nvPr/>
        </p:nvSpPr>
        <p:spPr>
          <a:xfrm>
            <a:off x="10710862" y="190500"/>
            <a:ext cx="871538" cy="266700"/>
          </a:xfrm>
          <a:prstGeom prst="rect">
            <a:avLst/>
          </a:prstGeom>
          <a:solidFill>
            <a:srgbClr val="FFFFFF">
              <a:alpha val="0"/>
            </a:srgbClr>
          </a:solidFill>
          <a:ln>
            <a:noFill/>
          </a:ln>
          <a:effectLst/>
        </p:spPr>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avLst/>
          </a:prstGeom>
          <a:solidFill>
            <a:srgbClr val="FFFFFF"/>
          </a:solidFill>
          <a:ln>
            <a:noFill/>
          </a:ln>
          <a:effectLst/>
        </p:spPr>
        <p:txBody>
          <a:bodyPr rtlCol="0" anchor="ctr"/>
          <a:lstStyle/>
          <a:p>
            <a:pPr algn="ctr"/>
            <a:endParaRPr/>
          </a:p>
        </p:txBody>
      </p:sp>
      <p:sp>
        <p:nvSpPr>
          <p:cNvPr id="3" name="TextBox 2"/>
          <p:cNvSpPr txBox="1"/>
          <p:nvPr/>
        </p:nvSpPr>
        <p:spPr>
          <a:xfrm>
            <a:off x="609600" y="377825"/>
            <a:ext cx="2885122" cy="152400"/>
          </a:xfrm>
          <a:prstGeom prst="rect">
            <a:avLst/>
          </a:prstGeom>
          <a:noFill/>
        </p:spPr>
        <p:txBody>
          <a:bodyPr wrap="none" lIns="0" tIns="0" rIns="0" bIns="0" anchor="t">
            <a:noAutofit/>
          </a:bodyPr>
          <a:lstStyle/>
          <a:p>
            <a:pPr algn="l">
              <a:lnSpc>
                <a:spcPts val="1120"/>
              </a:lnSpc>
            </a:pPr>
            <a:r>
              <a:rPr sz="800" b="0">
                <a:solidFill>
                  <a:srgbClr val="1E2833"/>
                </a:solidFill>
                <a:latin typeface="Microsoft JhengHei"/>
                <a:ea typeface="Microsoft JhengHei"/>
                <a:cs typeface="Microsoft JhengHei"/>
              </a:rPr>
              <a:t>Non-Pharmacological Therapy • Dietary Biology</a:t>
            </a:r>
          </a:p>
        </p:txBody>
      </p:sp>
      <p:sp>
        <p:nvSpPr>
          <p:cNvPr id="4" name="Rounded Rectangle 3"/>
          <p:cNvSpPr/>
          <p:nvPr/>
        </p:nvSpPr>
        <p:spPr>
          <a:xfrm>
            <a:off x="7344664" y="330200"/>
            <a:ext cx="884936" cy="247650"/>
          </a:xfrm>
          <a:prstGeom prst="roundRect">
            <a:avLst>
              <a:gd name="adj" fmla="val 50000"/>
            </a:avLst>
          </a:prstGeom>
          <a:solidFill>
            <a:srgbClr val="FFFFFF"/>
          </a:solidFill>
          <a:ln w="6350">
            <a:solidFill>
              <a:srgbClr val="24476E"/>
            </a:solidFill>
          </a:ln>
          <a:effectLst/>
        </p:spPr>
        <p:txBody>
          <a:bodyPr rtlCol="0" anchor="ctr"/>
          <a:lstStyle/>
          <a:p>
            <a:endParaRPr/>
          </a:p>
        </p:txBody>
      </p:sp>
      <p:sp>
        <p:nvSpPr>
          <p:cNvPr id="5" name="TextBox 4"/>
          <p:cNvSpPr txBox="1"/>
          <p:nvPr/>
        </p:nvSpPr>
        <p:spPr>
          <a:xfrm>
            <a:off x="7465314" y="374650"/>
            <a:ext cx="237109" cy="158750"/>
          </a:xfrm>
          <a:prstGeom prst="rect">
            <a:avLst/>
          </a:prstGeom>
          <a:noFill/>
        </p:spPr>
        <p:txBody>
          <a:bodyPr wrap="none" lIns="0" tIns="0" rIns="0" bIns="0" anchor="t">
            <a:noAutofit/>
          </a:bodyPr>
          <a:lstStyle/>
          <a:p>
            <a:pPr algn="l">
              <a:lnSpc>
                <a:spcPts val="1190"/>
              </a:lnSpc>
            </a:pPr>
            <a:r>
              <a:rPr sz="850" b="1">
                <a:solidFill>
                  <a:srgbClr val="24476E"/>
                </a:solidFill>
                <a:latin typeface="Microsoft JhengHei"/>
                <a:ea typeface="Microsoft JhengHei"/>
                <a:cs typeface="Microsoft JhengHei"/>
              </a:rPr>
              <a:t>🌐</a:t>
            </a:r>
          </a:p>
        </p:txBody>
      </p:sp>
      <p:sp>
        <p:nvSpPr>
          <p:cNvPr id="6" name="TextBox 5"/>
          <p:cNvSpPr txBox="1"/>
          <p:nvPr/>
        </p:nvSpPr>
        <p:spPr>
          <a:xfrm>
            <a:off x="7651623" y="374650"/>
            <a:ext cx="571659" cy="158750"/>
          </a:xfrm>
          <a:prstGeom prst="rect">
            <a:avLst/>
          </a:prstGeom>
          <a:noFill/>
        </p:spPr>
        <p:txBody>
          <a:bodyPr wrap="none" lIns="0" tIns="0" rIns="0" bIns="0" anchor="t">
            <a:noAutofit/>
          </a:bodyPr>
          <a:lstStyle/>
          <a:p>
            <a:pPr algn="l">
              <a:lnSpc>
                <a:spcPts val="1190"/>
              </a:lnSpc>
            </a:pPr>
            <a:r>
              <a:rPr sz="850" b="1">
                <a:solidFill>
                  <a:srgbClr val="24476E"/>
                </a:solidFill>
                <a:latin typeface="Microsoft JhengHei"/>
                <a:ea typeface="Microsoft JhengHei"/>
                <a:cs typeface="Microsoft JhengHei"/>
              </a:rPr>
              <a:t>EN / 中文</a:t>
            </a:r>
          </a:p>
        </p:txBody>
      </p:sp>
      <p:sp>
        <p:nvSpPr>
          <p:cNvPr id="7" name="TextBox 6"/>
          <p:cNvSpPr txBox="1"/>
          <p:nvPr/>
        </p:nvSpPr>
        <p:spPr>
          <a:xfrm>
            <a:off x="609600" y="603250"/>
            <a:ext cx="6282372" cy="361950"/>
          </a:xfrm>
          <a:prstGeom prst="rect">
            <a:avLst/>
          </a:prstGeom>
          <a:noFill/>
        </p:spPr>
        <p:txBody>
          <a:bodyPr wrap="none" lIns="0" tIns="0" rIns="0" bIns="0" anchor="t">
            <a:noAutofit/>
          </a:bodyPr>
          <a:lstStyle/>
          <a:p>
            <a:pPr algn="l">
              <a:lnSpc>
                <a:spcPts val="2500"/>
              </a:lnSpc>
            </a:pPr>
            <a:r>
              <a:rPr sz="2000" b="1" spc="-20">
                <a:solidFill>
                  <a:srgbClr val="1E2833"/>
                </a:solidFill>
                <a:latin typeface="Microsoft JhengHei"/>
                <a:ea typeface="Microsoft JhengHei"/>
                <a:cs typeface="Microsoft JhengHei"/>
              </a:rPr>
              <a:t>Nutrition Strategy: Mediterranean Diet</a:t>
            </a:r>
          </a:p>
        </p:txBody>
      </p:sp>
      <p:sp>
        <p:nvSpPr>
          <p:cNvPr id="8" name="TextBox 7"/>
          <p:cNvSpPr txBox="1"/>
          <p:nvPr/>
        </p:nvSpPr>
        <p:spPr>
          <a:xfrm>
            <a:off x="609600" y="977900"/>
            <a:ext cx="7379018" cy="222250"/>
          </a:xfrm>
          <a:prstGeom prst="rect">
            <a:avLst/>
          </a:prstGeom>
          <a:noFill/>
        </p:spPr>
        <p:txBody>
          <a:bodyPr wrap="none" lIns="0" tIns="0" rIns="0" bIns="0" anchor="t">
            <a:noAutofit/>
          </a:bodyPr>
          <a:lstStyle/>
          <a:p>
            <a:pPr algn="l">
              <a:lnSpc>
                <a:spcPts val="1680"/>
              </a:lnSpc>
            </a:pPr>
            <a:r>
              <a:rPr sz="1200" b="0">
                <a:solidFill>
                  <a:srgbClr val="5F6B77"/>
                </a:solidFill>
                <a:latin typeface="Microsoft JhengHei"/>
                <a:ea typeface="Microsoft JhengHei"/>
                <a:cs typeface="Microsoft JhengHei"/>
              </a:rPr>
              <a:t>Targeting intestinal absorption and hepatic lipoprotein synthesis via dietary biology</a:t>
            </a:r>
          </a:p>
        </p:txBody>
      </p:sp>
      <p:sp>
        <p:nvSpPr>
          <p:cNvPr id="9" name="Rounded Rectangle 8"/>
          <p:cNvSpPr/>
          <p:nvPr/>
        </p:nvSpPr>
        <p:spPr>
          <a:xfrm>
            <a:off x="609600" y="1324546"/>
            <a:ext cx="5115496" cy="4508500"/>
          </a:xfrm>
          <a:prstGeom prst="roundRect">
            <a:avLst>
              <a:gd name="adj" fmla="val 2535"/>
            </a:avLst>
          </a:prstGeom>
          <a:solidFill>
            <a:srgbClr val="F0F2F4"/>
          </a:solidFill>
          <a:ln>
            <a:noFill/>
          </a:ln>
          <a:effectLst/>
        </p:spPr>
        <p:txBody>
          <a:bodyPr rtlCol="0" anchor="ctr"/>
          <a:lstStyle/>
          <a:p>
            <a:endParaRPr/>
          </a:p>
        </p:txBody>
      </p:sp>
      <p:sp>
        <p:nvSpPr>
          <p:cNvPr id="10" name="TextBox 9"/>
          <p:cNvSpPr txBox="1"/>
          <p:nvPr/>
        </p:nvSpPr>
        <p:spPr>
          <a:xfrm>
            <a:off x="812800" y="1515046"/>
            <a:ext cx="3221990" cy="234950"/>
          </a:xfrm>
          <a:prstGeom prst="rect">
            <a:avLst/>
          </a:prstGeom>
          <a:noFill/>
        </p:spPr>
        <p:txBody>
          <a:bodyPr wrap="none" lIns="0" tIns="0" rIns="0" bIns="0" anchor="t">
            <a:noAutofit/>
          </a:bodyPr>
          <a:lstStyle/>
          <a:p>
            <a:pPr algn="l">
              <a:lnSpc>
                <a:spcPts val="1820"/>
              </a:lnSpc>
            </a:pPr>
            <a:r>
              <a:rPr sz="1300" b="1">
                <a:solidFill>
                  <a:srgbClr val="3F7A55"/>
                </a:solidFill>
                <a:latin typeface="Microsoft JhengHei"/>
                <a:ea typeface="Microsoft JhengHei"/>
                <a:cs typeface="Microsoft JhengHei"/>
              </a:rPr>
              <a:t>Cardiovascular Dietary Biology</a:t>
            </a:r>
          </a:p>
        </p:txBody>
      </p:sp>
      <p:sp>
        <p:nvSpPr>
          <p:cNvPr id="11" name="TextBox 10"/>
          <p:cNvSpPr txBox="1"/>
          <p:nvPr/>
        </p:nvSpPr>
        <p:spPr>
          <a:xfrm>
            <a:off x="4243578" y="1553146"/>
            <a:ext cx="1597898" cy="158750"/>
          </a:xfrm>
          <a:prstGeom prst="rect">
            <a:avLst/>
          </a:prstGeom>
          <a:noFill/>
        </p:spPr>
        <p:txBody>
          <a:bodyPr wrap="none" lIns="0" tIns="0" rIns="0" bIns="0" anchor="t">
            <a:noAutofit/>
          </a:bodyPr>
          <a:lstStyle/>
          <a:p>
            <a:pPr algn="l">
              <a:lnSpc>
                <a:spcPts val="1190"/>
              </a:lnSpc>
            </a:pPr>
            <a:r>
              <a:rPr sz="850" b="0">
                <a:solidFill>
                  <a:srgbClr val="5F6B77"/>
                </a:solidFill>
                <a:latin typeface="Microsoft JhengHei"/>
                <a:ea typeface="Microsoft JhengHei"/>
                <a:cs typeface="Microsoft JhengHei"/>
              </a:rPr>
              <a:t>Click image to enlarge 🔍</a:t>
            </a:r>
          </a:p>
        </p:txBody>
      </p:sp>
      <p:sp>
        <p:nvSpPr>
          <p:cNvPr id="12" name="Rounded Rectangle 11"/>
          <p:cNvSpPr/>
          <p:nvPr/>
        </p:nvSpPr>
        <p:spPr>
          <a:xfrm>
            <a:off x="812800" y="2113978"/>
            <a:ext cx="4709096" cy="2286000"/>
          </a:xfrm>
          <a:prstGeom prst="roundRect">
            <a:avLst>
              <a:gd name="adj" fmla="val 3888"/>
            </a:avLst>
          </a:prstGeom>
          <a:solidFill>
            <a:srgbClr val="FFFFFF"/>
          </a:solidFill>
          <a:ln w="6350">
            <a:solidFill>
              <a:srgbClr val="E3E6E9"/>
            </a:solidFill>
          </a:ln>
          <a:effectLst/>
        </p:spPr>
        <p:txBody>
          <a:bodyPr rtlCol="0" anchor="ctr"/>
          <a:lstStyle/>
          <a:p>
            <a:endParaRPr/>
          </a:p>
        </p:txBody>
      </p:sp>
      <p:pic>
        <p:nvPicPr>
          <p:cNvPr id="13" name="Picture 12" descr="mediterranean_nutrition.png"/>
          <p:cNvPicPr>
            <a:picLocks noChangeAspect="1"/>
          </p:cNvPicPr>
          <p:nvPr/>
        </p:nvPicPr>
        <p:blipFill>
          <a:blip r:embed="rId3"/>
          <a:srcRect t="7141" b="7141"/>
          <a:stretch>
            <a:fillRect/>
          </a:stretch>
        </p:blipFill>
        <p:spPr>
          <a:xfrm>
            <a:off x="819150" y="2120328"/>
            <a:ext cx="4696396" cy="2273300"/>
          </a:xfrm>
          <a:prstGeom prst="rect">
            <a:avLst/>
          </a:prstGeom>
        </p:spPr>
      </p:pic>
      <p:sp>
        <p:nvSpPr>
          <p:cNvPr id="14" name="TextBox 13"/>
          <p:cNvSpPr txBox="1"/>
          <p:nvPr/>
        </p:nvSpPr>
        <p:spPr>
          <a:xfrm>
            <a:off x="812800" y="4782947"/>
            <a:ext cx="4709096" cy="852678"/>
          </a:xfrm>
          <a:prstGeom prst="rect">
            <a:avLst/>
          </a:prstGeom>
          <a:noFill/>
        </p:spPr>
        <p:txBody>
          <a:bodyPr wrap="square" lIns="0" tIns="0" rIns="0" bIns="0" anchor="t">
            <a:noAutofit/>
          </a:bodyPr>
          <a:lstStyle/>
          <a:p>
            <a:pPr algn="l">
              <a:lnSpc>
                <a:spcPts val="1710"/>
              </a:lnSpc>
            </a:pPr>
            <a:r>
              <a:rPr sz="1100" b="1">
                <a:solidFill>
                  <a:srgbClr val="5F6B77"/>
                </a:solidFill>
                <a:latin typeface="Microsoft JhengHei"/>
                <a:ea typeface="Microsoft JhengHei"/>
                <a:cs typeface="Microsoft JhengHei"/>
              </a:rPr>
              <a:t>Synergistic Nutrient Matrix:</a:t>
            </a:r>
            <a:r>
              <a:rPr sz="1100" b="0">
                <a:solidFill>
                  <a:srgbClr val="5F6B77"/>
                </a:solidFill>
                <a:latin typeface="Microsoft JhengHei"/>
                <a:ea typeface="Microsoft JhengHei"/>
                <a:cs typeface="Microsoft JhengHei"/>
              </a:rPr>
              <a:t> Monounsaturated fats from Extra Virgin Olive Oil protect LDL against atherogenic oxidation. Soluble fiber binds intestinal bile acids, while plant stanols displace cholesterol from dietary micelles.</a:t>
            </a:r>
          </a:p>
        </p:txBody>
      </p:sp>
      <p:sp>
        <p:nvSpPr>
          <p:cNvPr id="15" name="Rounded Rectangle 14"/>
          <p:cNvSpPr/>
          <p:nvPr/>
        </p:nvSpPr>
        <p:spPr>
          <a:xfrm>
            <a:off x="5928296" y="1324546"/>
            <a:ext cx="5653976" cy="4508500"/>
          </a:xfrm>
          <a:prstGeom prst="roundRect">
            <a:avLst>
              <a:gd name="adj" fmla="val 2535"/>
            </a:avLst>
          </a:prstGeom>
          <a:solidFill>
            <a:srgbClr val="F0F2F4"/>
          </a:solidFill>
          <a:ln>
            <a:noFill/>
          </a:ln>
          <a:effectLst/>
        </p:spPr>
        <p:txBody>
          <a:bodyPr rtlCol="0" anchor="ctr"/>
          <a:lstStyle/>
          <a:p>
            <a:endParaRPr/>
          </a:p>
        </p:txBody>
      </p:sp>
      <p:sp>
        <p:nvSpPr>
          <p:cNvPr id="16" name="Rectangle 15"/>
          <p:cNvSpPr/>
          <p:nvPr/>
        </p:nvSpPr>
        <p:spPr>
          <a:xfrm>
            <a:off x="5928296" y="1324546"/>
            <a:ext cx="50800" cy="4508500"/>
          </a:xfrm>
          <a:prstGeom prst="rect">
            <a:avLst/>
          </a:prstGeom>
          <a:solidFill>
            <a:srgbClr val="3F7A55"/>
          </a:solidFill>
          <a:ln>
            <a:noFill/>
          </a:ln>
          <a:effectLst/>
        </p:spPr>
        <p:txBody>
          <a:bodyPr rtlCol="0" anchor="ctr"/>
          <a:lstStyle/>
          <a:p>
            <a:endParaRPr/>
          </a:p>
        </p:txBody>
      </p:sp>
      <p:sp>
        <p:nvSpPr>
          <p:cNvPr id="17" name="TextBox 16"/>
          <p:cNvSpPr txBox="1"/>
          <p:nvPr/>
        </p:nvSpPr>
        <p:spPr>
          <a:xfrm>
            <a:off x="6220396" y="1540446"/>
            <a:ext cx="2471261" cy="203200"/>
          </a:xfrm>
          <a:prstGeom prst="rect">
            <a:avLst/>
          </a:prstGeom>
          <a:noFill/>
        </p:spPr>
        <p:txBody>
          <a:bodyPr wrap="none" lIns="0" tIns="0" rIns="0" bIns="0" anchor="t">
            <a:noAutofit/>
          </a:bodyPr>
          <a:lstStyle/>
          <a:p>
            <a:pPr algn="l">
              <a:lnSpc>
                <a:spcPts val="1120"/>
              </a:lnSpc>
            </a:pPr>
            <a:r>
              <a:rPr sz="1100" b="1">
                <a:solidFill>
                  <a:srgbClr val="3F7A55"/>
                </a:solidFill>
                <a:latin typeface="Microsoft JhengHei"/>
                <a:ea typeface="Microsoft JhengHei"/>
                <a:cs typeface="Microsoft JhengHei"/>
              </a:rPr>
              <a:t>Evidence-Based Lipid Impact</a:t>
            </a:r>
          </a:p>
        </p:txBody>
      </p:sp>
      <p:sp>
        <p:nvSpPr>
          <p:cNvPr id="18" name="Rectangle 17"/>
          <p:cNvSpPr/>
          <p:nvPr/>
        </p:nvSpPr>
        <p:spPr>
          <a:xfrm>
            <a:off x="6220396" y="1540446"/>
            <a:ext cx="1977009" cy="203200"/>
          </a:xfrm>
          <a:prstGeom prst="rect">
            <a:avLst/>
          </a:prstGeom>
          <a:solidFill>
            <a:srgbClr val="2A6E57">
              <a:alpha val="12000"/>
            </a:srgbClr>
          </a:solidFill>
          <a:ln>
            <a:noFill/>
          </a:ln>
          <a:effectLst/>
        </p:spPr>
        <p:txBody>
          <a:bodyPr rtlCol="0" anchor="ctr"/>
          <a:lstStyle/>
          <a:p>
            <a:endParaRPr/>
          </a:p>
        </p:txBody>
      </p:sp>
      <p:sp>
        <p:nvSpPr>
          <p:cNvPr id="19" name="TextBox 18"/>
          <p:cNvSpPr txBox="1"/>
          <p:nvPr/>
        </p:nvSpPr>
        <p:spPr>
          <a:xfrm>
            <a:off x="6220396" y="1838896"/>
            <a:ext cx="3829129" cy="330200"/>
          </a:xfrm>
          <a:prstGeom prst="rect">
            <a:avLst/>
          </a:prstGeom>
          <a:noFill/>
        </p:spPr>
        <p:txBody>
          <a:bodyPr wrap="none" lIns="0" tIns="0" rIns="0" bIns="0" anchor="t">
            <a:noAutofit/>
          </a:bodyPr>
          <a:lstStyle/>
          <a:p>
            <a:pPr algn="l">
              <a:lnSpc>
                <a:spcPts val="2340"/>
              </a:lnSpc>
            </a:pPr>
            <a:r>
              <a:rPr sz="1800" b="1">
                <a:solidFill>
                  <a:srgbClr val="3F7A55"/>
                </a:solidFill>
                <a:latin typeface="Microsoft JhengHei"/>
                <a:ea typeface="Microsoft JhengHei"/>
                <a:cs typeface="Microsoft JhengHei"/>
              </a:rPr>
              <a:t>Lowers LDL by 10% to 15%</a:t>
            </a:r>
          </a:p>
        </p:txBody>
      </p:sp>
      <p:sp>
        <p:nvSpPr>
          <p:cNvPr id="20" name="Rounded Rectangle 19"/>
          <p:cNvSpPr/>
          <p:nvPr/>
        </p:nvSpPr>
        <p:spPr>
          <a:xfrm>
            <a:off x="6220396" y="2256726"/>
            <a:ext cx="5120576" cy="806450"/>
          </a:xfrm>
          <a:prstGeom prst="roundRect">
            <a:avLst>
              <a:gd name="adj" fmla="val 9448"/>
            </a:avLst>
          </a:prstGeom>
          <a:solidFill>
            <a:srgbClr val="FFFFFF"/>
          </a:solidFill>
          <a:ln w="6350">
            <a:solidFill>
              <a:srgbClr val="E3E6E9"/>
            </a:solidFill>
          </a:ln>
          <a:effectLst/>
        </p:spPr>
        <p:txBody>
          <a:bodyPr rtlCol="0" anchor="ctr"/>
          <a:lstStyle/>
          <a:p>
            <a:endParaRPr/>
          </a:p>
        </p:txBody>
      </p:sp>
      <p:sp>
        <p:nvSpPr>
          <p:cNvPr id="21" name="TextBox 20"/>
          <p:cNvSpPr txBox="1"/>
          <p:nvPr/>
        </p:nvSpPr>
        <p:spPr>
          <a:xfrm>
            <a:off x="6341046" y="2339276"/>
            <a:ext cx="2612072" cy="215900"/>
          </a:xfrm>
          <a:prstGeom prst="rect">
            <a:avLst/>
          </a:prstGeom>
          <a:noFill/>
        </p:spPr>
        <p:txBody>
          <a:bodyPr wrap="none" lIns="0" tIns="0" rIns="0" bIns="0" anchor="t">
            <a:noAutofit/>
          </a:bodyPr>
          <a:lstStyle/>
          <a:p>
            <a:pPr algn="l">
              <a:lnSpc>
                <a:spcPts val="1120"/>
              </a:lnSpc>
            </a:pPr>
            <a:r>
              <a:rPr sz="1150" b="1">
                <a:solidFill>
                  <a:srgbClr val="24476E"/>
                </a:solidFill>
                <a:latin typeface="Microsoft JhengHei"/>
                <a:ea typeface="Microsoft JhengHei"/>
                <a:cs typeface="Microsoft JhengHei"/>
              </a:rPr>
              <a:t>1. Soluble Fiber (5–10 g/day):</a:t>
            </a:r>
          </a:p>
        </p:txBody>
      </p:sp>
      <p:sp>
        <p:nvSpPr>
          <p:cNvPr id="22" name="TextBox 21"/>
          <p:cNvSpPr txBox="1"/>
          <p:nvPr/>
        </p:nvSpPr>
        <p:spPr>
          <a:xfrm>
            <a:off x="6341046" y="2580576"/>
            <a:ext cx="4879276" cy="390525"/>
          </a:xfrm>
          <a:prstGeom prst="rect">
            <a:avLst/>
          </a:prstGeom>
          <a:noFill/>
        </p:spPr>
        <p:txBody>
          <a:bodyPr wrap="square" lIns="0" tIns="0" rIns="0" bIns="0" anchor="t">
            <a:noAutofit/>
          </a:bodyPr>
          <a:lstStyle/>
          <a:p>
            <a:pPr algn="l">
              <a:lnSpc>
                <a:spcPts val="1580"/>
              </a:lnSpc>
            </a:pPr>
            <a:r>
              <a:rPr sz="1050" b="0">
                <a:solidFill>
                  <a:srgbClr val="1E2833"/>
                </a:solidFill>
                <a:latin typeface="Microsoft JhengHei"/>
                <a:ea typeface="Microsoft JhengHei"/>
                <a:cs typeface="Microsoft JhengHei"/>
              </a:rPr>
              <a:t>Oats, psyllium, and legumes bind bile acids in the gut, forcing the liver to clear circulating LDL.</a:t>
            </a:r>
          </a:p>
        </p:txBody>
      </p:sp>
      <p:sp>
        <p:nvSpPr>
          <p:cNvPr id="23" name="Rounded Rectangle 22"/>
          <p:cNvSpPr/>
          <p:nvPr/>
        </p:nvSpPr>
        <p:spPr>
          <a:xfrm>
            <a:off x="6220396" y="3126676"/>
            <a:ext cx="5120576" cy="806450"/>
          </a:xfrm>
          <a:prstGeom prst="roundRect">
            <a:avLst>
              <a:gd name="adj" fmla="val 9448"/>
            </a:avLst>
          </a:prstGeom>
          <a:solidFill>
            <a:srgbClr val="FFFFFF"/>
          </a:solidFill>
          <a:ln w="6350">
            <a:solidFill>
              <a:srgbClr val="E3E6E9"/>
            </a:solidFill>
          </a:ln>
          <a:effectLst/>
        </p:spPr>
        <p:txBody>
          <a:bodyPr rtlCol="0" anchor="ctr"/>
          <a:lstStyle/>
          <a:p>
            <a:endParaRPr/>
          </a:p>
        </p:txBody>
      </p:sp>
      <p:sp>
        <p:nvSpPr>
          <p:cNvPr id="24" name="TextBox 23"/>
          <p:cNvSpPr txBox="1"/>
          <p:nvPr/>
        </p:nvSpPr>
        <p:spPr>
          <a:xfrm>
            <a:off x="6341046" y="3209226"/>
            <a:ext cx="3137773" cy="215900"/>
          </a:xfrm>
          <a:prstGeom prst="rect">
            <a:avLst/>
          </a:prstGeom>
          <a:noFill/>
        </p:spPr>
        <p:txBody>
          <a:bodyPr wrap="none" lIns="0" tIns="0" rIns="0" bIns="0" anchor="t">
            <a:noAutofit/>
          </a:bodyPr>
          <a:lstStyle/>
          <a:p>
            <a:pPr algn="l">
              <a:lnSpc>
                <a:spcPts val="1120"/>
              </a:lnSpc>
            </a:pPr>
            <a:r>
              <a:rPr sz="1150" b="1">
                <a:solidFill>
                  <a:srgbClr val="24476E"/>
                </a:solidFill>
                <a:latin typeface="Microsoft JhengHei"/>
                <a:ea typeface="Microsoft JhengHei"/>
                <a:cs typeface="Microsoft JhengHei"/>
              </a:rPr>
              <a:t>2. Plant Stanols &amp; Sterols (2 g/day):</a:t>
            </a:r>
          </a:p>
        </p:txBody>
      </p:sp>
      <p:sp>
        <p:nvSpPr>
          <p:cNvPr id="25" name="TextBox 24"/>
          <p:cNvSpPr txBox="1"/>
          <p:nvPr/>
        </p:nvSpPr>
        <p:spPr>
          <a:xfrm>
            <a:off x="6341046" y="3450526"/>
            <a:ext cx="4879276" cy="390525"/>
          </a:xfrm>
          <a:prstGeom prst="rect">
            <a:avLst/>
          </a:prstGeom>
          <a:noFill/>
        </p:spPr>
        <p:txBody>
          <a:bodyPr wrap="square" lIns="0" tIns="0" rIns="0" bIns="0" anchor="t">
            <a:noAutofit/>
          </a:bodyPr>
          <a:lstStyle/>
          <a:p>
            <a:pPr algn="l">
              <a:lnSpc>
                <a:spcPts val="1580"/>
              </a:lnSpc>
            </a:pPr>
            <a:r>
              <a:rPr sz="1050" b="0">
                <a:solidFill>
                  <a:srgbClr val="1E2833"/>
                </a:solidFill>
                <a:latin typeface="Microsoft JhengHei"/>
                <a:ea typeface="Microsoft JhengHei"/>
                <a:cs typeface="Microsoft JhengHei"/>
              </a:rPr>
              <a:t>Competitively inhibits intestinal cholesterol uptake, yielding an additional 7–10% LDL reduction.</a:t>
            </a:r>
          </a:p>
        </p:txBody>
      </p:sp>
      <p:sp>
        <p:nvSpPr>
          <p:cNvPr id="26" name="Rounded Rectangle 25"/>
          <p:cNvSpPr/>
          <p:nvPr/>
        </p:nvSpPr>
        <p:spPr>
          <a:xfrm>
            <a:off x="6220396" y="3996626"/>
            <a:ext cx="5120576" cy="806450"/>
          </a:xfrm>
          <a:prstGeom prst="roundRect">
            <a:avLst>
              <a:gd name="adj" fmla="val 9448"/>
            </a:avLst>
          </a:prstGeom>
          <a:solidFill>
            <a:srgbClr val="FFFFFF"/>
          </a:solidFill>
          <a:ln w="6350">
            <a:solidFill>
              <a:srgbClr val="E3E6E9"/>
            </a:solidFill>
          </a:ln>
          <a:effectLst/>
        </p:spPr>
        <p:txBody>
          <a:bodyPr rtlCol="0" anchor="ctr"/>
          <a:lstStyle/>
          <a:p>
            <a:endParaRPr/>
          </a:p>
        </p:txBody>
      </p:sp>
      <p:sp>
        <p:nvSpPr>
          <p:cNvPr id="27" name="TextBox 26"/>
          <p:cNvSpPr txBox="1"/>
          <p:nvPr/>
        </p:nvSpPr>
        <p:spPr>
          <a:xfrm>
            <a:off x="6341046" y="4079176"/>
            <a:ext cx="2556113" cy="215900"/>
          </a:xfrm>
          <a:prstGeom prst="rect">
            <a:avLst/>
          </a:prstGeom>
          <a:noFill/>
        </p:spPr>
        <p:txBody>
          <a:bodyPr wrap="none" lIns="0" tIns="0" rIns="0" bIns="0" anchor="t">
            <a:noAutofit/>
          </a:bodyPr>
          <a:lstStyle/>
          <a:p>
            <a:pPr algn="l">
              <a:lnSpc>
                <a:spcPts val="1120"/>
              </a:lnSpc>
            </a:pPr>
            <a:r>
              <a:rPr sz="1150" b="1">
                <a:solidFill>
                  <a:srgbClr val="1E2833"/>
                </a:solidFill>
                <a:latin typeface="Microsoft JhengHei"/>
                <a:ea typeface="Microsoft JhengHei"/>
                <a:cs typeface="Microsoft JhengHei"/>
              </a:rPr>
              <a:t>3. Zero Industrial Trans-Fats:</a:t>
            </a:r>
          </a:p>
        </p:txBody>
      </p:sp>
      <p:sp>
        <p:nvSpPr>
          <p:cNvPr id="28" name="TextBox 27"/>
          <p:cNvSpPr txBox="1"/>
          <p:nvPr/>
        </p:nvSpPr>
        <p:spPr>
          <a:xfrm>
            <a:off x="6341046" y="4320476"/>
            <a:ext cx="4879276" cy="390525"/>
          </a:xfrm>
          <a:prstGeom prst="rect">
            <a:avLst/>
          </a:prstGeom>
          <a:noFill/>
        </p:spPr>
        <p:txBody>
          <a:bodyPr wrap="square" lIns="0" tIns="0" rIns="0" bIns="0" anchor="t">
            <a:noAutofit/>
          </a:bodyPr>
          <a:lstStyle/>
          <a:p>
            <a:pPr algn="l">
              <a:lnSpc>
                <a:spcPts val="1580"/>
              </a:lnSpc>
            </a:pPr>
            <a:r>
              <a:rPr sz="1050" b="0">
                <a:solidFill>
                  <a:srgbClr val="1E2833"/>
                </a:solidFill>
                <a:latin typeface="Microsoft JhengHei"/>
                <a:ea typeface="Microsoft JhengHei"/>
                <a:cs typeface="Microsoft JhengHei"/>
              </a:rPr>
              <a:t>Completely eliminate partially hydrogenated oils; substitute with extra virgin olive oil and nuts.</a:t>
            </a:r>
          </a:p>
        </p:txBody>
      </p:sp>
      <p:sp>
        <p:nvSpPr>
          <p:cNvPr id="29" name="Rounded Rectangle 28"/>
          <p:cNvSpPr/>
          <p:nvPr/>
        </p:nvSpPr>
        <p:spPr>
          <a:xfrm>
            <a:off x="6220396" y="4982146"/>
            <a:ext cx="5120576" cy="635000"/>
          </a:xfrm>
          <a:prstGeom prst="roundRect">
            <a:avLst>
              <a:gd name="adj" fmla="val 12000"/>
            </a:avLst>
          </a:prstGeom>
          <a:solidFill>
            <a:srgbClr val="EAF4EE"/>
          </a:solidFill>
          <a:ln>
            <a:noFill/>
          </a:ln>
          <a:effectLst/>
        </p:spPr>
        <p:txBody>
          <a:bodyPr rtlCol="0" anchor="ctr"/>
          <a:lstStyle/>
          <a:p>
            <a:endParaRPr/>
          </a:p>
        </p:txBody>
      </p:sp>
      <p:sp>
        <p:nvSpPr>
          <p:cNvPr id="30" name="TextBox 29"/>
          <p:cNvSpPr txBox="1"/>
          <p:nvPr/>
        </p:nvSpPr>
        <p:spPr>
          <a:xfrm>
            <a:off x="6360096" y="5096446"/>
            <a:ext cx="4841176" cy="406400"/>
          </a:xfrm>
          <a:prstGeom prst="rect">
            <a:avLst/>
          </a:prstGeom>
          <a:noFill/>
        </p:spPr>
        <p:txBody>
          <a:bodyPr wrap="square" lIns="0" tIns="0" rIns="0" bIns="0" anchor="t">
            <a:noAutofit/>
          </a:bodyPr>
          <a:lstStyle/>
          <a:p>
            <a:pPr algn="l">
              <a:lnSpc>
                <a:spcPts val="1540"/>
              </a:lnSpc>
            </a:pPr>
            <a:r>
              <a:rPr sz="1100" b="1">
                <a:solidFill>
                  <a:srgbClr val="3F7A55"/>
                </a:solidFill>
                <a:latin typeface="Microsoft JhengHei"/>
                <a:ea typeface="Microsoft JhengHei"/>
                <a:cs typeface="Microsoft JhengHei"/>
              </a:rPr>
              <a:t>🥗 The PREDIMED trial confirmed a 30% reduction in major adverse cardiovascular events!</a:t>
            </a:r>
          </a:p>
        </p:txBody>
      </p:sp>
      <p:sp>
        <p:nvSpPr>
          <p:cNvPr id="31" name="Rectangle 30"/>
          <p:cNvSpPr/>
          <p:nvPr/>
        </p:nvSpPr>
        <p:spPr>
          <a:xfrm>
            <a:off x="609600" y="6066854"/>
            <a:ext cx="10972800" cy="6350"/>
          </a:xfrm>
          <a:prstGeom prst="rect">
            <a:avLst/>
          </a:prstGeom>
          <a:solidFill>
            <a:srgbClr val="F0F2F4"/>
          </a:solidFill>
          <a:ln>
            <a:noFill/>
          </a:ln>
          <a:effectLst/>
        </p:spPr>
        <p:txBody>
          <a:bodyPr rtlCol="0" anchor="ctr"/>
          <a:lstStyle/>
          <a:p>
            <a:endParaRPr/>
          </a:p>
        </p:txBody>
      </p:sp>
      <p:sp>
        <p:nvSpPr>
          <p:cNvPr id="32" name="TextBox 31"/>
          <p:cNvSpPr txBox="1"/>
          <p:nvPr/>
        </p:nvSpPr>
        <p:spPr>
          <a:xfrm>
            <a:off x="609600" y="6130354"/>
            <a:ext cx="9033748" cy="171450"/>
          </a:xfrm>
          <a:prstGeom prst="rect">
            <a:avLst/>
          </a:prstGeom>
          <a:noFill/>
        </p:spPr>
        <p:txBody>
          <a:bodyPr wrap="none" lIns="0" tIns="0" rIns="0" bIns="0" anchor="t">
            <a:noAutofit/>
          </a:bodyPr>
          <a:lstStyle/>
          <a:p>
            <a:pPr algn="l">
              <a:lnSpc>
                <a:spcPts val="1330"/>
              </a:lnSpc>
            </a:pPr>
            <a:r>
              <a:rPr sz="950" b="0">
                <a:solidFill>
                  <a:srgbClr val="5F6B77"/>
                </a:solidFill>
                <a:latin typeface="Microsoft JhengHei"/>
                <a:ea typeface="Microsoft JhengHei"/>
                <a:cs typeface="Microsoft JhengHei"/>
              </a:rPr>
              <a:t>Estruch R, et al. Primary Prevention of Cardiovascular Disease with a Mediterranean Diet (PREDIMED). N Engl J Med. 2018;378:e34.</a:t>
            </a:r>
          </a:p>
        </p:txBody>
      </p:sp>
      <p:sp>
        <p:nvSpPr>
          <p:cNvPr id="33" name="Rounded Rectangle 32"/>
          <p:cNvSpPr/>
          <p:nvPr/>
        </p:nvSpPr>
        <p:spPr>
          <a:xfrm>
            <a:off x="8473948" y="190500"/>
            <a:ext cx="599313"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34" name="TextBox 33"/>
          <p:cNvSpPr txBox="1"/>
          <p:nvPr/>
        </p:nvSpPr>
        <p:spPr>
          <a:xfrm>
            <a:off x="8575548" y="241300"/>
            <a:ext cx="495141"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1. Case</a:t>
            </a:r>
          </a:p>
        </p:txBody>
      </p:sp>
      <p:sp>
        <p:nvSpPr>
          <p:cNvPr id="35" name="Rounded Rectangle 34"/>
          <p:cNvSpPr/>
          <p:nvPr/>
        </p:nvSpPr>
        <p:spPr>
          <a:xfrm>
            <a:off x="9124061" y="190500"/>
            <a:ext cx="689483"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36" name="TextBox 35"/>
          <p:cNvSpPr txBox="1"/>
          <p:nvPr/>
        </p:nvSpPr>
        <p:spPr>
          <a:xfrm>
            <a:off x="9225661" y="241300"/>
            <a:ext cx="607854"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2. Target</a:t>
            </a:r>
          </a:p>
        </p:txBody>
      </p:sp>
      <p:sp>
        <p:nvSpPr>
          <p:cNvPr id="37" name="Rounded Rectangle 36"/>
          <p:cNvSpPr/>
          <p:nvPr/>
        </p:nvSpPr>
        <p:spPr>
          <a:xfrm>
            <a:off x="9864344" y="190500"/>
            <a:ext cx="795718" cy="266700"/>
          </a:xfrm>
          <a:prstGeom prst="roundRect">
            <a:avLst>
              <a:gd name="adj" fmla="val 50000"/>
            </a:avLst>
          </a:prstGeom>
          <a:solidFill>
            <a:srgbClr val="24476E"/>
          </a:solidFill>
          <a:ln w="12700">
            <a:solidFill>
              <a:srgbClr val="24476E"/>
            </a:solidFill>
          </a:ln>
          <a:effectLst/>
        </p:spPr>
        <p:txBody>
          <a:bodyPr rtlCol="0" anchor="ctr"/>
          <a:lstStyle/>
          <a:p>
            <a:endParaRPr/>
          </a:p>
        </p:txBody>
      </p:sp>
      <p:sp>
        <p:nvSpPr>
          <p:cNvPr id="38" name="TextBox 37"/>
          <p:cNvSpPr txBox="1"/>
          <p:nvPr/>
        </p:nvSpPr>
        <p:spPr>
          <a:xfrm>
            <a:off x="9965944" y="241300"/>
            <a:ext cx="740648" cy="165100"/>
          </a:xfrm>
          <a:prstGeom prst="rect">
            <a:avLst/>
          </a:prstGeom>
          <a:noFill/>
        </p:spPr>
        <p:txBody>
          <a:bodyPr wrap="none" lIns="0" tIns="0" rIns="0" bIns="0" anchor="t">
            <a:noAutofit/>
          </a:bodyPr>
          <a:lstStyle/>
          <a:p>
            <a:pPr algn="l">
              <a:lnSpc>
                <a:spcPts val="1260"/>
              </a:lnSpc>
            </a:pPr>
            <a:r>
              <a:rPr sz="900" b="1">
                <a:solidFill>
                  <a:srgbClr val="FFFFFF"/>
                </a:solidFill>
                <a:latin typeface="Microsoft JhengHei"/>
                <a:ea typeface="Microsoft JhengHei"/>
                <a:cs typeface="Microsoft JhengHei"/>
              </a:rPr>
              <a:t>3. Therapy</a:t>
            </a:r>
          </a:p>
        </p:txBody>
      </p:sp>
      <p:sp>
        <p:nvSpPr>
          <p:cNvPr id="39" name="Rounded Rectangle 38"/>
          <p:cNvSpPr/>
          <p:nvPr/>
        </p:nvSpPr>
        <p:spPr>
          <a:xfrm>
            <a:off x="10710862" y="190500"/>
            <a:ext cx="871538"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40" name="TextBox 39"/>
          <p:cNvSpPr txBox="1"/>
          <p:nvPr/>
        </p:nvSpPr>
        <p:spPr>
          <a:xfrm>
            <a:off x="10812462" y="241300"/>
            <a:ext cx="835422"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4. Roadmap</a:t>
            </a:r>
          </a:p>
        </p:txBody>
      </p:sp>
      <p:sp>
        <p:nvSpPr>
          <p:cNvPr id="41" name="Rectangle 40"/>
          <p:cNvSpPr/>
          <p:nvPr/>
        </p:nvSpPr>
        <p:spPr>
          <a:xfrm>
            <a:off x="0" y="6527800"/>
            <a:ext cx="12192000" cy="330200"/>
          </a:xfrm>
          <a:prstGeom prst="rect">
            <a:avLst/>
          </a:prstGeom>
          <a:solidFill>
            <a:srgbClr val="FFFFFF"/>
          </a:solidFill>
          <a:ln>
            <a:noFill/>
          </a:ln>
          <a:effectLst/>
        </p:spPr>
        <p:txBody>
          <a:bodyPr rtlCol="0" anchor="ctr"/>
          <a:lstStyle/>
          <a:p>
            <a:endParaRPr/>
          </a:p>
        </p:txBody>
      </p:sp>
      <p:sp>
        <p:nvSpPr>
          <p:cNvPr id="42" name="Rectangle 41"/>
          <p:cNvSpPr/>
          <p:nvPr/>
        </p:nvSpPr>
        <p:spPr>
          <a:xfrm>
            <a:off x="0" y="6527800"/>
            <a:ext cx="12192000" cy="12700"/>
          </a:xfrm>
          <a:prstGeom prst="rect">
            <a:avLst/>
          </a:prstGeom>
          <a:solidFill>
            <a:srgbClr val="F0F2F4"/>
          </a:solidFill>
          <a:ln>
            <a:noFill/>
          </a:ln>
          <a:effectLst/>
        </p:spPr>
        <p:txBody>
          <a:bodyPr rtlCol="0" anchor="ctr"/>
          <a:lstStyle/>
          <a:p>
            <a:endParaRPr/>
          </a:p>
        </p:txBody>
      </p:sp>
      <p:sp>
        <p:nvSpPr>
          <p:cNvPr id="43" name="TextBox 42"/>
          <p:cNvSpPr txBox="1"/>
          <p:nvPr/>
        </p:nvSpPr>
        <p:spPr>
          <a:xfrm>
            <a:off x="609600" y="6613525"/>
            <a:ext cx="808038" cy="171450"/>
          </a:xfrm>
          <a:prstGeom prst="rect">
            <a:avLst/>
          </a:prstGeom>
          <a:noFill/>
        </p:spPr>
        <p:txBody>
          <a:bodyPr wrap="none" lIns="0" tIns="0" rIns="0" bIns="0" anchor="t">
            <a:noAutofit/>
          </a:bodyPr>
          <a:lstStyle/>
          <a:p>
            <a:pPr algn="l">
              <a:lnSpc>
                <a:spcPts val="1330"/>
              </a:lnSpc>
            </a:pPr>
            <a:r>
              <a:rPr sz="950" b="1">
                <a:solidFill>
                  <a:srgbClr val="24476E"/>
                </a:solidFill>
                <a:latin typeface="Microsoft JhengHei"/>
                <a:ea typeface="Microsoft JhengHei"/>
                <a:cs typeface="Microsoft JhengHei"/>
              </a:rPr>
              <a:t>3. Therapy</a:t>
            </a:r>
          </a:p>
        </p:txBody>
      </p:sp>
      <p:sp>
        <p:nvSpPr>
          <p:cNvPr id="44" name="Rounded Rectangle 43"/>
          <p:cNvSpPr/>
          <p:nvPr/>
        </p:nvSpPr>
        <p:spPr>
          <a:xfrm>
            <a:off x="1395730" y="6680200"/>
            <a:ext cx="9651302" cy="38100"/>
          </a:xfrm>
          <a:prstGeom prst="roundRect">
            <a:avLst>
              <a:gd name="adj" fmla="val 50000"/>
            </a:avLst>
          </a:prstGeom>
          <a:solidFill>
            <a:srgbClr val="F0F2F4"/>
          </a:solidFill>
          <a:ln>
            <a:noFill/>
          </a:ln>
          <a:effectLst/>
        </p:spPr>
        <p:txBody>
          <a:bodyPr rtlCol="0" anchor="ctr"/>
          <a:lstStyle/>
          <a:p>
            <a:endParaRPr/>
          </a:p>
        </p:txBody>
      </p:sp>
      <p:sp>
        <p:nvSpPr>
          <p:cNvPr id="45" name="Rectangle 44"/>
          <p:cNvSpPr/>
          <p:nvPr/>
        </p:nvSpPr>
        <p:spPr>
          <a:xfrm>
            <a:off x="1395730" y="6680200"/>
            <a:ext cx="4021328" cy="38100"/>
          </a:xfrm>
          <a:prstGeom prst="rect">
            <a:avLst/>
          </a:prstGeom>
          <a:solidFill>
            <a:srgbClr val="F3C84B"/>
          </a:solidFill>
          <a:ln>
            <a:noFill/>
          </a:ln>
          <a:effectLst/>
        </p:spPr>
        <p:txBody>
          <a:bodyPr rtlCol="0" anchor="ctr"/>
          <a:lstStyle/>
          <a:p>
            <a:endParaRPr/>
          </a:p>
        </p:txBody>
      </p:sp>
      <p:sp>
        <p:nvSpPr>
          <p:cNvPr id="46" name="TextBox 45"/>
          <p:cNvSpPr txBox="1"/>
          <p:nvPr/>
        </p:nvSpPr>
        <p:spPr>
          <a:xfrm>
            <a:off x="11186732" y="6613525"/>
            <a:ext cx="494586" cy="171450"/>
          </a:xfrm>
          <a:prstGeom prst="rect">
            <a:avLst/>
          </a:prstGeom>
          <a:noFill/>
        </p:spPr>
        <p:txBody>
          <a:bodyPr wrap="none" lIns="0" tIns="0" rIns="0" bIns="0" anchor="t">
            <a:noAutofit/>
          </a:bodyPr>
          <a:lstStyle/>
          <a:p>
            <a:pPr algn="l">
              <a:lnSpc>
                <a:spcPts val="1330"/>
              </a:lnSpc>
            </a:pPr>
            <a:r>
              <a:rPr sz="950" b="1">
                <a:solidFill>
                  <a:srgbClr val="3B4754"/>
                </a:solidFill>
                <a:latin typeface="Microsoft JhengHei"/>
                <a:ea typeface="Microsoft JhengHei"/>
                <a:cs typeface="Microsoft JhengHei"/>
              </a:rPr>
              <a:t>05 / 12</a:t>
            </a:r>
          </a:p>
        </p:txBody>
      </p:sp>
      <p:sp>
        <p:nvSpPr>
          <p:cNvPr id="47" name="LINK_Rectangle 46">
            <a:hlinkClick r:id="rId4" action="ppaction://hlinksldjump"/>
          </p:cNvPr>
          <p:cNvSpPr/>
          <p:nvPr/>
        </p:nvSpPr>
        <p:spPr>
          <a:xfrm>
            <a:off x="8473976" y="190500"/>
            <a:ext cx="599281" cy="266700"/>
          </a:xfrm>
          <a:prstGeom prst="rect">
            <a:avLst/>
          </a:prstGeom>
          <a:solidFill>
            <a:srgbClr val="FFFFFF">
              <a:alpha val="0"/>
            </a:srgbClr>
          </a:solidFill>
          <a:ln>
            <a:noFill/>
          </a:ln>
          <a:effectLst/>
        </p:spPr>
        <p:txBody>
          <a:bodyPr rtlCol="0" anchor="ctr"/>
          <a:lstStyle/>
          <a:p>
            <a:pPr algn="ctr"/>
            <a:endParaRPr/>
          </a:p>
        </p:txBody>
      </p:sp>
      <p:sp>
        <p:nvSpPr>
          <p:cNvPr id="48" name="LINK_Rectangle 47">
            <a:hlinkClick r:id="rId5" action="ppaction://hlinksldjump"/>
          </p:cNvPr>
          <p:cNvSpPr/>
          <p:nvPr/>
        </p:nvSpPr>
        <p:spPr>
          <a:xfrm>
            <a:off x="9124057" y="190500"/>
            <a:ext cx="689471" cy="266700"/>
          </a:xfrm>
          <a:prstGeom prst="rect">
            <a:avLst/>
          </a:prstGeom>
          <a:solidFill>
            <a:srgbClr val="FFFFFF">
              <a:alpha val="0"/>
            </a:srgbClr>
          </a:solidFill>
          <a:ln>
            <a:noFill/>
          </a:ln>
          <a:effectLst/>
        </p:spPr>
        <p:txBody>
          <a:bodyPr rtlCol="0" anchor="ctr"/>
          <a:lstStyle/>
          <a:p>
            <a:pPr algn="ctr"/>
            <a:endParaRPr/>
          </a:p>
        </p:txBody>
      </p:sp>
      <p:sp>
        <p:nvSpPr>
          <p:cNvPr id="49" name="LINK_Rectangle 48">
            <a:hlinkClick r:id="rId6" action="ppaction://hlinksldjump"/>
          </p:cNvPr>
          <p:cNvSpPr/>
          <p:nvPr/>
        </p:nvSpPr>
        <p:spPr>
          <a:xfrm>
            <a:off x="10710862" y="190500"/>
            <a:ext cx="871538" cy="266700"/>
          </a:xfrm>
          <a:prstGeom prst="rect">
            <a:avLst/>
          </a:prstGeom>
          <a:solidFill>
            <a:srgbClr val="FFFFFF">
              <a:alpha val="0"/>
            </a:srgbClr>
          </a:solidFill>
          <a:ln>
            <a:noFill/>
          </a:ln>
          <a:effectLst/>
        </p:spPr>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avLst/>
          </a:prstGeom>
          <a:solidFill>
            <a:srgbClr val="FFFFFF"/>
          </a:solidFill>
          <a:ln>
            <a:noFill/>
          </a:ln>
          <a:effectLst/>
        </p:spPr>
        <p:txBody>
          <a:bodyPr rtlCol="0" anchor="ctr"/>
          <a:lstStyle/>
          <a:p>
            <a:pPr algn="ctr"/>
            <a:endParaRPr/>
          </a:p>
        </p:txBody>
      </p:sp>
      <p:sp>
        <p:nvSpPr>
          <p:cNvPr id="3" name="TextBox 2"/>
          <p:cNvSpPr txBox="1"/>
          <p:nvPr/>
        </p:nvSpPr>
        <p:spPr>
          <a:xfrm>
            <a:off x="609600" y="377825"/>
            <a:ext cx="3024188" cy="152400"/>
          </a:xfrm>
          <a:prstGeom prst="rect">
            <a:avLst/>
          </a:prstGeom>
          <a:noFill/>
        </p:spPr>
        <p:txBody>
          <a:bodyPr wrap="none" lIns="0" tIns="0" rIns="0" bIns="0" anchor="t">
            <a:noAutofit/>
          </a:bodyPr>
          <a:lstStyle/>
          <a:p>
            <a:pPr algn="l">
              <a:lnSpc>
                <a:spcPts val="1120"/>
              </a:lnSpc>
            </a:pPr>
            <a:r>
              <a:rPr sz="800" b="0">
                <a:solidFill>
                  <a:srgbClr val="1E2833"/>
                </a:solidFill>
                <a:latin typeface="Microsoft JhengHei"/>
                <a:ea typeface="Microsoft JhengHei"/>
                <a:cs typeface="Microsoft JhengHei"/>
              </a:rPr>
              <a:t>Non-Pharmacological Therapy • Exercise Medicine</a:t>
            </a:r>
          </a:p>
        </p:txBody>
      </p:sp>
      <p:sp>
        <p:nvSpPr>
          <p:cNvPr id="4" name="Rounded Rectangle 3"/>
          <p:cNvSpPr/>
          <p:nvPr/>
        </p:nvSpPr>
        <p:spPr>
          <a:xfrm>
            <a:off x="7344664" y="330200"/>
            <a:ext cx="884936" cy="247650"/>
          </a:xfrm>
          <a:prstGeom prst="roundRect">
            <a:avLst>
              <a:gd name="adj" fmla="val 50000"/>
            </a:avLst>
          </a:prstGeom>
          <a:solidFill>
            <a:srgbClr val="FFFFFF"/>
          </a:solidFill>
          <a:ln w="6350">
            <a:solidFill>
              <a:srgbClr val="24476E"/>
            </a:solidFill>
          </a:ln>
          <a:effectLst/>
        </p:spPr>
        <p:txBody>
          <a:bodyPr rtlCol="0" anchor="ctr"/>
          <a:lstStyle/>
          <a:p>
            <a:endParaRPr/>
          </a:p>
        </p:txBody>
      </p:sp>
      <p:sp>
        <p:nvSpPr>
          <p:cNvPr id="5" name="TextBox 4"/>
          <p:cNvSpPr txBox="1"/>
          <p:nvPr/>
        </p:nvSpPr>
        <p:spPr>
          <a:xfrm>
            <a:off x="7465314" y="374650"/>
            <a:ext cx="237109" cy="158750"/>
          </a:xfrm>
          <a:prstGeom prst="rect">
            <a:avLst/>
          </a:prstGeom>
          <a:noFill/>
        </p:spPr>
        <p:txBody>
          <a:bodyPr wrap="none" lIns="0" tIns="0" rIns="0" bIns="0" anchor="t">
            <a:noAutofit/>
          </a:bodyPr>
          <a:lstStyle/>
          <a:p>
            <a:pPr algn="l">
              <a:lnSpc>
                <a:spcPts val="1190"/>
              </a:lnSpc>
            </a:pPr>
            <a:r>
              <a:rPr sz="850" b="1">
                <a:solidFill>
                  <a:srgbClr val="24476E"/>
                </a:solidFill>
                <a:latin typeface="Microsoft JhengHei"/>
                <a:ea typeface="Microsoft JhengHei"/>
                <a:cs typeface="Microsoft JhengHei"/>
              </a:rPr>
              <a:t>🌐</a:t>
            </a:r>
          </a:p>
        </p:txBody>
      </p:sp>
      <p:sp>
        <p:nvSpPr>
          <p:cNvPr id="6" name="TextBox 5"/>
          <p:cNvSpPr txBox="1"/>
          <p:nvPr/>
        </p:nvSpPr>
        <p:spPr>
          <a:xfrm>
            <a:off x="7651623" y="374650"/>
            <a:ext cx="571659" cy="158750"/>
          </a:xfrm>
          <a:prstGeom prst="rect">
            <a:avLst/>
          </a:prstGeom>
          <a:noFill/>
        </p:spPr>
        <p:txBody>
          <a:bodyPr wrap="none" lIns="0" tIns="0" rIns="0" bIns="0" anchor="t">
            <a:noAutofit/>
          </a:bodyPr>
          <a:lstStyle/>
          <a:p>
            <a:pPr algn="l">
              <a:lnSpc>
                <a:spcPts val="1190"/>
              </a:lnSpc>
            </a:pPr>
            <a:r>
              <a:rPr sz="850" b="1">
                <a:solidFill>
                  <a:srgbClr val="24476E"/>
                </a:solidFill>
                <a:latin typeface="Microsoft JhengHei"/>
                <a:ea typeface="Microsoft JhengHei"/>
                <a:cs typeface="Microsoft JhengHei"/>
              </a:rPr>
              <a:t>EN / 中文</a:t>
            </a:r>
          </a:p>
        </p:txBody>
      </p:sp>
      <p:sp>
        <p:nvSpPr>
          <p:cNvPr id="7" name="TextBox 6"/>
          <p:cNvSpPr txBox="1"/>
          <p:nvPr/>
        </p:nvSpPr>
        <p:spPr>
          <a:xfrm>
            <a:off x="609600" y="603250"/>
            <a:ext cx="5827712" cy="361950"/>
          </a:xfrm>
          <a:prstGeom prst="rect">
            <a:avLst/>
          </a:prstGeom>
          <a:noFill/>
        </p:spPr>
        <p:txBody>
          <a:bodyPr wrap="none" lIns="0" tIns="0" rIns="0" bIns="0" anchor="t">
            <a:noAutofit/>
          </a:bodyPr>
          <a:lstStyle/>
          <a:p>
            <a:pPr algn="l">
              <a:lnSpc>
                <a:spcPts val="2500"/>
              </a:lnSpc>
            </a:pPr>
            <a:r>
              <a:rPr sz="2000" b="1" spc="-20">
                <a:solidFill>
                  <a:srgbClr val="1E2833"/>
                </a:solidFill>
                <a:latin typeface="Microsoft JhengHei"/>
                <a:ea typeface="Microsoft JhengHei"/>
                <a:cs typeface="Microsoft JhengHei"/>
              </a:rPr>
              <a:t>Rehab Strategy: Structured Exercise</a:t>
            </a:r>
          </a:p>
        </p:txBody>
      </p:sp>
      <p:sp>
        <p:nvSpPr>
          <p:cNvPr id="8" name="TextBox 7"/>
          <p:cNvSpPr txBox="1"/>
          <p:nvPr/>
        </p:nvSpPr>
        <p:spPr>
          <a:xfrm>
            <a:off x="609600" y="977900"/>
            <a:ext cx="7541736" cy="222250"/>
          </a:xfrm>
          <a:prstGeom prst="rect">
            <a:avLst/>
          </a:prstGeom>
          <a:noFill/>
        </p:spPr>
        <p:txBody>
          <a:bodyPr wrap="none" lIns="0" tIns="0" rIns="0" bIns="0" anchor="t">
            <a:noAutofit/>
          </a:bodyPr>
          <a:lstStyle/>
          <a:p>
            <a:pPr algn="l">
              <a:lnSpc>
                <a:spcPts val="1680"/>
              </a:lnSpc>
            </a:pPr>
            <a:r>
              <a:rPr sz="1200" b="0">
                <a:solidFill>
                  <a:srgbClr val="5F6B77"/>
                </a:solidFill>
                <a:latin typeface="Microsoft JhengHei"/>
                <a:ea typeface="Microsoft JhengHei"/>
                <a:cs typeface="Microsoft JhengHei"/>
              </a:rPr>
              <a:t>Exercise-induced endothelial repair, autonomic balance, and 26% mortality reduction</a:t>
            </a:r>
          </a:p>
        </p:txBody>
      </p:sp>
      <p:sp>
        <p:nvSpPr>
          <p:cNvPr id="9" name="Rounded Rectangle 8"/>
          <p:cNvSpPr/>
          <p:nvPr/>
        </p:nvSpPr>
        <p:spPr>
          <a:xfrm>
            <a:off x="609600" y="1324546"/>
            <a:ext cx="5115496" cy="4508500"/>
          </a:xfrm>
          <a:prstGeom prst="roundRect">
            <a:avLst>
              <a:gd name="adj" fmla="val 2535"/>
            </a:avLst>
          </a:prstGeom>
          <a:solidFill>
            <a:srgbClr val="F0F2F4"/>
          </a:solidFill>
          <a:ln>
            <a:noFill/>
          </a:ln>
          <a:effectLst/>
        </p:spPr>
        <p:txBody>
          <a:bodyPr rtlCol="0" anchor="ctr"/>
          <a:lstStyle/>
          <a:p>
            <a:endParaRPr/>
          </a:p>
        </p:txBody>
      </p:sp>
      <p:sp>
        <p:nvSpPr>
          <p:cNvPr id="10" name="TextBox 9"/>
          <p:cNvSpPr txBox="1"/>
          <p:nvPr/>
        </p:nvSpPr>
        <p:spPr>
          <a:xfrm>
            <a:off x="812800" y="1515046"/>
            <a:ext cx="4245610" cy="234950"/>
          </a:xfrm>
          <a:prstGeom prst="rect">
            <a:avLst/>
          </a:prstGeom>
          <a:noFill/>
        </p:spPr>
        <p:txBody>
          <a:bodyPr wrap="none" lIns="0" tIns="0" rIns="0" bIns="0" anchor="t">
            <a:noAutofit/>
          </a:bodyPr>
          <a:lstStyle/>
          <a:p>
            <a:pPr algn="l">
              <a:lnSpc>
                <a:spcPts val="1820"/>
              </a:lnSpc>
            </a:pPr>
            <a:r>
              <a:rPr sz="1300" b="1">
                <a:solidFill>
                  <a:srgbClr val="3F7A55"/>
                </a:solidFill>
                <a:latin typeface="Microsoft JhengHei"/>
                <a:ea typeface="Microsoft JhengHei"/>
                <a:cs typeface="Microsoft JhengHei"/>
              </a:rPr>
              <a:t>Exercise Physiology &amp; Endothelial Repair</a:t>
            </a:r>
          </a:p>
        </p:txBody>
      </p:sp>
      <p:sp>
        <p:nvSpPr>
          <p:cNvPr id="11" name="TextBox 10"/>
          <p:cNvSpPr txBox="1"/>
          <p:nvPr/>
        </p:nvSpPr>
        <p:spPr>
          <a:xfrm>
            <a:off x="4243578" y="1553146"/>
            <a:ext cx="1597898" cy="158750"/>
          </a:xfrm>
          <a:prstGeom prst="rect">
            <a:avLst/>
          </a:prstGeom>
          <a:noFill/>
        </p:spPr>
        <p:txBody>
          <a:bodyPr wrap="none" lIns="0" tIns="0" rIns="0" bIns="0" anchor="t">
            <a:noAutofit/>
          </a:bodyPr>
          <a:lstStyle/>
          <a:p>
            <a:pPr algn="l">
              <a:lnSpc>
                <a:spcPts val="1190"/>
              </a:lnSpc>
            </a:pPr>
            <a:r>
              <a:rPr sz="850" b="0">
                <a:solidFill>
                  <a:srgbClr val="5F6B77"/>
                </a:solidFill>
                <a:latin typeface="Microsoft JhengHei"/>
                <a:ea typeface="Microsoft JhengHei"/>
                <a:cs typeface="Microsoft JhengHei"/>
              </a:rPr>
              <a:t>Click image to enlarge 🔍</a:t>
            </a:r>
          </a:p>
        </p:txBody>
      </p:sp>
      <p:sp>
        <p:nvSpPr>
          <p:cNvPr id="12" name="Rounded Rectangle 11"/>
          <p:cNvSpPr/>
          <p:nvPr/>
        </p:nvSpPr>
        <p:spPr>
          <a:xfrm>
            <a:off x="812800" y="2113978"/>
            <a:ext cx="4709096" cy="2286000"/>
          </a:xfrm>
          <a:prstGeom prst="roundRect">
            <a:avLst>
              <a:gd name="adj" fmla="val 3888"/>
            </a:avLst>
          </a:prstGeom>
          <a:solidFill>
            <a:srgbClr val="FFFFFF"/>
          </a:solidFill>
          <a:ln w="6350">
            <a:solidFill>
              <a:srgbClr val="E3E6E9"/>
            </a:solidFill>
          </a:ln>
          <a:effectLst/>
        </p:spPr>
        <p:txBody>
          <a:bodyPr rtlCol="0" anchor="ctr"/>
          <a:lstStyle/>
          <a:p>
            <a:endParaRPr/>
          </a:p>
        </p:txBody>
      </p:sp>
      <p:pic>
        <p:nvPicPr>
          <p:cNvPr id="13" name="Picture 12" descr="cardiac_rehabilitation.png"/>
          <p:cNvPicPr>
            <a:picLocks noChangeAspect="1"/>
          </p:cNvPicPr>
          <p:nvPr/>
        </p:nvPicPr>
        <p:blipFill>
          <a:blip r:embed="rId3"/>
          <a:srcRect t="7141" b="7141"/>
          <a:stretch>
            <a:fillRect/>
          </a:stretch>
        </p:blipFill>
        <p:spPr>
          <a:xfrm>
            <a:off x="819150" y="2120328"/>
            <a:ext cx="4696396" cy="2273300"/>
          </a:xfrm>
          <a:prstGeom prst="rect">
            <a:avLst/>
          </a:prstGeom>
        </p:spPr>
      </p:pic>
      <p:sp>
        <p:nvSpPr>
          <p:cNvPr id="14" name="TextBox 13"/>
          <p:cNvSpPr txBox="1"/>
          <p:nvPr/>
        </p:nvSpPr>
        <p:spPr>
          <a:xfrm>
            <a:off x="812800" y="4782947"/>
            <a:ext cx="4709096" cy="852678"/>
          </a:xfrm>
          <a:prstGeom prst="rect">
            <a:avLst/>
          </a:prstGeom>
          <a:noFill/>
        </p:spPr>
        <p:txBody>
          <a:bodyPr wrap="square" lIns="0" tIns="0" rIns="0" bIns="0" anchor="t">
            <a:noAutofit/>
          </a:bodyPr>
          <a:lstStyle/>
          <a:p>
            <a:pPr algn="l">
              <a:lnSpc>
                <a:spcPts val="1710"/>
              </a:lnSpc>
            </a:pPr>
            <a:r>
              <a:rPr sz="1100" b="1">
                <a:solidFill>
                  <a:srgbClr val="5F6B77"/>
                </a:solidFill>
                <a:latin typeface="Microsoft JhengHei"/>
                <a:ea typeface="Microsoft JhengHei"/>
                <a:cs typeface="Microsoft JhengHei"/>
              </a:rPr>
              <a:t>Vascular Biomechanics:</a:t>
            </a:r>
            <a:r>
              <a:rPr sz="1100" b="0">
                <a:solidFill>
                  <a:srgbClr val="5F6B77"/>
                </a:solidFill>
                <a:latin typeface="Microsoft JhengHei"/>
                <a:ea typeface="Microsoft JhengHei"/>
                <a:cs typeface="Microsoft JhengHei"/>
              </a:rPr>
              <a:t> Regular aerobic exercise increases laminar shear stress on endothelial cells, stimulating endothelial Nitric Oxide Synthase (eNOS) and mobilizing endothelial progenitor cells to repair damaged coronary walls.</a:t>
            </a:r>
          </a:p>
        </p:txBody>
      </p:sp>
      <p:sp>
        <p:nvSpPr>
          <p:cNvPr id="15" name="Rounded Rectangle 14"/>
          <p:cNvSpPr/>
          <p:nvPr/>
        </p:nvSpPr>
        <p:spPr>
          <a:xfrm>
            <a:off x="5928296" y="1324546"/>
            <a:ext cx="5653976" cy="4508500"/>
          </a:xfrm>
          <a:prstGeom prst="roundRect">
            <a:avLst>
              <a:gd name="adj" fmla="val 2535"/>
            </a:avLst>
          </a:prstGeom>
          <a:solidFill>
            <a:srgbClr val="F0F2F4"/>
          </a:solidFill>
          <a:ln>
            <a:noFill/>
          </a:ln>
          <a:effectLst/>
        </p:spPr>
        <p:txBody>
          <a:bodyPr rtlCol="0" anchor="ctr"/>
          <a:lstStyle/>
          <a:p>
            <a:endParaRPr/>
          </a:p>
        </p:txBody>
      </p:sp>
      <p:sp>
        <p:nvSpPr>
          <p:cNvPr id="16" name="Rectangle 15"/>
          <p:cNvSpPr/>
          <p:nvPr/>
        </p:nvSpPr>
        <p:spPr>
          <a:xfrm>
            <a:off x="5928296" y="1324546"/>
            <a:ext cx="50800" cy="4508500"/>
          </a:xfrm>
          <a:prstGeom prst="rect">
            <a:avLst/>
          </a:prstGeom>
          <a:solidFill>
            <a:srgbClr val="3F7A55"/>
          </a:solidFill>
          <a:ln>
            <a:noFill/>
          </a:ln>
          <a:effectLst/>
        </p:spPr>
        <p:txBody>
          <a:bodyPr rtlCol="0" anchor="ctr"/>
          <a:lstStyle/>
          <a:p>
            <a:endParaRPr/>
          </a:p>
        </p:txBody>
      </p:sp>
      <p:sp>
        <p:nvSpPr>
          <p:cNvPr id="17" name="TextBox 16"/>
          <p:cNvSpPr txBox="1"/>
          <p:nvPr/>
        </p:nvSpPr>
        <p:spPr>
          <a:xfrm>
            <a:off x="6220396" y="1540446"/>
            <a:ext cx="2744788" cy="203200"/>
          </a:xfrm>
          <a:prstGeom prst="rect">
            <a:avLst/>
          </a:prstGeom>
          <a:noFill/>
        </p:spPr>
        <p:txBody>
          <a:bodyPr wrap="none" lIns="0" tIns="0" rIns="0" bIns="0" anchor="t">
            <a:noAutofit/>
          </a:bodyPr>
          <a:lstStyle/>
          <a:p>
            <a:pPr algn="l">
              <a:lnSpc>
                <a:spcPts val="1120"/>
              </a:lnSpc>
            </a:pPr>
            <a:r>
              <a:rPr sz="1100" b="1">
                <a:solidFill>
                  <a:srgbClr val="3F7A55"/>
                </a:solidFill>
                <a:latin typeface="Microsoft JhengHei"/>
                <a:ea typeface="Microsoft JhengHei"/>
                <a:cs typeface="Microsoft JhengHei"/>
              </a:rPr>
              <a:t>Structured 3-Phase Prescription</a:t>
            </a:r>
          </a:p>
        </p:txBody>
      </p:sp>
      <p:sp>
        <p:nvSpPr>
          <p:cNvPr id="18" name="Rectangle 17"/>
          <p:cNvSpPr/>
          <p:nvPr/>
        </p:nvSpPr>
        <p:spPr>
          <a:xfrm>
            <a:off x="6220396" y="1540446"/>
            <a:ext cx="2195830" cy="203200"/>
          </a:xfrm>
          <a:prstGeom prst="rect">
            <a:avLst/>
          </a:prstGeom>
          <a:solidFill>
            <a:srgbClr val="2A6E57">
              <a:alpha val="12000"/>
            </a:srgbClr>
          </a:solidFill>
          <a:ln>
            <a:noFill/>
          </a:ln>
          <a:effectLst/>
        </p:spPr>
        <p:txBody>
          <a:bodyPr rtlCol="0" anchor="ctr"/>
          <a:lstStyle/>
          <a:p>
            <a:endParaRPr/>
          </a:p>
        </p:txBody>
      </p:sp>
      <p:sp>
        <p:nvSpPr>
          <p:cNvPr id="19" name="TextBox 18"/>
          <p:cNvSpPr txBox="1"/>
          <p:nvPr/>
        </p:nvSpPr>
        <p:spPr>
          <a:xfrm>
            <a:off x="6220396" y="1838896"/>
            <a:ext cx="3589099" cy="330200"/>
          </a:xfrm>
          <a:prstGeom prst="rect">
            <a:avLst/>
          </a:prstGeom>
          <a:noFill/>
        </p:spPr>
        <p:txBody>
          <a:bodyPr wrap="none" lIns="0" tIns="0" rIns="0" bIns="0" anchor="t">
            <a:noAutofit/>
          </a:bodyPr>
          <a:lstStyle/>
          <a:p>
            <a:pPr algn="l">
              <a:lnSpc>
                <a:spcPts val="2340"/>
              </a:lnSpc>
            </a:pPr>
            <a:r>
              <a:rPr sz="1800" b="1">
                <a:solidFill>
                  <a:srgbClr val="3F7A55"/>
                </a:solidFill>
                <a:latin typeface="Microsoft JhengHei"/>
                <a:ea typeface="Microsoft JhengHei"/>
                <a:cs typeface="Microsoft JhengHei"/>
              </a:rPr>
              <a:t>26% Drop in CV Mortality</a:t>
            </a:r>
          </a:p>
        </p:txBody>
      </p:sp>
      <p:sp>
        <p:nvSpPr>
          <p:cNvPr id="20" name="TextBox 19"/>
          <p:cNvSpPr txBox="1"/>
          <p:nvPr/>
        </p:nvSpPr>
        <p:spPr>
          <a:xfrm>
            <a:off x="6334696" y="2383726"/>
            <a:ext cx="2394744" cy="774700"/>
          </a:xfrm>
          <a:prstGeom prst="rect">
            <a:avLst/>
          </a:prstGeom>
          <a:noFill/>
        </p:spPr>
        <p:txBody>
          <a:bodyPr wrap="none" lIns="0" tIns="0" rIns="0" bIns="0" anchor="t">
            <a:noAutofit/>
          </a:bodyPr>
          <a:lstStyle/>
          <a:p>
            <a:pPr algn="l">
              <a:lnSpc>
                <a:spcPts val="1120"/>
              </a:lnSpc>
            </a:pPr>
            <a:r>
              <a:rPr sz="3200" b="0">
                <a:solidFill>
                  <a:srgbClr val="3F7A55"/>
                </a:solidFill>
                <a:latin typeface="Microsoft JhengHei"/>
                <a:ea typeface="Microsoft JhengHei"/>
                <a:cs typeface="Microsoft JhengHei"/>
              </a:rPr>
              <a:t>-26%</a:t>
            </a:r>
          </a:p>
          <a:p>
            <a:pPr algn="l">
              <a:lnSpc>
                <a:spcPts val="1120"/>
              </a:lnSpc>
            </a:pPr>
            <a:r>
              <a:rPr sz="800" b="0">
                <a:solidFill>
                  <a:srgbClr val="1E2833"/>
                </a:solidFill>
                <a:latin typeface="Microsoft JhengHei"/>
                <a:ea typeface="Microsoft JhengHei"/>
                <a:cs typeface="Microsoft JhengHei"/>
              </a:rPr>
              <a:t> </a:t>
            </a:r>
            <a:r>
              <a:rPr sz="1050" b="0">
                <a:solidFill>
                  <a:srgbClr val="1E2833"/>
                </a:solidFill>
                <a:latin typeface="Microsoft JhengHei"/>
                <a:ea typeface="Microsoft JhengHei"/>
                <a:cs typeface="Microsoft JhengHei"/>
              </a:rPr>
              <a:t>Cardiovascular Mortality</a:t>
            </a:r>
          </a:p>
        </p:txBody>
      </p:sp>
      <p:sp>
        <p:nvSpPr>
          <p:cNvPr id="21" name="TextBox 20"/>
          <p:cNvSpPr txBox="1"/>
          <p:nvPr/>
        </p:nvSpPr>
        <p:spPr>
          <a:xfrm>
            <a:off x="8952103" y="2383726"/>
            <a:ext cx="2465467" cy="774700"/>
          </a:xfrm>
          <a:prstGeom prst="rect">
            <a:avLst/>
          </a:prstGeom>
          <a:noFill/>
        </p:spPr>
        <p:txBody>
          <a:bodyPr wrap="none" lIns="0" tIns="0" rIns="0" bIns="0" anchor="t">
            <a:noAutofit/>
          </a:bodyPr>
          <a:lstStyle/>
          <a:p>
            <a:pPr algn="l">
              <a:lnSpc>
                <a:spcPts val="1120"/>
              </a:lnSpc>
            </a:pPr>
            <a:r>
              <a:rPr sz="3200" b="0">
                <a:solidFill>
                  <a:srgbClr val="24476E"/>
                </a:solidFill>
                <a:latin typeface="Microsoft JhengHei"/>
                <a:ea typeface="Microsoft JhengHei"/>
                <a:cs typeface="Microsoft JhengHei"/>
              </a:rPr>
              <a:t>150 min</a:t>
            </a:r>
          </a:p>
          <a:p>
            <a:pPr algn="l">
              <a:lnSpc>
                <a:spcPts val="1120"/>
              </a:lnSpc>
            </a:pPr>
            <a:r>
              <a:rPr sz="800" b="0">
                <a:solidFill>
                  <a:srgbClr val="1E2833"/>
                </a:solidFill>
                <a:latin typeface="Microsoft JhengHei"/>
                <a:ea typeface="Microsoft JhengHei"/>
                <a:cs typeface="Microsoft JhengHei"/>
              </a:rPr>
              <a:t> </a:t>
            </a:r>
            <a:r>
              <a:rPr sz="1050" b="0">
                <a:solidFill>
                  <a:srgbClr val="1E2833"/>
                </a:solidFill>
                <a:latin typeface="Microsoft JhengHei"/>
                <a:ea typeface="Microsoft JhengHei"/>
                <a:cs typeface="Microsoft JhengHei"/>
              </a:rPr>
              <a:t>Weekly Aerobic Target</a:t>
            </a:r>
          </a:p>
        </p:txBody>
      </p:sp>
      <p:sp>
        <p:nvSpPr>
          <p:cNvPr id="22" name="TextBox 21"/>
          <p:cNvSpPr txBox="1"/>
          <p:nvPr/>
        </p:nvSpPr>
        <p:spPr>
          <a:xfrm>
            <a:off x="6372796" y="3393376"/>
            <a:ext cx="4968176" cy="466026"/>
          </a:xfrm>
          <a:prstGeom prst="rect">
            <a:avLst/>
          </a:prstGeom>
          <a:noFill/>
        </p:spPr>
        <p:txBody>
          <a:bodyPr wrap="square" lIns="0" tIns="0" rIns="0" bIns="0" anchor="t">
            <a:noAutofit/>
          </a:bodyPr>
          <a:lstStyle/>
          <a:p>
            <a:pPr algn="l">
              <a:lnSpc>
                <a:spcPts val="192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Phase I (Inpatient):</a:t>
            </a:r>
            <a:r>
              <a:rPr sz="1200" b="0">
                <a:solidFill>
                  <a:srgbClr val="1E2833"/>
                </a:solidFill>
                <a:latin typeface="Microsoft JhengHei"/>
                <a:ea typeface="Microsoft JhengHei"/>
                <a:cs typeface="Microsoft JhengHei"/>
              </a:rPr>
              <a:t> Early mobilization within 24h of PCI; bedside education &amp; smoking cessation.</a:t>
            </a:r>
          </a:p>
        </p:txBody>
      </p:sp>
      <p:sp>
        <p:nvSpPr>
          <p:cNvPr id="23" name="TextBox 22"/>
          <p:cNvSpPr txBox="1"/>
          <p:nvPr/>
        </p:nvSpPr>
        <p:spPr>
          <a:xfrm>
            <a:off x="6372796" y="3880929"/>
            <a:ext cx="4968176" cy="466026"/>
          </a:xfrm>
          <a:prstGeom prst="rect">
            <a:avLst/>
          </a:prstGeom>
          <a:noFill/>
        </p:spPr>
        <p:txBody>
          <a:bodyPr wrap="square" lIns="0" tIns="0" rIns="0" bIns="0" anchor="t">
            <a:noAutofit/>
          </a:bodyPr>
          <a:lstStyle/>
          <a:p>
            <a:pPr algn="l">
              <a:lnSpc>
                <a:spcPts val="192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Phase II (Outpatient Supervised):</a:t>
            </a:r>
            <a:r>
              <a:rPr sz="1200" b="0">
                <a:solidFill>
                  <a:srgbClr val="1E2833"/>
                </a:solidFill>
                <a:latin typeface="Microsoft JhengHei"/>
                <a:ea typeface="Microsoft JhengHei"/>
                <a:cs typeface="Microsoft JhengHei"/>
              </a:rPr>
              <a:t> 12-week supervised aerobic and light resistance training at 60–80% VO2 peak.</a:t>
            </a:r>
          </a:p>
        </p:txBody>
      </p:sp>
      <p:sp>
        <p:nvSpPr>
          <p:cNvPr id="24" name="Rounded Rectangle 23"/>
          <p:cNvSpPr/>
          <p:nvPr/>
        </p:nvSpPr>
        <p:spPr>
          <a:xfrm>
            <a:off x="6220396" y="4982146"/>
            <a:ext cx="5120576" cy="635000"/>
          </a:xfrm>
          <a:prstGeom prst="roundRect">
            <a:avLst>
              <a:gd name="adj" fmla="val 12000"/>
            </a:avLst>
          </a:prstGeom>
          <a:solidFill>
            <a:srgbClr val="EAF4EE"/>
          </a:solidFill>
          <a:ln>
            <a:noFill/>
          </a:ln>
          <a:effectLst/>
        </p:spPr>
        <p:txBody>
          <a:bodyPr rtlCol="0" anchor="ctr"/>
          <a:lstStyle/>
          <a:p>
            <a:endParaRPr/>
          </a:p>
        </p:txBody>
      </p:sp>
      <p:sp>
        <p:nvSpPr>
          <p:cNvPr id="25" name="TextBox 24"/>
          <p:cNvSpPr txBox="1"/>
          <p:nvPr/>
        </p:nvSpPr>
        <p:spPr>
          <a:xfrm>
            <a:off x="6360096" y="5096446"/>
            <a:ext cx="4841176" cy="406400"/>
          </a:xfrm>
          <a:prstGeom prst="rect">
            <a:avLst/>
          </a:prstGeom>
          <a:noFill/>
        </p:spPr>
        <p:txBody>
          <a:bodyPr wrap="square" lIns="0" tIns="0" rIns="0" bIns="0" anchor="t">
            <a:noAutofit/>
          </a:bodyPr>
          <a:lstStyle/>
          <a:p>
            <a:pPr algn="l">
              <a:lnSpc>
                <a:spcPts val="1540"/>
              </a:lnSpc>
            </a:pPr>
            <a:r>
              <a:rPr sz="1100" b="1">
                <a:solidFill>
                  <a:srgbClr val="3F7A55"/>
                </a:solidFill>
                <a:latin typeface="Microsoft JhengHei"/>
                <a:ea typeface="Microsoft JhengHei"/>
                <a:cs typeface="Microsoft JhengHei"/>
              </a:rPr>
              <a:t>🏃 Combined with smoking cessation, 1-year recurrent infarction risk is halved!</a:t>
            </a:r>
          </a:p>
        </p:txBody>
      </p:sp>
      <p:sp>
        <p:nvSpPr>
          <p:cNvPr id="26" name="Rectangle 25"/>
          <p:cNvSpPr/>
          <p:nvPr/>
        </p:nvSpPr>
        <p:spPr>
          <a:xfrm>
            <a:off x="609600" y="6066854"/>
            <a:ext cx="10972800" cy="6350"/>
          </a:xfrm>
          <a:prstGeom prst="rect">
            <a:avLst/>
          </a:prstGeom>
          <a:solidFill>
            <a:srgbClr val="F0F2F4"/>
          </a:solidFill>
          <a:ln>
            <a:noFill/>
          </a:ln>
          <a:effectLst/>
        </p:spPr>
        <p:txBody>
          <a:bodyPr rtlCol="0" anchor="ctr"/>
          <a:lstStyle/>
          <a:p>
            <a:endParaRPr/>
          </a:p>
        </p:txBody>
      </p:sp>
      <p:sp>
        <p:nvSpPr>
          <p:cNvPr id="27" name="TextBox 26"/>
          <p:cNvSpPr txBox="1"/>
          <p:nvPr/>
        </p:nvSpPr>
        <p:spPr>
          <a:xfrm>
            <a:off x="609600" y="6130354"/>
            <a:ext cx="9416574" cy="171450"/>
          </a:xfrm>
          <a:prstGeom prst="rect">
            <a:avLst/>
          </a:prstGeom>
          <a:noFill/>
        </p:spPr>
        <p:txBody>
          <a:bodyPr wrap="none" lIns="0" tIns="0" rIns="0" bIns="0" anchor="t">
            <a:noAutofit/>
          </a:bodyPr>
          <a:lstStyle/>
          <a:p>
            <a:pPr algn="l">
              <a:lnSpc>
                <a:spcPts val="1330"/>
              </a:lnSpc>
            </a:pPr>
            <a:r>
              <a:rPr sz="950" b="0">
                <a:solidFill>
                  <a:srgbClr val="5F6B77"/>
                </a:solidFill>
                <a:latin typeface="Microsoft JhengHei"/>
                <a:ea typeface="Microsoft JhengHei"/>
                <a:cs typeface="Microsoft JhengHei"/>
              </a:rPr>
              <a:t>Lawler PR, et al. Exercise-based cardiac rehabilitation for CAD: A systematic review and meta-analysis. Am Heart J. 2011;162(4):571-584.</a:t>
            </a:r>
          </a:p>
        </p:txBody>
      </p:sp>
      <p:sp>
        <p:nvSpPr>
          <p:cNvPr id="28" name="Rounded Rectangle 27"/>
          <p:cNvSpPr/>
          <p:nvPr/>
        </p:nvSpPr>
        <p:spPr>
          <a:xfrm>
            <a:off x="8473948" y="190500"/>
            <a:ext cx="599313"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29" name="TextBox 28"/>
          <p:cNvSpPr txBox="1"/>
          <p:nvPr/>
        </p:nvSpPr>
        <p:spPr>
          <a:xfrm>
            <a:off x="8575548" y="241300"/>
            <a:ext cx="495141"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1. Case</a:t>
            </a:r>
          </a:p>
        </p:txBody>
      </p:sp>
      <p:sp>
        <p:nvSpPr>
          <p:cNvPr id="30" name="Rounded Rectangle 29"/>
          <p:cNvSpPr/>
          <p:nvPr/>
        </p:nvSpPr>
        <p:spPr>
          <a:xfrm>
            <a:off x="9124061" y="190500"/>
            <a:ext cx="689483"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31" name="TextBox 30"/>
          <p:cNvSpPr txBox="1"/>
          <p:nvPr/>
        </p:nvSpPr>
        <p:spPr>
          <a:xfrm>
            <a:off x="9225661" y="241300"/>
            <a:ext cx="607854"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2. Target</a:t>
            </a:r>
          </a:p>
        </p:txBody>
      </p:sp>
      <p:sp>
        <p:nvSpPr>
          <p:cNvPr id="32" name="Rounded Rectangle 31"/>
          <p:cNvSpPr/>
          <p:nvPr/>
        </p:nvSpPr>
        <p:spPr>
          <a:xfrm>
            <a:off x="9864344" y="190500"/>
            <a:ext cx="795718" cy="266700"/>
          </a:xfrm>
          <a:prstGeom prst="roundRect">
            <a:avLst>
              <a:gd name="adj" fmla="val 50000"/>
            </a:avLst>
          </a:prstGeom>
          <a:solidFill>
            <a:srgbClr val="24476E"/>
          </a:solidFill>
          <a:ln w="12700">
            <a:solidFill>
              <a:srgbClr val="24476E"/>
            </a:solidFill>
          </a:ln>
          <a:effectLst/>
        </p:spPr>
        <p:txBody>
          <a:bodyPr rtlCol="0" anchor="ctr"/>
          <a:lstStyle/>
          <a:p>
            <a:endParaRPr/>
          </a:p>
        </p:txBody>
      </p:sp>
      <p:sp>
        <p:nvSpPr>
          <p:cNvPr id="33" name="TextBox 32"/>
          <p:cNvSpPr txBox="1"/>
          <p:nvPr/>
        </p:nvSpPr>
        <p:spPr>
          <a:xfrm>
            <a:off x="9965944" y="241300"/>
            <a:ext cx="740648" cy="165100"/>
          </a:xfrm>
          <a:prstGeom prst="rect">
            <a:avLst/>
          </a:prstGeom>
          <a:noFill/>
        </p:spPr>
        <p:txBody>
          <a:bodyPr wrap="none" lIns="0" tIns="0" rIns="0" bIns="0" anchor="t">
            <a:noAutofit/>
          </a:bodyPr>
          <a:lstStyle/>
          <a:p>
            <a:pPr algn="l">
              <a:lnSpc>
                <a:spcPts val="1260"/>
              </a:lnSpc>
            </a:pPr>
            <a:r>
              <a:rPr sz="900" b="1">
                <a:solidFill>
                  <a:srgbClr val="FFFFFF"/>
                </a:solidFill>
                <a:latin typeface="Microsoft JhengHei"/>
                <a:ea typeface="Microsoft JhengHei"/>
                <a:cs typeface="Microsoft JhengHei"/>
              </a:rPr>
              <a:t>3. Therapy</a:t>
            </a:r>
          </a:p>
        </p:txBody>
      </p:sp>
      <p:sp>
        <p:nvSpPr>
          <p:cNvPr id="34" name="Rounded Rectangle 33"/>
          <p:cNvSpPr/>
          <p:nvPr/>
        </p:nvSpPr>
        <p:spPr>
          <a:xfrm>
            <a:off x="10710862" y="190500"/>
            <a:ext cx="871538"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35" name="TextBox 34"/>
          <p:cNvSpPr txBox="1"/>
          <p:nvPr/>
        </p:nvSpPr>
        <p:spPr>
          <a:xfrm>
            <a:off x="10812462" y="241300"/>
            <a:ext cx="835422"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4. Roadmap</a:t>
            </a:r>
          </a:p>
        </p:txBody>
      </p:sp>
      <p:sp>
        <p:nvSpPr>
          <p:cNvPr id="36" name="Rectangle 35"/>
          <p:cNvSpPr/>
          <p:nvPr/>
        </p:nvSpPr>
        <p:spPr>
          <a:xfrm>
            <a:off x="0" y="6527800"/>
            <a:ext cx="12192000" cy="330200"/>
          </a:xfrm>
          <a:prstGeom prst="rect">
            <a:avLst/>
          </a:prstGeom>
          <a:solidFill>
            <a:srgbClr val="FFFFFF"/>
          </a:solidFill>
          <a:ln>
            <a:noFill/>
          </a:ln>
          <a:effectLst/>
        </p:spPr>
        <p:txBody>
          <a:bodyPr rtlCol="0" anchor="ctr"/>
          <a:lstStyle/>
          <a:p>
            <a:endParaRPr/>
          </a:p>
        </p:txBody>
      </p:sp>
      <p:sp>
        <p:nvSpPr>
          <p:cNvPr id="37" name="Rectangle 36"/>
          <p:cNvSpPr/>
          <p:nvPr/>
        </p:nvSpPr>
        <p:spPr>
          <a:xfrm>
            <a:off x="0" y="6527800"/>
            <a:ext cx="12192000" cy="12700"/>
          </a:xfrm>
          <a:prstGeom prst="rect">
            <a:avLst/>
          </a:prstGeom>
          <a:solidFill>
            <a:srgbClr val="F0F2F4"/>
          </a:solidFill>
          <a:ln>
            <a:noFill/>
          </a:ln>
          <a:effectLst/>
        </p:spPr>
        <p:txBody>
          <a:bodyPr rtlCol="0" anchor="ctr"/>
          <a:lstStyle/>
          <a:p>
            <a:endParaRPr/>
          </a:p>
        </p:txBody>
      </p:sp>
      <p:sp>
        <p:nvSpPr>
          <p:cNvPr id="38" name="TextBox 37"/>
          <p:cNvSpPr txBox="1"/>
          <p:nvPr/>
        </p:nvSpPr>
        <p:spPr>
          <a:xfrm>
            <a:off x="609600" y="6613525"/>
            <a:ext cx="808038" cy="171450"/>
          </a:xfrm>
          <a:prstGeom prst="rect">
            <a:avLst/>
          </a:prstGeom>
          <a:noFill/>
        </p:spPr>
        <p:txBody>
          <a:bodyPr wrap="none" lIns="0" tIns="0" rIns="0" bIns="0" anchor="t">
            <a:noAutofit/>
          </a:bodyPr>
          <a:lstStyle/>
          <a:p>
            <a:pPr algn="l">
              <a:lnSpc>
                <a:spcPts val="1330"/>
              </a:lnSpc>
            </a:pPr>
            <a:r>
              <a:rPr sz="950" b="1">
                <a:solidFill>
                  <a:srgbClr val="24476E"/>
                </a:solidFill>
                <a:latin typeface="Microsoft JhengHei"/>
                <a:ea typeface="Microsoft JhengHei"/>
                <a:cs typeface="Microsoft JhengHei"/>
              </a:rPr>
              <a:t>3. Therapy</a:t>
            </a:r>
          </a:p>
        </p:txBody>
      </p:sp>
      <p:sp>
        <p:nvSpPr>
          <p:cNvPr id="39" name="Rounded Rectangle 38"/>
          <p:cNvSpPr/>
          <p:nvPr/>
        </p:nvSpPr>
        <p:spPr>
          <a:xfrm>
            <a:off x="1395730" y="6680200"/>
            <a:ext cx="9651302" cy="38100"/>
          </a:xfrm>
          <a:prstGeom prst="roundRect">
            <a:avLst>
              <a:gd name="adj" fmla="val 50000"/>
            </a:avLst>
          </a:prstGeom>
          <a:solidFill>
            <a:srgbClr val="F0F2F4"/>
          </a:solidFill>
          <a:ln>
            <a:noFill/>
          </a:ln>
          <a:effectLst/>
        </p:spPr>
        <p:txBody>
          <a:bodyPr rtlCol="0" anchor="ctr"/>
          <a:lstStyle/>
          <a:p>
            <a:endParaRPr/>
          </a:p>
        </p:txBody>
      </p:sp>
      <p:sp>
        <p:nvSpPr>
          <p:cNvPr id="40" name="Rectangle 39"/>
          <p:cNvSpPr/>
          <p:nvPr/>
        </p:nvSpPr>
        <p:spPr>
          <a:xfrm>
            <a:off x="1395730" y="6680200"/>
            <a:ext cx="4825619" cy="38100"/>
          </a:xfrm>
          <a:prstGeom prst="rect">
            <a:avLst/>
          </a:prstGeom>
          <a:solidFill>
            <a:srgbClr val="F3C84B"/>
          </a:solidFill>
          <a:ln>
            <a:noFill/>
          </a:ln>
          <a:effectLst/>
        </p:spPr>
        <p:txBody>
          <a:bodyPr rtlCol="0" anchor="ctr"/>
          <a:lstStyle/>
          <a:p>
            <a:endParaRPr/>
          </a:p>
        </p:txBody>
      </p:sp>
      <p:sp>
        <p:nvSpPr>
          <p:cNvPr id="41" name="TextBox 40"/>
          <p:cNvSpPr txBox="1"/>
          <p:nvPr/>
        </p:nvSpPr>
        <p:spPr>
          <a:xfrm>
            <a:off x="11186732" y="6613525"/>
            <a:ext cx="494586" cy="171450"/>
          </a:xfrm>
          <a:prstGeom prst="rect">
            <a:avLst/>
          </a:prstGeom>
          <a:noFill/>
        </p:spPr>
        <p:txBody>
          <a:bodyPr wrap="none" lIns="0" tIns="0" rIns="0" bIns="0" anchor="t">
            <a:noAutofit/>
          </a:bodyPr>
          <a:lstStyle/>
          <a:p>
            <a:pPr algn="l">
              <a:lnSpc>
                <a:spcPts val="1330"/>
              </a:lnSpc>
            </a:pPr>
            <a:r>
              <a:rPr sz="950" b="1">
                <a:solidFill>
                  <a:srgbClr val="3B4754"/>
                </a:solidFill>
                <a:latin typeface="Microsoft JhengHei"/>
                <a:ea typeface="Microsoft JhengHei"/>
                <a:cs typeface="Microsoft JhengHei"/>
              </a:rPr>
              <a:t>06 / 12</a:t>
            </a:r>
          </a:p>
        </p:txBody>
      </p:sp>
      <p:sp>
        <p:nvSpPr>
          <p:cNvPr id="42" name="LINK_Rectangle 41">
            <a:hlinkClick r:id="rId4" action="ppaction://hlinksldjump"/>
          </p:cNvPr>
          <p:cNvSpPr/>
          <p:nvPr/>
        </p:nvSpPr>
        <p:spPr>
          <a:xfrm>
            <a:off x="8473976" y="190500"/>
            <a:ext cx="599281" cy="266700"/>
          </a:xfrm>
          <a:prstGeom prst="rect">
            <a:avLst/>
          </a:prstGeom>
          <a:solidFill>
            <a:srgbClr val="FFFFFF">
              <a:alpha val="0"/>
            </a:srgbClr>
          </a:solidFill>
          <a:ln>
            <a:noFill/>
          </a:ln>
          <a:effectLst/>
        </p:spPr>
        <p:txBody>
          <a:bodyPr rtlCol="0" anchor="ctr"/>
          <a:lstStyle/>
          <a:p>
            <a:pPr algn="ctr"/>
            <a:endParaRPr/>
          </a:p>
        </p:txBody>
      </p:sp>
      <p:sp>
        <p:nvSpPr>
          <p:cNvPr id="43" name="LINK_Rectangle 42">
            <a:hlinkClick r:id="rId5" action="ppaction://hlinksldjump"/>
          </p:cNvPr>
          <p:cNvSpPr/>
          <p:nvPr/>
        </p:nvSpPr>
        <p:spPr>
          <a:xfrm>
            <a:off x="9124057" y="190500"/>
            <a:ext cx="689471" cy="266700"/>
          </a:xfrm>
          <a:prstGeom prst="rect">
            <a:avLst/>
          </a:prstGeom>
          <a:solidFill>
            <a:srgbClr val="FFFFFF">
              <a:alpha val="0"/>
            </a:srgbClr>
          </a:solidFill>
          <a:ln>
            <a:noFill/>
          </a:ln>
          <a:effectLst/>
        </p:spPr>
        <p:txBody>
          <a:bodyPr rtlCol="0" anchor="ctr"/>
          <a:lstStyle/>
          <a:p>
            <a:pPr algn="ctr"/>
            <a:endParaRPr/>
          </a:p>
        </p:txBody>
      </p:sp>
      <p:sp>
        <p:nvSpPr>
          <p:cNvPr id="44" name="LINK_Rectangle 43">
            <a:hlinkClick r:id="rId6" action="ppaction://hlinksldjump"/>
          </p:cNvPr>
          <p:cNvSpPr/>
          <p:nvPr/>
        </p:nvSpPr>
        <p:spPr>
          <a:xfrm>
            <a:off x="9864328" y="190500"/>
            <a:ext cx="795734" cy="266700"/>
          </a:xfrm>
          <a:prstGeom prst="rect">
            <a:avLst/>
          </a:prstGeom>
          <a:solidFill>
            <a:srgbClr val="FFFFFF">
              <a:alpha val="0"/>
            </a:srgbClr>
          </a:solidFill>
          <a:ln>
            <a:noFill/>
          </a:ln>
          <a:effectLst/>
        </p:spPr>
        <p:txBody>
          <a:bodyPr rtlCol="0" anchor="ctr"/>
          <a:lstStyle/>
          <a:p>
            <a:pPr algn="ctr"/>
            <a:endParaRPr/>
          </a:p>
        </p:txBody>
      </p:sp>
      <p:sp>
        <p:nvSpPr>
          <p:cNvPr id="45" name="LINK_Rectangle 44">
            <a:hlinkClick r:id="rId7" action="ppaction://hlinksldjump"/>
          </p:cNvPr>
          <p:cNvSpPr/>
          <p:nvPr/>
        </p:nvSpPr>
        <p:spPr>
          <a:xfrm>
            <a:off x="10710862" y="190500"/>
            <a:ext cx="871538" cy="266700"/>
          </a:xfrm>
          <a:prstGeom prst="rect">
            <a:avLst/>
          </a:prstGeom>
          <a:solidFill>
            <a:srgbClr val="FFFFFF">
              <a:alpha val="0"/>
            </a:srgbClr>
          </a:solidFill>
          <a:ln>
            <a:noFill/>
          </a:ln>
          <a:effectLst/>
        </p:spPr>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avLst/>
          </a:prstGeom>
          <a:solidFill>
            <a:srgbClr val="FFFFFF"/>
          </a:solidFill>
          <a:ln>
            <a:noFill/>
          </a:ln>
          <a:effectLst/>
        </p:spPr>
        <p:txBody>
          <a:bodyPr rtlCol="0" anchor="ctr"/>
          <a:lstStyle/>
          <a:p>
            <a:pPr algn="ctr"/>
            <a:endParaRPr/>
          </a:p>
        </p:txBody>
      </p:sp>
      <p:sp>
        <p:nvSpPr>
          <p:cNvPr id="3" name="TextBox 2"/>
          <p:cNvSpPr txBox="1"/>
          <p:nvPr/>
        </p:nvSpPr>
        <p:spPr>
          <a:xfrm>
            <a:off x="609600" y="377825"/>
            <a:ext cx="2980531" cy="152400"/>
          </a:xfrm>
          <a:prstGeom prst="rect">
            <a:avLst/>
          </a:prstGeom>
          <a:noFill/>
        </p:spPr>
        <p:txBody>
          <a:bodyPr wrap="none" lIns="0" tIns="0" rIns="0" bIns="0" anchor="t">
            <a:noAutofit/>
          </a:bodyPr>
          <a:lstStyle/>
          <a:p>
            <a:pPr algn="l">
              <a:lnSpc>
                <a:spcPts val="1120"/>
              </a:lnSpc>
            </a:pPr>
            <a:r>
              <a:rPr sz="800" b="0">
                <a:solidFill>
                  <a:srgbClr val="1E2833"/>
                </a:solidFill>
                <a:latin typeface="Microsoft JhengHei"/>
                <a:ea typeface="Microsoft JhengHei"/>
                <a:cs typeface="Microsoft JhengHei"/>
              </a:rPr>
              <a:t>Pharmacological Math • The Monotherapy Ceiling</a:t>
            </a:r>
          </a:p>
        </p:txBody>
      </p:sp>
      <p:sp>
        <p:nvSpPr>
          <p:cNvPr id="4" name="Rounded Rectangle 3"/>
          <p:cNvSpPr/>
          <p:nvPr/>
        </p:nvSpPr>
        <p:spPr>
          <a:xfrm>
            <a:off x="7344664" y="330200"/>
            <a:ext cx="884936" cy="247650"/>
          </a:xfrm>
          <a:prstGeom prst="roundRect">
            <a:avLst>
              <a:gd name="adj" fmla="val 50000"/>
            </a:avLst>
          </a:prstGeom>
          <a:solidFill>
            <a:srgbClr val="FFFFFF"/>
          </a:solidFill>
          <a:ln w="6350">
            <a:solidFill>
              <a:srgbClr val="24476E"/>
            </a:solidFill>
          </a:ln>
          <a:effectLst/>
        </p:spPr>
        <p:txBody>
          <a:bodyPr rtlCol="0" anchor="ctr"/>
          <a:lstStyle/>
          <a:p>
            <a:endParaRPr/>
          </a:p>
        </p:txBody>
      </p:sp>
      <p:sp>
        <p:nvSpPr>
          <p:cNvPr id="5" name="TextBox 4"/>
          <p:cNvSpPr txBox="1"/>
          <p:nvPr/>
        </p:nvSpPr>
        <p:spPr>
          <a:xfrm>
            <a:off x="7465314" y="374650"/>
            <a:ext cx="237109" cy="158750"/>
          </a:xfrm>
          <a:prstGeom prst="rect">
            <a:avLst/>
          </a:prstGeom>
          <a:noFill/>
        </p:spPr>
        <p:txBody>
          <a:bodyPr wrap="none" lIns="0" tIns="0" rIns="0" bIns="0" anchor="t">
            <a:noAutofit/>
          </a:bodyPr>
          <a:lstStyle/>
          <a:p>
            <a:pPr algn="l">
              <a:lnSpc>
                <a:spcPts val="1190"/>
              </a:lnSpc>
            </a:pPr>
            <a:r>
              <a:rPr sz="850" b="1">
                <a:solidFill>
                  <a:srgbClr val="24476E"/>
                </a:solidFill>
                <a:latin typeface="Microsoft JhengHei"/>
                <a:ea typeface="Microsoft JhengHei"/>
                <a:cs typeface="Microsoft JhengHei"/>
              </a:rPr>
              <a:t>🌐</a:t>
            </a:r>
          </a:p>
        </p:txBody>
      </p:sp>
      <p:sp>
        <p:nvSpPr>
          <p:cNvPr id="6" name="TextBox 5"/>
          <p:cNvSpPr txBox="1"/>
          <p:nvPr/>
        </p:nvSpPr>
        <p:spPr>
          <a:xfrm>
            <a:off x="7651623" y="374650"/>
            <a:ext cx="571659" cy="158750"/>
          </a:xfrm>
          <a:prstGeom prst="rect">
            <a:avLst/>
          </a:prstGeom>
          <a:noFill/>
        </p:spPr>
        <p:txBody>
          <a:bodyPr wrap="none" lIns="0" tIns="0" rIns="0" bIns="0" anchor="t">
            <a:noAutofit/>
          </a:bodyPr>
          <a:lstStyle/>
          <a:p>
            <a:pPr algn="l">
              <a:lnSpc>
                <a:spcPts val="1190"/>
              </a:lnSpc>
            </a:pPr>
            <a:r>
              <a:rPr sz="850" b="1">
                <a:solidFill>
                  <a:srgbClr val="24476E"/>
                </a:solidFill>
                <a:latin typeface="Microsoft JhengHei"/>
                <a:ea typeface="Microsoft JhengHei"/>
                <a:cs typeface="Microsoft JhengHei"/>
              </a:rPr>
              <a:t>EN / 中文</a:t>
            </a:r>
          </a:p>
        </p:txBody>
      </p:sp>
      <p:sp>
        <p:nvSpPr>
          <p:cNvPr id="7" name="TextBox 6"/>
          <p:cNvSpPr txBox="1"/>
          <p:nvPr/>
        </p:nvSpPr>
        <p:spPr>
          <a:xfrm>
            <a:off x="609600" y="603250"/>
            <a:ext cx="6591697" cy="361950"/>
          </a:xfrm>
          <a:prstGeom prst="rect">
            <a:avLst/>
          </a:prstGeom>
          <a:noFill/>
        </p:spPr>
        <p:txBody>
          <a:bodyPr wrap="none" lIns="0" tIns="0" rIns="0" bIns="0" anchor="t">
            <a:noAutofit/>
          </a:bodyPr>
          <a:lstStyle/>
          <a:p>
            <a:pPr algn="l">
              <a:lnSpc>
                <a:spcPts val="2500"/>
              </a:lnSpc>
            </a:pPr>
            <a:r>
              <a:rPr sz="2000" b="1" spc="-20">
                <a:solidFill>
                  <a:srgbClr val="1E2833"/>
                </a:solidFill>
                <a:latin typeface="Microsoft JhengHei"/>
                <a:ea typeface="Microsoft JhengHei"/>
                <a:cs typeface="Microsoft JhengHei"/>
              </a:rPr>
              <a:t>The Math: Why Statin Monotherapy Fails</a:t>
            </a:r>
          </a:p>
        </p:txBody>
      </p:sp>
      <p:sp>
        <p:nvSpPr>
          <p:cNvPr id="8" name="TextBox 7"/>
          <p:cNvSpPr txBox="1"/>
          <p:nvPr/>
        </p:nvSpPr>
        <p:spPr>
          <a:xfrm>
            <a:off x="609600" y="977900"/>
            <a:ext cx="6320393" cy="222250"/>
          </a:xfrm>
          <a:prstGeom prst="rect">
            <a:avLst/>
          </a:prstGeom>
          <a:noFill/>
        </p:spPr>
        <p:txBody>
          <a:bodyPr wrap="none" lIns="0" tIns="0" rIns="0" bIns="0" anchor="t">
            <a:noAutofit/>
          </a:bodyPr>
          <a:lstStyle/>
          <a:p>
            <a:pPr algn="l">
              <a:lnSpc>
                <a:spcPts val="1680"/>
              </a:lnSpc>
            </a:pPr>
            <a:r>
              <a:rPr sz="1200" b="0">
                <a:solidFill>
                  <a:srgbClr val="5F6B77"/>
                </a:solidFill>
                <a:latin typeface="Microsoft JhengHei"/>
                <a:ea typeface="Microsoft JhengHei"/>
                <a:cs typeface="Microsoft JhengHei"/>
              </a:rPr>
              <a:t>The clinical calculation reveals an unavoidable 31.5 mg/dL gap to target</a:t>
            </a:r>
          </a:p>
        </p:txBody>
      </p:sp>
      <p:sp>
        <p:nvSpPr>
          <p:cNvPr id="9" name="Rounded Rectangle 8"/>
          <p:cNvSpPr/>
          <p:nvPr/>
        </p:nvSpPr>
        <p:spPr>
          <a:xfrm>
            <a:off x="609600" y="1324546"/>
            <a:ext cx="5384800" cy="4508500"/>
          </a:xfrm>
          <a:prstGeom prst="roundRect">
            <a:avLst>
              <a:gd name="adj" fmla="val 2535"/>
            </a:avLst>
          </a:prstGeom>
          <a:solidFill>
            <a:srgbClr val="F0F2F4"/>
          </a:solidFill>
          <a:ln>
            <a:noFill/>
          </a:ln>
          <a:effectLst/>
        </p:spPr>
        <p:txBody>
          <a:bodyPr rtlCol="0" anchor="ctr"/>
          <a:lstStyle/>
          <a:p>
            <a:endParaRPr/>
          </a:p>
        </p:txBody>
      </p:sp>
      <p:sp>
        <p:nvSpPr>
          <p:cNvPr id="10" name="TextBox 9"/>
          <p:cNvSpPr txBox="1"/>
          <p:nvPr/>
        </p:nvSpPr>
        <p:spPr>
          <a:xfrm>
            <a:off x="863600" y="1553146"/>
            <a:ext cx="2138998" cy="203200"/>
          </a:xfrm>
          <a:prstGeom prst="rect">
            <a:avLst/>
          </a:prstGeom>
          <a:noFill/>
        </p:spPr>
        <p:txBody>
          <a:bodyPr wrap="none" lIns="0" tIns="0" rIns="0" bIns="0" anchor="t">
            <a:noAutofit/>
          </a:bodyPr>
          <a:lstStyle/>
          <a:p>
            <a:pPr algn="l">
              <a:lnSpc>
                <a:spcPts val="1120"/>
              </a:lnSpc>
            </a:pPr>
            <a:r>
              <a:rPr sz="1100" b="1">
                <a:solidFill>
                  <a:srgbClr val="1E2833"/>
                </a:solidFill>
                <a:latin typeface="Microsoft JhengHei"/>
                <a:ea typeface="Microsoft JhengHei"/>
                <a:cs typeface="Microsoft JhengHei"/>
              </a:rPr>
              <a:t>The Monotherapy Ceiling</a:t>
            </a:r>
          </a:p>
        </p:txBody>
      </p:sp>
      <p:sp>
        <p:nvSpPr>
          <p:cNvPr id="11" name="Rectangle 10"/>
          <p:cNvSpPr/>
          <p:nvPr/>
        </p:nvSpPr>
        <p:spPr>
          <a:xfrm>
            <a:off x="863600" y="1553146"/>
            <a:ext cx="1711198" cy="203200"/>
          </a:xfrm>
          <a:prstGeom prst="rect">
            <a:avLst/>
          </a:prstGeom>
          <a:solidFill>
            <a:srgbClr val="B85030">
              <a:alpha val="12000"/>
            </a:srgbClr>
          </a:solidFill>
          <a:ln>
            <a:noFill/>
          </a:ln>
          <a:effectLst/>
        </p:spPr>
        <p:txBody>
          <a:bodyPr rtlCol="0" anchor="ctr"/>
          <a:lstStyle/>
          <a:p>
            <a:endParaRPr/>
          </a:p>
        </p:txBody>
      </p:sp>
      <p:sp>
        <p:nvSpPr>
          <p:cNvPr id="12" name="TextBox 11"/>
          <p:cNvSpPr txBox="1"/>
          <p:nvPr/>
        </p:nvSpPr>
        <p:spPr>
          <a:xfrm>
            <a:off x="863600" y="1851596"/>
            <a:ext cx="4809728" cy="330200"/>
          </a:xfrm>
          <a:prstGeom prst="rect">
            <a:avLst/>
          </a:prstGeom>
          <a:noFill/>
        </p:spPr>
        <p:txBody>
          <a:bodyPr wrap="none" lIns="0" tIns="0" rIns="0" bIns="0" anchor="t">
            <a:noAutofit/>
          </a:bodyPr>
          <a:lstStyle/>
          <a:p>
            <a:pPr algn="l">
              <a:lnSpc>
                <a:spcPts val="2340"/>
              </a:lnSpc>
            </a:pPr>
            <a:r>
              <a:rPr sz="1800" b="1">
                <a:solidFill>
                  <a:srgbClr val="1E2833"/>
                </a:solidFill>
                <a:latin typeface="Microsoft JhengHei"/>
                <a:ea typeface="Microsoft JhengHei"/>
                <a:cs typeface="Microsoft JhengHei"/>
              </a:rPr>
              <a:t>High-Intensity Statin Alone: -50%</a:t>
            </a:r>
          </a:p>
        </p:txBody>
      </p:sp>
      <p:sp>
        <p:nvSpPr>
          <p:cNvPr id="13" name="TextBox 12"/>
          <p:cNvSpPr txBox="1"/>
          <p:nvPr/>
        </p:nvSpPr>
        <p:spPr>
          <a:xfrm>
            <a:off x="965200" y="2371026"/>
            <a:ext cx="2229167" cy="869950"/>
          </a:xfrm>
          <a:prstGeom prst="rect">
            <a:avLst/>
          </a:prstGeom>
          <a:noFill/>
        </p:spPr>
        <p:txBody>
          <a:bodyPr wrap="none" lIns="0" tIns="0" rIns="0" bIns="0" anchor="t">
            <a:noAutofit/>
          </a:bodyPr>
          <a:lstStyle/>
          <a:p>
            <a:pPr algn="l">
              <a:lnSpc>
                <a:spcPts val="1120"/>
              </a:lnSpc>
            </a:pPr>
            <a:r>
              <a:rPr sz="3600" b="0">
                <a:solidFill>
                  <a:srgbClr val="1E2833"/>
                </a:solidFill>
                <a:latin typeface="Microsoft JhengHei"/>
                <a:ea typeface="Microsoft JhengHei"/>
                <a:cs typeface="Microsoft JhengHei"/>
              </a:rPr>
              <a:t>86.5</a:t>
            </a:r>
          </a:p>
          <a:p>
            <a:pPr algn="l">
              <a:lnSpc>
                <a:spcPts val="1120"/>
              </a:lnSpc>
            </a:pPr>
            <a:r>
              <a:rPr sz="800" b="0">
                <a:solidFill>
                  <a:srgbClr val="1E2833"/>
                </a:solidFill>
                <a:latin typeface="Microsoft JhengHei"/>
                <a:ea typeface="Microsoft JhengHei"/>
                <a:cs typeface="Microsoft JhengHei"/>
              </a:rPr>
              <a:t> </a:t>
            </a:r>
            <a:r>
              <a:rPr sz="1100" b="0">
                <a:solidFill>
                  <a:srgbClr val="1E2833"/>
                </a:solidFill>
                <a:latin typeface="Microsoft JhengHei"/>
                <a:ea typeface="Microsoft JhengHei"/>
                <a:cs typeface="Microsoft JhengHei"/>
              </a:rPr>
              <a:t>Achieved LDL (mg/dL)</a:t>
            </a:r>
          </a:p>
        </p:txBody>
      </p:sp>
      <p:sp>
        <p:nvSpPr>
          <p:cNvPr id="14" name="TextBox 13"/>
          <p:cNvSpPr txBox="1"/>
          <p:nvPr/>
        </p:nvSpPr>
        <p:spPr>
          <a:xfrm>
            <a:off x="3492500" y="2409126"/>
            <a:ext cx="2436574" cy="666750"/>
          </a:xfrm>
          <a:prstGeom prst="rect">
            <a:avLst/>
          </a:prstGeom>
          <a:noFill/>
        </p:spPr>
        <p:txBody>
          <a:bodyPr wrap="none" lIns="0" tIns="0" rIns="0" bIns="0" anchor="t">
            <a:noAutofit/>
          </a:bodyPr>
          <a:lstStyle/>
          <a:p>
            <a:pPr algn="l">
              <a:lnSpc>
                <a:spcPts val="1120"/>
              </a:lnSpc>
            </a:pPr>
            <a:r>
              <a:rPr sz="3600" b="0">
                <a:solidFill>
                  <a:srgbClr val="1E2833"/>
                </a:solidFill>
                <a:latin typeface="Microsoft JhengHei"/>
                <a:ea typeface="Microsoft JhengHei"/>
                <a:cs typeface="Microsoft JhengHei"/>
              </a:rPr>
              <a:t>&lt; 55</a:t>
            </a:r>
          </a:p>
          <a:p>
            <a:pPr algn="l">
              <a:lnSpc>
                <a:spcPts val="1120"/>
              </a:lnSpc>
            </a:pPr>
            <a:r>
              <a:rPr sz="800" b="0">
                <a:solidFill>
                  <a:srgbClr val="1E2833"/>
                </a:solidFill>
                <a:latin typeface="Microsoft JhengHei"/>
                <a:ea typeface="Microsoft JhengHei"/>
                <a:cs typeface="Microsoft JhengHei"/>
              </a:rPr>
              <a:t> </a:t>
            </a:r>
            <a:r>
              <a:rPr sz="1100" b="0">
                <a:solidFill>
                  <a:srgbClr val="1E2833"/>
                </a:solidFill>
                <a:latin typeface="Microsoft JhengHei"/>
                <a:ea typeface="Microsoft JhengHei"/>
                <a:cs typeface="Microsoft JhengHei"/>
              </a:rPr>
              <a:t>Guideline Target</a:t>
            </a:r>
          </a:p>
        </p:txBody>
      </p:sp>
      <p:sp>
        <p:nvSpPr>
          <p:cNvPr id="15" name="TextBox 14"/>
          <p:cNvSpPr txBox="1"/>
          <p:nvPr/>
        </p:nvSpPr>
        <p:spPr>
          <a:xfrm>
            <a:off x="1016000" y="3425126"/>
            <a:ext cx="2297509" cy="222250"/>
          </a:xfrm>
          <a:prstGeom prst="rect">
            <a:avLst/>
          </a:prstGeom>
          <a:noFill/>
        </p:spPr>
        <p:txBody>
          <a:bodyPr wrap="none" lIns="0" tIns="0" rIns="0" bIns="0" anchor="t">
            <a:noAutofit/>
          </a:bodyPr>
          <a:lstStyle/>
          <a:p>
            <a:pPr algn="l">
              <a:lnSpc>
                <a:spcPts val="186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Baseline LDL:</a:t>
            </a:r>
            <a:r>
              <a:rPr sz="1200" b="0">
                <a:solidFill>
                  <a:srgbClr val="1E2833"/>
                </a:solidFill>
                <a:latin typeface="Microsoft JhengHei"/>
                <a:ea typeface="Microsoft JhengHei"/>
                <a:cs typeface="Microsoft JhengHei"/>
              </a:rPr>
              <a:t> 173 mg/dL.</a:t>
            </a:r>
          </a:p>
        </p:txBody>
      </p:sp>
      <p:sp>
        <p:nvSpPr>
          <p:cNvPr id="16" name="TextBox 15"/>
          <p:cNvSpPr txBox="1"/>
          <p:nvPr/>
        </p:nvSpPr>
        <p:spPr>
          <a:xfrm>
            <a:off x="1016000" y="3661283"/>
            <a:ext cx="4027884" cy="222250"/>
          </a:xfrm>
          <a:prstGeom prst="rect">
            <a:avLst/>
          </a:prstGeom>
          <a:noFill/>
        </p:spPr>
        <p:txBody>
          <a:bodyPr wrap="none" lIns="0" tIns="0" rIns="0" bIns="0" anchor="t">
            <a:noAutofit/>
          </a:bodyPr>
          <a:lstStyle/>
          <a:p>
            <a:pPr algn="l">
              <a:lnSpc>
                <a:spcPts val="186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Max 50% Drop:</a:t>
            </a:r>
            <a:r>
              <a:rPr sz="1200" b="0">
                <a:solidFill>
                  <a:srgbClr val="1E2833"/>
                </a:solidFill>
                <a:latin typeface="Microsoft JhengHei"/>
                <a:ea typeface="Microsoft JhengHei"/>
                <a:cs typeface="Microsoft JhengHei"/>
              </a:rPr>
              <a:t> 173 × (1 - 0.50) = 86.5 mg/dL.</a:t>
            </a:r>
          </a:p>
        </p:txBody>
      </p:sp>
      <p:sp>
        <p:nvSpPr>
          <p:cNvPr id="17" name="TextBox 16"/>
          <p:cNvSpPr txBox="1"/>
          <p:nvPr/>
        </p:nvSpPr>
        <p:spPr>
          <a:xfrm>
            <a:off x="1016000" y="3897440"/>
            <a:ext cx="5040948" cy="222250"/>
          </a:xfrm>
          <a:prstGeom prst="rect">
            <a:avLst/>
          </a:prstGeom>
          <a:noFill/>
        </p:spPr>
        <p:txBody>
          <a:bodyPr wrap="none" lIns="0" tIns="0" rIns="0" bIns="0" anchor="t">
            <a:noAutofit/>
          </a:bodyPr>
          <a:lstStyle/>
          <a:p>
            <a:pPr algn="l">
              <a:lnSpc>
                <a:spcPts val="186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The Persistent Gap:</a:t>
            </a:r>
            <a:r>
              <a:rPr sz="1200" b="0">
                <a:solidFill>
                  <a:srgbClr val="1E2833"/>
                </a:solidFill>
                <a:latin typeface="Microsoft JhengHei"/>
                <a:ea typeface="Microsoft JhengHei"/>
                <a:cs typeface="Microsoft JhengHei"/>
              </a:rPr>
              <a:t> 86.5 - 55 = </a:t>
            </a:r>
            <a:r>
              <a:rPr sz="1200" b="1">
                <a:solidFill>
                  <a:srgbClr val="1E2833"/>
                </a:solidFill>
                <a:latin typeface="Microsoft JhengHei"/>
                <a:ea typeface="Microsoft JhengHei"/>
                <a:cs typeface="Microsoft JhengHei"/>
              </a:rPr>
              <a:t>31.5 mg/dL</a:t>
            </a:r>
            <a:r>
              <a:rPr sz="1200" b="0">
                <a:solidFill>
                  <a:srgbClr val="1E2833"/>
                </a:solidFill>
                <a:latin typeface="Microsoft JhengHei"/>
                <a:ea typeface="Microsoft JhengHei"/>
                <a:cs typeface="Microsoft JhengHei"/>
              </a:rPr>
              <a:t> above target!</a:t>
            </a:r>
          </a:p>
        </p:txBody>
      </p:sp>
      <p:sp>
        <p:nvSpPr>
          <p:cNvPr id="18" name="Rounded Rectangle 17"/>
          <p:cNvSpPr/>
          <p:nvPr/>
        </p:nvSpPr>
        <p:spPr>
          <a:xfrm>
            <a:off x="863600" y="5159946"/>
            <a:ext cx="4876800" cy="444500"/>
          </a:xfrm>
          <a:prstGeom prst="roundRect">
            <a:avLst>
              <a:gd name="adj" fmla="val 17142"/>
            </a:avLst>
          </a:prstGeom>
          <a:solidFill>
            <a:srgbClr val="FDF1ED"/>
          </a:solidFill>
          <a:ln>
            <a:noFill/>
          </a:ln>
          <a:effectLst/>
        </p:spPr>
        <p:txBody>
          <a:bodyPr rtlCol="0" anchor="ctr"/>
          <a:lstStyle/>
          <a:p>
            <a:endParaRPr/>
          </a:p>
        </p:txBody>
      </p:sp>
      <p:sp>
        <p:nvSpPr>
          <p:cNvPr id="19" name="TextBox 18"/>
          <p:cNvSpPr txBox="1"/>
          <p:nvPr/>
        </p:nvSpPr>
        <p:spPr>
          <a:xfrm>
            <a:off x="1016000" y="5274246"/>
            <a:ext cx="5310346" cy="215900"/>
          </a:xfrm>
          <a:prstGeom prst="rect">
            <a:avLst/>
          </a:prstGeom>
          <a:noFill/>
        </p:spPr>
        <p:txBody>
          <a:bodyPr wrap="none" lIns="0" tIns="0" rIns="0" bIns="0" anchor="t">
            <a:noAutofit/>
          </a:bodyPr>
          <a:lstStyle/>
          <a:p>
            <a:pPr algn="l">
              <a:lnSpc>
                <a:spcPts val="1610"/>
              </a:lnSpc>
            </a:pPr>
            <a:r>
              <a:rPr sz="1150" b="1">
                <a:solidFill>
                  <a:srgbClr val="1E2833"/>
                </a:solidFill>
                <a:latin typeface="Microsoft JhengHei"/>
                <a:ea typeface="Microsoft JhengHei"/>
                <a:cs typeface="Microsoft JhengHei"/>
              </a:rPr>
              <a:t>⚠ Monotherapy leaves Mr. Hong 31.5 mg/dL short of safety!</a:t>
            </a:r>
          </a:p>
        </p:txBody>
      </p:sp>
      <p:sp>
        <p:nvSpPr>
          <p:cNvPr id="20" name="Rounded Rectangle 19"/>
          <p:cNvSpPr/>
          <p:nvPr/>
        </p:nvSpPr>
        <p:spPr>
          <a:xfrm>
            <a:off x="6197600" y="1324546"/>
            <a:ext cx="5384800" cy="4508500"/>
          </a:xfrm>
          <a:prstGeom prst="roundRect">
            <a:avLst>
              <a:gd name="adj" fmla="val 2535"/>
            </a:avLst>
          </a:prstGeom>
          <a:solidFill>
            <a:srgbClr val="F0F2F4"/>
          </a:solidFill>
          <a:ln>
            <a:noFill/>
          </a:ln>
          <a:effectLst/>
        </p:spPr>
        <p:txBody>
          <a:bodyPr rtlCol="0" anchor="ctr"/>
          <a:lstStyle/>
          <a:p>
            <a:endParaRPr/>
          </a:p>
        </p:txBody>
      </p:sp>
      <p:sp>
        <p:nvSpPr>
          <p:cNvPr id="21" name="Rectangle 20"/>
          <p:cNvSpPr/>
          <p:nvPr/>
        </p:nvSpPr>
        <p:spPr>
          <a:xfrm>
            <a:off x="6197600" y="1324546"/>
            <a:ext cx="50800" cy="4508500"/>
          </a:xfrm>
          <a:prstGeom prst="rect">
            <a:avLst/>
          </a:prstGeom>
          <a:solidFill>
            <a:srgbClr val="24476E"/>
          </a:solidFill>
          <a:ln>
            <a:noFill/>
          </a:ln>
          <a:effectLst/>
        </p:spPr>
        <p:txBody>
          <a:bodyPr rtlCol="0" anchor="ctr"/>
          <a:lstStyle/>
          <a:p>
            <a:endParaRPr/>
          </a:p>
        </p:txBody>
      </p:sp>
      <p:sp>
        <p:nvSpPr>
          <p:cNvPr id="22" name="TextBox 21"/>
          <p:cNvSpPr txBox="1"/>
          <p:nvPr/>
        </p:nvSpPr>
        <p:spPr>
          <a:xfrm>
            <a:off x="6502400" y="1553146"/>
            <a:ext cx="2088674" cy="203200"/>
          </a:xfrm>
          <a:prstGeom prst="rect">
            <a:avLst/>
          </a:prstGeom>
          <a:noFill/>
        </p:spPr>
        <p:txBody>
          <a:bodyPr wrap="none" lIns="0" tIns="0" rIns="0" bIns="0" anchor="t">
            <a:noAutofit/>
          </a:bodyPr>
          <a:lstStyle/>
          <a:p>
            <a:pPr algn="l">
              <a:lnSpc>
                <a:spcPts val="1120"/>
              </a:lnSpc>
            </a:pPr>
            <a:r>
              <a:rPr sz="1100" b="1">
                <a:solidFill>
                  <a:srgbClr val="24476E"/>
                </a:solidFill>
                <a:latin typeface="Microsoft JhengHei"/>
                <a:ea typeface="Microsoft JhengHei"/>
                <a:cs typeface="Microsoft JhengHei"/>
              </a:rPr>
              <a:t>Pharmacological Barrier</a:t>
            </a:r>
          </a:p>
        </p:txBody>
      </p:sp>
      <p:sp>
        <p:nvSpPr>
          <p:cNvPr id="23" name="Rectangle 22"/>
          <p:cNvSpPr/>
          <p:nvPr/>
        </p:nvSpPr>
        <p:spPr>
          <a:xfrm>
            <a:off x="6502400" y="1553146"/>
            <a:ext cx="1670939" cy="203200"/>
          </a:xfrm>
          <a:prstGeom prst="rect">
            <a:avLst/>
          </a:prstGeom>
          <a:solidFill>
            <a:srgbClr val="1E3A5F">
              <a:alpha val="12000"/>
            </a:srgbClr>
          </a:solidFill>
          <a:ln>
            <a:noFill/>
          </a:ln>
          <a:effectLst/>
        </p:spPr>
        <p:txBody>
          <a:bodyPr rtlCol="0" anchor="ctr"/>
          <a:lstStyle/>
          <a:p>
            <a:endParaRPr/>
          </a:p>
        </p:txBody>
      </p:sp>
      <p:sp>
        <p:nvSpPr>
          <p:cNvPr id="24" name="TextBox 23"/>
          <p:cNvSpPr txBox="1"/>
          <p:nvPr/>
        </p:nvSpPr>
        <p:spPr>
          <a:xfrm>
            <a:off x="6502400" y="1851596"/>
            <a:ext cx="3856514" cy="330200"/>
          </a:xfrm>
          <a:prstGeom prst="rect">
            <a:avLst/>
          </a:prstGeom>
          <a:noFill/>
        </p:spPr>
        <p:txBody>
          <a:bodyPr wrap="none" lIns="0" tIns="0" rIns="0" bIns="0" anchor="t">
            <a:noAutofit/>
          </a:bodyPr>
          <a:lstStyle/>
          <a:p>
            <a:pPr algn="l">
              <a:lnSpc>
                <a:spcPts val="2340"/>
              </a:lnSpc>
            </a:pPr>
            <a:r>
              <a:rPr sz="1800" b="1">
                <a:solidFill>
                  <a:srgbClr val="24476E"/>
                </a:solidFill>
                <a:latin typeface="Microsoft JhengHei"/>
                <a:ea typeface="Microsoft JhengHei"/>
                <a:cs typeface="Microsoft JhengHei"/>
              </a:rPr>
              <a:t>The "Rule of Six" Dilemma</a:t>
            </a:r>
          </a:p>
        </p:txBody>
      </p:sp>
      <p:sp>
        <p:nvSpPr>
          <p:cNvPr id="25" name="TextBox 24"/>
          <p:cNvSpPr txBox="1"/>
          <p:nvPr/>
        </p:nvSpPr>
        <p:spPr>
          <a:xfrm>
            <a:off x="6604000" y="2371026"/>
            <a:ext cx="2343388" cy="869950"/>
          </a:xfrm>
          <a:prstGeom prst="rect">
            <a:avLst/>
          </a:prstGeom>
          <a:noFill/>
        </p:spPr>
        <p:txBody>
          <a:bodyPr wrap="none" lIns="0" tIns="0" rIns="0" bIns="0" anchor="t">
            <a:noAutofit/>
          </a:bodyPr>
          <a:lstStyle/>
          <a:p>
            <a:pPr algn="l">
              <a:lnSpc>
                <a:spcPts val="1120"/>
              </a:lnSpc>
            </a:pPr>
            <a:r>
              <a:rPr sz="3600" b="0">
                <a:solidFill>
                  <a:srgbClr val="24476E"/>
                </a:solidFill>
                <a:latin typeface="Microsoft JhengHei"/>
                <a:ea typeface="Microsoft JhengHei"/>
                <a:cs typeface="Microsoft JhengHei"/>
              </a:rPr>
              <a:t>+6%</a:t>
            </a:r>
          </a:p>
          <a:p>
            <a:pPr algn="l">
              <a:lnSpc>
                <a:spcPts val="1120"/>
              </a:lnSpc>
            </a:pPr>
            <a:r>
              <a:rPr sz="800" b="0">
                <a:solidFill>
                  <a:srgbClr val="1E2833"/>
                </a:solidFill>
                <a:latin typeface="Microsoft JhengHei"/>
                <a:ea typeface="Microsoft JhengHei"/>
                <a:cs typeface="Microsoft JhengHei"/>
              </a:rPr>
              <a:t> </a:t>
            </a:r>
            <a:r>
              <a:rPr sz="1100" b="0">
                <a:solidFill>
                  <a:srgbClr val="1E2833"/>
                </a:solidFill>
                <a:latin typeface="Microsoft JhengHei"/>
                <a:ea typeface="Microsoft JhengHei"/>
                <a:cs typeface="Microsoft JhengHei"/>
              </a:rPr>
              <a:t>Drop per Dose Doubling</a:t>
            </a:r>
          </a:p>
        </p:txBody>
      </p:sp>
      <p:sp>
        <p:nvSpPr>
          <p:cNvPr id="26" name="TextBox 25"/>
          <p:cNvSpPr txBox="1"/>
          <p:nvPr/>
        </p:nvSpPr>
        <p:spPr>
          <a:xfrm>
            <a:off x="9105900" y="2409126"/>
            <a:ext cx="2440384" cy="666750"/>
          </a:xfrm>
          <a:prstGeom prst="rect">
            <a:avLst/>
          </a:prstGeom>
          <a:noFill/>
        </p:spPr>
        <p:txBody>
          <a:bodyPr wrap="none" lIns="0" tIns="0" rIns="0" bIns="0" anchor="t">
            <a:noAutofit/>
          </a:bodyPr>
          <a:lstStyle/>
          <a:p>
            <a:pPr algn="l">
              <a:lnSpc>
                <a:spcPts val="1120"/>
              </a:lnSpc>
            </a:pPr>
            <a:r>
              <a:rPr sz="3600" b="0">
                <a:solidFill>
                  <a:srgbClr val="1E2833"/>
                </a:solidFill>
                <a:latin typeface="Microsoft JhengHei"/>
                <a:ea typeface="Microsoft JhengHei"/>
                <a:cs typeface="Microsoft JhengHei"/>
              </a:rPr>
              <a:t>2×</a:t>
            </a:r>
          </a:p>
          <a:p>
            <a:pPr algn="l">
              <a:lnSpc>
                <a:spcPts val="1120"/>
              </a:lnSpc>
            </a:pPr>
            <a:r>
              <a:rPr sz="800" b="0">
                <a:solidFill>
                  <a:srgbClr val="1E2833"/>
                </a:solidFill>
                <a:latin typeface="Microsoft JhengHei"/>
                <a:ea typeface="Microsoft JhengHei"/>
                <a:cs typeface="Microsoft JhengHei"/>
              </a:rPr>
              <a:t> </a:t>
            </a:r>
            <a:r>
              <a:rPr sz="1100" b="0">
                <a:solidFill>
                  <a:srgbClr val="1E2833"/>
                </a:solidFill>
                <a:latin typeface="Microsoft JhengHei"/>
                <a:ea typeface="Microsoft JhengHei"/>
                <a:cs typeface="Microsoft JhengHei"/>
              </a:rPr>
              <a:t>Adverse Effect Risk</a:t>
            </a:r>
          </a:p>
        </p:txBody>
      </p:sp>
      <p:sp>
        <p:nvSpPr>
          <p:cNvPr id="27" name="TextBox 26"/>
          <p:cNvSpPr txBox="1"/>
          <p:nvPr/>
        </p:nvSpPr>
        <p:spPr>
          <a:xfrm>
            <a:off x="6654800" y="3425126"/>
            <a:ext cx="4673600" cy="458406"/>
          </a:xfrm>
          <a:prstGeom prst="rect">
            <a:avLst/>
          </a:prstGeom>
          <a:noFill/>
        </p:spPr>
        <p:txBody>
          <a:bodyPr wrap="square" lIns="0" tIns="0" rIns="0" bIns="0" anchor="t">
            <a:noAutofit/>
          </a:bodyPr>
          <a:lstStyle/>
          <a:p>
            <a:pPr algn="l">
              <a:lnSpc>
                <a:spcPts val="186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Rule of Six:</a:t>
            </a:r>
            <a:r>
              <a:rPr sz="1200" b="0">
                <a:solidFill>
                  <a:srgbClr val="1E2833"/>
                </a:solidFill>
                <a:latin typeface="Microsoft JhengHei"/>
                <a:ea typeface="Microsoft JhengHei"/>
                <a:cs typeface="Microsoft JhengHei"/>
              </a:rPr>
              <a:t> Doubling statin dose only yields ~6% additional LDL reduction.</a:t>
            </a:r>
          </a:p>
        </p:txBody>
      </p:sp>
      <p:sp>
        <p:nvSpPr>
          <p:cNvPr id="28" name="TextBox 27"/>
          <p:cNvSpPr txBox="1"/>
          <p:nvPr/>
        </p:nvSpPr>
        <p:spPr>
          <a:xfrm>
            <a:off x="6654800" y="3897440"/>
            <a:ext cx="4673600" cy="458406"/>
          </a:xfrm>
          <a:prstGeom prst="rect">
            <a:avLst/>
          </a:prstGeom>
          <a:noFill/>
        </p:spPr>
        <p:txBody>
          <a:bodyPr wrap="square" lIns="0" tIns="0" rIns="0" bIns="0" anchor="t">
            <a:noAutofit/>
          </a:bodyPr>
          <a:lstStyle/>
          <a:p>
            <a:pPr algn="l">
              <a:lnSpc>
                <a:spcPts val="186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Doubled Risks:</a:t>
            </a:r>
            <a:r>
              <a:rPr sz="1200" b="0">
                <a:solidFill>
                  <a:srgbClr val="1E2833"/>
                </a:solidFill>
                <a:latin typeface="Microsoft JhengHei"/>
                <a:ea typeface="Microsoft JhengHei"/>
                <a:cs typeface="Microsoft JhengHei"/>
              </a:rPr>
              <a:t> Myopathy, transaminitis, and statin intolerance escalate rapidly.</a:t>
            </a:r>
          </a:p>
        </p:txBody>
      </p:sp>
      <p:sp>
        <p:nvSpPr>
          <p:cNvPr id="29" name="TextBox 28"/>
          <p:cNvSpPr txBox="1"/>
          <p:nvPr/>
        </p:nvSpPr>
        <p:spPr>
          <a:xfrm>
            <a:off x="6654800" y="4369689"/>
            <a:ext cx="4673600" cy="458406"/>
          </a:xfrm>
          <a:prstGeom prst="rect">
            <a:avLst/>
          </a:prstGeom>
          <a:noFill/>
        </p:spPr>
        <p:txBody>
          <a:bodyPr wrap="square" lIns="0" tIns="0" rIns="0" bIns="0" anchor="t">
            <a:noAutofit/>
          </a:bodyPr>
          <a:lstStyle/>
          <a:p>
            <a:pPr algn="l">
              <a:lnSpc>
                <a:spcPts val="186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Clinical Conclusion:</a:t>
            </a:r>
            <a:r>
              <a:rPr sz="1200" b="0">
                <a:solidFill>
                  <a:srgbClr val="1E2833"/>
                </a:solidFill>
                <a:latin typeface="Microsoft JhengHei"/>
                <a:ea typeface="Microsoft JhengHei"/>
                <a:cs typeface="Microsoft JhengHei"/>
              </a:rPr>
              <a:t> You cannot bridge a 31.5 mg/dL gap simply by pushing statin doses!</a:t>
            </a:r>
          </a:p>
        </p:txBody>
      </p:sp>
      <p:sp>
        <p:nvSpPr>
          <p:cNvPr id="30" name="Rounded Rectangle 29"/>
          <p:cNvSpPr/>
          <p:nvPr/>
        </p:nvSpPr>
        <p:spPr>
          <a:xfrm>
            <a:off x="6502400" y="4944046"/>
            <a:ext cx="4826000" cy="660400"/>
          </a:xfrm>
          <a:prstGeom prst="roundRect">
            <a:avLst>
              <a:gd name="adj" fmla="val 11538"/>
            </a:avLst>
          </a:prstGeom>
          <a:solidFill>
            <a:srgbClr val="F4F6F9"/>
          </a:solidFill>
          <a:ln>
            <a:noFill/>
          </a:ln>
          <a:effectLst/>
        </p:spPr>
        <p:txBody>
          <a:bodyPr rtlCol="0" anchor="ctr"/>
          <a:lstStyle/>
          <a:p>
            <a:endParaRPr/>
          </a:p>
        </p:txBody>
      </p:sp>
      <p:sp>
        <p:nvSpPr>
          <p:cNvPr id="31" name="TextBox 30"/>
          <p:cNvSpPr txBox="1"/>
          <p:nvPr/>
        </p:nvSpPr>
        <p:spPr>
          <a:xfrm>
            <a:off x="6654800" y="5058346"/>
            <a:ext cx="4521200" cy="431800"/>
          </a:xfrm>
          <a:prstGeom prst="rect">
            <a:avLst/>
          </a:prstGeom>
          <a:noFill/>
        </p:spPr>
        <p:txBody>
          <a:bodyPr wrap="square" lIns="0" tIns="0" rIns="0" bIns="0" anchor="t">
            <a:noAutofit/>
          </a:bodyPr>
          <a:lstStyle/>
          <a:p>
            <a:pPr algn="l">
              <a:lnSpc>
                <a:spcPts val="1610"/>
              </a:lnSpc>
            </a:pPr>
            <a:r>
              <a:rPr sz="1150" b="1">
                <a:solidFill>
                  <a:srgbClr val="24476E"/>
                </a:solidFill>
                <a:latin typeface="Microsoft JhengHei"/>
                <a:ea typeface="Microsoft JhengHei"/>
                <a:cs typeface="Microsoft JhengHei"/>
              </a:rPr>
              <a:t>💡 We must unlock a second, complementary biological pathway!</a:t>
            </a:r>
          </a:p>
        </p:txBody>
      </p:sp>
      <p:sp>
        <p:nvSpPr>
          <p:cNvPr id="32" name="Rectangle 31"/>
          <p:cNvSpPr/>
          <p:nvPr/>
        </p:nvSpPr>
        <p:spPr>
          <a:xfrm>
            <a:off x="609600" y="6066854"/>
            <a:ext cx="10972800" cy="6350"/>
          </a:xfrm>
          <a:prstGeom prst="rect">
            <a:avLst/>
          </a:prstGeom>
          <a:solidFill>
            <a:srgbClr val="F0F2F4"/>
          </a:solidFill>
          <a:ln>
            <a:noFill/>
          </a:ln>
          <a:effectLst/>
        </p:spPr>
        <p:txBody>
          <a:bodyPr rtlCol="0" anchor="ctr"/>
          <a:lstStyle/>
          <a:p>
            <a:endParaRPr/>
          </a:p>
        </p:txBody>
      </p:sp>
      <p:sp>
        <p:nvSpPr>
          <p:cNvPr id="33" name="TextBox 32"/>
          <p:cNvSpPr txBox="1"/>
          <p:nvPr/>
        </p:nvSpPr>
        <p:spPr>
          <a:xfrm>
            <a:off x="609600" y="6130354"/>
            <a:ext cx="9074388" cy="171450"/>
          </a:xfrm>
          <a:prstGeom prst="rect">
            <a:avLst/>
          </a:prstGeom>
          <a:noFill/>
        </p:spPr>
        <p:txBody>
          <a:bodyPr wrap="none" lIns="0" tIns="0" rIns="0" bIns="0" anchor="t">
            <a:noAutofit/>
          </a:bodyPr>
          <a:lstStyle/>
          <a:p>
            <a:pPr algn="l">
              <a:lnSpc>
                <a:spcPts val="1330"/>
              </a:lnSpc>
            </a:pPr>
            <a:r>
              <a:rPr sz="950" b="0">
                <a:solidFill>
                  <a:srgbClr val="5F6B77"/>
                </a:solidFill>
                <a:latin typeface="Microsoft JhengHei"/>
                <a:ea typeface="Microsoft JhengHei"/>
                <a:cs typeface="Microsoft JhengHei"/>
              </a:rPr>
              <a:t>Cannon CP, et al. Simulation of Statin and Ezetimibe Intensity in Very-High-Risk Patients. J Am Coll Cardiol. 2019;74(18):2205-2215.</a:t>
            </a:r>
          </a:p>
        </p:txBody>
      </p:sp>
      <p:sp>
        <p:nvSpPr>
          <p:cNvPr id="34" name="Rounded Rectangle 33"/>
          <p:cNvSpPr/>
          <p:nvPr/>
        </p:nvSpPr>
        <p:spPr>
          <a:xfrm>
            <a:off x="8473948" y="190500"/>
            <a:ext cx="599313"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35" name="TextBox 34"/>
          <p:cNvSpPr txBox="1"/>
          <p:nvPr/>
        </p:nvSpPr>
        <p:spPr>
          <a:xfrm>
            <a:off x="8575548" y="241300"/>
            <a:ext cx="495141"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1. Case</a:t>
            </a:r>
          </a:p>
        </p:txBody>
      </p:sp>
      <p:sp>
        <p:nvSpPr>
          <p:cNvPr id="36" name="Rounded Rectangle 35"/>
          <p:cNvSpPr/>
          <p:nvPr/>
        </p:nvSpPr>
        <p:spPr>
          <a:xfrm>
            <a:off x="9124061" y="190500"/>
            <a:ext cx="689483"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37" name="TextBox 36"/>
          <p:cNvSpPr txBox="1"/>
          <p:nvPr/>
        </p:nvSpPr>
        <p:spPr>
          <a:xfrm>
            <a:off x="9225661" y="241300"/>
            <a:ext cx="607854"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2. Target</a:t>
            </a:r>
          </a:p>
        </p:txBody>
      </p:sp>
      <p:sp>
        <p:nvSpPr>
          <p:cNvPr id="38" name="Rounded Rectangle 37"/>
          <p:cNvSpPr/>
          <p:nvPr/>
        </p:nvSpPr>
        <p:spPr>
          <a:xfrm>
            <a:off x="9864344" y="190500"/>
            <a:ext cx="795718" cy="266700"/>
          </a:xfrm>
          <a:prstGeom prst="roundRect">
            <a:avLst>
              <a:gd name="adj" fmla="val 50000"/>
            </a:avLst>
          </a:prstGeom>
          <a:solidFill>
            <a:srgbClr val="24476E"/>
          </a:solidFill>
          <a:ln w="12700">
            <a:solidFill>
              <a:srgbClr val="24476E"/>
            </a:solidFill>
          </a:ln>
          <a:effectLst/>
        </p:spPr>
        <p:txBody>
          <a:bodyPr rtlCol="0" anchor="ctr"/>
          <a:lstStyle/>
          <a:p>
            <a:endParaRPr/>
          </a:p>
        </p:txBody>
      </p:sp>
      <p:sp>
        <p:nvSpPr>
          <p:cNvPr id="39" name="TextBox 38"/>
          <p:cNvSpPr txBox="1"/>
          <p:nvPr/>
        </p:nvSpPr>
        <p:spPr>
          <a:xfrm>
            <a:off x="9965944" y="241300"/>
            <a:ext cx="740648" cy="165100"/>
          </a:xfrm>
          <a:prstGeom prst="rect">
            <a:avLst/>
          </a:prstGeom>
          <a:noFill/>
        </p:spPr>
        <p:txBody>
          <a:bodyPr wrap="none" lIns="0" tIns="0" rIns="0" bIns="0" anchor="t">
            <a:noAutofit/>
          </a:bodyPr>
          <a:lstStyle/>
          <a:p>
            <a:pPr algn="l">
              <a:lnSpc>
                <a:spcPts val="1260"/>
              </a:lnSpc>
            </a:pPr>
            <a:r>
              <a:rPr sz="900" b="1">
                <a:solidFill>
                  <a:srgbClr val="FFFFFF"/>
                </a:solidFill>
                <a:latin typeface="Microsoft JhengHei"/>
                <a:ea typeface="Microsoft JhengHei"/>
                <a:cs typeface="Microsoft JhengHei"/>
              </a:rPr>
              <a:t>3. Therapy</a:t>
            </a:r>
          </a:p>
        </p:txBody>
      </p:sp>
      <p:sp>
        <p:nvSpPr>
          <p:cNvPr id="40" name="Rounded Rectangle 39"/>
          <p:cNvSpPr/>
          <p:nvPr/>
        </p:nvSpPr>
        <p:spPr>
          <a:xfrm>
            <a:off x="10710862" y="190500"/>
            <a:ext cx="871538"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41" name="TextBox 40"/>
          <p:cNvSpPr txBox="1"/>
          <p:nvPr/>
        </p:nvSpPr>
        <p:spPr>
          <a:xfrm>
            <a:off x="10812462" y="241300"/>
            <a:ext cx="835422"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4. Roadmap</a:t>
            </a:r>
          </a:p>
        </p:txBody>
      </p:sp>
      <p:sp>
        <p:nvSpPr>
          <p:cNvPr id="42" name="Rectangle 41"/>
          <p:cNvSpPr/>
          <p:nvPr/>
        </p:nvSpPr>
        <p:spPr>
          <a:xfrm>
            <a:off x="0" y="6527800"/>
            <a:ext cx="12192000" cy="330200"/>
          </a:xfrm>
          <a:prstGeom prst="rect">
            <a:avLst/>
          </a:prstGeom>
          <a:solidFill>
            <a:srgbClr val="FFFFFF"/>
          </a:solidFill>
          <a:ln>
            <a:noFill/>
          </a:ln>
          <a:effectLst/>
        </p:spPr>
        <p:txBody>
          <a:bodyPr rtlCol="0" anchor="ctr"/>
          <a:lstStyle/>
          <a:p>
            <a:endParaRPr/>
          </a:p>
        </p:txBody>
      </p:sp>
      <p:sp>
        <p:nvSpPr>
          <p:cNvPr id="43" name="Rectangle 42"/>
          <p:cNvSpPr/>
          <p:nvPr/>
        </p:nvSpPr>
        <p:spPr>
          <a:xfrm>
            <a:off x="0" y="6527800"/>
            <a:ext cx="12192000" cy="12700"/>
          </a:xfrm>
          <a:prstGeom prst="rect">
            <a:avLst/>
          </a:prstGeom>
          <a:solidFill>
            <a:srgbClr val="F0F2F4"/>
          </a:solidFill>
          <a:ln>
            <a:noFill/>
          </a:ln>
          <a:effectLst/>
        </p:spPr>
        <p:txBody>
          <a:bodyPr rtlCol="0" anchor="ctr"/>
          <a:lstStyle/>
          <a:p>
            <a:endParaRPr/>
          </a:p>
        </p:txBody>
      </p:sp>
      <p:sp>
        <p:nvSpPr>
          <p:cNvPr id="44" name="TextBox 43"/>
          <p:cNvSpPr txBox="1"/>
          <p:nvPr/>
        </p:nvSpPr>
        <p:spPr>
          <a:xfrm>
            <a:off x="609600" y="6613525"/>
            <a:ext cx="808038" cy="171450"/>
          </a:xfrm>
          <a:prstGeom prst="rect">
            <a:avLst/>
          </a:prstGeom>
          <a:noFill/>
        </p:spPr>
        <p:txBody>
          <a:bodyPr wrap="none" lIns="0" tIns="0" rIns="0" bIns="0" anchor="t">
            <a:noAutofit/>
          </a:bodyPr>
          <a:lstStyle/>
          <a:p>
            <a:pPr algn="l">
              <a:lnSpc>
                <a:spcPts val="1330"/>
              </a:lnSpc>
            </a:pPr>
            <a:r>
              <a:rPr sz="950" b="1">
                <a:solidFill>
                  <a:srgbClr val="24476E"/>
                </a:solidFill>
                <a:latin typeface="Microsoft JhengHei"/>
                <a:ea typeface="Microsoft JhengHei"/>
                <a:cs typeface="Microsoft JhengHei"/>
              </a:rPr>
              <a:t>3. Therapy</a:t>
            </a:r>
          </a:p>
        </p:txBody>
      </p:sp>
      <p:sp>
        <p:nvSpPr>
          <p:cNvPr id="45" name="Rounded Rectangle 44"/>
          <p:cNvSpPr/>
          <p:nvPr/>
        </p:nvSpPr>
        <p:spPr>
          <a:xfrm>
            <a:off x="1395730" y="6680200"/>
            <a:ext cx="9651302" cy="38100"/>
          </a:xfrm>
          <a:prstGeom prst="roundRect">
            <a:avLst>
              <a:gd name="adj" fmla="val 50000"/>
            </a:avLst>
          </a:prstGeom>
          <a:solidFill>
            <a:srgbClr val="F0F2F4"/>
          </a:solidFill>
          <a:ln>
            <a:noFill/>
          </a:ln>
          <a:effectLst/>
        </p:spPr>
        <p:txBody>
          <a:bodyPr rtlCol="0" anchor="ctr"/>
          <a:lstStyle/>
          <a:p>
            <a:endParaRPr/>
          </a:p>
        </p:txBody>
      </p:sp>
      <p:sp>
        <p:nvSpPr>
          <p:cNvPr id="46" name="Rectangle 45"/>
          <p:cNvSpPr/>
          <p:nvPr/>
        </p:nvSpPr>
        <p:spPr>
          <a:xfrm>
            <a:off x="1395730" y="6680200"/>
            <a:ext cx="5629846" cy="38100"/>
          </a:xfrm>
          <a:prstGeom prst="rect">
            <a:avLst/>
          </a:prstGeom>
          <a:solidFill>
            <a:srgbClr val="F3C84B"/>
          </a:solidFill>
          <a:ln>
            <a:noFill/>
          </a:ln>
          <a:effectLst/>
        </p:spPr>
        <p:txBody>
          <a:bodyPr rtlCol="0" anchor="ctr"/>
          <a:lstStyle/>
          <a:p>
            <a:endParaRPr/>
          </a:p>
        </p:txBody>
      </p:sp>
      <p:sp>
        <p:nvSpPr>
          <p:cNvPr id="47" name="TextBox 46"/>
          <p:cNvSpPr txBox="1"/>
          <p:nvPr/>
        </p:nvSpPr>
        <p:spPr>
          <a:xfrm>
            <a:off x="11186732" y="6613525"/>
            <a:ext cx="494586" cy="171450"/>
          </a:xfrm>
          <a:prstGeom prst="rect">
            <a:avLst/>
          </a:prstGeom>
          <a:noFill/>
        </p:spPr>
        <p:txBody>
          <a:bodyPr wrap="none" lIns="0" tIns="0" rIns="0" bIns="0" anchor="t">
            <a:noAutofit/>
          </a:bodyPr>
          <a:lstStyle/>
          <a:p>
            <a:pPr algn="l">
              <a:lnSpc>
                <a:spcPts val="1330"/>
              </a:lnSpc>
            </a:pPr>
            <a:r>
              <a:rPr sz="950" b="1">
                <a:solidFill>
                  <a:srgbClr val="3B4754"/>
                </a:solidFill>
                <a:latin typeface="Microsoft JhengHei"/>
                <a:ea typeface="Microsoft JhengHei"/>
                <a:cs typeface="Microsoft JhengHei"/>
              </a:rPr>
              <a:t>07 / 12</a:t>
            </a:r>
          </a:p>
        </p:txBody>
      </p:sp>
      <p:sp>
        <p:nvSpPr>
          <p:cNvPr id="48" name="LINK_Rectangle 47">
            <a:hlinkClick r:id="rId3" action="ppaction://hlinksldjump"/>
          </p:cNvPr>
          <p:cNvSpPr/>
          <p:nvPr/>
        </p:nvSpPr>
        <p:spPr>
          <a:xfrm>
            <a:off x="8473976" y="190500"/>
            <a:ext cx="599281" cy="266700"/>
          </a:xfrm>
          <a:prstGeom prst="rect">
            <a:avLst/>
          </a:prstGeom>
          <a:solidFill>
            <a:srgbClr val="FFFFFF">
              <a:alpha val="0"/>
            </a:srgbClr>
          </a:solidFill>
          <a:ln>
            <a:noFill/>
          </a:ln>
          <a:effectLst/>
        </p:spPr>
        <p:txBody>
          <a:bodyPr rtlCol="0" anchor="ctr"/>
          <a:lstStyle/>
          <a:p>
            <a:pPr algn="ctr"/>
            <a:endParaRPr/>
          </a:p>
        </p:txBody>
      </p:sp>
      <p:sp>
        <p:nvSpPr>
          <p:cNvPr id="49" name="LINK_Rectangle 48">
            <a:hlinkClick r:id="rId4" action="ppaction://hlinksldjump"/>
          </p:cNvPr>
          <p:cNvSpPr/>
          <p:nvPr/>
        </p:nvSpPr>
        <p:spPr>
          <a:xfrm>
            <a:off x="9124057" y="190500"/>
            <a:ext cx="689471" cy="266700"/>
          </a:xfrm>
          <a:prstGeom prst="rect">
            <a:avLst/>
          </a:prstGeom>
          <a:solidFill>
            <a:srgbClr val="FFFFFF">
              <a:alpha val="0"/>
            </a:srgbClr>
          </a:solidFill>
          <a:ln>
            <a:noFill/>
          </a:ln>
          <a:effectLst/>
        </p:spPr>
        <p:txBody>
          <a:bodyPr rtlCol="0" anchor="ctr"/>
          <a:lstStyle/>
          <a:p>
            <a:pPr algn="ctr"/>
            <a:endParaRPr/>
          </a:p>
        </p:txBody>
      </p:sp>
      <p:sp>
        <p:nvSpPr>
          <p:cNvPr id="50" name="LINK_Rectangle 49">
            <a:hlinkClick r:id="rId5" action="ppaction://hlinksldjump"/>
          </p:cNvPr>
          <p:cNvSpPr/>
          <p:nvPr/>
        </p:nvSpPr>
        <p:spPr>
          <a:xfrm>
            <a:off x="9864328" y="190500"/>
            <a:ext cx="795734" cy="266700"/>
          </a:xfrm>
          <a:prstGeom prst="rect">
            <a:avLst/>
          </a:prstGeom>
          <a:solidFill>
            <a:srgbClr val="FFFFFF">
              <a:alpha val="0"/>
            </a:srgbClr>
          </a:solidFill>
          <a:ln>
            <a:noFill/>
          </a:ln>
          <a:effectLst/>
        </p:spPr>
        <p:txBody>
          <a:bodyPr rtlCol="0" anchor="ctr"/>
          <a:lstStyle/>
          <a:p>
            <a:pPr algn="ctr"/>
            <a:endParaRPr/>
          </a:p>
        </p:txBody>
      </p:sp>
      <p:sp>
        <p:nvSpPr>
          <p:cNvPr id="51" name="LINK_Rectangle 50">
            <a:hlinkClick r:id="rId6" action="ppaction://hlinksldjump"/>
          </p:cNvPr>
          <p:cNvSpPr/>
          <p:nvPr/>
        </p:nvSpPr>
        <p:spPr>
          <a:xfrm>
            <a:off x="10710862" y="190500"/>
            <a:ext cx="871538" cy="266700"/>
          </a:xfrm>
          <a:prstGeom prst="rect">
            <a:avLst/>
          </a:prstGeom>
          <a:solidFill>
            <a:srgbClr val="FFFFFF">
              <a:alpha val="0"/>
            </a:srgbClr>
          </a:solidFill>
          <a:ln>
            <a:noFill/>
          </a:ln>
          <a:effectLst/>
        </p:spPr>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avLst/>
          </a:prstGeom>
          <a:solidFill>
            <a:srgbClr val="FFFFFF"/>
          </a:solidFill>
          <a:ln>
            <a:noFill/>
          </a:ln>
          <a:effectLst/>
        </p:spPr>
        <p:txBody>
          <a:bodyPr rtlCol="0" anchor="ctr"/>
          <a:lstStyle/>
          <a:p>
            <a:pPr algn="ctr"/>
            <a:endParaRPr/>
          </a:p>
        </p:txBody>
      </p:sp>
      <p:sp>
        <p:nvSpPr>
          <p:cNvPr id="3" name="TextBox 2"/>
          <p:cNvSpPr txBox="1"/>
          <p:nvPr/>
        </p:nvSpPr>
        <p:spPr>
          <a:xfrm>
            <a:off x="609600" y="377825"/>
            <a:ext cx="2790428" cy="152400"/>
          </a:xfrm>
          <a:prstGeom prst="rect">
            <a:avLst/>
          </a:prstGeom>
          <a:noFill/>
        </p:spPr>
        <p:txBody>
          <a:bodyPr wrap="none" lIns="0" tIns="0" rIns="0" bIns="0" anchor="t">
            <a:noAutofit/>
          </a:bodyPr>
          <a:lstStyle/>
          <a:p>
            <a:pPr algn="l">
              <a:lnSpc>
                <a:spcPts val="1120"/>
              </a:lnSpc>
            </a:pPr>
            <a:r>
              <a:rPr sz="800" b="0">
                <a:solidFill>
                  <a:srgbClr val="1E2833"/>
                </a:solidFill>
                <a:latin typeface="Microsoft JhengHei"/>
                <a:ea typeface="Microsoft JhengHei"/>
                <a:cs typeface="Microsoft JhengHei"/>
              </a:rPr>
              <a:t>Pharmacology Synergy • Dual Organ Targeting</a:t>
            </a:r>
          </a:p>
        </p:txBody>
      </p:sp>
      <p:sp>
        <p:nvSpPr>
          <p:cNvPr id="4" name="Rounded Rectangle 3"/>
          <p:cNvSpPr/>
          <p:nvPr/>
        </p:nvSpPr>
        <p:spPr>
          <a:xfrm>
            <a:off x="7344664" y="330200"/>
            <a:ext cx="884936" cy="247650"/>
          </a:xfrm>
          <a:prstGeom prst="roundRect">
            <a:avLst>
              <a:gd name="adj" fmla="val 50000"/>
            </a:avLst>
          </a:prstGeom>
          <a:solidFill>
            <a:srgbClr val="FFFFFF"/>
          </a:solidFill>
          <a:ln w="6350">
            <a:solidFill>
              <a:srgbClr val="24476E"/>
            </a:solidFill>
          </a:ln>
          <a:effectLst/>
        </p:spPr>
        <p:txBody>
          <a:bodyPr rtlCol="0" anchor="ctr"/>
          <a:lstStyle/>
          <a:p>
            <a:endParaRPr/>
          </a:p>
        </p:txBody>
      </p:sp>
      <p:sp>
        <p:nvSpPr>
          <p:cNvPr id="5" name="TextBox 4"/>
          <p:cNvSpPr txBox="1"/>
          <p:nvPr/>
        </p:nvSpPr>
        <p:spPr>
          <a:xfrm>
            <a:off x="7465314" y="374650"/>
            <a:ext cx="237109" cy="158750"/>
          </a:xfrm>
          <a:prstGeom prst="rect">
            <a:avLst/>
          </a:prstGeom>
          <a:noFill/>
        </p:spPr>
        <p:txBody>
          <a:bodyPr wrap="none" lIns="0" tIns="0" rIns="0" bIns="0" anchor="t">
            <a:noAutofit/>
          </a:bodyPr>
          <a:lstStyle/>
          <a:p>
            <a:pPr algn="l">
              <a:lnSpc>
                <a:spcPts val="1190"/>
              </a:lnSpc>
            </a:pPr>
            <a:r>
              <a:rPr sz="850" b="1">
                <a:solidFill>
                  <a:srgbClr val="24476E"/>
                </a:solidFill>
                <a:latin typeface="Microsoft JhengHei"/>
                <a:ea typeface="Microsoft JhengHei"/>
                <a:cs typeface="Microsoft JhengHei"/>
              </a:rPr>
              <a:t>🌐</a:t>
            </a:r>
          </a:p>
        </p:txBody>
      </p:sp>
      <p:sp>
        <p:nvSpPr>
          <p:cNvPr id="6" name="TextBox 5"/>
          <p:cNvSpPr txBox="1"/>
          <p:nvPr/>
        </p:nvSpPr>
        <p:spPr>
          <a:xfrm>
            <a:off x="7651623" y="374650"/>
            <a:ext cx="571659" cy="158750"/>
          </a:xfrm>
          <a:prstGeom prst="rect">
            <a:avLst/>
          </a:prstGeom>
          <a:noFill/>
        </p:spPr>
        <p:txBody>
          <a:bodyPr wrap="none" lIns="0" tIns="0" rIns="0" bIns="0" anchor="t">
            <a:noAutofit/>
          </a:bodyPr>
          <a:lstStyle/>
          <a:p>
            <a:pPr algn="l">
              <a:lnSpc>
                <a:spcPts val="1190"/>
              </a:lnSpc>
            </a:pPr>
            <a:r>
              <a:rPr sz="850" b="1">
                <a:solidFill>
                  <a:srgbClr val="24476E"/>
                </a:solidFill>
                <a:latin typeface="Microsoft JhengHei"/>
                <a:ea typeface="Microsoft JhengHei"/>
                <a:cs typeface="Microsoft JhengHei"/>
              </a:rPr>
              <a:t>EN / 中文</a:t>
            </a:r>
          </a:p>
        </p:txBody>
      </p:sp>
      <p:sp>
        <p:nvSpPr>
          <p:cNvPr id="7" name="TextBox 6"/>
          <p:cNvSpPr txBox="1"/>
          <p:nvPr/>
        </p:nvSpPr>
        <p:spPr>
          <a:xfrm>
            <a:off x="609600" y="603250"/>
            <a:ext cx="7266067" cy="361950"/>
          </a:xfrm>
          <a:prstGeom prst="rect">
            <a:avLst/>
          </a:prstGeom>
          <a:noFill/>
        </p:spPr>
        <p:txBody>
          <a:bodyPr wrap="none" lIns="0" tIns="0" rIns="0" bIns="0" anchor="t">
            <a:noAutofit/>
          </a:bodyPr>
          <a:lstStyle/>
          <a:p>
            <a:pPr algn="l">
              <a:lnSpc>
                <a:spcPts val="2500"/>
              </a:lnSpc>
            </a:pPr>
            <a:r>
              <a:rPr sz="2000" b="1" spc="-20">
                <a:solidFill>
                  <a:srgbClr val="1E2833"/>
                </a:solidFill>
                <a:latin typeface="Microsoft JhengHei"/>
                <a:ea typeface="Microsoft JhengHei"/>
                <a:cs typeface="Microsoft JhengHei"/>
              </a:rPr>
              <a:t>The Solution: Combine Statin with Ezetimibe</a:t>
            </a:r>
          </a:p>
        </p:txBody>
      </p:sp>
      <p:sp>
        <p:nvSpPr>
          <p:cNvPr id="8" name="TextBox 7"/>
          <p:cNvSpPr txBox="1"/>
          <p:nvPr/>
        </p:nvSpPr>
        <p:spPr>
          <a:xfrm>
            <a:off x="609600" y="977900"/>
            <a:ext cx="6197362" cy="222250"/>
          </a:xfrm>
          <a:prstGeom prst="rect">
            <a:avLst/>
          </a:prstGeom>
          <a:noFill/>
        </p:spPr>
        <p:txBody>
          <a:bodyPr wrap="none" lIns="0" tIns="0" rIns="0" bIns="0" anchor="t">
            <a:noAutofit/>
          </a:bodyPr>
          <a:lstStyle/>
          <a:p>
            <a:pPr algn="l">
              <a:lnSpc>
                <a:spcPts val="1680"/>
              </a:lnSpc>
            </a:pPr>
            <a:r>
              <a:rPr sz="1200" b="0">
                <a:solidFill>
                  <a:srgbClr val="5F6B77"/>
                </a:solidFill>
                <a:latin typeface="Microsoft JhengHei"/>
                <a:ea typeface="Microsoft JhengHei"/>
                <a:cs typeface="Microsoft JhengHei"/>
              </a:rPr>
              <a:t>Simultaneous inhibition of hepatic synthesis and intestinal absorption</a:t>
            </a:r>
          </a:p>
        </p:txBody>
      </p:sp>
      <p:sp>
        <p:nvSpPr>
          <p:cNvPr id="9" name="Rounded Rectangle 8"/>
          <p:cNvSpPr/>
          <p:nvPr/>
        </p:nvSpPr>
        <p:spPr>
          <a:xfrm>
            <a:off x="609600" y="1324546"/>
            <a:ext cx="5115496" cy="4508500"/>
          </a:xfrm>
          <a:prstGeom prst="roundRect">
            <a:avLst>
              <a:gd name="adj" fmla="val 2535"/>
            </a:avLst>
          </a:prstGeom>
          <a:solidFill>
            <a:srgbClr val="F0F2F4"/>
          </a:solidFill>
          <a:ln>
            <a:noFill/>
          </a:ln>
          <a:effectLst/>
        </p:spPr>
        <p:txBody>
          <a:bodyPr rtlCol="0" anchor="ctr"/>
          <a:lstStyle/>
          <a:p>
            <a:endParaRPr/>
          </a:p>
        </p:txBody>
      </p:sp>
      <p:sp>
        <p:nvSpPr>
          <p:cNvPr id="10" name="TextBox 9"/>
          <p:cNvSpPr txBox="1"/>
          <p:nvPr/>
        </p:nvSpPr>
        <p:spPr>
          <a:xfrm>
            <a:off x="812800" y="1515046"/>
            <a:ext cx="3265170" cy="234950"/>
          </a:xfrm>
          <a:prstGeom prst="rect">
            <a:avLst/>
          </a:prstGeom>
          <a:noFill/>
        </p:spPr>
        <p:txBody>
          <a:bodyPr wrap="none" lIns="0" tIns="0" rIns="0" bIns="0" anchor="t">
            <a:noAutofit/>
          </a:bodyPr>
          <a:lstStyle/>
          <a:p>
            <a:pPr algn="l">
              <a:lnSpc>
                <a:spcPts val="1820"/>
              </a:lnSpc>
            </a:pPr>
            <a:r>
              <a:rPr sz="1300" b="1">
                <a:solidFill>
                  <a:srgbClr val="24476E"/>
                </a:solidFill>
                <a:latin typeface="Microsoft JhengHei"/>
                <a:ea typeface="Microsoft JhengHei"/>
                <a:cs typeface="Microsoft JhengHei"/>
              </a:rPr>
              <a:t>Dual Organ Cellular Mechanism</a:t>
            </a:r>
          </a:p>
        </p:txBody>
      </p:sp>
      <p:sp>
        <p:nvSpPr>
          <p:cNvPr id="11" name="TextBox 10"/>
          <p:cNvSpPr txBox="1"/>
          <p:nvPr/>
        </p:nvSpPr>
        <p:spPr>
          <a:xfrm>
            <a:off x="4243578" y="1553146"/>
            <a:ext cx="1597898" cy="158750"/>
          </a:xfrm>
          <a:prstGeom prst="rect">
            <a:avLst/>
          </a:prstGeom>
          <a:noFill/>
        </p:spPr>
        <p:txBody>
          <a:bodyPr wrap="none" lIns="0" tIns="0" rIns="0" bIns="0" anchor="t">
            <a:noAutofit/>
          </a:bodyPr>
          <a:lstStyle/>
          <a:p>
            <a:pPr algn="l">
              <a:lnSpc>
                <a:spcPts val="1190"/>
              </a:lnSpc>
            </a:pPr>
            <a:r>
              <a:rPr sz="850" b="0">
                <a:solidFill>
                  <a:srgbClr val="5F6B77"/>
                </a:solidFill>
                <a:latin typeface="Microsoft JhengHei"/>
                <a:ea typeface="Microsoft JhengHei"/>
                <a:cs typeface="Microsoft JhengHei"/>
              </a:rPr>
              <a:t>Click image to enlarge 🔍</a:t>
            </a:r>
          </a:p>
        </p:txBody>
      </p:sp>
      <p:sp>
        <p:nvSpPr>
          <p:cNvPr id="12" name="Rounded Rectangle 11"/>
          <p:cNvSpPr/>
          <p:nvPr/>
        </p:nvSpPr>
        <p:spPr>
          <a:xfrm>
            <a:off x="812800" y="2113978"/>
            <a:ext cx="4709096" cy="2286000"/>
          </a:xfrm>
          <a:prstGeom prst="roundRect">
            <a:avLst>
              <a:gd name="adj" fmla="val 3888"/>
            </a:avLst>
          </a:prstGeom>
          <a:solidFill>
            <a:srgbClr val="FFFFFF"/>
          </a:solidFill>
          <a:ln w="6350">
            <a:solidFill>
              <a:srgbClr val="E3E6E9"/>
            </a:solidFill>
          </a:ln>
          <a:effectLst/>
        </p:spPr>
        <p:txBody>
          <a:bodyPr rtlCol="0" anchor="ctr"/>
          <a:lstStyle/>
          <a:p>
            <a:endParaRPr/>
          </a:p>
        </p:txBody>
      </p:sp>
      <p:pic>
        <p:nvPicPr>
          <p:cNvPr id="13" name="Picture 12" descr="statin_ezetimibe_dual_mechanism.png"/>
          <p:cNvPicPr>
            <a:picLocks noChangeAspect="1"/>
          </p:cNvPicPr>
          <p:nvPr/>
        </p:nvPicPr>
        <p:blipFill>
          <a:blip r:embed="rId3"/>
          <a:srcRect t="7141" b="7141"/>
          <a:stretch>
            <a:fillRect/>
          </a:stretch>
        </p:blipFill>
        <p:spPr>
          <a:xfrm>
            <a:off x="819150" y="2120328"/>
            <a:ext cx="4696396" cy="2273300"/>
          </a:xfrm>
          <a:prstGeom prst="rect">
            <a:avLst/>
          </a:prstGeom>
        </p:spPr>
      </p:pic>
      <p:sp>
        <p:nvSpPr>
          <p:cNvPr id="14" name="TextBox 13"/>
          <p:cNvSpPr txBox="1"/>
          <p:nvPr/>
        </p:nvSpPr>
        <p:spPr>
          <a:xfrm>
            <a:off x="812800" y="4782947"/>
            <a:ext cx="4709096" cy="852678"/>
          </a:xfrm>
          <a:prstGeom prst="rect">
            <a:avLst/>
          </a:prstGeom>
          <a:noFill/>
        </p:spPr>
        <p:txBody>
          <a:bodyPr wrap="square" lIns="0" tIns="0" rIns="0" bIns="0" anchor="t">
            <a:noAutofit/>
          </a:bodyPr>
          <a:lstStyle/>
          <a:p>
            <a:pPr algn="l">
              <a:lnSpc>
                <a:spcPts val="1710"/>
              </a:lnSpc>
            </a:pPr>
            <a:r>
              <a:rPr sz="1100" b="1">
                <a:solidFill>
                  <a:srgbClr val="5F6B77"/>
                </a:solidFill>
                <a:latin typeface="Microsoft JhengHei"/>
                <a:ea typeface="Microsoft JhengHei"/>
                <a:cs typeface="Microsoft JhengHei"/>
              </a:rPr>
              <a:t>Complementary Action:</a:t>
            </a:r>
            <a:r>
              <a:rPr sz="1100" b="0">
                <a:solidFill>
                  <a:srgbClr val="5F6B77"/>
                </a:solidFill>
                <a:latin typeface="Microsoft JhengHei"/>
                <a:ea typeface="Microsoft JhengHei"/>
                <a:cs typeface="Microsoft JhengHei"/>
              </a:rPr>
              <a:t> 1. </a:t>
            </a:r>
            <a:r>
              <a:rPr sz="1100" b="1">
                <a:solidFill>
                  <a:srgbClr val="5F6B77"/>
                </a:solidFill>
                <a:latin typeface="Microsoft JhengHei"/>
                <a:ea typeface="Microsoft JhengHei"/>
                <a:cs typeface="Microsoft JhengHei"/>
              </a:rPr>
              <a:t>Statin:</a:t>
            </a:r>
            <a:r>
              <a:rPr sz="1100" b="0">
                <a:solidFill>
                  <a:srgbClr val="5F6B77"/>
                </a:solidFill>
                <a:latin typeface="Microsoft JhengHei"/>
                <a:ea typeface="Microsoft JhengHei"/>
                <a:cs typeface="Microsoft JhengHei"/>
              </a:rPr>
              <a:t> Inhibits HMG-CoA Reductase in hepatocytes → drops intracellular cholesterol → upregulates surface LDL Receptors. 2. </a:t>
            </a:r>
            <a:r>
              <a:rPr sz="1100" b="1">
                <a:solidFill>
                  <a:srgbClr val="5F6B77"/>
                </a:solidFill>
                <a:latin typeface="Microsoft JhengHei"/>
                <a:ea typeface="Microsoft JhengHei"/>
                <a:cs typeface="Microsoft JhengHei"/>
              </a:rPr>
              <a:t>Ezetimibe:</a:t>
            </a:r>
            <a:r>
              <a:rPr sz="1100" b="0">
                <a:solidFill>
                  <a:srgbClr val="5F6B77"/>
                </a:solidFill>
                <a:latin typeface="Microsoft JhengHei"/>
                <a:ea typeface="Microsoft JhengHei"/>
                <a:cs typeface="Microsoft JhengHei"/>
              </a:rPr>
              <a:t> Selectively blocks NPC1L1 transporters in jejunal enterocytes, eliminating dietary and biliary reabsorption.</a:t>
            </a:r>
          </a:p>
        </p:txBody>
      </p:sp>
      <p:sp>
        <p:nvSpPr>
          <p:cNvPr id="15" name="Rounded Rectangle 14"/>
          <p:cNvSpPr/>
          <p:nvPr/>
        </p:nvSpPr>
        <p:spPr>
          <a:xfrm>
            <a:off x="5928296" y="1324546"/>
            <a:ext cx="5653976" cy="4508500"/>
          </a:xfrm>
          <a:prstGeom prst="roundRect">
            <a:avLst>
              <a:gd name="adj" fmla="val 2535"/>
            </a:avLst>
          </a:prstGeom>
          <a:solidFill>
            <a:srgbClr val="F0F2F4"/>
          </a:solidFill>
          <a:ln>
            <a:noFill/>
          </a:ln>
          <a:effectLst/>
        </p:spPr>
        <p:txBody>
          <a:bodyPr rtlCol="0" anchor="ctr"/>
          <a:lstStyle/>
          <a:p>
            <a:endParaRPr/>
          </a:p>
        </p:txBody>
      </p:sp>
      <p:sp>
        <p:nvSpPr>
          <p:cNvPr id="16" name="Rectangle 15"/>
          <p:cNvSpPr/>
          <p:nvPr/>
        </p:nvSpPr>
        <p:spPr>
          <a:xfrm>
            <a:off x="5928296" y="1324546"/>
            <a:ext cx="50800" cy="4508500"/>
          </a:xfrm>
          <a:prstGeom prst="rect">
            <a:avLst/>
          </a:prstGeom>
          <a:solidFill>
            <a:srgbClr val="3F7A55"/>
          </a:solidFill>
          <a:ln>
            <a:noFill/>
          </a:ln>
          <a:effectLst/>
        </p:spPr>
        <p:txBody>
          <a:bodyPr rtlCol="0" anchor="ctr"/>
          <a:lstStyle/>
          <a:p>
            <a:endParaRPr/>
          </a:p>
        </p:txBody>
      </p:sp>
      <p:sp>
        <p:nvSpPr>
          <p:cNvPr id="17" name="TextBox 16"/>
          <p:cNvSpPr txBox="1"/>
          <p:nvPr/>
        </p:nvSpPr>
        <p:spPr>
          <a:xfrm>
            <a:off x="6220396" y="1540446"/>
            <a:ext cx="1573133" cy="203200"/>
          </a:xfrm>
          <a:prstGeom prst="rect">
            <a:avLst/>
          </a:prstGeom>
          <a:noFill/>
        </p:spPr>
        <p:txBody>
          <a:bodyPr wrap="none" lIns="0" tIns="0" rIns="0" bIns="0" anchor="t">
            <a:noAutofit/>
          </a:bodyPr>
          <a:lstStyle/>
          <a:p>
            <a:pPr algn="l">
              <a:lnSpc>
                <a:spcPts val="1120"/>
              </a:lnSpc>
            </a:pPr>
            <a:r>
              <a:rPr sz="1100" b="1">
                <a:solidFill>
                  <a:srgbClr val="3F7A55"/>
                </a:solidFill>
                <a:latin typeface="Microsoft JhengHei"/>
                <a:ea typeface="Microsoft JhengHei"/>
                <a:cs typeface="Microsoft JhengHei"/>
              </a:rPr>
              <a:t>Clinical Trial Proof</a:t>
            </a:r>
          </a:p>
        </p:txBody>
      </p:sp>
      <p:sp>
        <p:nvSpPr>
          <p:cNvPr id="18" name="Rectangle 17"/>
          <p:cNvSpPr/>
          <p:nvPr/>
        </p:nvSpPr>
        <p:spPr>
          <a:xfrm>
            <a:off x="6220396" y="1540446"/>
            <a:ext cx="1258506" cy="203200"/>
          </a:xfrm>
          <a:prstGeom prst="rect">
            <a:avLst/>
          </a:prstGeom>
          <a:solidFill>
            <a:srgbClr val="2A6E57">
              <a:alpha val="12000"/>
            </a:srgbClr>
          </a:solidFill>
          <a:ln>
            <a:noFill/>
          </a:ln>
          <a:effectLst/>
        </p:spPr>
        <p:txBody>
          <a:bodyPr rtlCol="0" anchor="ctr"/>
          <a:lstStyle/>
          <a:p>
            <a:endParaRPr/>
          </a:p>
        </p:txBody>
      </p:sp>
      <p:sp>
        <p:nvSpPr>
          <p:cNvPr id="19" name="TextBox 18"/>
          <p:cNvSpPr txBox="1"/>
          <p:nvPr/>
        </p:nvSpPr>
        <p:spPr>
          <a:xfrm>
            <a:off x="6220396" y="1838896"/>
            <a:ext cx="3857625" cy="330200"/>
          </a:xfrm>
          <a:prstGeom prst="rect">
            <a:avLst/>
          </a:prstGeom>
          <a:noFill/>
        </p:spPr>
        <p:txBody>
          <a:bodyPr wrap="none" lIns="0" tIns="0" rIns="0" bIns="0" anchor="t">
            <a:noAutofit/>
          </a:bodyPr>
          <a:lstStyle/>
          <a:p>
            <a:pPr algn="l">
              <a:lnSpc>
                <a:spcPts val="2340"/>
              </a:lnSpc>
            </a:pPr>
            <a:r>
              <a:rPr sz="1800" b="1">
                <a:solidFill>
                  <a:srgbClr val="3F7A55"/>
                </a:solidFill>
                <a:latin typeface="Microsoft JhengHei"/>
                <a:ea typeface="Microsoft JhengHei"/>
                <a:cs typeface="Microsoft JhengHei"/>
              </a:rPr>
              <a:t>Synergistic 65% Reduction</a:t>
            </a:r>
          </a:p>
        </p:txBody>
      </p:sp>
      <p:sp>
        <p:nvSpPr>
          <p:cNvPr id="20" name="TextBox 19"/>
          <p:cNvSpPr txBox="1"/>
          <p:nvPr/>
        </p:nvSpPr>
        <p:spPr>
          <a:xfrm>
            <a:off x="6334696" y="2383726"/>
            <a:ext cx="2012394" cy="584200"/>
          </a:xfrm>
          <a:prstGeom prst="rect">
            <a:avLst/>
          </a:prstGeom>
          <a:noFill/>
        </p:spPr>
        <p:txBody>
          <a:bodyPr wrap="none" lIns="0" tIns="0" rIns="0" bIns="0" anchor="t">
            <a:noAutofit/>
          </a:bodyPr>
          <a:lstStyle/>
          <a:p>
            <a:pPr algn="l">
              <a:lnSpc>
                <a:spcPts val="1120"/>
              </a:lnSpc>
            </a:pPr>
            <a:r>
              <a:rPr sz="3200" b="0">
                <a:solidFill>
                  <a:srgbClr val="3F7A55"/>
                </a:solidFill>
                <a:latin typeface="Microsoft JhengHei"/>
                <a:ea typeface="Microsoft JhengHei"/>
                <a:cs typeface="Microsoft JhengHei"/>
              </a:rPr>
              <a:t>-65%</a:t>
            </a:r>
          </a:p>
          <a:p>
            <a:pPr algn="l">
              <a:lnSpc>
                <a:spcPts val="1120"/>
              </a:lnSpc>
            </a:pPr>
            <a:r>
              <a:rPr sz="800" b="0">
                <a:solidFill>
                  <a:srgbClr val="1E2833"/>
                </a:solidFill>
                <a:latin typeface="Microsoft JhengHei"/>
                <a:ea typeface="Microsoft JhengHei"/>
                <a:cs typeface="Microsoft JhengHei"/>
              </a:rPr>
              <a:t> </a:t>
            </a:r>
            <a:r>
              <a:rPr sz="1050" b="0">
                <a:solidFill>
                  <a:srgbClr val="1E2833"/>
                </a:solidFill>
                <a:latin typeface="Microsoft JhengHei"/>
                <a:ea typeface="Microsoft JhengHei"/>
                <a:cs typeface="Microsoft JhengHei"/>
              </a:rPr>
              <a:t>Dual Drop</a:t>
            </a:r>
          </a:p>
        </p:txBody>
      </p:sp>
      <p:sp>
        <p:nvSpPr>
          <p:cNvPr id="21" name="TextBox 20"/>
          <p:cNvSpPr txBox="1"/>
          <p:nvPr/>
        </p:nvSpPr>
        <p:spPr>
          <a:xfrm>
            <a:off x="8952103" y="2383726"/>
            <a:ext cx="2612469" cy="584200"/>
          </a:xfrm>
          <a:prstGeom prst="rect">
            <a:avLst/>
          </a:prstGeom>
          <a:noFill/>
        </p:spPr>
        <p:txBody>
          <a:bodyPr wrap="none" lIns="0" tIns="0" rIns="0" bIns="0" anchor="t">
            <a:noAutofit/>
          </a:bodyPr>
          <a:lstStyle/>
          <a:p>
            <a:pPr algn="l">
              <a:lnSpc>
                <a:spcPts val="1120"/>
              </a:lnSpc>
            </a:pPr>
            <a:r>
              <a:rPr sz="3200" b="0">
                <a:solidFill>
                  <a:srgbClr val="24476E"/>
                </a:solidFill>
                <a:latin typeface="Microsoft JhengHei"/>
                <a:ea typeface="Microsoft JhengHei"/>
                <a:cs typeface="Microsoft JhengHei"/>
              </a:rPr>
              <a:t>~60</a:t>
            </a:r>
          </a:p>
          <a:p>
            <a:pPr algn="l">
              <a:lnSpc>
                <a:spcPts val="1120"/>
              </a:lnSpc>
            </a:pPr>
            <a:r>
              <a:rPr sz="800" b="0">
                <a:solidFill>
                  <a:srgbClr val="1E2833"/>
                </a:solidFill>
                <a:latin typeface="Microsoft JhengHei"/>
                <a:ea typeface="Microsoft JhengHei"/>
                <a:cs typeface="Microsoft JhengHei"/>
              </a:rPr>
              <a:t> </a:t>
            </a:r>
            <a:r>
              <a:rPr sz="1050" b="0">
                <a:solidFill>
                  <a:srgbClr val="1E2833"/>
                </a:solidFill>
                <a:latin typeface="Microsoft JhengHei"/>
                <a:ea typeface="Microsoft JhengHei"/>
                <a:cs typeface="Microsoft JhengHei"/>
              </a:rPr>
              <a:t>Projected LDL (mg/dL)</a:t>
            </a:r>
          </a:p>
        </p:txBody>
      </p:sp>
      <p:sp>
        <p:nvSpPr>
          <p:cNvPr id="22" name="TextBox 21"/>
          <p:cNvSpPr txBox="1"/>
          <p:nvPr/>
        </p:nvSpPr>
        <p:spPr>
          <a:xfrm>
            <a:off x="6372796" y="3202876"/>
            <a:ext cx="4968176" cy="466026"/>
          </a:xfrm>
          <a:prstGeom prst="rect">
            <a:avLst/>
          </a:prstGeom>
          <a:noFill/>
        </p:spPr>
        <p:txBody>
          <a:bodyPr wrap="square" lIns="0" tIns="0" rIns="0" bIns="0" anchor="t">
            <a:noAutofit/>
          </a:bodyPr>
          <a:lstStyle/>
          <a:p>
            <a:pPr algn="l">
              <a:lnSpc>
                <a:spcPts val="192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IMPROVE-IT Trial:</a:t>
            </a:r>
            <a:r>
              <a:rPr sz="1200" b="0">
                <a:solidFill>
                  <a:srgbClr val="1E2833"/>
                </a:solidFill>
                <a:latin typeface="Microsoft JhengHei"/>
                <a:ea typeface="Microsoft JhengHei"/>
                <a:cs typeface="Microsoft JhengHei"/>
              </a:rPr>
              <a:t> Adding Ezetimibe to statin significantly reduced major cardiovascular events in post-ACS patients.</a:t>
            </a:r>
          </a:p>
        </p:txBody>
      </p:sp>
      <p:sp>
        <p:nvSpPr>
          <p:cNvPr id="23" name="TextBox 22"/>
          <p:cNvSpPr txBox="1"/>
          <p:nvPr/>
        </p:nvSpPr>
        <p:spPr>
          <a:xfrm>
            <a:off x="6372796" y="3690429"/>
            <a:ext cx="4968176" cy="466026"/>
          </a:xfrm>
          <a:prstGeom prst="rect">
            <a:avLst/>
          </a:prstGeom>
          <a:noFill/>
        </p:spPr>
        <p:txBody>
          <a:bodyPr wrap="square" lIns="0" tIns="0" rIns="0" bIns="0" anchor="t">
            <a:noAutofit/>
          </a:bodyPr>
          <a:lstStyle/>
          <a:p>
            <a:pPr algn="l">
              <a:lnSpc>
                <a:spcPts val="192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Ez-PAVE Trial:</a:t>
            </a:r>
            <a:r>
              <a:rPr sz="1200" b="0">
                <a:solidFill>
                  <a:srgbClr val="1E2833"/>
                </a:solidFill>
                <a:latin typeface="Microsoft JhengHei"/>
                <a:ea typeface="Microsoft JhengHei"/>
                <a:cs typeface="Microsoft JhengHei"/>
              </a:rPr>
              <a:t> Starting combination therapy upfront before hospital discharge doubled the 12-week goal attainment rate.</a:t>
            </a:r>
          </a:p>
        </p:txBody>
      </p:sp>
      <p:sp>
        <p:nvSpPr>
          <p:cNvPr id="24" name="Rounded Rectangle 23"/>
          <p:cNvSpPr/>
          <p:nvPr/>
        </p:nvSpPr>
        <p:spPr>
          <a:xfrm>
            <a:off x="6220396" y="4982146"/>
            <a:ext cx="5120576" cy="635000"/>
          </a:xfrm>
          <a:prstGeom prst="roundRect">
            <a:avLst>
              <a:gd name="adj" fmla="val 12000"/>
            </a:avLst>
          </a:prstGeom>
          <a:solidFill>
            <a:srgbClr val="EAF4EE"/>
          </a:solidFill>
          <a:ln>
            <a:noFill/>
          </a:ln>
          <a:effectLst/>
        </p:spPr>
        <p:txBody>
          <a:bodyPr rtlCol="0" anchor="ctr"/>
          <a:lstStyle/>
          <a:p>
            <a:endParaRPr/>
          </a:p>
        </p:txBody>
      </p:sp>
      <p:sp>
        <p:nvSpPr>
          <p:cNvPr id="25" name="TextBox 24"/>
          <p:cNvSpPr txBox="1"/>
          <p:nvPr/>
        </p:nvSpPr>
        <p:spPr>
          <a:xfrm>
            <a:off x="6360096" y="5096446"/>
            <a:ext cx="4841176" cy="406400"/>
          </a:xfrm>
          <a:prstGeom prst="rect">
            <a:avLst/>
          </a:prstGeom>
          <a:noFill/>
        </p:spPr>
        <p:txBody>
          <a:bodyPr wrap="square" lIns="0" tIns="0" rIns="0" bIns="0" anchor="t">
            <a:noAutofit/>
          </a:bodyPr>
          <a:lstStyle/>
          <a:p>
            <a:pPr algn="l">
              <a:lnSpc>
                <a:spcPts val="1540"/>
              </a:lnSpc>
            </a:pPr>
            <a:r>
              <a:rPr sz="1100" b="1">
                <a:solidFill>
                  <a:srgbClr val="3F7A55"/>
                </a:solidFill>
                <a:latin typeface="Microsoft JhengHei"/>
                <a:ea typeface="Microsoft JhengHei"/>
                <a:cs typeface="Microsoft JhengHei"/>
              </a:rPr>
              <a:t>🚀 Upfront initiation before discharge ensures seamless compliance and closes the gap!</a:t>
            </a:r>
          </a:p>
        </p:txBody>
      </p:sp>
      <p:sp>
        <p:nvSpPr>
          <p:cNvPr id="26" name="Rectangle 25"/>
          <p:cNvSpPr/>
          <p:nvPr/>
        </p:nvSpPr>
        <p:spPr>
          <a:xfrm>
            <a:off x="609600" y="6066854"/>
            <a:ext cx="10972800" cy="6350"/>
          </a:xfrm>
          <a:prstGeom prst="rect">
            <a:avLst/>
          </a:prstGeom>
          <a:solidFill>
            <a:srgbClr val="F0F2F4"/>
          </a:solidFill>
          <a:ln>
            <a:noFill/>
          </a:ln>
          <a:effectLst/>
        </p:spPr>
        <p:txBody>
          <a:bodyPr rtlCol="0" anchor="ctr"/>
          <a:lstStyle/>
          <a:p>
            <a:endParaRPr/>
          </a:p>
        </p:txBody>
      </p:sp>
      <p:sp>
        <p:nvSpPr>
          <p:cNvPr id="27" name="TextBox 26"/>
          <p:cNvSpPr txBox="1"/>
          <p:nvPr/>
        </p:nvSpPr>
        <p:spPr>
          <a:xfrm>
            <a:off x="609600" y="6130354"/>
            <a:ext cx="8248412" cy="171450"/>
          </a:xfrm>
          <a:prstGeom prst="rect">
            <a:avLst/>
          </a:prstGeom>
          <a:noFill/>
        </p:spPr>
        <p:txBody>
          <a:bodyPr wrap="none" lIns="0" tIns="0" rIns="0" bIns="0" anchor="t">
            <a:noAutofit/>
          </a:bodyPr>
          <a:lstStyle/>
          <a:p>
            <a:pPr algn="l">
              <a:lnSpc>
                <a:spcPts val="1330"/>
              </a:lnSpc>
            </a:pPr>
            <a:r>
              <a:rPr sz="950" b="0">
                <a:solidFill>
                  <a:srgbClr val="5F6B77"/>
                </a:solidFill>
                <a:latin typeface="Microsoft JhengHei"/>
                <a:ea typeface="Microsoft JhengHei"/>
                <a:cs typeface="Microsoft JhengHei"/>
              </a:rPr>
              <a:t>1. Cannon CP, et al. (IMPROVE-IT). N Engl J Med. 2015;372(25):2387-2397. | 2. Ez-PAVE Investigators. J Clin Lipidol. 2024.</a:t>
            </a:r>
          </a:p>
        </p:txBody>
      </p:sp>
      <p:sp>
        <p:nvSpPr>
          <p:cNvPr id="28" name="Rounded Rectangle 27"/>
          <p:cNvSpPr/>
          <p:nvPr/>
        </p:nvSpPr>
        <p:spPr>
          <a:xfrm>
            <a:off x="8473948" y="190500"/>
            <a:ext cx="599313"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29" name="TextBox 28"/>
          <p:cNvSpPr txBox="1"/>
          <p:nvPr/>
        </p:nvSpPr>
        <p:spPr>
          <a:xfrm>
            <a:off x="8575548" y="241300"/>
            <a:ext cx="495141"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1. Case</a:t>
            </a:r>
          </a:p>
        </p:txBody>
      </p:sp>
      <p:sp>
        <p:nvSpPr>
          <p:cNvPr id="30" name="Rounded Rectangle 29"/>
          <p:cNvSpPr/>
          <p:nvPr/>
        </p:nvSpPr>
        <p:spPr>
          <a:xfrm>
            <a:off x="9124061" y="190500"/>
            <a:ext cx="689483"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31" name="TextBox 30"/>
          <p:cNvSpPr txBox="1"/>
          <p:nvPr/>
        </p:nvSpPr>
        <p:spPr>
          <a:xfrm>
            <a:off x="9225661" y="241300"/>
            <a:ext cx="607854"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2. Target</a:t>
            </a:r>
          </a:p>
        </p:txBody>
      </p:sp>
      <p:sp>
        <p:nvSpPr>
          <p:cNvPr id="32" name="Rounded Rectangle 31"/>
          <p:cNvSpPr/>
          <p:nvPr/>
        </p:nvSpPr>
        <p:spPr>
          <a:xfrm>
            <a:off x="9864344" y="190500"/>
            <a:ext cx="795718" cy="266700"/>
          </a:xfrm>
          <a:prstGeom prst="roundRect">
            <a:avLst>
              <a:gd name="adj" fmla="val 50000"/>
            </a:avLst>
          </a:prstGeom>
          <a:solidFill>
            <a:srgbClr val="24476E"/>
          </a:solidFill>
          <a:ln w="12700">
            <a:solidFill>
              <a:srgbClr val="24476E"/>
            </a:solidFill>
          </a:ln>
          <a:effectLst/>
        </p:spPr>
        <p:txBody>
          <a:bodyPr rtlCol="0" anchor="ctr"/>
          <a:lstStyle/>
          <a:p>
            <a:endParaRPr/>
          </a:p>
        </p:txBody>
      </p:sp>
      <p:sp>
        <p:nvSpPr>
          <p:cNvPr id="33" name="TextBox 32"/>
          <p:cNvSpPr txBox="1"/>
          <p:nvPr/>
        </p:nvSpPr>
        <p:spPr>
          <a:xfrm>
            <a:off x="9965944" y="241300"/>
            <a:ext cx="740648" cy="165100"/>
          </a:xfrm>
          <a:prstGeom prst="rect">
            <a:avLst/>
          </a:prstGeom>
          <a:noFill/>
        </p:spPr>
        <p:txBody>
          <a:bodyPr wrap="none" lIns="0" tIns="0" rIns="0" bIns="0" anchor="t">
            <a:noAutofit/>
          </a:bodyPr>
          <a:lstStyle/>
          <a:p>
            <a:pPr algn="l">
              <a:lnSpc>
                <a:spcPts val="1260"/>
              </a:lnSpc>
            </a:pPr>
            <a:r>
              <a:rPr sz="900" b="1">
                <a:solidFill>
                  <a:srgbClr val="FFFFFF"/>
                </a:solidFill>
                <a:latin typeface="Microsoft JhengHei"/>
                <a:ea typeface="Microsoft JhengHei"/>
                <a:cs typeface="Microsoft JhengHei"/>
              </a:rPr>
              <a:t>3. Therapy</a:t>
            </a:r>
          </a:p>
        </p:txBody>
      </p:sp>
      <p:sp>
        <p:nvSpPr>
          <p:cNvPr id="34" name="Rounded Rectangle 33"/>
          <p:cNvSpPr/>
          <p:nvPr/>
        </p:nvSpPr>
        <p:spPr>
          <a:xfrm>
            <a:off x="10710862" y="190500"/>
            <a:ext cx="871538"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35" name="TextBox 34"/>
          <p:cNvSpPr txBox="1"/>
          <p:nvPr/>
        </p:nvSpPr>
        <p:spPr>
          <a:xfrm>
            <a:off x="10812462" y="241300"/>
            <a:ext cx="835422"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4. Roadmap</a:t>
            </a:r>
          </a:p>
        </p:txBody>
      </p:sp>
      <p:sp>
        <p:nvSpPr>
          <p:cNvPr id="36" name="Rectangle 35"/>
          <p:cNvSpPr/>
          <p:nvPr/>
        </p:nvSpPr>
        <p:spPr>
          <a:xfrm>
            <a:off x="0" y="6527800"/>
            <a:ext cx="12192000" cy="330200"/>
          </a:xfrm>
          <a:prstGeom prst="rect">
            <a:avLst/>
          </a:prstGeom>
          <a:solidFill>
            <a:srgbClr val="FFFFFF"/>
          </a:solidFill>
          <a:ln>
            <a:noFill/>
          </a:ln>
          <a:effectLst/>
        </p:spPr>
        <p:txBody>
          <a:bodyPr rtlCol="0" anchor="ctr"/>
          <a:lstStyle/>
          <a:p>
            <a:endParaRPr/>
          </a:p>
        </p:txBody>
      </p:sp>
      <p:sp>
        <p:nvSpPr>
          <p:cNvPr id="37" name="Rectangle 36"/>
          <p:cNvSpPr/>
          <p:nvPr/>
        </p:nvSpPr>
        <p:spPr>
          <a:xfrm>
            <a:off x="0" y="6527800"/>
            <a:ext cx="12192000" cy="12700"/>
          </a:xfrm>
          <a:prstGeom prst="rect">
            <a:avLst/>
          </a:prstGeom>
          <a:solidFill>
            <a:srgbClr val="F0F2F4"/>
          </a:solidFill>
          <a:ln>
            <a:noFill/>
          </a:ln>
          <a:effectLst/>
        </p:spPr>
        <p:txBody>
          <a:bodyPr rtlCol="0" anchor="ctr"/>
          <a:lstStyle/>
          <a:p>
            <a:endParaRPr/>
          </a:p>
        </p:txBody>
      </p:sp>
      <p:sp>
        <p:nvSpPr>
          <p:cNvPr id="38" name="TextBox 37"/>
          <p:cNvSpPr txBox="1"/>
          <p:nvPr/>
        </p:nvSpPr>
        <p:spPr>
          <a:xfrm>
            <a:off x="609600" y="6613525"/>
            <a:ext cx="808038" cy="171450"/>
          </a:xfrm>
          <a:prstGeom prst="rect">
            <a:avLst/>
          </a:prstGeom>
          <a:noFill/>
        </p:spPr>
        <p:txBody>
          <a:bodyPr wrap="none" lIns="0" tIns="0" rIns="0" bIns="0" anchor="t">
            <a:noAutofit/>
          </a:bodyPr>
          <a:lstStyle/>
          <a:p>
            <a:pPr algn="l">
              <a:lnSpc>
                <a:spcPts val="1330"/>
              </a:lnSpc>
            </a:pPr>
            <a:r>
              <a:rPr sz="950" b="1">
                <a:solidFill>
                  <a:srgbClr val="24476E"/>
                </a:solidFill>
                <a:latin typeface="Microsoft JhengHei"/>
                <a:ea typeface="Microsoft JhengHei"/>
                <a:cs typeface="Microsoft JhengHei"/>
              </a:rPr>
              <a:t>3. Therapy</a:t>
            </a:r>
          </a:p>
        </p:txBody>
      </p:sp>
      <p:sp>
        <p:nvSpPr>
          <p:cNvPr id="39" name="Rounded Rectangle 38"/>
          <p:cNvSpPr/>
          <p:nvPr/>
        </p:nvSpPr>
        <p:spPr>
          <a:xfrm>
            <a:off x="1395730" y="6680200"/>
            <a:ext cx="9651302" cy="38100"/>
          </a:xfrm>
          <a:prstGeom prst="roundRect">
            <a:avLst>
              <a:gd name="adj" fmla="val 50000"/>
            </a:avLst>
          </a:prstGeom>
          <a:solidFill>
            <a:srgbClr val="F0F2F4"/>
          </a:solidFill>
          <a:ln>
            <a:noFill/>
          </a:ln>
          <a:effectLst/>
        </p:spPr>
        <p:txBody>
          <a:bodyPr rtlCol="0" anchor="ctr"/>
          <a:lstStyle/>
          <a:p>
            <a:endParaRPr/>
          </a:p>
        </p:txBody>
      </p:sp>
      <p:sp>
        <p:nvSpPr>
          <p:cNvPr id="40" name="Rectangle 39"/>
          <p:cNvSpPr/>
          <p:nvPr/>
        </p:nvSpPr>
        <p:spPr>
          <a:xfrm>
            <a:off x="1395730" y="6680200"/>
            <a:ext cx="6434138" cy="38100"/>
          </a:xfrm>
          <a:prstGeom prst="rect">
            <a:avLst/>
          </a:prstGeom>
          <a:solidFill>
            <a:srgbClr val="F3C84B"/>
          </a:solidFill>
          <a:ln>
            <a:noFill/>
          </a:ln>
          <a:effectLst/>
        </p:spPr>
        <p:txBody>
          <a:bodyPr rtlCol="0" anchor="ctr"/>
          <a:lstStyle/>
          <a:p>
            <a:endParaRPr/>
          </a:p>
        </p:txBody>
      </p:sp>
      <p:sp>
        <p:nvSpPr>
          <p:cNvPr id="41" name="TextBox 40"/>
          <p:cNvSpPr txBox="1"/>
          <p:nvPr/>
        </p:nvSpPr>
        <p:spPr>
          <a:xfrm>
            <a:off x="11186732" y="6613525"/>
            <a:ext cx="494586" cy="171450"/>
          </a:xfrm>
          <a:prstGeom prst="rect">
            <a:avLst/>
          </a:prstGeom>
          <a:noFill/>
        </p:spPr>
        <p:txBody>
          <a:bodyPr wrap="none" lIns="0" tIns="0" rIns="0" bIns="0" anchor="t">
            <a:noAutofit/>
          </a:bodyPr>
          <a:lstStyle/>
          <a:p>
            <a:pPr algn="l">
              <a:lnSpc>
                <a:spcPts val="1330"/>
              </a:lnSpc>
            </a:pPr>
            <a:r>
              <a:rPr sz="950" b="1">
                <a:solidFill>
                  <a:srgbClr val="3B4754"/>
                </a:solidFill>
                <a:latin typeface="Microsoft JhengHei"/>
                <a:ea typeface="Microsoft JhengHei"/>
                <a:cs typeface="Microsoft JhengHei"/>
              </a:rPr>
              <a:t>08 / 12</a:t>
            </a:r>
          </a:p>
        </p:txBody>
      </p:sp>
      <p:sp>
        <p:nvSpPr>
          <p:cNvPr id="42" name="LINK_Rectangle 41">
            <a:hlinkClick r:id="rId4" action="ppaction://hlinksldjump"/>
          </p:cNvPr>
          <p:cNvSpPr/>
          <p:nvPr/>
        </p:nvSpPr>
        <p:spPr>
          <a:xfrm>
            <a:off x="8473976" y="190500"/>
            <a:ext cx="599281" cy="266700"/>
          </a:xfrm>
          <a:prstGeom prst="rect">
            <a:avLst/>
          </a:prstGeom>
          <a:solidFill>
            <a:srgbClr val="FFFFFF">
              <a:alpha val="0"/>
            </a:srgbClr>
          </a:solidFill>
          <a:ln>
            <a:noFill/>
          </a:ln>
          <a:effectLst/>
        </p:spPr>
        <p:txBody>
          <a:bodyPr rtlCol="0" anchor="ctr"/>
          <a:lstStyle/>
          <a:p>
            <a:pPr algn="ctr"/>
            <a:endParaRPr/>
          </a:p>
        </p:txBody>
      </p:sp>
      <p:sp>
        <p:nvSpPr>
          <p:cNvPr id="43" name="LINK_Rectangle 42">
            <a:hlinkClick r:id="rId5" action="ppaction://hlinksldjump"/>
          </p:cNvPr>
          <p:cNvSpPr/>
          <p:nvPr/>
        </p:nvSpPr>
        <p:spPr>
          <a:xfrm>
            <a:off x="9124057" y="190500"/>
            <a:ext cx="689471" cy="266700"/>
          </a:xfrm>
          <a:prstGeom prst="rect">
            <a:avLst/>
          </a:prstGeom>
          <a:solidFill>
            <a:srgbClr val="FFFFFF">
              <a:alpha val="0"/>
            </a:srgbClr>
          </a:solidFill>
          <a:ln>
            <a:noFill/>
          </a:ln>
          <a:effectLst/>
        </p:spPr>
        <p:txBody>
          <a:bodyPr rtlCol="0" anchor="ctr"/>
          <a:lstStyle/>
          <a:p>
            <a:pPr algn="ctr"/>
            <a:endParaRPr/>
          </a:p>
        </p:txBody>
      </p:sp>
      <p:sp>
        <p:nvSpPr>
          <p:cNvPr id="44" name="LINK_Rectangle 43">
            <a:hlinkClick r:id="rId6" action="ppaction://hlinksldjump"/>
          </p:cNvPr>
          <p:cNvSpPr/>
          <p:nvPr/>
        </p:nvSpPr>
        <p:spPr>
          <a:xfrm>
            <a:off x="9864328" y="190500"/>
            <a:ext cx="795734" cy="266700"/>
          </a:xfrm>
          <a:prstGeom prst="rect">
            <a:avLst/>
          </a:prstGeom>
          <a:solidFill>
            <a:srgbClr val="FFFFFF">
              <a:alpha val="0"/>
            </a:srgbClr>
          </a:solidFill>
          <a:ln>
            <a:noFill/>
          </a:ln>
          <a:effectLst/>
        </p:spPr>
        <p:txBody>
          <a:bodyPr rtlCol="0" anchor="ctr"/>
          <a:lstStyle/>
          <a:p>
            <a:pPr algn="ctr"/>
            <a:endParaRPr/>
          </a:p>
        </p:txBody>
      </p:sp>
      <p:sp>
        <p:nvSpPr>
          <p:cNvPr id="45" name="LINK_Rectangle 44">
            <a:hlinkClick r:id="rId7" action="ppaction://hlinksldjump"/>
          </p:cNvPr>
          <p:cNvSpPr/>
          <p:nvPr/>
        </p:nvSpPr>
        <p:spPr>
          <a:xfrm>
            <a:off x="10710862" y="190500"/>
            <a:ext cx="871538" cy="266700"/>
          </a:xfrm>
          <a:prstGeom prst="rect">
            <a:avLst/>
          </a:prstGeom>
          <a:solidFill>
            <a:srgbClr val="FFFFFF">
              <a:alpha val="0"/>
            </a:srgbClr>
          </a:solidFill>
          <a:ln>
            <a:noFill/>
          </a:ln>
          <a:effectLst/>
        </p:spPr>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avLst/>
          </a:prstGeom>
          <a:solidFill>
            <a:srgbClr val="FFFFFF"/>
          </a:solidFill>
          <a:ln>
            <a:noFill/>
          </a:ln>
          <a:effectLst/>
        </p:spPr>
        <p:txBody>
          <a:bodyPr rtlCol="0" anchor="ctr"/>
          <a:lstStyle/>
          <a:p>
            <a:pPr algn="ctr"/>
            <a:endParaRPr/>
          </a:p>
        </p:txBody>
      </p:sp>
      <p:sp>
        <p:nvSpPr>
          <p:cNvPr id="3" name="TextBox 2"/>
          <p:cNvSpPr txBox="1"/>
          <p:nvPr/>
        </p:nvSpPr>
        <p:spPr>
          <a:xfrm>
            <a:off x="609600" y="377825"/>
            <a:ext cx="3251517" cy="152400"/>
          </a:xfrm>
          <a:prstGeom prst="rect">
            <a:avLst/>
          </a:prstGeom>
          <a:noFill/>
        </p:spPr>
        <p:txBody>
          <a:bodyPr wrap="none" lIns="0" tIns="0" rIns="0" bIns="0" anchor="t">
            <a:noAutofit/>
          </a:bodyPr>
          <a:lstStyle/>
          <a:p>
            <a:pPr algn="l">
              <a:lnSpc>
                <a:spcPts val="1120"/>
              </a:lnSpc>
            </a:pPr>
            <a:r>
              <a:rPr sz="800" b="0">
                <a:solidFill>
                  <a:srgbClr val="1E2833"/>
                </a:solidFill>
                <a:latin typeface="Microsoft JhengHei"/>
                <a:ea typeface="Microsoft JhengHei"/>
                <a:cs typeface="Microsoft JhengHei"/>
              </a:rPr>
              <a:t>Advanced Biological Therapy • Monoclonal Antibodies</a:t>
            </a:r>
          </a:p>
        </p:txBody>
      </p:sp>
      <p:sp>
        <p:nvSpPr>
          <p:cNvPr id="4" name="Rounded Rectangle 3"/>
          <p:cNvSpPr/>
          <p:nvPr/>
        </p:nvSpPr>
        <p:spPr>
          <a:xfrm>
            <a:off x="7344664" y="330200"/>
            <a:ext cx="884936" cy="247650"/>
          </a:xfrm>
          <a:prstGeom prst="roundRect">
            <a:avLst>
              <a:gd name="adj" fmla="val 50000"/>
            </a:avLst>
          </a:prstGeom>
          <a:solidFill>
            <a:srgbClr val="FFFFFF"/>
          </a:solidFill>
          <a:ln w="6350">
            <a:solidFill>
              <a:srgbClr val="24476E"/>
            </a:solidFill>
          </a:ln>
          <a:effectLst/>
        </p:spPr>
        <p:txBody>
          <a:bodyPr rtlCol="0" anchor="ctr"/>
          <a:lstStyle/>
          <a:p>
            <a:endParaRPr/>
          </a:p>
        </p:txBody>
      </p:sp>
      <p:sp>
        <p:nvSpPr>
          <p:cNvPr id="5" name="TextBox 4"/>
          <p:cNvSpPr txBox="1"/>
          <p:nvPr/>
        </p:nvSpPr>
        <p:spPr>
          <a:xfrm>
            <a:off x="7465314" y="374650"/>
            <a:ext cx="237109" cy="158750"/>
          </a:xfrm>
          <a:prstGeom prst="rect">
            <a:avLst/>
          </a:prstGeom>
          <a:noFill/>
        </p:spPr>
        <p:txBody>
          <a:bodyPr wrap="none" lIns="0" tIns="0" rIns="0" bIns="0" anchor="t">
            <a:noAutofit/>
          </a:bodyPr>
          <a:lstStyle/>
          <a:p>
            <a:pPr algn="l">
              <a:lnSpc>
                <a:spcPts val="1190"/>
              </a:lnSpc>
            </a:pPr>
            <a:r>
              <a:rPr sz="850" b="1">
                <a:solidFill>
                  <a:srgbClr val="24476E"/>
                </a:solidFill>
                <a:latin typeface="Microsoft JhengHei"/>
                <a:ea typeface="Microsoft JhengHei"/>
                <a:cs typeface="Microsoft JhengHei"/>
              </a:rPr>
              <a:t>🌐</a:t>
            </a:r>
          </a:p>
        </p:txBody>
      </p:sp>
      <p:sp>
        <p:nvSpPr>
          <p:cNvPr id="6" name="TextBox 5"/>
          <p:cNvSpPr txBox="1"/>
          <p:nvPr/>
        </p:nvSpPr>
        <p:spPr>
          <a:xfrm>
            <a:off x="7651623" y="374650"/>
            <a:ext cx="571659" cy="158750"/>
          </a:xfrm>
          <a:prstGeom prst="rect">
            <a:avLst/>
          </a:prstGeom>
          <a:noFill/>
        </p:spPr>
        <p:txBody>
          <a:bodyPr wrap="none" lIns="0" tIns="0" rIns="0" bIns="0" anchor="t">
            <a:noAutofit/>
          </a:bodyPr>
          <a:lstStyle/>
          <a:p>
            <a:pPr algn="l">
              <a:lnSpc>
                <a:spcPts val="1190"/>
              </a:lnSpc>
            </a:pPr>
            <a:r>
              <a:rPr sz="850" b="1">
                <a:solidFill>
                  <a:srgbClr val="24476E"/>
                </a:solidFill>
                <a:latin typeface="Microsoft JhengHei"/>
                <a:ea typeface="Microsoft JhengHei"/>
                <a:cs typeface="Microsoft JhengHei"/>
              </a:rPr>
              <a:t>EN / 中文</a:t>
            </a:r>
          </a:p>
        </p:txBody>
      </p:sp>
      <p:sp>
        <p:nvSpPr>
          <p:cNvPr id="7" name="TextBox 6"/>
          <p:cNvSpPr txBox="1"/>
          <p:nvPr/>
        </p:nvSpPr>
        <p:spPr>
          <a:xfrm>
            <a:off x="609600" y="603250"/>
            <a:ext cx="6463744" cy="361950"/>
          </a:xfrm>
          <a:prstGeom prst="rect">
            <a:avLst/>
          </a:prstGeom>
          <a:noFill/>
        </p:spPr>
        <p:txBody>
          <a:bodyPr wrap="none" lIns="0" tIns="0" rIns="0" bIns="0" anchor="t">
            <a:noAutofit/>
          </a:bodyPr>
          <a:lstStyle/>
          <a:p>
            <a:pPr algn="l">
              <a:lnSpc>
                <a:spcPts val="2500"/>
              </a:lnSpc>
            </a:pPr>
            <a:r>
              <a:rPr sz="2000" b="1" spc="-20">
                <a:solidFill>
                  <a:srgbClr val="1E2833"/>
                </a:solidFill>
                <a:latin typeface="Microsoft JhengHei"/>
                <a:ea typeface="Microsoft JhengHei"/>
                <a:cs typeface="Microsoft JhengHei"/>
              </a:rPr>
              <a:t>Beyond Dual Therapy: PCSK9 Inhibitors</a:t>
            </a:r>
          </a:p>
        </p:txBody>
      </p:sp>
      <p:sp>
        <p:nvSpPr>
          <p:cNvPr id="8" name="TextBox 7"/>
          <p:cNvSpPr txBox="1"/>
          <p:nvPr/>
        </p:nvSpPr>
        <p:spPr>
          <a:xfrm>
            <a:off x="609600" y="977900"/>
            <a:ext cx="6650038" cy="222250"/>
          </a:xfrm>
          <a:prstGeom prst="rect">
            <a:avLst/>
          </a:prstGeom>
          <a:noFill/>
        </p:spPr>
        <p:txBody>
          <a:bodyPr wrap="none" lIns="0" tIns="0" rIns="0" bIns="0" anchor="t">
            <a:noAutofit/>
          </a:bodyPr>
          <a:lstStyle/>
          <a:p>
            <a:pPr algn="l">
              <a:lnSpc>
                <a:spcPts val="1680"/>
              </a:lnSpc>
            </a:pPr>
            <a:r>
              <a:rPr sz="1200" b="0">
                <a:solidFill>
                  <a:srgbClr val="5F6B77"/>
                </a:solidFill>
                <a:latin typeface="Microsoft JhengHei"/>
                <a:ea typeface="Microsoft JhengHei"/>
                <a:cs typeface="Microsoft JhengHei"/>
              </a:rPr>
              <a:t>Targeting receptor recycling to eliminate refractory circulating LDL particles</a:t>
            </a:r>
          </a:p>
        </p:txBody>
      </p:sp>
      <p:sp>
        <p:nvSpPr>
          <p:cNvPr id="9" name="Rounded Rectangle 8"/>
          <p:cNvSpPr/>
          <p:nvPr/>
        </p:nvSpPr>
        <p:spPr>
          <a:xfrm>
            <a:off x="609600" y="1324546"/>
            <a:ext cx="5115496" cy="4508500"/>
          </a:xfrm>
          <a:prstGeom prst="roundRect">
            <a:avLst>
              <a:gd name="adj" fmla="val 2535"/>
            </a:avLst>
          </a:prstGeom>
          <a:solidFill>
            <a:srgbClr val="F0F2F4"/>
          </a:solidFill>
          <a:ln>
            <a:noFill/>
          </a:ln>
          <a:effectLst/>
        </p:spPr>
        <p:txBody>
          <a:bodyPr rtlCol="0" anchor="ctr"/>
          <a:lstStyle/>
          <a:p>
            <a:endParaRPr/>
          </a:p>
        </p:txBody>
      </p:sp>
      <p:sp>
        <p:nvSpPr>
          <p:cNvPr id="10" name="TextBox 9"/>
          <p:cNvSpPr txBox="1"/>
          <p:nvPr/>
        </p:nvSpPr>
        <p:spPr>
          <a:xfrm>
            <a:off x="812800" y="1515046"/>
            <a:ext cx="3432302" cy="469900"/>
          </a:xfrm>
          <a:prstGeom prst="rect">
            <a:avLst/>
          </a:prstGeom>
          <a:noFill/>
        </p:spPr>
        <p:txBody>
          <a:bodyPr wrap="square" lIns="0" tIns="0" rIns="0" bIns="0" anchor="t">
            <a:noAutofit/>
          </a:bodyPr>
          <a:lstStyle/>
          <a:p>
            <a:pPr algn="l">
              <a:lnSpc>
                <a:spcPts val="1820"/>
              </a:lnSpc>
            </a:pPr>
            <a:r>
              <a:rPr sz="1300" b="1">
                <a:solidFill>
                  <a:srgbClr val="1E2833"/>
                </a:solidFill>
                <a:latin typeface="Microsoft JhengHei"/>
                <a:ea typeface="Microsoft JhengHei"/>
                <a:cs typeface="Microsoft JhengHei"/>
              </a:rPr>
              <a:t>LDLR Recycling vs Lysosomal Destruction</a:t>
            </a:r>
          </a:p>
        </p:txBody>
      </p:sp>
      <p:sp>
        <p:nvSpPr>
          <p:cNvPr id="11" name="TextBox 10"/>
          <p:cNvSpPr txBox="1"/>
          <p:nvPr/>
        </p:nvSpPr>
        <p:spPr>
          <a:xfrm>
            <a:off x="4245102" y="1591246"/>
            <a:ext cx="1276858" cy="317500"/>
          </a:xfrm>
          <a:prstGeom prst="rect">
            <a:avLst/>
          </a:prstGeom>
          <a:noFill/>
        </p:spPr>
        <p:txBody>
          <a:bodyPr wrap="square" lIns="0" tIns="0" rIns="0" bIns="0" anchor="t">
            <a:noAutofit/>
          </a:bodyPr>
          <a:lstStyle/>
          <a:p>
            <a:pPr algn="l">
              <a:lnSpc>
                <a:spcPts val="1190"/>
              </a:lnSpc>
            </a:pPr>
            <a:r>
              <a:rPr sz="850" b="0">
                <a:solidFill>
                  <a:srgbClr val="5F6B77"/>
                </a:solidFill>
                <a:latin typeface="Microsoft JhengHei"/>
                <a:ea typeface="Microsoft JhengHei"/>
                <a:cs typeface="Microsoft JhengHei"/>
              </a:rPr>
              <a:t>Click image to enlarge 🔍</a:t>
            </a:r>
          </a:p>
        </p:txBody>
      </p:sp>
      <p:sp>
        <p:nvSpPr>
          <p:cNvPr id="12" name="Rounded Rectangle 11"/>
          <p:cNvSpPr/>
          <p:nvPr/>
        </p:nvSpPr>
        <p:spPr>
          <a:xfrm>
            <a:off x="812800" y="2231454"/>
            <a:ext cx="4709096" cy="2286000"/>
          </a:xfrm>
          <a:prstGeom prst="roundRect">
            <a:avLst>
              <a:gd name="adj" fmla="val 3888"/>
            </a:avLst>
          </a:prstGeom>
          <a:solidFill>
            <a:srgbClr val="FFFFFF"/>
          </a:solidFill>
          <a:ln w="6350">
            <a:solidFill>
              <a:srgbClr val="E3E6E9"/>
            </a:solidFill>
          </a:ln>
          <a:effectLst/>
        </p:spPr>
        <p:txBody>
          <a:bodyPr rtlCol="0" anchor="ctr"/>
          <a:lstStyle/>
          <a:p>
            <a:endParaRPr/>
          </a:p>
        </p:txBody>
      </p:sp>
      <p:pic>
        <p:nvPicPr>
          <p:cNvPr id="13" name="Picture 12" descr="pcsk9_mechanism.png"/>
          <p:cNvPicPr>
            <a:picLocks noChangeAspect="1"/>
          </p:cNvPicPr>
          <p:nvPr/>
        </p:nvPicPr>
        <p:blipFill>
          <a:blip r:embed="rId3"/>
          <a:srcRect t="7141" b="7141"/>
          <a:stretch>
            <a:fillRect/>
          </a:stretch>
        </p:blipFill>
        <p:spPr>
          <a:xfrm>
            <a:off x="819150" y="2237804"/>
            <a:ext cx="4696396" cy="2273300"/>
          </a:xfrm>
          <a:prstGeom prst="rect">
            <a:avLst/>
          </a:prstGeom>
        </p:spPr>
      </p:pic>
      <p:sp>
        <p:nvSpPr>
          <p:cNvPr id="14" name="TextBox 13"/>
          <p:cNvSpPr txBox="1"/>
          <p:nvPr/>
        </p:nvSpPr>
        <p:spPr>
          <a:xfrm>
            <a:off x="812800" y="4782947"/>
            <a:ext cx="4709096" cy="852678"/>
          </a:xfrm>
          <a:prstGeom prst="rect">
            <a:avLst/>
          </a:prstGeom>
          <a:noFill/>
        </p:spPr>
        <p:txBody>
          <a:bodyPr wrap="square" lIns="0" tIns="0" rIns="0" bIns="0" anchor="t">
            <a:noAutofit/>
          </a:bodyPr>
          <a:lstStyle/>
          <a:p>
            <a:pPr algn="l">
              <a:lnSpc>
                <a:spcPts val="1710"/>
              </a:lnSpc>
            </a:pPr>
            <a:r>
              <a:rPr sz="1100" b="1">
                <a:solidFill>
                  <a:srgbClr val="5F6B77"/>
                </a:solidFill>
                <a:latin typeface="Microsoft JhengHei"/>
                <a:ea typeface="Microsoft JhengHei"/>
                <a:cs typeface="Microsoft JhengHei"/>
              </a:rPr>
              <a:t>Receptor Fate:</a:t>
            </a:r>
            <a:r>
              <a:rPr sz="1100" b="0">
                <a:solidFill>
                  <a:srgbClr val="5F6B77"/>
                </a:solidFill>
                <a:latin typeface="Microsoft JhengHei"/>
                <a:ea typeface="Microsoft JhengHei"/>
                <a:cs typeface="Microsoft JhengHei"/>
              </a:rPr>
              <a:t> PCSK9 binds hepatic LDL Receptors, directing them into lysosomes for premature destruction. Monoclonal antibodies (Evolocumab / Alirocumab) bind PCSK9, liberating LDLRs to recycle back to the hepatocyte membrane over </a:t>
            </a:r>
            <a:r>
              <a:rPr sz="1100" b="1">
                <a:solidFill>
                  <a:srgbClr val="5F6B77"/>
                </a:solidFill>
                <a:latin typeface="Microsoft JhengHei"/>
                <a:ea typeface="Microsoft JhengHei"/>
                <a:cs typeface="Microsoft JhengHei"/>
              </a:rPr>
              <a:t>100 times</a:t>
            </a:r>
            <a:r>
              <a:rPr sz="1100" b="0">
                <a:solidFill>
                  <a:srgbClr val="5F6B77"/>
                </a:solidFill>
                <a:latin typeface="Microsoft JhengHei"/>
                <a:ea typeface="Microsoft JhengHei"/>
                <a:cs typeface="Microsoft JhengHei"/>
              </a:rPr>
              <a:t>.</a:t>
            </a:r>
          </a:p>
        </p:txBody>
      </p:sp>
      <p:sp>
        <p:nvSpPr>
          <p:cNvPr id="15" name="Rounded Rectangle 14"/>
          <p:cNvSpPr/>
          <p:nvPr/>
        </p:nvSpPr>
        <p:spPr>
          <a:xfrm>
            <a:off x="5928296" y="1324546"/>
            <a:ext cx="5653976" cy="4508500"/>
          </a:xfrm>
          <a:prstGeom prst="roundRect">
            <a:avLst>
              <a:gd name="adj" fmla="val 2535"/>
            </a:avLst>
          </a:prstGeom>
          <a:solidFill>
            <a:srgbClr val="F0F2F4"/>
          </a:solidFill>
          <a:ln>
            <a:noFill/>
          </a:ln>
          <a:effectLst/>
        </p:spPr>
        <p:txBody>
          <a:bodyPr rtlCol="0" anchor="ctr"/>
          <a:lstStyle/>
          <a:p>
            <a:endParaRPr/>
          </a:p>
        </p:txBody>
      </p:sp>
      <p:sp>
        <p:nvSpPr>
          <p:cNvPr id="16" name="TextBox 15"/>
          <p:cNvSpPr txBox="1"/>
          <p:nvPr/>
        </p:nvSpPr>
        <p:spPr>
          <a:xfrm>
            <a:off x="6169596" y="1540446"/>
            <a:ext cx="2619534" cy="203200"/>
          </a:xfrm>
          <a:prstGeom prst="rect">
            <a:avLst/>
          </a:prstGeom>
          <a:noFill/>
        </p:spPr>
        <p:txBody>
          <a:bodyPr wrap="none" lIns="0" tIns="0" rIns="0" bIns="0" anchor="t">
            <a:noAutofit/>
          </a:bodyPr>
          <a:lstStyle/>
          <a:p>
            <a:pPr algn="l">
              <a:lnSpc>
                <a:spcPts val="1120"/>
              </a:lnSpc>
            </a:pPr>
            <a:r>
              <a:rPr sz="1100" b="1">
                <a:solidFill>
                  <a:srgbClr val="1E2833"/>
                </a:solidFill>
                <a:latin typeface="Microsoft JhengHei"/>
                <a:ea typeface="Microsoft JhengHei"/>
                <a:cs typeface="Microsoft JhengHei"/>
              </a:rPr>
              <a:t>Cardiovascular Outcome Trials</a:t>
            </a:r>
          </a:p>
        </p:txBody>
      </p:sp>
      <p:sp>
        <p:nvSpPr>
          <p:cNvPr id="17" name="Rectangle 16"/>
          <p:cNvSpPr/>
          <p:nvPr/>
        </p:nvSpPr>
        <p:spPr>
          <a:xfrm>
            <a:off x="6169596" y="1540446"/>
            <a:ext cx="2095627" cy="203200"/>
          </a:xfrm>
          <a:prstGeom prst="rect">
            <a:avLst/>
          </a:prstGeom>
          <a:solidFill>
            <a:srgbClr val="B85030">
              <a:alpha val="12000"/>
            </a:srgbClr>
          </a:solidFill>
          <a:ln>
            <a:noFill/>
          </a:ln>
          <a:effectLst/>
        </p:spPr>
        <p:txBody>
          <a:bodyPr rtlCol="0" anchor="ctr"/>
          <a:lstStyle/>
          <a:p>
            <a:endParaRPr/>
          </a:p>
        </p:txBody>
      </p:sp>
      <p:sp>
        <p:nvSpPr>
          <p:cNvPr id="18" name="TextBox 17"/>
          <p:cNvSpPr txBox="1"/>
          <p:nvPr/>
        </p:nvSpPr>
        <p:spPr>
          <a:xfrm>
            <a:off x="6169596" y="1838896"/>
            <a:ext cx="3753088" cy="330200"/>
          </a:xfrm>
          <a:prstGeom prst="rect">
            <a:avLst/>
          </a:prstGeom>
          <a:noFill/>
        </p:spPr>
        <p:txBody>
          <a:bodyPr wrap="none" lIns="0" tIns="0" rIns="0" bIns="0" anchor="t">
            <a:noAutofit/>
          </a:bodyPr>
          <a:lstStyle/>
          <a:p>
            <a:pPr algn="l">
              <a:lnSpc>
                <a:spcPts val="2340"/>
              </a:lnSpc>
            </a:pPr>
            <a:r>
              <a:rPr sz="1800" b="1">
                <a:solidFill>
                  <a:srgbClr val="1E2833"/>
                </a:solidFill>
                <a:latin typeface="Microsoft JhengHei"/>
                <a:ea typeface="Microsoft JhengHei"/>
                <a:cs typeface="Microsoft JhengHei"/>
              </a:rPr>
              <a:t>Additional 60% Reduction</a:t>
            </a:r>
          </a:p>
        </p:txBody>
      </p:sp>
      <p:sp>
        <p:nvSpPr>
          <p:cNvPr id="19" name="TextBox 18"/>
          <p:cNvSpPr txBox="1"/>
          <p:nvPr/>
        </p:nvSpPr>
        <p:spPr>
          <a:xfrm>
            <a:off x="6283896" y="2383726"/>
            <a:ext cx="2802572" cy="774700"/>
          </a:xfrm>
          <a:prstGeom prst="rect">
            <a:avLst/>
          </a:prstGeom>
          <a:noFill/>
        </p:spPr>
        <p:txBody>
          <a:bodyPr wrap="none" lIns="0" tIns="0" rIns="0" bIns="0" anchor="t">
            <a:noAutofit/>
          </a:bodyPr>
          <a:lstStyle/>
          <a:p>
            <a:pPr algn="l">
              <a:lnSpc>
                <a:spcPts val="1120"/>
              </a:lnSpc>
            </a:pPr>
            <a:r>
              <a:rPr sz="3200" b="0">
                <a:solidFill>
                  <a:srgbClr val="1E2833"/>
                </a:solidFill>
                <a:latin typeface="Microsoft JhengHei"/>
                <a:ea typeface="Microsoft JhengHei"/>
                <a:cs typeface="Microsoft JhengHei"/>
              </a:rPr>
              <a:t>-60%</a:t>
            </a:r>
          </a:p>
          <a:p>
            <a:pPr algn="l">
              <a:lnSpc>
                <a:spcPts val="1120"/>
              </a:lnSpc>
            </a:pPr>
            <a:r>
              <a:rPr sz="800" b="0">
                <a:solidFill>
                  <a:srgbClr val="1E2833"/>
                </a:solidFill>
                <a:latin typeface="Microsoft JhengHei"/>
                <a:ea typeface="Microsoft JhengHei"/>
                <a:cs typeface="Microsoft JhengHei"/>
              </a:rPr>
              <a:t> </a:t>
            </a:r>
            <a:r>
              <a:rPr sz="1050" b="0">
                <a:solidFill>
                  <a:srgbClr val="1E2833"/>
                </a:solidFill>
                <a:latin typeface="Microsoft JhengHei"/>
                <a:ea typeface="Microsoft JhengHei"/>
                <a:cs typeface="Microsoft JhengHei"/>
              </a:rPr>
              <a:t>Extra Drop on Top of Statin</a:t>
            </a:r>
          </a:p>
        </p:txBody>
      </p:sp>
      <p:sp>
        <p:nvSpPr>
          <p:cNvPr id="20" name="TextBox 19"/>
          <p:cNvSpPr txBox="1"/>
          <p:nvPr/>
        </p:nvSpPr>
        <p:spPr>
          <a:xfrm>
            <a:off x="8926703" y="2383726"/>
            <a:ext cx="2318147" cy="774700"/>
          </a:xfrm>
          <a:prstGeom prst="rect">
            <a:avLst/>
          </a:prstGeom>
          <a:noFill/>
        </p:spPr>
        <p:txBody>
          <a:bodyPr wrap="none" lIns="0" tIns="0" rIns="0" bIns="0" anchor="t">
            <a:noAutofit/>
          </a:bodyPr>
          <a:lstStyle/>
          <a:p>
            <a:pPr algn="l">
              <a:lnSpc>
                <a:spcPts val="1120"/>
              </a:lnSpc>
            </a:pPr>
            <a:r>
              <a:rPr sz="3200" b="0">
                <a:solidFill>
                  <a:srgbClr val="3F7A55"/>
                </a:solidFill>
                <a:latin typeface="Microsoft JhengHei"/>
                <a:ea typeface="Microsoft JhengHei"/>
                <a:cs typeface="Microsoft JhengHei"/>
              </a:rPr>
              <a:t>30-40</a:t>
            </a:r>
          </a:p>
          <a:p>
            <a:pPr algn="l">
              <a:lnSpc>
                <a:spcPts val="1120"/>
              </a:lnSpc>
            </a:pPr>
            <a:r>
              <a:rPr sz="800" b="0">
                <a:solidFill>
                  <a:srgbClr val="1E2833"/>
                </a:solidFill>
                <a:latin typeface="Microsoft JhengHei"/>
                <a:ea typeface="Microsoft JhengHei"/>
                <a:cs typeface="Microsoft JhengHei"/>
              </a:rPr>
              <a:t> </a:t>
            </a:r>
            <a:r>
              <a:rPr sz="1050" b="0">
                <a:solidFill>
                  <a:srgbClr val="1E2833"/>
                </a:solidFill>
                <a:latin typeface="Microsoft JhengHei"/>
                <a:ea typeface="Microsoft JhengHei"/>
                <a:cs typeface="Microsoft JhengHei"/>
              </a:rPr>
              <a:t>Attained LDL (mg/dL)</a:t>
            </a:r>
          </a:p>
        </p:txBody>
      </p:sp>
      <p:sp>
        <p:nvSpPr>
          <p:cNvPr id="21" name="TextBox 20"/>
          <p:cNvSpPr txBox="1"/>
          <p:nvPr/>
        </p:nvSpPr>
        <p:spPr>
          <a:xfrm>
            <a:off x="6321996" y="3393376"/>
            <a:ext cx="5018976" cy="466026"/>
          </a:xfrm>
          <a:prstGeom prst="rect">
            <a:avLst/>
          </a:prstGeom>
          <a:noFill/>
        </p:spPr>
        <p:txBody>
          <a:bodyPr wrap="square" lIns="0" tIns="0" rIns="0" bIns="0" anchor="t">
            <a:noAutofit/>
          </a:bodyPr>
          <a:lstStyle/>
          <a:p>
            <a:pPr algn="l">
              <a:lnSpc>
                <a:spcPts val="192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FOURIER &amp; ODYSSEY:</a:t>
            </a:r>
            <a:r>
              <a:rPr sz="1200" b="0">
                <a:solidFill>
                  <a:srgbClr val="1E2833"/>
                </a:solidFill>
                <a:latin typeface="Microsoft JhengHei"/>
                <a:ea typeface="Microsoft JhengHei"/>
                <a:cs typeface="Microsoft JhengHei"/>
              </a:rPr>
              <a:t> Achieves ultra-low LDL levels (30 mg/dL) safely, with zero neurocognitive or autoimmune signals.</a:t>
            </a:r>
          </a:p>
        </p:txBody>
      </p:sp>
      <p:sp>
        <p:nvSpPr>
          <p:cNvPr id="22" name="TextBox 21"/>
          <p:cNvSpPr txBox="1"/>
          <p:nvPr/>
        </p:nvSpPr>
        <p:spPr>
          <a:xfrm>
            <a:off x="6321996" y="3880929"/>
            <a:ext cx="5018976" cy="466026"/>
          </a:xfrm>
          <a:prstGeom prst="rect">
            <a:avLst/>
          </a:prstGeom>
          <a:noFill/>
        </p:spPr>
        <p:txBody>
          <a:bodyPr wrap="square" lIns="0" tIns="0" rIns="0" bIns="0" anchor="t">
            <a:noAutofit/>
          </a:bodyPr>
          <a:lstStyle/>
          <a:p>
            <a:pPr algn="l">
              <a:lnSpc>
                <a:spcPts val="192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Clinical Escalation:</a:t>
            </a:r>
            <a:r>
              <a:rPr sz="1200" b="0">
                <a:solidFill>
                  <a:srgbClr val="1E2833"/>
                </a:solidFill>
                <a:latin typeface="Microsoft JhengHei"/>
                <a:ea typeface="Microsoft JhengHei"/>
                <a:cs typeface="Microsoft JhengHei"/>
              </a:rPr>
              <a:t> If Mr. Hong's 4-week post-discharge LDL remains ≥ 55 mg/dL on dual oral therapy, add PCSK9i immediately.</a:t>
            </a:r>
          </a:p>
        </p:txBody>
      </p:sp>
      <p:sp>
        <p:nvSpPr>
          <p:cNvPr id="23" name="Rounded Rectangle 22"/>
          <p:cNvSpPr/>
          <p:nvPr/>
        </p:nvSpPr>
        <p:spPr>
          <a:xfrm>
            <a:off x="6169596" y="4982146"/>
            <a:ext cx="5171376" cy="635000"/>
          </a:xfrm>
          <a:prstGeom prst="roundRect">
            <a:avLst>
              <a:gd name="adj" fmla="val 12000"/>
            </a:avLst>
          </a:prstGeom>
          <a:solidFill>
            <a:srgbClr val="FDF1ED"/>
          </a:solidFill>
          <a:ln>
            <a:noFill/>
          </a:ln>
          <a:effectLst/>
        </p:spPr>
        <p:txBody>
          <a:bodyPr rtlCol="0" anchor="ctr"/>
          <a:lstStyle/>
          <a:p>
            <a:endParaRPr/>
          </a:p>
        </p:txBody>
      </p:sp>
      <p:sp>
        <p:nvSpPr>
          <p:cNvPr id="24" name="TextBox 23"/>
          <p:cNvSpPr txBox="1"/>
          <p:nvPr/>
        </p:nvSpPr>
        <p:spPr>
          <a:xfrm>
            <a:off x="6309296" y="5096446"/>
            <a:ext cx="4891976" cy="406400"/>
          </a:xfrm>
          <a:prstGeom prst="rect">
            <a:avLst/>
          </a:prstGeom>
          <a:noFill/>
        </p:spPr>
        <p:txBody>
          <a:bodyPr wrap="square" lIns="0" tIns="0" rIns="0" bIns="0" anchor="t">
            <a:noAutofit/>
          </a:bodyPr>
          <a:lstStyle/>
          <a:p>
            <a:pPr algn="l">
              <a:lnSpc>
                <a:spcPts val="1540"/>
              </a:lnSpc>
            </a:pPr>
            <a:r>
              <a:rPr sz="1100" b="1">
                <a:solidFill>
                  <a:srgbClr val="1E2833"/>
                </a:solidFill>
                <a:latin typeface="Microsoft JhengHei"/>
                <a:ea typeface="Microsoft JhengHei"/>
                <a:cs typeface="Microsoft JhengHei"/>
              </a:rPr>
              <a:t>💉 Subcutaneous injection every 2–4 weeks; slashes secondary ischemic events by 15–20%!</a:t>
            </a:r>
          </a:p>
        </p:txBody>
      </p:sp>
      <p:sp>
        <p:nvSpPr>
          <p:cNvPr id="25" name="Rectangle 24"/>
          <p:cNvSpPr/>
          <p:nvPr/>
        </p:nvSpPr>
        <p:spPr>
          <a:xfrm>
            <a:off x="609600" y="6066854"/>
            <a:ext cx="10972800" cy="6350"/>
          </a:xfrm>
          <a:prstGeom prst="rect">
            <a:avLst/>
          </a:prstGeom>
          <a:solidFill>
            <a:srgbClr val="F0F2F4"/>
          </a:solidFill>
          <a:ln>
            <a:noFill/>
          </a:ln>
          <a:effectLst/>
        </p:spPr>
        <p:txBody>
          <a:bodyPr rtlCol="0" anchor="ctr"/>
          <a:lstStyle/>
          <a:p>
            <a:endParaRPr/>
          </a:p>
        </p:txBody>
      </p:sp>
      <p:sp>
        <p:nvSpPr>
          <p:cNvPr id="26" name="TextBox 25"/>
          <p:cNvSpPr txBox="1"/>
          <p:nvPr/>
        </p:nvSpPr>
        <p:spPr>
          <a:xfrm>
            <a:off x="609600" y="6130354"/>
            <a:ext cx="10079990" cy="171450"/>
          </a:xfrm>
          <a:prstGeom prst="rect">
            <a:avLst/>
          </a:prstGeom>
          <a:noFill/>
        </p:spPr>
        <p:txBody>
          <a:bodyPr wrap="none" lIns="0" tIns="0" rIns="0" bIns="0" anchor="t">
            <a:noAutofit/>
          </a:bodyPr>
          <a:lstStyle/>
          <a:p>
            <a:pPr algn="l">
              <a:lnSpc>
                <a:spcPts val="1330"/>
              </a:lnSpc>
            </a:pPr>
            <a:r>
              <a:rPr sz="950" b="0">
                <a:solidFill>
                  <a:srgbClr val="5F6B77"/>
                </a:solidFill>
                <a:latin typeface="Microsoft JhengHei"/>
                <a:ea typeface="Microsoft JhengHei"/>
                <a:cs typeface="Microsoft JhengHei"/>
              </a:rPr>
              <a:t>Sabatine MS, et al. Evolocumab and Clinical Outcomes in Patients with Cardiovascular Disease (FOURIER). N Engl J Med. 2017;376(18):1713-1722.</a:t>
            </a:r>
          </a:p>
        </p:txBody>
      </p:sp>
      <p:sp>
        <p:nvSpPr>
          <p:cNvPr id="27" name="Rounded Rectangle 26"/>
          <p:cNvSpPr/>
          <p:nvPr/>
        </p:nvSpPr>
        <p:spPr>
          <a:xfrm>
            <a:off x="8473948" y="190500"/>
            <a:ext cx="599313"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28" name="TextBox 27"/>
          <p:cNvSpPr txBox="1"/>
          <p:nvPr/>
        </p:nvSpPr>
        <p:spPr>
          <a:xfrm>
            <a:off x="8575548" y="241300"/>
            <a:ext cx="495141"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1. Case</a:t>
            </a:r>
          </a:p>
        </p:txBody>
      </p:sp>
      <p:sp>
        <p:nvSpPr>
          <p:cNvPr id="29" name="Rounded Rectangle 28"/>
          <p:cNvSpPr/>
          <p:nvPr/>
        </p:nvSpPr>
        <p:spPr>
          <a:xfrm>
            <a:off x="9124061" y="190500"/>
            <a:ext cx="689483"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30" name="TextBox 29"/>
          <p:cNvSpPr txBox="1"/>
          <p:nvPr/>
        </p:nvSpPr>
        <p:spPr>
          <a:xfrm>
            <a:off x="9225661" y="241300"/>
            <a:ext cx="607854"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2. Target</a:t>
            </a:r>
          </a:p>
        </p:txBody>
      </p:sp>
      <p:sp>
        <p:nvSpPr>
          <p:cNvPr id="31" name="Rounded Rectangle 30"/>
          <p:cNvSpPr/>
          <p:nvPr/>
        </p:nvSpPr>
        <p:spPr>
          <a:xfrm>
            <a:off x="9864344" y="190500"/>
            <a:ext cx="795718" cy="266700"/>
          </a:xfrm>
          <a:prstGeom prst="roundRect">
            <a:avLst>
              <a:gd name="adj" fmla="val 50000"/>
            </a:avLst>
          </a:prstGeom>
          <a:solidFill>
            <a:srgbClr val="24476E"/>
          </a:solidFill>
          <a:ln w="12700">
            <a:solidFill>
              <a:srgbClr val="24476E"/>
            </a:solidFill>
          </a:ln>
          <a:effectLst/>
        </p:spPr>
        <p:txBody>
          <a:bodyPr rtlCol="0" anchor="ctr"/>
          <a:lstStyle/>
          <a:p>
            <a:endParaRPr/>
          </a:p>
        </p:txBody>
      </p:sp>
      <p:sp>
        <p:nvSpPr>
          <p:cNvPr id="32" name="TextBox 31"/>
          <p:cNvSpPr txBox="1"/>
          <p:nvPr/>
        </p:nvSpPr>
        <p:spPr>
          <a:xfrm>
            <a:off x="9965944" y="241300"/>
            <a:ext cx="740648" cy="165100"/>
          </a:xfrm>
          <a:prstGeom prst="rect">
            <a:avLst/>
          </a:prstGeom>
          <a:noFill/>
        </p:spPr>
        <p:txBody>
          <a:bodyPr wrap="none" lIns="0" tIns="0" rIns="0" bIns="0" anchor="t">
            <a:noAutofit/>
          </a:bodyPr>
          <a:lstStyle/>
          <a:p>
            <a:pPr algn="l">
              <a:lnSpc>
                <a:spcPts val="1260"/>
              </a:lnSpc>
            </a:pPr>
            <a:r>
              <a:rPr sz="900" b="1">
                <a:solidFill>
                  <a:srgbClr val="FFFFFF"/>
                </a:solidFill>
                <a:latin typeface="Microsoft JhengHei"/>
                <a:ea typeface="Microsoft JhengHei"/>
                <a:cs typeface="Microsoft JhengHei"/>
              </a:rPr>
              <a:t>3. Therapy</a:t>
            </a:r>
          </a:p>
        </p:txBody>
      </p:sp>
      <p:sp>
        <p:nvSpPr>
          <p:cNvPr id="33" name="Rounded Rectangle 32"/>
          <p:cNvSpPr/>
          <p:nvPr/>
        </p:nvSpPr>
        <p:spPr>
          <a:xfrm>
            <a:off x="10710862" y="190500"/>
            <a:ext cx="871538"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34" name="TextBox 33"/>
          <p:cNvSpPr txBox="1"/>
          <p:nvPr/>
        </p:nvSpPr>
        <p:spPr>
          <a:xfrm>
            <a:off x="10812462" y="241300"/>
            <a:ext cx="835422"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4. Roadmap</a:t>
            </a:r>
          </a:p>
        </p:txBody>
      </p:sp>
      <p:sp>
        <p:nvSpPr>
          <p:cNvPr id="35" name="Rectangle 34"/>
          <p:cNvSpPr/>
          <p:nvPr/>
        </p:nvSpPr>
        <p:spPr>
          <a:xfrm>
            <a:off x="0" y="6527800"/>
            <a:ext cx="12192000" cy="330200"/>
          </a:xfrm>
          <a:prstGeom prst="rect">
            <a:avLst/>
          </a:prstGeom>
          <a:solidFill>
            <a:srgbClr val="FFFFFF"/>
          </a:solidFill>
          <a:ln>
            <a:noFill/>
          </a:ln>
          <a:effectLst/>
        </p:spPr>
        <p:txBody>
          <a:bodyPr rtlCol="0" anchor="ctr"/>
          <a:lstStyle/>
          <a:p>
            <a:endParaRPr/>
          </a:p>
        </p:txBody>
      </p:sp>
      <p:sp>
        <p:nvSpPr>
          <p:cNvPr id="36" name="Rectangle 35"/>
          <p:cNvSpPr/>
          <p:nvPr/>
        </p:nvSpPr>
        <p:spPr>
          <a:xfrm>
            <a:off x="0" y="6527800"/>
            <a:ext cx="12192000" cy="12700"/>
          </a:xfrm>
          <a:prstGeom prst="rect">
            <a:avLst/>
          </a:prstGeom>
          <a:solidFill>
            <a:srgbClr val="F0F2F4"/>
          </a:solidFill>
          <a:ln>
            <a:noFill/>
          </a:ln>
          <a:effectLst/>
        </p:spPr>
        <p:txBody>
          <a:bodyPr rtlCol="0" anchor="ctr"/>
          <a:lstStyle/>
          <a:p>
            <a:endParaRPr/>
          </a:p>
        </p:txBody>
      </p:sp>
      <p:sp>
        <p:nvSpPr>
          <p:cNvPr id="37" name="TextBox 36"/>
          <p:cNvSpPr txBox="1"/>
          <p:nvPr/>
        </p:nvSpPr>
        <p:spPr>
          <a:xfrm>
            <a:off x="609600" y="6613525"/>
            <a:ext cx="808038" cy="171450"/>
          </a:xfrm>
          <a:prstGeom prst="rect">
            <a:avLst/>
          </a:prstGeom>
          <a:noFill/>
        </p:spPr>
        <p:txBody>
          <a:bodyPr wrap="none" lIns="0" tIns="0" rIns="0" bIns="0" anchor="t">
            <a:noAutofit/>
          </a:bodyPr>
          <a:lstStyle/>
          <a:p>
            <a:pPr algn="l">
              <a:lnSpc>
                <a:spcPts val="1330"/>
              </a:lnSpc>
            </a:pPr>
            <a:r>
              <a:rPr sz="950" b="1">
                <a:solidFill>
                  <a:srgbClr val="24476E"/>
                </a:solidFill>
                <a:latin typeface="Microsoft JhengHei"/>
                <a:ea typeface="Microsoft JhengHei"/>
                <a:cs typeface="Microsoft JhengHei"/>
              </a:rPr>
              <a:t>3. Therapy</a:t>
            </a:r>
          </a:p>
        </p:txBody>
      </p:sp>
      <p:sp>
        <p:nvSpPr>
          <p:cNvPr id="38" name="Rounded Rectangle 37"/>
          <p:cNvSpPr/>
          <p:nvPr/>
        </p:nvSpPr>
        <p:spPr>
          <a:xfrm>
            <a:off x="1395730" y="6680200"/>
            <a:ext cx="9651302" cy="38100"/>
          </a:xfrm>
          <a:prstGeom prst="roundRect">
            <a:avLst>
              <a:gd name="adj" fmla="val 50000"/>
            </a:avLst>
          </a:prstGeom>
          <a:solidFill>
            <a:srgbClr val="F0F2F4"/>
          </a:solidFill>
          <a:ln>
            <a:noFill/>
          </a:ln>
          <a:effectLst/>
        </p:spPr>
        <p:txBody>
          <a:bodyPr rtlCol="0" anchor="ctr"/>
          <a:lstStyle/>
          <a:p>
            <a:endParaRPr/>
          </a:p>
        </p:txBody>
      </p:sp>
      <p:sp>
        <p:nvSpPr>
          <p:cNvPr id="39" name="Rectangle 38"/>
          <p:cNvSpPr/>
          <p:nvPr/>
        </p:nvSpPr>
        <p:spPr>
          <a:xfrm>
            <a:off x="1395730" y="6680200"/>
            <a:ext cx="7238429" cy="38100"/>
          </a:xfrm>
          <a:prstGeom prst="rect">
            <a:avLst/>
          </a:prstGeom>
          <a:solidFill>
            <a:srgbClr val="F3C84B"/>
          </a:solidFill>
          <a:ln>
            <a:noFill/>
          </a:ln>
          <a:effectLst/>
        </p:spPr>
        <p:txBody>
          <a:bodyPr rtlCol="0" anchor="ctr"/>
          <a:lstStyle/>
          <a:p>
            <a:endParaRPr/>
          </a:p>
        </p:txBody>
      </p:sp>
      <p:sp>
        <p:nvSpPr>
          <p:cNvPr id="40" name="TextBox 39"/>
          <p:cNvSpPr txBox="1"/>
          <p:nvPr/>
        </p:nvSpPr>
        <p:spPr>
          <a:xfrm>
            <a:off x="11186732" y="6613525"/>
            <a:ext cx="494586" cy="171450"/>
          </a:xfrm>
          <a:prstGeom prst="rect">
            <a:avLst/>
          </a:prstGeom>
          <a:noFill/>
        </p:spPr>
        <p:txBody>
          <a:bodyPr wrap="none" lIns="0" tIns="0" rIns="0" bIns="0" anchor="t">
            <a:noAutofit/>
          </a:bodyPr>
          <a:lstStyle/>
          <a:p>
            <a:pPr algn="l">
              <a:lnSpc>
                <a:spcPts val="1330"/>
              </a:lnSpc>
            </a:pPr>
            <a:r>
              <a:rPr sz="950" b="1">
                <a:solidFill>
                  <a:srgbClr val="3B4754"/>
                </a:solidFill>
                <a:latin typeface="Microsoft JhengHei"/>
                <a:ea typeface="Microsoft JhengHei"/>
                <a:cs typeface="Microsoft JhengHei"/>
              </a:rPr>
              <a:t>09 / 12</a:t>
            </a:r>
          </a:p>
        </p:txBody>
      </p:sp>
      <p:sp>
        <p:nvSpPr>
          <p:cNvPr id="41" name="LINK_Rectangle 40">
            <a:hlinkClick r:id="rId4" action="ppaction://hlinksldjump"/>
          </p:cNvPr>
          <p:cNvSpPr/>
          <p:nvPr/>
        </p:nvSpPr>
        <p:spPr>
          <a:xfrm>
            <a:off x="8473976" y="190500"/>
            <a:ext cx="599281" cy="266700"/>
          </a:xfrm>
          <a:prstGeom prst="rect">
            <a:avLst/>
          </a:prstGeom>
          <a:solidFill>
            <a:srgbClr val="FFFFFF">
              <a:alpha val="0"/>
            </a:srgbClr>
          </a:solidFill>
          <a:ln>
            <a:noFill/>
          </a:ln>
          <a:effectLst/>
        </p:spPr>
        <p:txBody>
          <a:bodyPr rtlCol="0" anchor="ctr"/>
          <a:lstStyle/>
          <a:p>
            <a:pPr algn="ctr"/>
            <a:endParaRPr/>
          </a:p>
        </p:txBody>
      </p:sp>
      <p:sp>
        <p:nvSpPr>
          <p:cNvPr id="42" name="LINK_Rectangle 41">
            <a:hlinkClick r:id="rId5" action="ppaction://hlinksldjump"/>
          </p:cNvPr>
          <p:cNvSpPr/>
          <p:nvPr/>
        </p:nvSpPr>
        <p:spPr>
          <a:xfrm>
            <a:off x="9124057" y="190500"/>
            <a:ext cx="689471" cy="266700"/>
          </a:xfrm>
          <a:prstGeom prst="rect">
            <a:avLst/>
          </a:prstGeom>
          <a:solidFill>
            <a:srgbClr val="FFFFFF">
              <a:alpha val="0"/>
            </a:srgbClr>
          </a:solidFill>
          <a:ln>
            <a:noFill/>
          </a:ln>
          <a:effectLst/>
        </p:spPr>
        <p:txBody>
          <a:bodyPr rtlCol="0" anchor="ctr"/>
          <a:lstStyle/>
          <a:p>
            <a:pPr algn="ctr"/>
            <a:endParaRPr/>
          </a:p>
        </p:txBody>
      </p:sp>
      <p:sp>
        <p:nvSpPr>
          <p:cNvPr id="43" name="LINK_Rectangle 42">
            <a:hlinkClick r:id="rId6" action="ppaction://hlinksldjump"/>
          </p:cNvPr>
          <p:cNvSpPr/>
          <p:nvPr/>
        </p:nvSpPr>
        <p:spPr>
          <a:xfrm>
            <a:off x="9864328" y="190500"/>
            <a:ext cx="795734" cy="266700"/>
          </a:xfrm>
          <a:prstGeom prst="rect">
            <a:avLst/>
          </a:prstGeom>
          <a:solidFill>
            <a:srgbClr val="FFFFFF">
              <a:alpha val="0"/>
            </a:srgbClr>
          </a:solidFill>
          <a:ln>
            <a:noFill/>
          </a:ln>
          <a:effectLst/>
        </p:spPr>
        <p:txBody>
          <a:bodyPr rtlCol="0" anchor="ctr"/>
          <a:lstStyle/>
          <a:p>
            <a:pPr algn="ctr"/>
            <a:endParaRPr/>
          </a:p>
        </p:txBody>
      </p:sp>
      <p:sp>
        <p:nvSpPr>
          <p:cNvPr id="44" name="LINK_Rectangle 43">
            <a:hlinkClick r:id="rId7" action="ppaction://hlinksldjump"/>
          </p:cNvPr>
          <p:cNvSpPr/>
          <p:nvPr/>
        </p:nvSpPr>
        <p:spPr>
          <a:xfrm>
            <a:off x="10710862" y="190500"/>
            <a:ext cx="871538" cy="266700"/>
          </a:xfrm>
          <a:prstGeom prst="rect">
            <a:avLst/>
          </a:prstGeom>
          <a:solidFill>
            <a:srgbClr val="FFFFFF">
              <a:alpha val="0"/>
            </a:srgbClr>
          </a:solidFill>
          <a:ln>
            <a:noFill/>
          </a:ln>
          <a:effectLst/>
        </p:spPr>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avLst/>
          </a:prstGeom>
          <a:solidFill>
            <a:srgbClr val="FFFFFF"/>
          </a:solidFill>
          <a:ln>
            <a:noFill/>
          </a:ln>
          <a:effectLst/>
        </p:spPr>
        <p:txBody>
          <a:bodyPr rtlCol="0" anchor="ctr"/>
          <a:lstStyle/>
          <a:p>
            <a:pPr algn="ctr"/>
            <a:endParaRPr/>
          </a:p>
        </p:txBody>
      </p:sp>
      <p:sp>
        <p:nvSpPr>
          <p:cNvPr id="3" name="TextBox 2"/>
          <p:cNvSpPr txBox="1"/>
          <p:nvPr/>
        </p:nvSpPr>
        <p:spPr>
          <a:xfrm>
            <a:off x="609600" y="377825"/>
            <a:ext cx="3008312" cy="152400"/>
          </a:xfrm>
          <a:prstGeom prst="rect">
            <a:avLst/>
          </a:prstGeom>
          <a:noFill/>
        </p:spPr>
        <p:txBody>
          <a:bodyPr wrap="none" lIns="0" tIns="0" rIns="0" bIns="0" anchor="t">
            <a:noAutofit/>
          </a:bodyPr>
          <a:lstStyle/>
          <a:p>
            <a:pPr algn="l">
              <a:lnSpc>
                <a:spcPts val="1120"/>
              </a:lnSpc>
            </a:pPr>
            <a:r>
              <a:rPr sz="800" b="0">
                <a:solidFill>
                  <a:srgbClr val="1E2833"/>
                </a:solidFill>
                <a:latin typeface="Microsoft JhengHei"/>
                <a:ea typeface="Microsoft JhengHei"/>
                <a:cs typeface="Microsoft JhengHei"/>
              </a:rPr>
              <a:t>Comprehensive Care • Acute to Chronic Trajectory</a:t>
            </a:r>
          </a:p>
        </p:txBody>
      </p:sp>
      <p:sp>
        <p:nvSpPr>
          <p:cNvPr id="4" name="Rounded Rectangle 3"/>
          <p:cNvSpPr/>
          <p:nvPr/>
        </p:nvSpPr>
        <p:spPr>
          <a:xfrm>
            <a:off x="7344664" y="330200"/>
            <a:ext cx="884936" cy="247650"/>
          </a:xfrm>
          <a:prstGeom prst="roundRect">
            <a:avLst>
              <a:gd name="adj" fmla="val 50000"/>
            </a:avLst>
          </a:prstGeom>
          <a:solidFill>
            <a:srgbClr val="FFFFFF"/>
          </a:solidFill>
          <a:ln w="6350">
            <a:solidFill>
              <a:srgbClr val="24476E"/>
            </a:solidFill>
          </a:ln>
          <a:effectLst/>
        </p:spPr>
        <p:txBody>
          <a:bodyPr rtlCol="0" anchor="ctr"/>
          <a:lstStyle/>
          <a:p>
            <a:endParaRPr/>
          </a:p>
        </p:txBody>
      </p:sp>
      <p:sp>
        <p:nvSpPr>
          <p:cNvPr id="5" name="TextBox 4"/>
          <p:cNvSpPr txBox="1"/>
          <p:nvPr/>
        </p:nvSpPr>
        <p:spPr>
          <a:xfrm>
            <a:off x="7465314" y="374650"/>
            <a:ext cx="237109" cy="158750"/>
          </a:xfrm>
          <a:prstGeom prst="rect">
            <a:avLst/>
          </a:prstGeom>
          <a:noFill/>
        </p:spPr>
        <p:txBody>
          <a:bodyPr wrap="none" lIns="0" tIns="0" rIns="0" bIns="0" anchor="t">
            <a:noAutofit/>
          </a:bodyPr>
          <a:lstStyle/>
          <a:p>
            <a:pPr algn="l">
              <a:lnSpc>
                <a:spcPts val="1190"/>
              </a:lnSpc>
            </a:pPr>
            <a:r>
              <a:rPr sz="850" b="1">
                <a:solidFill>
                  <a:srgbClr val="24476E"/>
                </a:solidFill>
                <a:latin typeface="Microsoft JhengHei"/>
                <a:ea typeface="Microsoft JhengHei"/>
                <a:cs typeface="Microsoft JhengHei"/>
              </a:rPr>
              <a:t>🌐</a:t>
            </a:r>
          </a:p>
        </p:txBody>
      </p:sp>
      <p:sp>
        <p:nvSpPr>
          <p:cNvPr id="6" name="TextBox 5"/>
          <p:cNvSpPr txBox="1"/>
          <p:nvPr/>
        </p:nvSpPr>
        <p:spPr>
          <a:xfrm>
            <a:off x="7651623" y="374650"/>
            <a:ext cx="571659" cy="158750"/>
          </a:xfrm>
          <a:prstGeom prst="rect">
            <a:avLst/>
          </a:prstGeom>
          <a:noFill/>
        </p:spPr>
        <p:txBody>
          <a:bodyPr wrap="none" lIns="0" tIns="0" rIns="0" bIns="0" anchor="t">
            <a:noAutofit/>
          </a:bodyPr>
          <a:lstStyle/>
          <a:p>
            <a:pPr algn="l">
              <a:lnSpc>
                <a:spcPts val="1190"/>
              </a:lnSpc>
            </a:pPr>
            <a:r>
              <a:rPr sz="850" b="1">
                <a:solidFill>
                  <a:srgbClr val="24476E"/>
                </a:solidFill>
                <a:latin typeface="Microsoft JhengHei"/>
                <a:ea typeface="Microsoft JhengHei"/>
                <a:cs typeface="Microsoft JhengHei"/>
              </a:rPr>
              <a:t>EN / 中文</a:t>
            </a:r>
          </a:p>
        </p:txBody>
      </p:sp>
      <p:sp>
        <p:nvSpPr>
          <p:cNvPr id="7" name="TextBox 6"/>
          <p:cNvSpPr txBox="1"/>
          <p:nvPr/>
        </p:nvSpPr>
        <p:spPr>
          <a:xfrm>
            <a:off x="609600" y="603250"/>
            <a:ext cx="6585268" cy="361950"/>
          </a:xfrm>
          <a:prstGeom prst="rect">
            <a:avLst/>
          </a:prstGeom>
          <a:noFill/>
        </p:spPr>
        <p:txBody>
          <a:bodyPr wrap="none" lIns="0" tIns="0" rIns="0" bIns="0" anchor="t">
            <a:noAutofit/>
          </a:bodyPr>
          <a:lstStyle/>
          <a:p>
            <a:pPr algn="l">
              <a:lnSpc>
                <a:spcPts val="2500"/>
              </a:lnSpc>
            </a:pPr>
            <a:r>
              <a:rPr sz="2000" b="1" spc="-20">
                <a:solidFill>
                  <a:srgbClr val="1E2833"/>
                </a:solidFill>
                <a:latin typeface="Microsoft JhengHei"/>
                <a:ea typeface="Microsoft JhengHei"/>
                <a:cs typeface="Microsoft JhengHei"/>
              </a:rPr>
              <a:t>Clinical Roadmap: Acute to Chronic Care</a:t>
            </a:r>
          </a:p>
        </p:txBody>
      </p:sp>
      <p:sp>
        <p:nvSpPr>
          <p:cNvPr id="8" name="TextBox 7"/>
          <p:cNvSpPr txBox="1"/>
          <p:nvPr/>
        </p:nvSpPr>
        <p:spPr>
          <a:xfrm>
            <a:off x="609600" y="977900"/>
            <a:ext cx="6562169" cy="222250"/>
          </a:xfrm>
          <a:prstGeom prst="rect">
            <a:avLst/>
          </a:prstGeom>
          <a:noFill/>
        </p:spPr>
        <p:txBody>
          <a:bodyPr wrap="none" lIns="0" tIns="0" rIns="0" bIns="0" anchor="t">
            <a:noAutofit/>
          </a:bodyPr>
          <a:lstStyle/>
          <a:p>
            <a:pPr algn="l">
              <a:lnSpc>
                <a:spcPts val="1680"/>
              </a:lnSpc>
            </a:pPr>
            <a:r>
              <a:rPr sz="1200" b="0">
                <a:solidFill>
                  <a:srgbClr val="5F6B77"/>
                </a:solidFill>
                <a:latin typeface="Microsoft JhengHei"/>
                <a:ea typeface="Microsoft JhengHei"/>
                <a:cs typeface="Microsoft JhengHei"/>
              </a:rPr>
              <a:t>Structured 3-phase management ensuring permanent plaque stabilization</a:t>
            </a:r>
          </a:p>
        </p:txBody>
      </p:sp>
      <p:sp>
        <p:nvSpPr>
          <p:cNvPr id="9" name="Rounded Rectangle 8"/>
          <p:cNvSpPr/>
          <p:nvPr/>
        </p:nvSpPr>
        <p:spPr>
          <a:xfrm>
            <a:off x="609600" y="1324546"/>
            <a:ext cx="3539046" cy="4508500"/>
          </a:xfrm>
          <a:prstGeom prst="roundRect">
            <a:avLst>
              <a:gd name="adj" fmla="val 3229"/>
            </a:avLst>
          </a:prstGeom>
          <a:solidFill>
            <a:srgbClr val="F0F2F4"/>
          </a:solidFill>
          <a:ln>
            <a:noFill/>
          </a:ln>
          <a:effectLst/>
        </p:spPr>
        <p:txBody>
          <a:bodyPr rtlCol="0" anchor="ctr"/>
          <a:lstStyle/>
          <a:p>
            <a:endParaRPr/>
          </a:p>
        </p:txBody>
      </p:sp>
      <p:sp>
        <p:nvSpPr>
          <p:cNvPr id="10" name="Rectangle 9"/>
          <p:cNvSpPr/>
          <p:nvPr/>
        </p:nvSpPr>
        <p:spPr>
          <a:xfrm>
            <a:off x="800100" y="1527746"/>
            <a:ext cx="904875" cy="184150"/>
          </a:xfrm>
          <a:prstGeom prst="rect">
            <a:avLst/>
          </a:prstGeom>
          <a:solidFill>
            <a:srgbClr val="B85030">
              <a:alpha val="12000"/>
            </a:srgbClr>
          </a:solidFill>
          <a:ln>
            <a:noFill/>
          </a:ln>
          <a:effectLst/>
        </p:spPr>
        <p:txBody>
          <a:bodyPr rtlCol="0" anchor="ctr"/>
          <a:lstStyle/>
          <a:p>
            <a:endParaRPr/>
          </a:p>
        </p:txBody>
      </p:sp>
      <p:sp>
        <p:nvSpPr>
          <p:cNvPr id="11" name="TextBox 10"/>
          <p:cNvSpPr txBox="1"/>
          <p:nvPr/>
        </p:nvSpPr>
        <p:spPr>
          <a:xfrm>
            <a:off x="800100" y="1527746"/>
            <a:ext cx="1131094" cy="184150"/>
          </a:xfrm>
          <a:prstGeom prst="rect">
            <a:avLst/>
          </a:prstGeom>
          <a:noFill/>
        </p:spPr>
        <p:txBody>
          <a:bodyPr wrap="none" lIns="0" tIns="0" rIns="0" bIns="0" anchor="t">
            <a:noAutofit/>
          </a:bodyPr>
          <a:lstStyle/>
          <a:p>
            <a:pPr algn="l">
              <a:lnSpc>
                <a:spcPts val="1400"/>
              </a:lnSpc>
            </a:pPr>
            <a:r>
              <a:rPr sz="1000" b="1">
                <a:solidFill>
                  <a:srgbClr val="1E2833"/>
                </a:solidFill>
                <a:latin typeface="Microsoft JhengHei"/>
                <a:ea typeface="Microsoft JhengHei"/>
                <a:cs typeface="Microsoft JhengHei"/>
              </a:rPr>
              <a:t>Phase 1: Acute</a:t>
            </a:r>
          </a:p>
        </p:txBody>
      </p:sp>
      <p:sp>
        <p:nvSpPr>
          <p:cNvPr id="12" name="TextBox 11"/>
          <p:cNvSpPr txBox="1"/>
          <p:nvPr/>
        </p:nvSpPr>
        <p:spPr>
          <a:xfrm>
            <a:off x="3458400" y="1527746"/>
            <a:ext cx="624681" cy="184150"/>
          </a:xfrm>
          <a:prstGeom prst="rect">
            <a:avLst/>
          </a:prstGeom>
          <a:noFill/>
        </p:spPr>
        <p:txBody>
          <a:bodyPr wrap="none" lIns="0" tIns="0" rIns="0" bIns="0" anchor="t">
            <a:noAutofit/>
          </a:bodyPr>
          <a:lstStyle/>
          <a:p>
            <a:pPr algn="l">
              <a:lnSpc>
                <a:spcPts val="1400"/>
              </a:lnSpc>
            </a:pPr>
            <a:r>
              <a:rPr sz="1000" b="1">
                <a:solidFill>
                  <a:srgbClr val="5F6B77"/>
                </a:solidFill>
                <a:latin typeface="Microsoft JhengHei"/>
                <a:ea typeface="Microsoft JhengHei"/>
                <a:cs typeface="Microsoft JhengHei"/>
              </a:rPr>
              <a:t>Day 1–3</a:t>
            </a:r>
          </a:p>
        </p:txBody>
      </p:sp>
      <p:sp>
        <p:nvSpPr>
          <p:cNvPr id="13" name="TextBox 12"/>
          <p:cNvSpPr txBox="1"/>
          <p:nvPr/>
        </p:nvSpPr>
        <p:spPr>
          <a:xfrm>
            <a:off x="800100" y="1781746"/>
            <a:ext cx="2919016" cy="279400"/>
          </a:xfrm>
          <a:prstGeom prst="rect">
            <a:avLst/>
          </a:prstGeom>
          <a:noFill/>
        </p:spPr>
        <p:txBody>
          <a:bodyPr wrap="none" lIns="0" tIns="0" rIns="0" bIns="0" anchor="t">
            <a:noAutofit/>
          </a:bodyPr>
          <a:lstStyle/>
          <a:p>
            <a:pPr algn="l">
              <a:lnSpc>
                <a:spcPts val="1950"/>
              </a:lnSpc>
            </a:pPr>
            <a:r>
              <a:rPr sz="1500" b="1">
                <a:solidFill>
                  <a:srgbClr val="1E2833"/>
                </a:solidFill>
                <a:latin typeface="Microsoft JhengHei"/>
                <a:ea typeface="Microsoft JhengHei"/>
                <a:cs typeface="Microsoft JhengHei"/>
              </a:rPr>
              <a:t>In-Hospital Stabilization</a:t>
            </a:r>
          </a:p>
        </p:txBody>
      </p:sp>
      <p:sp>
        <p:nvSpPr>
          <p:cNvPr id="14" name="TextBox 13"/>
          <p:cNvSpPr txBox="1"/>
          <p:nvPr/>
        </p:nvSpPr>
        <p:spPr>
          <a:xfrm>
            <a:off x="939800" y="2200846"/>
            <a:ext cx="3018346" cy="456819"/>
          </a:xfrm>
          <a:prstGeom prst="rect">
            <a:avLst/>
          </a:prstGeom>
          <a:noFill/>
        </p:spPr>
        <p:txBody>
          <a:bodyPr wrap="square" lIns="0" tIns="0" rIns="0" bIns="0" anchor="t">
            <a:noAutofit/>
          </a:bodyPr>
          <a:lstStyle/>
          <a:p>
            <a:pPr algn="l">
              <a:lnSpc>
                <a:spcPts val="1900"/>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Primary PCI:</a:t>
            </a:r>
            <a:r>
              <a:rPr sz="1150" b="0">
                <a:solidFill>
                  <a:srgbClr val="1E2833"/>
                </a:solidFill>
                <a:latin typeface="Microsoft JhengHei"/>
                <a:ea typeface="Microsoft JhengHei"/>
                <a:cs typeface="Microsoft JhengHei"/>
              </a:rPr>
              <a:t> LAD stent deployed within 38 minutes.</a:t>
            </a:r>
          </a:p>
        </p:txBody>
      </p:sp>
      <p:sp>
        <p:nvSpPr>
          <p:cNvPr id="15" name="TextBox 14"/>
          <p:cNvSpPr txBox="1"/>
          <p:nvPr/>
        </p:nvSpPr>
        <p:spPr>
          <a:xfrm>
            <a:off x="939800" y="2682684"/>
            <a:ext cx="3018346" cy="456819"/>
          </a:xfrm>
          <a:prstGeom prst="rect">
            <a:avLst/>
          </a:prstGeom>
          <a:noFill/>
        </p:spPr>
        <p:txBody>
          <a:bodyPr wrap="square" lIns="0" tIns="0" rIns="0" bIns="0" anchor="t">
            <a:noAutofit/>
          </a:bodyPr>
          <a:lstStyle/>
          <a:p>
            <a:pPr algn="l">
              <a:lnSpc>
                <a:spcPts val="1900"/>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Upfront Dual Rx:</a:t>
            </a:r>
            <a:r>
              <a:rPr sz="1150" b="0">
                <a:solidFill>
                  <a:srgbClr val="1E2833"/>
                </a:solidFill>
                <a:latin typeface="Microsoft JhengHei"/>
                <a:ea typeface="Microsoft JhengHei"/>
                <a:cs typeface="Microsoft JhengHei"/>
              </a:rPr>
              <a:t> High-intensity statin + Ezetimibe 10 mg started immediately.</a:t>
            </a:r>
          </a:p>
        </p:txBody>
      </p:sp>
      <p:sp>
        <p:nvSpPr>
          <p:cNvPr id="16" name="TextBox 15"/>
          <p:cNvSpPr txBox="1"/>
          <p:nvPr/>
        </p:nvSpPr>
        <p:spPr>
          <a:xfrm>
            <a:off x="939800" y="3164459"/>
            <a:ext cx="3018346" cy="456819"/>
          </a:xfrm>
          <a:prstGeom prst="rect">
            <a:avLst/>
          </a:prstGeom>
          <a:noFill/>
        </p:spPr>
        <p:txBody>
          <a:bodyPr wrap="square" lIns="0" tIns="0" rIns="0" bIns="0" anchor="t">
            <a:noAutofit/>
          </a:bodyPr>
          <a:lstStyle/>
          <a:p>
            <a:pPr algn="l">
              <a:lnSpc>
                <a:spcPts val="1900"/>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Inpatient Rehab:</a:t>
            </a:r>
            <a:r>
              <a:rPr sz="1150" b="0">
                <a:solidFill>
                  <a:srgbClr val="1E2833"/>
                </a:solidFill>
                <a:latin typeface="Microsoft JhengHei"/>
                <a:ea typeface="Microsoft JhengHei"/>
                <a:cs typeface="Microsoft JhengHei"/>
              </a:rPr>
              <a:t> Bedside mobilization &amp; smoking cessation counseling.</a:t>
            </a:r>
          </a:p>
        </p:txBody>
      </p:sp>
      <p:sp>
        <p:nvSpPr>
          <p:cNvPr id="17" name="Rounded Rectangle 16"/>
          <p:cNvSpPr/>
          <p:nvPr/>
        </p:nvSpPr>
        <p:spPr>
          <a:xfrm>
            <a:off x="800100" y="5083746"/>
            <a:ext cx="3158046" cy="546100"/>
          </a:xfrm>
          <a:prstGeom prst="roundRect">
            <a:avLst>
              <a:gd name="adj" fmla="val 11627"/>
            </a:avLst>
          </a:prstGeom>
          <a:solidFill>
            <a:srgbClr val="FDF1ED"/>
          </a:solidFill>
          <a:ln>
            <a:noFill/>
          </a:ln>
          <a:effectLst/>
        </p:spPr>
        <p:txBody>
          <a:bodyPr rtlCol="0" anchor="ctr"/>
          <a:lstStyle/>
          <a:p>
            <a:endParaRPr/>
          </a:p>
        </p:txBody>
      </p:sp>
      <p:sp>
        <p:nvSpPr>
          <p:cNvPr id="18" name="TextBox 17"/>
          <p:cNvSpPr txBox="1"/>
          <p:nvPr/>
        </p:nvSpPr>
        <p:spPr>
          <a:xfrm>
            <a:off x="914400" y="5172646"/>
            <a:ext cx="2929446" cy="368300"/>
          </a:xfrm>
          <a:prstGeom prst="rect">
            <a:avLst/>
          </a:prstGeom>
          <a:noFill/>
        </p:spPr>
        <p:txBody>
          <a:bodyPr wrap="square" lIns="0" tIns="0" rIns="0" bIns="0" anchor="t">
            <a:noAutofit/>
          </a:bodyPr>
          <a:lstStyle/>
          <a:p>
            <a:pPr algn="l">
              <a:lnSpc>
                <a:spcPts val="1400"/>
              </a:lnSpc>
            </a:pPr>
            <a:r>
              <a:rPr sz="1000" b="1">
                <a:solidFill>
                  <a:srgbClr val="1E2833"/>
                </a:solidFill>
                <a:latin typeface="Microsoft JhengHei"/>
                <a:ea typeface="Microsoft JhengHei"/>
                <a:cs typeface="Microsoft JhengHei"/>
              </a:rPr>
              <a:t>Action: Prescribe dual therapy before hospital discharge!</a:t>
            </a:r>
          </a:p>
        </p:txBody>
      </p:sp>
      <p:sp>
        <p:nvSpPr>
          <p:cNvPr id="19" name="Rounded Rectangle 18"/>
          <p:cNvSpPr/>
          <p:nvPr/>
        </p:nvSpPr>
        <p:spPr>
          <a:xfrm>
            <a:off x="4326446" y="1324546"/>
            <a:ext cx="3539046" cy="4508500"/>
          </a:xfrm>
          <a:prstGeom prst="roundRect">
            <a:avLst>
              <a:gd name="adj" fmla="val 3229"/>
            </a:avLst>
          </a:prstGeom>
          <a:solidFill>
            <a:srgbClr val="F0F2F4"/>
          </a:solidFill>
          <a:ln>
            <a:noFill/>
          </a:ln>
          <a:effectLst/>
        </p:spPr>
        <p:txBody>
          <a:bodyPr rtlCol="0" anchor="ctr"/>
          <a:lstStyle/>
          <a:p>
            <a:endParaRPr/>
          </a:p>
        </p:txBody>
      </p:sp>
      <p:sp>
        <p:nvSpPr>
          <p:cNvPr id="20" name="Rectangle 19"/>
          <p:cNvSpPr/>
          <p:nvPr/>
        </p:nvSpPr>
        <p:spPr>
          <a:xfrm>
            <a:off x="4516946" y="1527746"/>
            <a:ext cx="1137920" cy="184150"/>
          </a:xfrm>
          <a:prstGeom prst="rect">
            <a:avLst/>
          </a:prstGeom>
          <a:solidFill>
            <a:srgbClr val="C79238">
              <a:alpha val="14000"/>
            </a:srgbClr>
          </a:solidFill>
          <a:ln>
            <a:noFill/>
          </a:ln>
          <a:effectLst/>
        </p:spPr>
        <p:txBody>
          <a:bodyPr rtlCol="0" anchor="ctr"/>
          <a:lstStyle/>
          <a:p>
            <a:endParaRPr/>
          </a:p>
        </p:txBody>
      </p:sp>
      <p:sp>
        <p:nvSpPr>
          <p:cNvPr id="21" name="TextBox 20"/>
          <p:cNvSpPr txBox="1"/>
          <p:nvPr/>
        </p:nvSpPr>
        <p:spPr>
          <a:xfrm>
            <a:off x="4516946" y="1527746"/>
            <a:ext cx="1422400" cy="184150"/>
          </a:xfrm>
          <a:prstGeom prst="rect">
            <a:avLst/>
          </a:prstGeom>
          <a:noFill/>
        </p:spPr>
        <p:txBody>
          <a:bodyPr wrap="none" lIns="0" tIns="0" rIns="0" bIns="0" anchor="t">
            <a:noAutofit/>
          </a:bodyPr>
          <a:lstStyle/>
          <a:p>
            <a:pPr algn="l">
              <a:lnSpc>
                <a:spcPts val="1400"/>
              </a:lnSpc>
            </a:pPr>
            <a:r>
              <a:rPr sz="1000" b="1">
                <a:solidFill>
                  <a:srgbClr val="1E2833"/>
                </a:solidFill>
                <a:latin typeface="Microsoft JhengHei"/>
                <a:ea typeface="Microsoft JhengHei"/>
                <a:cs typeface="Microsoft JhengHei"/>
              </a:rPr>
              <a:t>Phase 2: Subacute</a:t>
            </a:r>
          </a:p>
        </p:txBody>
      </p:sp>
      <p:sp>
        <p:nvSpPr>
          <p:cNvPr id="22" name="TextBox 21"/>
          <p:cNvSpPr txBox="1"/>
          <p:nvPr/>
        </p:nvSpPr>
        <p:spPr>
          <a:xfrm>
            <a:off x="7070852" y="1527746"/>
            <a:ext cx="755174" cy="184150"/>
          </a:xfrm>
          <a:prstGeom prst="rect">
            <a:avLst/>
          </a:prstGeom>
          <a:noFill/>
        </p:spPr>
        <p:txBody>
          <a:bodyPr wrap="none" lIns="0" tIns="0" rIns="0" bIns="0" anchor="t">
            <a:noAutofit/>
          </a:bodyPr>
          <a:lstStyle/>
          <a:p>
            <a:pPr algn="l">
              <a:lnSpc>
                <a:spcPts val="1400"/>
              </a:lnSpc>
            </a:pPr>
            <a:r>
              <a:rPr sz="1000" b="1">
                <a:solidFill>
                  <a:srgbClr val="5F6B77"/>
                </a:solidFill>
                <a:latin typeface="Microsoft JhengHei"/>
                <a:ea typeface="Microsoft JhengHei"/>
                <a:cs typeface="Microsoft JhengHei"/>
              </a:rPr>
              <a:t>Week 4–6</a:t>
            </a:r>
          </a:p>
        </p:txBody>
      </p:sp>
      <p:sp>
        <p:nvSpPr>
          <p:cNvPr id="23" name="TextBox 22"/>
          <p:cNvSpPr txBox="1"/>
          <p:nvPr/>
        </p:nvSpPr>
        <p:spPr>
          <a:xfrm>
            <a:off x="4516946" y="1781746"/>
            <a:ext cx="3494484" cy="279400"/>
          </a:xfrm>
          <a:prstGeom prst="rect">
            <a:avLst/>
          </a:prstGeom>
          <a:noFill/>
        </p:spPr>
        <p:txBody>
          <a:bodyPr wrap="none" lIns="0" tIns="0" rIns="0" bIns="0" anchor="t">
            <a:noAutofit/>
          </a:bodyPr>
          <a:lstStyle/>
          <a:p>
            <a:pPr algn="l">
              <a:lnSpc>
                <a:spcPts val="1950"/>
              </a:lnSpc>
            </a:pPr>
            <a:r>
              <a:rPr sz="1500" b="1">
                <a:solidFill>
                  <a:srgbClr val="1E2833"/>
                </a:solidFill>
                <a:latin typeface="Microsoft JhengHei"/>
                <a:ea typeface="Microsoft JhengHei"/>
                <a:cs typeface="Microsoft JhengHei"/>
              </a:rPr>
              <a:t>4-Week Recheck &amp; Escalation</a:t>
            </a:r>
          </a:p>
        </p:txBody>
      </p:sp>
      <p:sp>
        <p:nvSpPr>
          <p:cNvPr id="24" name="TextBox 23"/>
          <p:cNvSpPr txBox="1"/>
          <p:nvPr/>
        </p:nvSpPr>
        <p:spPr>
          <a:xfrm>
            <a:off x="4656646" y="2200846"/>
            <a:ext cx="3018346" cy="456819"/>
          </a:xfrm>
          <a:prstGeom prst="rect">
            <a:avLst/>
          </a:prstGeom>
          <a:noFill/>
        </p:spPr>
        <p:txBody>
          <a:bodyPr wrap="square" lIns="0" tIns="0" rIns="0" bIns="0" anchor="t">
            <a:noAutofit/>
          </a:bodyPr>
          <a:lstStyle/>
          <a:p>
            <a:pPr algn="l">
              <a:lnSpc>
                <a:spcPts val="1900"/>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Lipid Panel:</a:t>
            </a:r>
            <a:r>
              <a:rPr sz="1150" b="0">
                <a:solidFill>
                  <a:srgbClr val="1E2833"/>
                </a:solidFill>
                <a:latin typeface="Microsoft JhengHei"/>
                <a:ea typeface="Microsoft JhengHei"/>
                <a:cs typeface="Microsoft JhengHei"/>
              </a:rPr>
              <a:t> Evaluate LDL-C response at 4 weeks.</a:t>
            </a:r>
          </a:p>
        </p:txBody>
      </p:sp>
      <p:sp>
        <p:nvSpPr>
          <p:cNvPr id="25" name="TextBox 24"/>
          <p:cNvSpPr txBox="1"/>
          <p:nvPr/>
        </p:nvSpPr>
        <p:spPr>
          <a:xfrm>
            <a:off x="4656646" y="2682684"/>
            <a:ext cx="3018346" cy="456819"/>
          </a:xfrm>
          <a:prstGeom prst="rect">
            <a:avLst/>
          </a:prstGeom>
          <a:noFill/>
        </p:spPr>
        <p:txBody>
          <a:bodyPr wrap="square" lIns="0" tIns="0" rIns="0" bIns="0" anchor="t">
            <a:noAutofit/>
          </a:bodyPr>
          <a:lstStyle/>
          <a:p>
            <a:pPr algn="l">
              <a:lnSpc>
                <a:spcPts val="1900"/>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Target Check:</a:t>
            </a:r>
            <a:r>
              <a:rPr sz="1150" b="0">
                <a:solidFill>
                  <a:srgbClr val="1E2833"/>
                </a:solidFill>
                <a:latin typeface="Microsoft JhengHei"/>
                <a:ea typeface="Microsoft JhengHei"/>
                <a:cs typeface="Microsoft JhengHei"/>
              </a:rPr>
              <a:t> If LDL ≥ 55 mg/dL, escalate to PCSK9 inhibitor without delay.</a:t>
            </a:r>
          </a:p>
        </p:txBody>
      </p:sp>
      <p:sp>
        <p:nvSpPr>
          <p:cNvPr id="26" name="TextBox 25"/>
          <p:cNvSpPr txBox="1"/>
          <p:nvPr/>
        </p:nvSpPr>
        <p:spPr>
          <a:xfrm>
            <a:off x="4656646" y="3164459"/>
            <a:ext cx="3018346" cy="456819"/>
          </a:xfrm>
          <a:prstGeom prst="rect">
            <a:avLst/>
          </a:prstGeom>
          <a:noFill/>
        </p:spPr>
        <p:txBody>
          <a:bodyPr wrap="square" lIns="0" tIns="0" rIns="0" bIns="0" anchor="t">
            <a:noAutofit/>
          </a:bodyPr>
          <a:lstStyle/>
          <a:p>
            <a:pPr algn="l">
              <a:lnSpc>
                <a:spcPts val="1900"/>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Rehab Phase II:</a:t>
            </a:r>
            <a:r>
              <a:rPr sz="1150" b="0">
                <a:solidFill>
                  <a:srgbClr val="1E2833"/>
                </a:solidFill>
                <a:latin typeface="Microsoft JhengHei"/>
                <a:ea typeface="Microsoft JhengHei"/>
                <a:cs typeface="Microsoft JhengHei"/>
              </a:rPr>
              <a:t> 12-week supervised aerobic exercise program begins.</a:t>
            </a:r>
          </a:p>
        </p:txBody>
      </p:sp>
      <p:sp>
        <p:nvSpPr>
          <p:cNvPr id="27" name="Rounded Rectangle 26"/>
          <p:cNvSpPr/>
          <p:nvPr/>
        </p:nvSpPr>
        <p:spPr>
          <a:xfrm>
            <a:off x="4516946" y="5267896"/>
            <a:ext cx="3158046" cy="361950"/>
          </a:xfrm>
          <a:prstGeom prst="roundRect">
            <a:avLst>
              <a:gd name="adj" fmla="val 17543"/>
            </a:avLst>
          </a:prstGeom>
          <a:solidFill>
            <a:srgbClr val="FDF9EE"/>
          </a:solidFill>
          <a:ln>
            <a:noFill/>
          </a:ln>
          <a:effectLst/>
        </p:spPr>
        <p:txBody>
          <a:bodyPr rtlCol="0" anchor="ctr"/>
          <a:lstStyle/>
          <a:p>
            <a:endParaRPr/>
          </a:p>
        </p:txBody>
      </p:sp>
      <p:sp>
        <p:nvSpPr>
          <p:cNvPr id="28" name="TextBox 27"/>
          <p:cNvSpPr txBox="1"/>
          <p:nvPr/>
        </p:nvSpPr>
        <p:spPr>
          <a:xfrm>
            <a:off x="4631246" y="5356796"/>
            <a:ext cx="3142536" cy="184150"/>
          </a:xfrm>
          <a:prstGeom prst="rect">
            <a:avLst/>
          </a:prstGeom>
          <a:noFill/>
        </p:spPr>
        <p:txBody>
          <a:bodyPr wrap="none" lIns="0" tIns="0" rIns="0" bIns="0" anchor="t">
            <a:noAutofit/>
          </a:bodyPr>
          <a:lstStyle/>
          <a:p>
            <a:pPr algn="l">
              <a:lnSpc>
                <a:spcPts val="1400"/>
              </a:lnSpc>
            </a:pPr>
            <a:r>
              <a:rPr sz="1000" b="1">
                <a:solidFill>
                  <a:srgbClr val="1E2833"/>
                </a:solidFill>
                <a:latin typeface="Microsoft JhengHei"/>
                <a:ea typeface="Microsoft JhengHei"/>
                <a:cs typeface="Microsoft JhengHei"/>
              </a:rPr>
              <a:t>Decision: Add PCSK9i if LDL ≥ 55 mg/dL!</a:t>
            </a:r>
          </a:p>
        </p:txBody>
      </p:sp>
      <p:sp>
        <p:nvSpPr>
          <p:cNvPr id="29" name="Rounded Rectangle 28"/>
          <p:cNvSpPr/>
          <p:nvPr/>
        </p:nvSpPr>
        <p:spPr>
          <a:xfrm>
            <a:off x="8043291" y="1324546"/>
            <a:ext cx="3539046" cy="4508500"/>
          </a:xfrm>
          <a:prstGeom prst="roundRect">
            <a:avLst>
              <a:gd name="adj" fmla="val 3229"/>
            </a:avLst>
          </a:prstGeom>
          <a:solidFill>
            <a:srgbClr val="F0F2F4"/>
          </a:solidFill>
          <a:ln>
            <a:noFill/>
          </a:ln>
          <a:effectLst/>
        </p:spPr>
        <p:txBody>
          <a:bodyPr rtlCol="0" anchor="ctr"/>
          <a:lstStyle/>
          <a:p>
            <a:endParaRPr/>
          </a:p>
        </p:txBody>
      </p:sp>
      <p:sp>
        <p:nvSpPr>
          <p:cNvPr id="30" name="Rectangle 29"/>
          <p:cNvSpPr/>
          <p:nvPr/>
        </p:nvSpPr>
        <p:spPr>
          <a:xfrm>
            <a:off x="8043291" y="1324546"/>
            <a:ext cx="3539046" cy="50800"/>
          </a:xfrm>
          <a:prstGeom prst="rect">
            <a:avLst/>
          </a:prstGeom>
          <a:solidFill>
            <a:srgbClr val="3F7A55"/>
          </a:solidFill>
          <a:ln>
            <a:noFill/>
          </a:ln>
          <a:effectLst/>
        </p:spPr>
        <p:txBody>
          <a:bodyPr rtlCol="0" anchor="ctr"/>
          <a:lstStyle/>
          <a:p>
            <a:endParaRPr/>
          </a:p>
        </p:txBody>
      </p:sp>
      <p:sp>
        <p:nvSpPr>
          <p:cNvPr id="31" name="Rectangle 30"/>
          <p:cNvSpPr/>
          <p:nvPr/>
        </p:nvSpPr>
        <p:spPr>
          <a:xfrm>
            <a:off x="8233791" y="1578546"/>
            <a:ext cx="1035939" cy="184150"/>
          </a:xfrm>
          <a:prstGeom prst="rect">
            <a:avLst/>
          </a:prstGeom>
          <a:solidFill>
            <a:srgbClr val="2A6E57">
              <a:alpha val="12000"/>
            </a:srgbClr>
          </a:solidFill>
          <a:ln>
            <a:noFill/>
          </a:ln>
          <a:effectLst/>
        </p:spPr>
        <p:txBody>
          <a:bodyPr rtlCol="0" anchor="ctr"/>
          <a:lstStyle/>
          <a:p>
            <a:endParaRPr/>
          </a:p>
        </p:txBody>
      </p:sp>
      <p:sp>
        <p:nvSpPr>
          <p:cNvPr id="32" name="TextBox 31"/>
          <p:cNvSpPr txBox="1"/>
          <p:nvPr/>
        </p:nvSpPr>
        <p:spPr>
          <a:xfrm>
            <a:off x="8233791" y="1578546"/>
            <a:ext cx="1294924" cy="184150"/>
          </a:xfrm>
          <a:prstGeom prst="rect">
            <a:avLst/>
          </a:prstGeom>
          <a:noFill/>
        </p:spPr>
        <p:txBody>
          <a:bodyPr wrap="none" lIns="0" tIns="0" rIns="0" bIns="0" anchor="t">
            <a:noAutofit/>
          </a:bodyPr>
          <a:lstStyle/>
          <a:p>
            <a:pPr algn="l">
              <a:lnSpc>
                <a:spcPts val="1400"/>
              </a:lnSpc>
            </a:pPr>
            <a:r>
              <a:rPr sz="1000" b="1">
                <a:solidFill>
                  <a:srgbClr val="3F7A55"/>
                </a:solidFill>
                <a:latin typeface="Microsoft JhengHei"/>
                <a:ea typeface="Microsoft JhengHei"/>
                <a:cs typeface="Microsoft JhengHei"/>
              </a:rPr>
              <a:t>Phase 3: Chronic</a:t>
            </a:r>
          </a:p>
        </p:txBody>
      </p:sp>
      <p:sp>
        <p:nvSpPr>
          <p:cNvPr id="33" name="TextBox 32"/>
          <p:cNvSpPr txBox="1"/>
          <p:nvPr/>
        </p:nvSpPr>
        <p:spPr>
          <a:xfrm>
            <a:off x="10367645" y="1578546"/>
            <a:ext cx="1280160" cy="184150"/>
          </a:xfrm>
          <a:prstGeom prst="rect">
            <a:avLst/>
          </a:prstGeom>
          <a:noFill/>
        </p:spPr>
        <p:txBody>
          <a:bodyPr wrap="none" lIns="0" tIns="0" rIns="0" bIns="0" anchor="t">
            <a:noAutofit/>
          </a:bodyPr>
          <a:lstStyle/>
          <a:p>
            <a:pPr algn="l">
              <a:lnSpc>
                <a:spcPts val="1400"/>
              </a:lnSpc>
            </a:pPr>
            <a:r>
              <a:rPr sz="1000" b="1">
                <a:solidFill>
                  <a:srgbClr val="5F6B77"/>
                </a:solidFill>
                <a:latin typeface="Microsoft JhengHei"/>
                <a:ea typeface="Microsoft JhengHei"/>
                <a:cs typeface="Microsoft JhengHei"/>
              </a:rPr>
              <a:t>Year 1 &amp; Beyond</a:t>
            </a:r>
          </a:p>
        </p:txBody>
      </p:sp>
      <p:sp>
        <p:nvSpPr>
          <p:cNvPr id="34" name="TextBox 33"/>
          <p:cNvSpPr txBox="1"/>
          <p:nvPr/>
        </p:nvSpPr>
        <p:spPr>
          <a:xfrm>
            <a:off x="8233791" y="1832546"/>
            <a:ext cx="2959417" cy="279400"/>
          </a:xfrm>
          <a:prstGeom prst="rect">
            <a:avLst/>
          </a:prstGeom>
          <a:noFill/>
        </p:spPr>
        <p:txBody>
          <a:bodyPr wrap="none" lIns="0" tIns="0" rIns="0" bIns="0" anchor="t">
            <a:noAutofit/>
          </a:bodyPr>
          <a:lstStyle/>
          <a:p>
            <a:pPr algn="l">
              <a:lnSpc>
                <a:spcPts val="1950"/>
              </a:lnSpc>
            </a:pPr>
            <a:r>
              <a:rPr sz="1500" b="1">
                <a:solidFill>
                  <a:srgbClr val="3F7A55"/>
                </a:solidFill>
                <a:latin typeface="Microsoft JhengHei"/>
                <a:ea typeface="Microsoft JhengHei"/>
                <a:cs typeface="Microsoft JhengHei"/>
              </a:rPr>
              <a:t>Lifelong Plaque Stability</a:t>
            </a:r>
          </a:p>
        </p:txBody>
      </p:sp>
      <p:sp>
        <p:nvSpPr>
          <p:cNvPr id="35" name="TextBox 34"/>
          <p:cNvSpPr txBox="1"/>
          <p:nvPr/>
        </p:nvSpPr>
        <p:spPr>
          <a:xfrm>
            <a:off x="8373491" y="2251646"/>
            <a:ext cx="3018346" cy="456819"/>
          </a:xfrm>
          <a:prstGeom prst="rect">
            <a:avLst/>
          </a:prstGeom>
          <a:noFill/>
        </p:spPr>
        <p:txBody>
          <a:bodyPr wrap="square" lIns="0" tIns="0" rIns="0" bIns="0" anchor="t">
            <a:noAutofit/>
          </a:bodyPr>
          <a:lstStyle/>
          <a:p>
            <a:pPr algn="l">
              <a:lnSpc>
                <a:spcPts val="1900"/>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Sustained Target:</a:t>
            </a:r>
            <a:r>
              <a:rPr sz="1150" b="0">
                <a:solidFill>
                  <a:srgbClr val="1E2833"/>
                </a:solidFill>
                <a:latin typeface="Microsoft JhengHei"/>
                <a:ea typeface="Microsoft JhengHei"/>
                <a:cs typeface="Microsoft JhengHei"/>
              </a:rPr>
              <a:t> Maintain LDL &lt; 55 mg/dL to ensure permanent cap thickening.</a:t>
            </a:r>
          </a:p>
        </p:txBody>
      </p:sp>
      <p:sp>
        <p:nvSpPr>
          <p:cNvPr id="36" name="TextBox 35"/>
          <p:cNvSpPr txBox="1"/>
          <p:nvPr/>
        </p:nvSpPr>
        <p:spPr>
          <a:xfrm>
            <a:off x="8373491" y="2733484"/>
            <a:ext cx="3018346" cy="456819"/>
          </a:xfrm>
          <a:prstGeom prst="rect">
            <a:avLst/>
          </a:prstGeom>
          <a:noFill/>
        </p:spPr>
        <p:txBody>
          <a:bodyPr wrap="square" lIns="0" tIns="0" rIns="0" bIns="0" anchor="t">
            <a:noAutofit/>
          </a:bodyPr>
          <a:lstStyle/>
          <a:p>
            <a:pPr algn="l">
              <a:lnSpc>
                <a:spcPts val="1900"/>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Active Lifestyle:</a:t>
            </a:r>
            <a:r>
              <a:rPr sz="1150" b="0">
                <a:solidFill>
                  <a:srgbClr val="1E2833"/>
                </a:solidFill>
                <a:latin typeface="Microsoft JhengHei"/>
                <a:ea typeface="Microsoft JhengHei"/>
                <a:cs typeface="Microsoft JhengHei"/>
              </a:rPr>
              <a:t> Mediterranean nutrition and 150 min/wk exercise.</a:t>
            </a:r>
          </a:p>
        </p:txBody>
      </p:sp>
      <p:sp>
        <p:nvSpPr>
          <p:cNvPr id="37" name="TextBox 36"/>
          <p:cNvSpPr txBox="1"/>
          <p:nvPr/>
        </p:nvSpPr>
        <p:spPr>
          <a:xfrm>
            <a:off x="8373491" y="3215259"/>
            <a:ext cx="3018346" cy="456819"/>
          </a:xfrm>
          <a:prstGeom prst="rect">
            <a:avLst/>
          </a:prstGeom>
          <a:noFill/>
        </p:spPr>
        <p:txBody>
          <a:bodyPr wrap="square" lIns="0" tIns="0" rIns="0" bIns="0" anchor="t">
            <a:noAutofit/>
          </a:bodyPr>
          <a:lstStyle/>
          <a:p>
            <a:pPr algn="l">
              <a:lnSpc>
                <a:spcPts val="1900"/>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Follow-up:</a:t>
            </a:r>
            <a:r>
              <a:rPr sz="1150" b="0">
                <a:solidFill>
                  <a:srgbClr val="1E2833"/>
                </a:solidFill>
                <a:latin typeface="Microsoft JhengHei"/>
                <a:ea typeface="Microsoft JhengHei"/>
                <a:cs typeface="Microsoft JhengHei"/>
              </a:rPr>
              <a:t> Lipids, liver enzymes, and renal function every 6–12 months.</a:t>
            </a:r>
          </a:p>
        </p:txBody>
      </p:sp>
      <p:sp>
        <p:nvSpPr>
          <p:cNvPr id="38" name="Rounded Rectangle 37"/>
          <p:cNvSpPr/>
          <p:nvPr/>
        </p:nvSpPr>
        <p:spPr>
          <a:xfrm>
            <a:off x="8233791" y="5083746"/>
            <a:ext cx="3158046" cy="546100"/>
          </a:xfrm>
          <a:prstGeom prst="roundRect">
            <a:avLst>
              <a:gd name="adj" fmla="val 11627"/>
            </a:avLst>
          </a:prstGeom>
          <a:solidFill>
            <a:srgbClr val="EAF4EE"/>
          </a:solidFill>
          <a:ln>
            <a:noFill/>
          </a:ln>
          <a:effectLst/>
        </p:spPr>
        <p:txBody>
          <a:bodyPr rtlCol="0" anchor="ctr"/>
          <a:lstStyle/>
          <a:p>
            <a:endParaRPr/>
          </a:p>
        </p:txBody>
      </p:sp>
      <p:sp>
        <p:nvSpPr>
          <p:cNvPr id="39" name="TextBox 38"/>
          <p:cNvSpPr txBox="1"/>
          <p:nvPr/>
        </p:nvSpPr>
        <p:spPr>
          <a:xfrm>
            <a:off x="8348091" y="5172646"/>
            <a:ext cx="2929446" cy="368300"/>
          </a:xfrm>
          <a:prstGeom prst="rect">
            <a:avLst/>
          </a:prstGeom>
          <a:noFill/>
        </p:spPr>
        <p:txBody>
          <a:bodyPr wrap="square" lIns="0" tIns="0" rIns="0" bIns="0" anchor="t">
            <a:noAutofit/>
          </a:bodyPr>
          <a:lstStyle/>
          <a:p>
            <a:pPr algn="l">
              <a:lnSpc>
                <a:spcPts val="1400"/>
              </a:lnSpc>
            </a:pPr>
            <a:r>
              <a:rPr sz="1000" b="1">
                <a:solidFill>
                  <a:srgbClr val="3F7A55"/>
                </a:solidFill>
                <a:latin typeface="Microsoft JhengHei"/>
                <a:ea typeface="Microsoft JhengHei"/>
                <a:cs typeface="Microsoft JhengHei"/>
              </a:rPr>
              <a:t>Outcome: Zero recurrence, maximum functional longevity!</a:t>
            </a:r>
          </a:p>
        </p:txBody>
      </p:sp>
      <p:sp>
        <p:nvSpPr>
          <p:cNvPr id="40" name="Rectangle 39"/>
          <p:cNvSpPr/>
          <p:nvPr/>
        </p:nvSpPr>
        <p:spPr>
          <a:xfrm>
            <a:off x="609600" y="6066854"/>
            <a:ext cx="10972800" cy="6350"/>
          </a:xfrm>
          <a:prstGeom prst="rect">
            <a:avLst/>
          </a:prstGeom>
          <a:solidFill>
            <a:srgbClr val="F0F2F4"/>
          </a:solidFill>
          <a:ln>
            <a:noFill/>
          </a:ln>
          <a:effectLst/>
        </p:spPr>
        <p:txBody>
          <a:bodyPr rtlCol="0" anchor="ctr"/>
          <a:lstStyle/>
          <a:p>
            <a:endParaRPr/>
          </a:p>
        </p:txBody>
      </p:sp>
      <p:sp>
        <p:nvSpPr>
          <p:cNvPr id="41" name="TextBox 40"/>
          <p:cNvSpPr txBox="1"/>
          <p:nvPr/>
        </p:nvSpPr>
        <p:spPr>
          <a:xfrm>
            <a:off x="609600" y="6130354"/>
            <a:ext cx="7664926" cy="171450"/>
          </a:xfrm>
          <a:prstGeom prst="rect">
            <a:avLst/>
          </a:prstGeom>
          <a:noFill/>
        </p:spPr>
        <p:txBody>
          <a:bodyPr wrap="none" lIns="0" tIns="0" rIns="0" bIns="0" anchor="t">
            <a:noAutofit/>
          </a:bodyPr>
          <a:lstStyle/>
          <a:p>
            <a:pPr algn="l">
              <a:lnSpc>
                <a:spcPts val="1330"/>
              </a:lnSpc>
            </a:pPr>
            <a:r>
              <a:rPr sz="950" b="0">
                <a:solidFill>
                  <a:srgbClr val="5F6B77"/>
                </a:solidFill>
                <a:latin typeface="Microsoft JhengHei"/>
                <a:ea typeface="Microsoft JhengHei"/>
                <a:cs typeface="Microsoft JhengHei"/>
              </a:rPr>
              <a:t>2026 ACC/AHA Multi-Society Prevention Practice Guidelines for Secondary Prevention. J Am Coll Cardiol. 2026.</a:t>
            </a:r>
          </a:p>
        </p:txBody>
      </p:sp>
      <p:sp>
        <p:nvSpPr>
          <p:cNvPr id="42" name="Rounded Rectangle 41"/>
          <p:cNvSpPr/>
          <p:nvPr/>
        </p:nvSpPr>
        <p:spPr>
          <a:xfrm>
            <a:off x="8473948" y="190500"/>
            <a:ext cx="599313"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43" name="TextBox 42"/>
          <p:cNvSpPr txBox="1"/>
          <p:nvPr/>
        </p:nvSpPr>
        <p:spPr>
          <a:xfrm>
            <a:off x="8575548" y="241300"/>
            <a:ext cx="495141"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1. Case</a:t>
            </a:r>
          </a:p>
        </p:txBody>
      </p:sp>
      <p:sp>
        <p:nvSpPr>
          <p:cNvPr id="44" name="Rounded Rectangle 43"/>
          <p:cNvSpPr/>
          <p:nvPr/>
        </p:nvSpPr>
        <p:spPr>
          <a:xfrm>
            <a:off x="9124061" y="190500"/>
            <a:ext cx="689483"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45" name="TextBox 44"/>
          <p:cNvSpPr txBox="1"/>
          <p:nvPr/>
        </p:nvSpPr>
        <p:spPr>
          <a:xfrm>
            <a:off x="9225661" y="241300"/>
            <a:ext cx="607854"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2. Target</a:t>
            </a:r>
          </a:p>
        </p:txBody>
      </p:sp>
      <p:sp>
        <p:nvSpPr>
          <p:cNvPr id="46" name="Rounded Rectangle 45"/>
          <p:cNvSpPr/>
          <p:nvPr/>
        </p:nvSpPr>
        <p:spPr>
          <a:xfrm>
            <a:off x="9864344" y="190500"/>
            <a:ext cx="795718"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47" name="TextBox 46"/>
          <p:cNvSpPr txBox="1"/>
          <p:nvPr/>
        </p:nvSpPr>
        <p:spPr>
          <a:xfrm>
            <a:off x="9965944" y="241300"/>
            <a:ext cx="740648"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3. Therapy</a:t>
            </a:r>
          </a:p>
        </p:txBody>
      </p:sp>
      <p:sp>
        <p:nvSpPr>
          <p:cNvPr id="48" name="Rounded Rectangle 47"/>
          <p:cNvSpPr/>
          <p:nvPr/>
        </p:nvSpPr>
        <p:spPr>
          <a:xfrm>
            <a:off x="10710862" y="190500"/>
            <a:ext cx="871538" cy="266700"/>
          </a:xfrm>
          <a:prstGeom prst="roundRect">
            <a:avLst>
              <a:gd name="adj" fmla="val 50000"/>
            </a:avLst>
          </a:prstGeom>
          <a:solidFill>
            <a:srgbClr val="24476E"/>
          </a:solidFill>
          <a:ln w="12700">
            <a:solidFill>
              <a:srgbClr val="24476E"/>
            </a:solidFill>
          </a:ln>
          <a:effectLst/>
        </p:spPr>
        <p:txBody>
          <a:bodyPr rtlCol="0" anchor="ctr"/>
          <a:lstStyle/>
          <a:p>
            <a:endParaRPr/>
          </a:p>
        </p:txBody>
      </p:sp>
      <p:sp>
        <p:nvSpPr>
          <p:cNvPr id="49" name="TextBox 48"/>
          <p:cNvSpPr txBox="1"/>
          <p:nvPr/>
        </p:nvSpPr>
        <p:spPr>
          <a:xfrm>
            <a:off x="10812462" y="241300"/>
            <a:ext cx="835422" cy="165100"/>
          </a:xfrm>
          <a:prstGeom prst="rect">
            <a:avLst/>
          </a:prstGeom>
          <a:noFill/>
        </p:spPr>
        <p:txBody>
          <a:bodyPr wrap="none" lIns="0" tIns="0" rIns="0" bIns="0" anchor="t">
            <a:noAutofit/>
          </a:bodyPr>
          <a:lstStyle/>
          <a:p>
            <a:pPr algn="l">
              <a:lnSpc>
                <a:spcPts val="1260"/>
              </a:lnSpc>
            </a:pPr>
            <a:r>
              <a:rPr sz="900" b="1">
                <a:solidFill>
                  <a:srgbClr val="FFFFFF"/>
                </a:solidFill>
                <a:latin typeface="Microsoft JhengHei"/>
                <a:ea typeface="Microsoft JhengHei"/>
                <a:cs typeface="Microsoft JhengHei"/>
              </a:rPr>
              <a:t>4. Roadmap</a:t>
            </a:r>
          </a:p>
        </p:txBody>
      </p:sp>
      <p:sp>
        <p:nvSpPr>
          <p:cNvPr id="50" name="Rectangle 49"/>
          <p:cNvSpPr/>
          <p:nvPr/>
        </p:nvSpPr>
        <p:spPr>
          <a:xfrm>
            <a:off x="0" y="6527800"/>
            <a:ext cx="12192000" cy="330200"/>
          </a:xfrm>
          <a:prstGeom prst="rect">
            <a:avLst/>
          </a:prstGeom>
          <a:solidFill>
            <a:srgbClr val="FFFFFF"/>
          </a:solidFill>
          <a:ln>
            <a:noFill/>
          </a:ln>
          <a:effectLst/>
        </p:spPr>
        <p:txBody>
          <a:bodyPr rtlCol="0" anchor="ctr"/>
          <a:lstStyle/>
          <a:p>
            <a:endParaRPr/>
          </a:p>
        </p:txBody>
      </p:sp>
      <p:sp>
        <p:nvSpPr>
          <p:cNvPr id="51" name="Rectangle 50"/>
          <p:cNvSpPr/>
          <p:nvPr/>
        </p:nvSpPr>
        <p:spPr>
          <a:xfrm>
            <a:off x="0" y="6527800"/>
            <a:ext cx="12192000" cy="12700"/>
          </a:xfrm>
          <a:prstGeom prst="rect">
            <a:avLst/>
          </a:prstGeom>
          <a:solidFill>
            <a:srgbClr val="F0F2F4"/>
          </a:solidFill>
          <a:ln>
            <a:noFill/>
          </a:ln>
          <a:effectLst/>
        </p:spPr>
        <p:txBody>
          <a:bodyPr rtlCol="0" anchor="ctr"/>
          <a:lstStyle/>
          <a:p>
            <a:endParaRPr/>
          </a:p>
        </p:txBody>
      </p:sp>
      <p:sp>
        <p:nvSpPr>
          <p:cNvPr id="52" name="TextBox 51"/>
          <p:cNvSpPr txBox="1"/>
          <p:nvPr/>
        </p:nvSpPr>
        <p:spPr>
          <a:xfrm>
            <a:off x="609600" y="6613525"/>
            <a:ext cx="905986" cy="171450"/>
          </a:xfrm>
          <a:prstGeom prst="rect">
            <a:avLst/>
          </a:prstGeom>
          <a:noFill/>
        </p:spPr>
        <p:txBody>
          <a:bodyPr wrap="none" lIns="0" tIns="0" rIns="0" bIns="0" anchor="t">
            <a:noAutofit/>
          </a:bodyPr>
          <a:lstStyle/>
          <a:p>
            <a:pPr algn="l">
              <a:lnSpc>
                <a:spcPts val="1330"/>
              </a:lnSpc>
            </a:pPr>
            <a:r>
              <a:rPr sz="950" b="1">
                <a:solidFill>
                  <a:srgbClr val="24476E"/>
                </a:solidFill>
                <a:latin typeface="Microsoft JhengHei"/>
                <a:ea typeface="Microsoft JhengHei"/>
                <a:cs typeface="Microsoft JhengHei"/>
              </a:rPr>
              <a:t>4. Roadmap</a:t>
            </a:r>
          </a:p>
        </p:txBody>
      </p:sp>
      <p:sp>
        <p:nvSpPr>
          <p:cNvPr id="53" name="Rounded Rectangle 52"/>
          <p:cNvSpPr/>
          <p:nvPr/>
        </p:nvSpPr>
        <p:spPr>
          <a:xfrm>
            <a:off x="1474089" y="6680200"/>
            <a:ext cx="9572942" cy="38100"/>
          </a:xfrm>
          <a:prstGeom prst="roundRect">
            <a:avLst>
              <a:gd name="adj" fmla="val 50000"/>
            </a:avLst>
          </a:prstGeom>
          <a:solidFill>
            <a:srgbClr val="F0F2F4"/>
          </a:solidFill>
          <a:ln>
            <a:noFill/>
          </a:ln>
          <a:effectLst/>
        </p:spPr>
        <p:txBody>
          <a:bodyPr rtlCol="0" anchor="ctr"/>
          <a:lstStyle/>
          <a:p>
            <a:endParaRPr/>
          </a:p>
        </p:txBody>
      </p:sp>
      <p:sp>
        <p:nvSpPr>
          <p:cNvPr id="54" name="Rectangle 53"/>
          <p:cNvSpPr/>
          <p:nvPr/>
        </p:nvSpPr>
        <p:spPr>
          <a:xfrm>
            <a:off x="1474089" y="6680200"/>
            <a:ext cx="7977378" cy="38100"/>
          </a:xfrm>
          <a:prstGeom prst="rect">
            <a:avLst/>
          </a:prstGeom>
          <a:solidFill>
            <a:srgbClr val="F3C84B"/>
          </a:solidFill>
          <a:ln>
            <a:noFill/>
          </a:ln>
          <a:effectLst/>
        </p:spPr>
        <p:txBody>
          <a:bodyPr rtlCol="0" anchor="ctr"/>
          <a:lstStyle/>
          <a:p>
            <a:endParaRPr/>
          </a:p>
        </p:txBody>
      </p:sp>
      <p:sp>
        <p:nvSpPr>
          <p:cNvPr id="55" name="TextBox 54"/>
          <p:cNvSpPr txBox="1"/>
          <p:nvPr/>
        </p:nvSpPr>
        <p:spPr>
          <a:xfrm>
            <a:off x="11186732" y="6613525"/>
            <a:ext cx="494586" cy="171450"/>
          </a:xfrm>
          <a:prstGeom prst="rect">
            <a:avLst/>
          </a:prstGeom>
          <a:noFill/>
        </p:spPr>
        <p:txBody>
          <a:bodyPr wrap="none" lIns="0" tIns="0" rIns="0" bIns="0" anchor="t">
            <a:noAutofit/>
          </a:bodyPr>
          <a:lstStyle/>
          <a:p>
            <a:pPr algn="l">
              <a:lnSpc>
                <a:spcPts val="1330"/>
              </a:lnSpc>
            </a:pPr>
            <a:r>
              <a:rPr sz="950" b="1">
                <a:solidFill>
                  <a:srgbClr val="3B4754"/>
                </a:solidFill>
                <a:latin typeface="Microsoft JhengHei"/>
                <a:ea typeface="Microsoft JhengHei"/>
                <a:cs typeface="Microsoft JhengHei"/>
              </a:rPr>
              <a:t>10 / 12</a:t>
            </a:r>
          </a:p>
        </p:txBody>
      </p:sp>
      <p:sp>
        <p:nvSpPr>
          <p:cNvPr id="56" name="LINK_Rectangle 55">
            <a:hlinkClick r:id="rId3" action="ppaction://hlinksldjump"/>
          </p:cNvPr>
          <p:cNvSpPr/>
          <p:nvPr/>
        </p:nvSpPr>
        <p:spPr>
          <a:xfrm>
            <a:off x="8473976" y="190500"/>
            <a:ext cx="599281" cy="266700"/>
          </a:xfrm>
          <a:prstGeom prst="rect">
            <a:avLst/>
          </a:prstGeom>
          <a:solidFill>
            <a:srgbClr val="FFFFFF">
              <a:alpha val="0"/>
            </a:srgbClr>
          </a:solidFill>
          <a:ln>
            <a:noFill/>
          </a:ln>
          <a:effectLst/>
        </p:spPr>
        <p:txBody>
          <a:bodyPr rtlCol="0" anchor="ctr"/>
          <a:lstStyle/>
          <a:p>
            <a:pPr algn="ctr"/>
            <a:endParaRPr/>
          </a:p>
        </p:txBody>
      </p:sp>
      <p:sp>
        <p:nvSpPr>
          <p:cNvPr id="57" name="LINK_Rectangle 56">
            <a:hlinkClick r:id="rId4" action="ppaction://hlinksldjump"/>
          </p:cNvPr>
          <p:cNvSpPr/>
          <p:nvPr/>
        </p:nvSpPr>
        <p:spPr>
          <a:xfrm>
            <a:off x="9124057" y="190500"/>
            <a:ext cx="689471" cy="266700"/>
          </a:xfrm>
          <a:prstGeom prst="rect">
            <a:avLst/>
          </a:prstGeom>
          <a:solidFill>
            <a:srgbClr val="FFFFFF">
              <a:alpha val="0"/>
            </a:srgbClr>
          </a:solidFill>
          <a:ln>
            <a:noFill/>
          </a:ln>
          <a:effectLst/>
        </p:spPr>
        <p:txBody>
          <a:bodyPr rtlCol="0" anchor="ctr"/>
          <a:lstStyle/>
          <a:p>
            <a:pPr algn="ctr"/>
            <a:endParaRPr/>
          </a:p>
        </p:txBody>
      </p:sp>
      <p:sp>
        <p:nvSpPr>
          <p:cNvPr id="58" name="LINK_Rectangle 57">
            <a:hlinkClick r:id="rId5" action="ppaction://hlinksldjump"/>
          </p:cNvPr>
          <p:cNvSpPr/>
          <p:nvPr/>
        </p:nvSpPr>
        <p:spPr>
          <a:xfrm>
            <a:off x="9864328" y="190500"/>
            <a:ext cx="795734" cy="266700"/>
          </a:xfrm>
          <a:prstGeom prst="rect">
            <a:avLst/>
          </a:prstGeom>
          <a:solidFill>
            <a:srgbClr val="FFFFFF">
              <a:alpha val="0"/>
            </a:srgbClr>
          </a:solidFill>
          <a:ln>
            <a:noFill/>
          </a:ln>
          <a:effectLst/>
        </p:spPr>
        <p:txBody>
          <a:bodyPr rtlCol="0" anchor="ctr"/>
          <a:lstStyle/>
          <a:p>
            <a:pPr algn="ct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avLst/>
          </a:prstGeom>
          <a:solidFill>
            <a:srgbClr val="FFFFFF"/>
          </a:solidFill>
          <a:ln>
            <a:noFill/>
          </a:ln>
          <a:effectLst/>
        </p:spPr>
        <p:txBody>
          <a:bodyPr rtlCol="0" anchor="ctr"/>
          <a:lstStyle/>
          <a:p>
            <a:pPr algn="ctr"/>
            <a:endParaRPr/>
          </a:p>
        </p:txBody>
      </p:sp>
      <p:sp>
        <p:nvSpPr>
          <p:cNvPr id="3" name="TextBox 2"/>
          <p:cNvSpPr txBox="1"/>
          <p:nvPr/>
        </p:nvSpPr>
        <p:spPr>
          <a:xfrm>
            <a:off x="609600" y="377825"/>
            <a:ext cx="2356088" cy="152400"/>
          </a:xfrm>
          <a:prstGeom prst="rect">
            <a:avLst/>
          </a:prstGeom>
          <a:noFill/>
        </p:spPr>
        <p:txBody>
          <a:bodyPr wrap="none" lIns="0" tIns="0" rIns="0" bIns="0" anchor="t">
            <a:noAutofit/>
          </a:bodyPr>
          <a:lstStyle/>
          <a:p>
            <a:pPr algn="l">
              <a:lnSpc>
                <a:spcPts val="1120"/>
              </a:lnSpc>
            </a:pPr>
            <a:r>
              <a:rPr sz="800" b="0">
                <a:solidFill>
                  <a:srgbClr val="1E2833"/>
                </a:solidFill>
                <a:latin typeface="Microsoft JhengHei"/>
                <a:ea typeface="Microsoft JhengHei"/>
                <a:cs typeface="Microsoft JhengHei"/>
              </a:rPr>
              <a:t>Clinical Resolution • 6-Week Follow-Up</a:t>
            </a:r>
          </a:p>
        </p:txBody>
      </p:sp>
      <p:sp>
        <p:nvSpPr>
          <p:cNvPr id="4" name="Rounded Rectangle 3"/>
          <p:cNvSpPr/>
          <p:nvPr/>
        </p:nvSpPr>
        <p:spPr>
          <a:xfrm>
            <a:off x="7344664" y="330200"/>
            <a:ext cx="884936" cy="247650"/>
          </a:xfrm>
          <a:prstGeom prst="roundRect">
            <a:avLst>
              <a:gd name="adj" fmla="val 50000"/>
            </a:avLst>
          </a:prstGeom>
          <a:solidFill>
            <a:srgbClr val="FFFFFF"/>
          </a:solidFill>
          <a:ln w="6350">
            <a:solidFill>
              <a:srgbClr val="24476E"/>
            </a:solidFill>
          </a:ln>
          <a:effectLst/>
        </p:spPr>
        <p:txBody>
          <a:bodyPr rtlCol="0" anchor="ctr"/>
          <a:lstStyle/>
          <a:p>
            <a:endParaRPr/>
          </a:p>
        </p:txBody>
      </p:sp>
      <p:sp>
        <p:nvSpPr>
          <p:cNvPr id="5" name="TextBox 4"/>
          <p:cNvSpPr txBox="1"/>
          <p:nvPr/>
        </p:nvSpPr>
        <p:spPr>
          <a:xfrm>
            <a:off x="7465314" y="374650"/>
            <a:ext cx="237109" cy="158750"/>
          </a:xfrm>
          <a:prstGeom prst="rect">
            <a:avLst/>
          </a:prstGeom>
          <a:noFill/>
        </p:spPr>
        <p:txBody>
          <a:bodyPr wrap="none" lIns="0" tIns="0" rIns="0" bIns="0" anchor="t">
            <a:noAutofit/>
          </a:bodyPr>
          <a:lstStyle/>
          <a:p>
            <a:pPr algn="l">
              <a:lnSpc>
                <a:spcPts val="1190"/>
              </a:lnSpc>
            </a:pPr>
            <a:r>
              <a:rPr sz="850" b="1">
                <a:solidFill>
                  <a:srgbClr val="24476E"/>
                </a:solidFill>
                <a:latin typeface="Microsoft JhengHei"/>
                <a:ea typeface="Microsoft JhengHei"/>
                <a:cs typeface="Microsoft JhengHei"/>
              </a:rPr>
              <a:t>🌐</a:t>
            </a:r>
          </a:p>
        </p:txBody>
      </p:sp>
      <p:sp>
        <p:nvSpPr>
          <p:cNvPr id="6" name="TextBox 5"/>
          <p:cNvSpPr txBox="1"/>
          <p:nvPr/>
        </p:nvSpPr>
        <p:spPr>
          <a:xfrm>
            <a:off x="7651623" y="374650"/>
            <a:ext cx="571659" cy="158750"/>
          </a:xfrm>
          <a:prstGeom prst="rect">
            <a:avLst/>
          </a:prstGeom>
          <a:noFill/>
        </p:spPr>
        <p:txBody>
          <a:bodyPr wrap="none" lIns="0" tIns="0" rIns="0" bIns="0" anchor="t">
            <a:noAutofit/>
          </a:bodyPr>
          <a:lstStyle/>
          <a:p>
            <a:pPr algn="l">
              <a:lnSpc>
                <a:spcPts val="1190"/>
              </a:lnSpc>
            </a:pPr>
            <a:r>
              <a:rPr sz="850" b="1">
                <a:solidFill>
                  <a:srgbClr val="24476E"/>
                </a:solidFill>
                <a:latin typeface="Microsoft JhengHei"/>
                <a:ea typeface="Microsoft JhengHei"/>
                <a:cs typeface="Microsoft JhengHei"/>
              </a:rPr>
              <a:t>EN / 中文</a:t>
            </a:r>
          </a:p>
        </p:txBody>
      </p:sp>
      <p:sp>
        <p:nvSpPr>
          <p:cNvPr id="7" name="TextBox 6"/>
          <p:cNvSpPr txBox="1"/>
          <p:nvPr/>
        </p:nvSpPr>
        <p:spPr>
          <a:xfrm>
            <a:off x="609600" y="603250"/>
            <a:ext cx="6036310" cy="361950"/>
          </a:xfrm>
          <a:prstGeom prst="rect">
            <a:avLst/>
          </a:prstGeom>
          <a:noFill/>
        </p:spPr>
        <p:txBody>
          <a:bodyPr wrap="none" lIns="0" tIns="0" rIns="0" bIns="0" anchor="t">
            <a:noAutofit/>
          </a:bodyPr>
          <a:lstStyle/>
          <a:p>
            <a:pPr algn="l">
              <a:lnSpc>
                <a:spcPts val="2500"/>
              </a:lnSpc>
            </a:pPr>
            <a:r>
              <a:rPr sz="2000" b="1" spc="-20">
                <a:solidFill>
                  <a:srgbClr val="1E2833"/>
                </a:solidFill>
                <a:latin typeface="Microsoft JhengHei"/>
                <a:ea typeface="Microsoft JhengHei"/>
                <a:cs typeface="Microsoft JhengHei"/>
              </a:rPr>
              <a:t>Clinical Outcome: Mr. Hong's Success</a:t>
            </a:r>
          </a:p>
        </p:txBody>
      </p:sp>
      <p:sp>
        <p:nvSpPr>
          <p:cNvPr id="8" name="TextBox 7"/>
          <p:cNvSpPr txBox="1"/>
          <p:nvPr/>
        </p:nvSpPr>
        <p:spPr>
          <a:xfrm>
            <a:off x="609600" y="977900"/>
            <a:ext cx="5806440" cy="222250"/>
          </a:xfrm>
          <a:prstGeom prst="rect">
            <a:avLst/>
          </a:prstGeom>
          <a:noFill/>
        </p:spPr>
        <p:txBody>
          <a:bodyPr wrap="none" lIns="0" tIns="0" rIns="0" bIns="0" anchor="t">
            <a:noAutofit/>
          </a:bodyPr>
          <a:lstStyle/>
          <a:p>
            <a:pPr algn="l">
              <a:lnSpc>
                <a:spcPts val="1680"/>
              </a:lnSpc>
            </a:pPr>
            <a:r>
              <a:rPr sz="1200" b="0">
                <a:solidFill>
                  <a:srgbClr val="5F6B77"/>
                </a:solidFill>
                <a:latin typeface="Microsoft JhengHei"/>
                <a:ea typeface="Microsoft JhengHei"/>
                <a:cs typeface="Microsoft JhengHei"/>
              </a:rPr>
              <a:t>Synergy of upfront dual pharmacotherapy and lifestyle adherence</a:t>
            </a:r>
          </a:p>
        </p:txBody>
      </p:sp>
      <p:sp>
        <p:nvSpPr>
          <p:cNvPr id="9" name="Rounded Rectangle 8"/>
          <p:cNvSpPr/>
          <p:nvPr/>
        </p:nvSpPr>
        <p:spPr>
          <a:xfrm>
            <a:off x="609600" y="1324546"/>
            <a:ext cx="5384800" cy="4508500"/>
          </a:xfrm>
          <a:prstGeom prst="roundRect">
            <a:avLst>
              <a:gd name="adj" fmla="val 2535"/>
            </a:avLst>
          </a:prstGeom>
          <a:solidFill>
            <a:srgbClr val="F0F2F4"/>
          </a:solidFill>
          <a:ln>
            <a:noFill/>
          </a:ln>
          <a:effectLst/>
        </p:spPr>
        <p:txBody>
          <a:bodyPr rtlCol="0" anchor="ctr"/>
          <a:lstStyle/>
          <a:p>
            <a:endParaRPr/>
          </a:p>
        </p:txBody>
      </p:sp>
      <p:sp>
        <p:nvSpPr>
          <p:cNvPr id="10" name="Rectangle 9"/>
          <p:cNvSpPr/>
          <p:nvPr/>
        </p:nvSpPr>
        <p:spPr>
          <a:xfrm>
            <a:off x="609600" y="1324546"/>
            <a:ext cx="50800" cy="4508500"/>
          </a:xfrm>
          <a:prstGeom prst="rect">
            <a:avLst/>
          </a:prstGeom>
          <a:solidFill>
            <a:srgbClr val="3F7A55"/>
          </a:solidFill>
          <a:ln>
            <a:noFill/>
          </a:ln>
          <a:effectLst/>
        </p:spPr>
        <p:txBody>
          <a:bodyPr rtlCol="0" anchor="ctr"/>
          <a:lstStyle/>
          <a:p>
            <a:endParaRPr/>
          </a:p>
        </p:txBody>
      </p:sp>
      <p:sp>
        <p:nvSpPr>
          <p:cNvPr id="11" name="TextBox 10"/>
          <p:cNvSpPr txBox="1"/>
          <p:nvPr/>
        </p:nvSpPr>
        <p:spPr>
          <a:xfrm>
            <a:off x="914400" y="1553146"/>
            <a:ext cx="2207101" cy="203200"/>
          </a:xfrm>
          <a:prstGeom prst="rect">
            <a:avLst/>
          </a:prstGeom>
          <a:noFill/>
        </p:spPr>
        <p:txBody>
          <a:bodyPr wrap="none" lIns="0" tIns="0" rIns="0" bIns="0" anchor="t">
            <a:noAutofit/>
          </a:bodyPr>
          <a:lstStyle/>
          <a:p>
            <a:pPr algn="l">
              <a:lnSpc>
                <a:spcPts val="1120"/>
              </a:lnSpc>
            </a:pPr>
            <a:r>
              <a:rPr sz="1100" b="1">
                <a:solidFill>
                  <a:srgbClr val="3F7A55"/>
                </a:solidFill>
                <a:latin typeface="Microsoft JhengHei"/>
                <a:ea typeface="Microsoft JhengHei"/>
                <a:cs typeface="Microsoft JhengHei"/>
              </a:rPr>
              <a:t>6-Week Laboratory Result</a:t>
            </a:r>
          </a:p>
        </p:txBody>
      </p:sp>
      <p:sp>
        <p:nvSpPr>
          <p:cNvPr id="12" name="Rectangle 11"/>
          <p:cNvSpPr/>
          <p:nvPr/>
        </p:nvSpPr>
        <p:spPr>
          <a:xfrm>
            <a:off x="914400" y="1553146"/>
            <a:ext cx="1765681" cy="203200"/>
          </a:xfrm>
          <a:prstGeom prst="rect">
            <a:avLst/>
          </a:prstGeom>
          <a:solidFill>
            <a:srgbClr val="2A6E57">
              <a:alpha val="12000"/>
            </a:srgbClr>
          </a:solidFill>
          <a:ln>
            <a:noFill/>
          </a:ln>
          <a:effectLst/>
        </p:spPr>
        <p:txBody>
          <a:bodyPr rtlCol="0" anchor="ctr"/>
          <a:lstStyle/>
          <a:p>
            <a:endParaRPr/>
          </a:p>
        </p:txBody>
      </p:sp>
      <p:sp>
        <p:nvSpPr>
          <p:cNvPr id="13" name="TextBox 12"/>
          <p:cNvSpPr txBox="1"/>
          <p:nvPr/>
        </p:nvSpPr>
        <p:spPr>
          <a:xfrm>
            <a:off x="914400" y="1851596"/>
            <a:ext cx="3609737" cy="330200"/>
          </a:xfrm>
          <a:prstGeom prst="rect">
            <a:avLst/>
          </a:prstGeom>
          <a:noFill/>
        </p:spPr>
        <p:txBody>
          <a:bodyPr wrap="none" lIns="0" tIns="0" rIns="0" bIns="0" anchor="t">
            <a:noAutofit/>
          </a:bodyPr>
          <a:lstStyle/>
          <a:p>
            <a:pPr algn="l">
              <a:lnSpc>
                <a:spcPts val="2340"/>
              </a:lnSpc>
            </a:pPr>
            <a:r>
              <a:rPr sz="1800" b="1">
                <a:solidFill>
                  <a:srgbClr val="3F7A55"/>
                </a:solidFill>
                <a:latin typeface="Microsoft JhengHei"/>
                <a:ea typeface="Microsoft JhengHei"/>
                <a:cs typeface="Microsoft JhengHei"/>
              </a:rPr>
              <a:t>52 mg/dL: Target Beaten!</a:t>
            </a:r>
          </a:p>
        </p:txBody>
      </p:sp>
      <p:sp>
        <p:nvSpPr>
          <p:cNvPr id="14" name="TextBox 13"/>
          <p:cNvSpPr txBox="1"/>
          <p:nvPr/>
        </p:nvSpPr>
        <p:spPr>
          <a:xfrm>
            <a:off x="1016000" y="2371026"/>
            <a:ext cx="2301240" cy="666750"/>
          </a:xfrm>
          <a:prstGeom prst="rect">
            <a:avLst/>
          </a:prstGeom>
          <a:noFill/>
        </p:spPr>
        <p:txBody>
          <a:bodyPr wrap="none" lIns="0" tIns="0" rIns="0" bIns="0" anchor="t">
            <a:noAutofit/>
          </a:bodyPr>
          <a:lstStyle/>
          <a:p>
            <a:pPr algn="l">
              <a:lnSpc>
                <a:spcPts val="1120"/>
              </a:lnSpc>
            </a:pPr>
            <a:r>
              <a:rPr sz="3600" b="0">
                <a:solidFill>
                  <a:srgbClr val="3F7A55"/>
                </a:solidFill>
                <a:latin typeface="Microsoft JhengHei"/>
                <a:ea typeface="Microsoft JhengHei"/>
                <a:cs typeface="Microsoft JhengHei"/>
              </a:rPr>
              <a:t>52</a:t>
            </a:r>
          </a:p>
          <a:p>
            <a:pPr algn="l">
              <a:lnSpc>
                <a:spcPts val="1120"/>
              </a:lnSpc>
            </a:pPr>
            <a:r>
              <a:rPr sz="800" b="0">
                <a:solidFill>
                  <a:srgbClr val="1E2833"/>
                </a:solidFill>
                <a:latin typeface="Microsoft JhengHei"/>
                <a:ea typeface="Microsoft JhengHei"/>
                <a:cs typeface="Microsoft JhengHei"/>
              </a:rPr>
              <a:t> </a:t>
            </a:r>
            <a:r>
              <a:rPr sz="1100" b="0">
                <a:solidFill>
                  <a:srgbClr val="1E2833"/>
                </a:solidFill>
                <a:latin typeface="Microsoft JhengHei"/>
                <a:ea typeface="Microsoft JhengHei"/>
                <a:cs typeface="Microsoft JhengHei"/>
              </a:rPr>
              <a:t>6-Week LDL (mg/dL)</a:t>
            </a:r>
          </a:p>
        </p:txBody>
      </p:sp>
      <p:sp>
        <p:nvSpPr>
          <p:cNvPr id="15" name="TextBox 14"/>
          <p:cNvSpPr txBox="1"/>
          <p:nvPr/>
        </p:nvSpPr>
        <p:spPr>
          <a:xfrm>
            <a:off x="3517900" y="2409126"/>
            <a:ext cx="1789906" cy="869950"/>
          </a:xfrm>
          <a:prstGeom prst="rect">
            <a:avLst/>
          </a:prstGeom>
          <a:noFill/>
        </p:spPr>
        <p:txBody>
          <a:bodyPr wrap="none" lIns="0" tIns="0" rIns="0" bIns="0" anchor="t">
            <a:noAutofit/>
          </a:bodyPr>
          <a:lstStyle/>
          <a:p>
            <a:pPr algn="l">
              <a:lnSpc>
                <a:spcPts val="1120"/>
              </a:lnSpc>
            </a:pPr>
            <a:r>
              <a:rPr sz="3600" b="0">
                <a:solidFill>
                  <a:srgbClr val="3F7A55"/>
                </a:solidFill>
                <a:latin typeface="Microsoft JhengHei"/>
                <a:ea typeface="Microsoft JhengHei"/>
                <a:cs typeface="Microsoft JhengHei"/>
              </a:rPr>
              <a:t>-70%</a:t>
            </a:r>
          </a:p>
          <a:p>
            <a:pPr algn="l">
              <a:lnSpc>
                <a:spcPts val="1120"/>
              </a:lnSpc>
            </a:pPr>
            <a:r>
              <a:rPr sz="800" b="0">
                <a:solidFill>
                  <a:srgbClr val="1E2833"/>
                </a:solidFill>
                <a:latin typeface="Microsoft JhengHei"/>
                <a:ea typeface="Microsoft JhengHei"/>
                <a:cs typeface="Microsoft JhengHei"/>
              </a:rPr>
              <a:t> </a:t>
            </a:r>
            <a:r>
              <a:rPr sz="1100" b="0">
                <a:solidFill>
                  <a:srgbClr val="1E2833"/>
                </a:solidFill>
                <a:latin typeface="Microsoft JhengHei"/>
                <a:ea typeface="Microsoft JhengHei"/>
                <a:cs typeface="Microsoft JhengHei"/>
              </a:rPr>
              <a:t>Total Reduction</a:t>
            </a:r>
          </a:p>
        </p:txBody>
      </p:sp>
      <p:sp>
        <p:nvSpPr>
          <p:cNvPr id="16" name="TextBox 15"/>
          <p:cNvSpPr txBox="1"/>
          <p:nvPr/>
        </p:nvSpPr>
        <p:spPr>
          <a:xfrm>
            <a:off x="1066800" y="3501326"/>
            <a:ext cx="4673600" cy="458406"/>
          </a:xfrm>
          <a:prstGeom prst="rect">
            <a:avLst/>
          </a:prstGeom>
          <a:noFill/>
        </p:spPr>
        <p:txBody>
          <a:bodyPr wrap="square" lIns="0" tIns="0" rIns="0" bIns="0" anchor="t">
            <a:noAutofit/>
          </a:bodyPr>
          <a:lstStyle/>
          <a:p>
            <a:pPr algn="l">
              <a:lnSpc>
                <a:spcPts val="186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Dual Targets Met:</a:t>
            </a:r>
            <a:r>
              <a:rPr sz="1200" b="0">
                <a:solidFill>
                  <a:srgbClr val="1E2833"/>
                </a:solidFill>
                <a:latin typeface="Microsoft JhengHei"/>
                <a:ea typeface="Microsoft JhengHei"/>
                <a:cs typeface="Microsoft JhengHei"/>
              </a:rPr>
              <a:t> Both ≥ 50% drop (70%) and absolute &lt; 55 mg/dL (52) achieved.</a:t>
            </a:r>
          </a:p>
        </p:txBody>
      </p:sp>
      <p:sp>
        <p:nvSpPr>
          <p:cNvPr id="17" name="TextBox 16"/>
          <p:cNvSpPr txBox="1"/>
          <p:nvPr/>
        </p:nvSpPr>
        <p:spPr>
          <a:xfrm>
            <a:off x="1066800" y="3973640"/>
            <a:ext cx="4673600" cy="458406"/>
          </a:xfrm>
          <a:prstGeom prst="rect">
            <a:avLst/>
          </a:prstGeom>
          <a:noFill/>
        </p:spPr>
        <p:txBody>
          <a:bodyPr wrap="square" lIns="0" tIns="0" rIns="0" bIns="0" anchor="t">
            <a:noAutofit/>
          </a:bodyPr>
          <a:lstStyle/>
          <a:p>
            <a:pPr algn="l">
              <a:lnSpc>
                <a:spcPts val="186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Safety Profile:</a:t>
            </a:r>
            <a:r>
              <a:rPr sz="1200" b="0">
                <a:solidFill>
                  <a:srgbClr val="1E2833"/>
                </a:solidFill>
                <a:latin typeface="Microsoft JhengHei"/>
                <a:ea typeface="Microsoft JhengHei"/>
                <a:cs typeface="Microsoft JhengHei"/>
              </a:rPr>
              <a:t> ALT 24 U/L, CPK 98 U/L; zero muscle pain or side effects.</a:t>
            </a:r>
          </a:p>
        </p:txBody>
      </p:sp>
      <p:sp>
        <p:nvSpPr>
          <p:cNvPr id="18" name="TextBox 17"/>
          <p:cNvSpPr txBox="1"/>
          <p:nvPr/>
        </p:nvSpPr>
        <p:spPr>
          <a:xfrm>
            <a:off x="1066800" y="4445889"/>
            <a:ext cx="4673600" cy="458406"/>
          </a:xfrm>
          <a:prstGeom prst="rect">
            <a:avLst/>
          </a:prstGeom>
          <a:noFill/>
        </p:spPr>
        <p:txBody>
          <a:bodyPr wrap="square" lIns="0" tIns="0" rIns="0" bIns="0" anchor="t">
            <a:noAutofit/>
          </a:bodyPr>
          <a:lstStyle/>
          <a:p>
            <a:pPr algn="l">
              <a:lnSpc>
                <a:spcPts val="186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No PCSK9i Required:</a:t>
            </a:r>
            <a:r>
              <a:rPr sz="1200" b="0">
                <a:solidFill>
                  <a:srgbClr val="1E2833"/>
                </a:solidFill>
                <a:latin typeface="Microsoft JhengHei"/>
                <a:ea typeface="Microsoft JhengHei"/>
                <a:cs typeface="Microsoft JhengHei"/>
              </a:rPr>
              <a:t> Upfront dual oral therapy successfully avoided expensive escalation.</a:t>
            </a:r>
          </a:p>
        </p:txBody>
      </p:sp>
      <p:sp>
        <p:nvSpPr>
          <p:cNvPr id="19" name="Rounded Rectangle 18"/>
          <p:cNvSpPr/>
          <p:nvPr/>
        </p:nvSpPr>
        <p:spPr>
          <a:xfrm>
            <a:off x="914400" y="5159946"/>
            <a:ext cx="4826000" cy="444500"/>
          </a:xfrm>
          <a:prstGeom prst="roundRect">
            <a:avLst>
              <a:gd name="adj" fmla="val 17142"/>
            </a:avLst>
          </a:prstGeom>
          <a:solidFill>
            <a:srgbClr val="EAF4EE"/>
          </a:solidFill>
          <a:ln>
            <a:noFill/>
          </a:ln>
          <a:effectLst/>
        </p:spPr>
        <p:txBody>
          <a:bodyPr rtlCol="0" anchor="ctr"/>
          <a:lstStyle/>
          <a:p>
            <a:endParaRPr/>
          </a:p>
        </p:txBody>
      </p:sp>
      <p:sp>
        <p:nvSpPr>
          <p:cNvPr id="20" name="TextBox 19"/>
          <p:cNvSpPr txBox="1"/>
          <p:nvPr/>
        </p:nvSpPr>
        <p:spPr>
          <a:xfrm>
            <a:off x="1066800" y="5274246"/>
            <a:ext cx="5450840" cy="215900"/>
          </a:xfrm>
          <a:prstGeom prst="rect">
            <a:avLst/>
          </a:prstGeom>
          <a:noFill/>
        </p:spPr>
        <p:txBody>
          <a:bodyPr wrap="none" lIns="0" tIns="0" rIns="0" bIns="0" anchor="t">
            <a:noAutofit/>
          </a:bodyPr>
          <a:lstStyle/>
          <a:p>
            <a:pPr algn="l">
              <a:lnSpc>
                <a:spcPts val="1610"/>
              </a:lnSpc>
            </a:pPr>
            <a:r>
              <a:rPr sz="1150" b="1">
                <a:solidFill>
                  <a:srgbClr val="3F7A55"/>
                </a:solidFill>
                <a:latin typeface="Microsoft JhengHei"/>
                <a:ea typeface="Microsoft JhengHei"/>
                <a:cs typeface="Microsoft JhengHei"/>
              </a:rPr>
              <a:t>🎉 Mr. Hong achieved complete biological plaque protection!</a:t>
            </a:r>
          </a:p>
        </p:txBody>
      </p:sp>
      <p:sp>
        <p:nvSpPr>
          <p:cNvPr id="21" name="Rounded Rectangle 20"/>
          <p:cNvSpPr/>
          <p:nvPr/>
        </p:nvSpPr>
        <p:spPr>
          <a:xfrm>
            <a:off x="6197600" y="1324546"/>
            <a:ext cx="5384800" cy="4508500"/>
          </a:xfrm>
          <a:prstGeom prst="roundRect">
            <a:avLst>
              <a:gd name="adj" fmla="val 2535"/>
            </a:avLst>
          </a:prstGeom>
          <a:solidFill>
            <a:srgbClr val="F0F2F4"/>
          </a:solidFill>
          <a:ln>
            <a:noFill/>
          </a:ln>
          <a:effectLst/>
        </p:spPr>
        <p:txBody>
          <a:bodyPr rtlCol="0" anchor="ctr"/>
          <a:lstStyle/>
          <a:p>
            <a:endParaRPr/>
          </a:p>
        </p:txBody>
      </p:sp>
      <p:sp>
        <p:nvSpPr>
          <p:cNvPr id="22" name="Rectangle 21"/>
          <p:cNvSpPr/>
          <p:nvPr/>
        </p:nvSpPr>
        <p:spPr>
          <a:xfrm>
            <a:off x="6197600" y="1324546"/>
            <a:ext cx="50800" cy="4508500"/>
          </a:xfrm>
          <a:prstGeom prst="rect">
            <a:avLst/>
          </a:prstGeom>
          <a:solidFill>
            <a:srgbClr val="24476E"/>
          </a:solidFill>
          <a:ln>
            <a:noFill/>
          </a:ln>
          <a:effectLst/>
        </p:spPr>
        <p:txBody>
          <a:bodyPr rtlCol="0" anchor="ctr"/>
          <a:lstStyle/>
          <a:p>
            <a:endParaRPr/>
          </a:p>
        </p:txBody>
      </p:sp>
      <p:sp>
        <p:nvSpPr>
          <p:cNvPr id="23" name="TextBox 22"/>
          <p:cNvSpPr txBox="1"/>
          <p:nvPr/>
        </p:nvSpPr>
        <p:spPr>
          <a:xfrm>
            <a:off x="6502400" y="1553146"/>
            <a:ext cx="1949767" cy="203200"/>
          </a:xfrm>
          <a:prstGeom prst="rect">
            <a:avLst/>
          </a:prstGeom>
          <a:noFill/>
        </p:spPr>
        <p:txBody>
          <a:bodyPr wrap="none" lIns="0" tIns="0" rIns="0" bIns="0" anchor="t">
            <a:noAutofit/>
          </a:bodyPr>
          <a:lstStyle/>
          <a:p>
            <a:pPr algn="l">
              <a:lnSpc>
                <a:spcPts val="1120"/>
              </a:lnSpc>
            </a:pPr>
            <a:r>
              <a:rPr sz="1100" b="1">
                <a:solidFill>
                  <a:srgbClr val="24476E"/>
                </a:solidFill>
                <a:latin typeface="Microsoft JhengHei"/>
                <a:ea typeface="Microsoft JhengHei"/>
                <a:cs typeface="Microsoft JhengHei"/>
              </a:rPr>
              <a:t>Functional Restoration</a:t>
            </a:r>
          </a:p>
        </p:txBody>
      </p:sp>
      <p:sp>
        <p:nvSpPr>
          <p:cNvPr id="24" name="Rectangle 23"/>
          <p:cNvSpPr/>
          <p:nvPr/>
        </p:nvSpPr>
        <p:spPr>
          <a:xfrm>
            <a:off x="6502400" y="1553146"/>
            <a:ext cx="1559814" cy="203200"/>
          </a:xfrm>
          <a:prstGeom prst="rect">
            <a:avLst/>
          </a:prstGeom>
          <a:solidFill>
            <a:srgbClr val="1E3A5F">
              <a:alpha val="12000"/>
            </a:srgbClr>
          </a:solidFill>
          <a:ln>
            <a:noFill/>
          </a:ln>
          <a:effectLst/>
        </p:spPr>
        <p:txBody>
          <a:bodyPr rtlCol="0" anchor="ctr"/>
          <a:lstStyle/>
          <a:p>
            <a:endParaRPr/>
          </a:p>
        </p:txBody>
      </p:sp>
      <p:sp>
        <p:nvSpPr>
          <p:cNvPr id="25" name="TextBox 24"/>
          <p:cNvSpPr txBox="1"/>
          <p:nvPr/>
        </p:nvSpPr>
        <p:spPr>
          <a:xfrm>
            <a:off x="6502400" y="1851596"/>
            <a:ext cx="2285762" cy="330200"/>
          </a:xfrm>
          <a:prstGeom prst="rect">
            <a:avLst/>
          </a:prstGeom>
          <a:noFill/>
        </p:spPr>
        <p:txBody>
          <a:bodyPr wrap="none" lIns="0" tIns="0" rIns="0" bIns="0" anchor="t">
            <a:noAutofit/>
          </a:bodyPr>
          <a:lstStyle/>
          <a:p>
            <a:pPr algn="l">
              <a:lnSpc>
                <a:spcPts val="2340"/>
              </a:lnSpc>
            </a:pPr>
            <a:r>
              <a:rPr sz="1800" b="1">
                <a:solidFill>
                  <a:srgbClr val="24476E"/>
                </a:solidFill>
                <a:latin typeface="Microsoft JhengHei"/>
                <a:ea typeface="Microsoft JhengHei"/>
                <a:cs typeface="Microsoft JhengHei"/>
              </a:rPr>
              <a:t>Back to Full Life</a:t>
            </a:r>
          </a:p>
        </p:txBody>
      </p:sp>
      <p:sp>
        <p:nvSpPr>
          <p:cNvPr id="26" name="TextBox 25"/>
          <p:cNvSpPr txBox="1"/>
          <p:nvPr/>
        </p:nvSpPr>
        <p:spPr>
          <a:xfrm>
            <a:off x="6604000" y="2371026"/>
            <a:ext cx="2678192" cy="869950"/>
          </a:xfrm>
          <a:prstGeom prst="rect">
            <a:avLst/>
          </a:prstGeom>
          <a:noFill/>
        </p:spPr>
        <p:txBody>
          <a:bodyPr wrap="none" lIns="0" tIns="0" rIns="0" bIns="0" anchor="t">
            <a:noAutofit/>
          </a:bodyPr>
          <a:lstStyle/>
          <a:p>
            <a:pPr algn="l">
              <a:lnSpc>
                <a:spcPts val="1120"/>
              </a:lnSpc>
            </a:pPr>
            <a:r>
              <a:rPr sz="3600" b="0">
                <a:solidFill>
                  <a:srgbClr val="24476E"/>
                </a:solidFill>
                <a:latin typeface="Microsoft JhengHei"/>
                <a:ea typeface="Microsoft JhengHei"/>
                <a:cs typeface="Microsoft JhengHei"/>
              </a:rPr>
              <a:t>8.2</a:t>
            </a:r>
          </a:p>
          <a:p>
            <a:pPr algn="l">
              <a:lnSpc>
                <a:spcPts val="1120"/>
              </a:lnSpc>
            </a:pPr>
            <a:r>
              <a:rPr sz="800" b="0">
                <a:solidFill>
                  <a:srgbClr val="1E2833"/>
                </a:solidFill>
                <a:latin typeface="Microsoft JhengHei"/>
                <a:ea typeface="Microsoft JhengHei"/>
                <a:cs typeface="Microsoft JhengHei"/>
              </a:rPr>
              <a:t> </a:t>
            </a:r>
            <a:r>
              <a:rPr sz="1100" b="0">
                <a:solidFill>
                  <a:srgbClr val="1E2833"/>
                </a:solidFill>
                <a:latin typeface="Microsoft JhengHei"/>
                <a:ea typeface="Microsoft JhengHei"/>
                <a:cs typeface="Microsoft JhengHei"/>
              </a:rPr>
              <a:t>Exercise METs (up from 4.5)</a:t>
            </a:r>
          </a:p>
        </p:txBody>
      </p:sp>
      <p:sp>
        <p:nvSpPr>
          <p:cNvPr id="27" name="TextBox 26"/>
          <p:cNvSpPr txBox="1"/>
          <p:nvPr/>
        </p:nvSpPr>
        <p:spPr>
          <a:xfrm>
            <a:off x="9105900" y="2409126"/>
            <a:ext cx="1682353" cy="666750"/>
          </a:xfrm>
          <a:prstGeom prst="rect">
            <a:avLst/>
          </a:prstGeom>
          <a:noFill/>
        </p:spPr>
        <p:txBody>
          <a:bodyPr wrap="none" lIns="0" tIns="0" rIns="0" bIns="0" anchor="t">
            <a:noAutofit/>
          </a:bodyPr>
          <a:lstStyle/>
          <a:p>
            <a:pPr algn="l">
              <a:lnSpc>
                <a:spcPts val="1120"/>
              </a:lnSpc>
            </a:pPr>
            <a:r>
              <a:rPr sz="3600" b="0">
                <a:solidFill>
                  <a:srgbClr val="3F7A55"/>
                </a:solidFill>
                <a:latin typeface="Microsoft JhengHei"/>
                <a:ea typeface="Microsoft JhengHei"/>
                <a:cs typeface="Microsoft JhengHei"/>
              </a:rPr>
              <a:t>0</a:t>
            </a:r>
          </a:p>
          <a:p>
            <a:pPr algn="l">
              <a:lnSpc>
                <a:spcPts val="1120"/>
              </a:lnSpc>
            </a:pPr>
            <a:r>
              <a:rPr sz="800" b="0">
                <a:solidFill>
                  <a:srgbClr val="1E2833"/>
                </a:solidFill>
                <a:latin typeface="Microsoft JhengHei"/>
                <a:ea typeface="Microsoft JhengHei"/>
                <a:cs typeface="Microsoft JhengHei"/>
              </a:rPr>
              <a:t> </a:t>
            </a:r>
            <a:r>
              <a:rPr sz="1100" b="0">
                <a:solidFill>
                  <a:srgbClr val="1E2833"/>
                </a:solidFill>
                <a:latin typeface="Microsoft JhengHei"/>
                <a:ea typeface="Microsoft JhengHei"/>
                <a:cs typeface="Microsoft JhengHei"/>
              </a:rPr>
              <a:t>Angina Episodes</a:t>
            </a:r>
          </a:p>
        </p:txBody>
      </p:sp>
      <p:sp>
        <p:nvSpPr>
          <p:cNvPr id="28" name="TextBox 27"/>
          <p:cNvSpPr txBox="1"/>
          <p:nvPr/>
        </p:nvSpPr>
        <p:spPr>
          <a:xfrm>
            <a:off x="6654800" y="3425126"/>
            <a:ext cx="4673600" cy="458406"/>
          </a:xfrm>
          <a:prstGeom prst="rect">
            <a:avLst/>
          </a:prstGeom>
          <a:noFill/>
        </p:spPr>
        <p:txBody>
          <a:bodyPr wrap="square" lIns="0" tIns="0" rIns="0" bIns="0" anchor="t">
            <a:noAutofit/>
          </a:bodyPr>
          <a:lstStyle/>
          <a:p>
            <a:pPr algn="l">
              <a:lnSpc>
                <a:spcPts val="186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Cardiac Rehab:</a:t>
            </a:r>
            <a:r>
              <a:rPr sz="1200" b="0">
                <a:solidFill>
                  <a:srgbClr val="1E2833"/>
                </a:solidFill>
                <a:latin typeface="Microsoft JhengHei"/>
                <a:ea typeface="Microsoft JhengHei"/>
                <a:cs typeface="Microsoft JhengHei"/>
              </a:rPr>
              <a:t> Completed 12 supervised Phase II sessions with outstanding compliance.</a:t>
            </a:r>
          </a:p>
        </p:txBody>
      </p:sp>
      <p:sp>
        <p:nvSpPr>
          <p:cNvPr id="29" name="TextBox 28"/>
          <p:cNvSpPr txBox="1"/>
          <p:nvPr/>
        </p:nvSpPr>
        <p:spPr>
          <a:xfrm>
            <a:off x="6654800" y="3897440"/>
            <a:ext cx="4673600" cy="458406"/>
          </a:xfrm>
          <a:prstGeom prst="rect">
            <a:avLst/>
          </a:prstGeom>
          <a:noFill/>
        </p:spPr>
        <p:txBody>
          <a:bodyPr wrap="square" lIns="0" tIns="0" rIns="0" bIns="0" anchor="t">
            <a:noAutofit/>
          </a:bodyPr>
          <a:lstStyle/>
          <a:p>
            <a:pPr algn="l">
              <a:lnSpc>
                <a:spcPts val="186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Lifestyle Transformed:</a:t>
            </a:r>
            <a:r>
              <a:rPr sz="1200" b="0">
                <a:solidFill>
                  <a:srgbClr val="1E2833"/>
                </a:solidFill>
                <a:latin typeface="Microsoft JhengHei"/>
                <a:ea typeface="Microsoft JhengHei"/>
                <a:cs typeface="Microsoft JhengHei"/>
              </a:rPr>
              <a:t> Adhering strictly to Mediterranean diet; 100% smoke-free for 6 weeks.</a:t>
            </a:r>
          </a:p>
        </p:txBody>
      </p:sp>
      <p:sp>
        <p:nvSpPr>
          <p:cNvPr id="30" name="TextBox 29"/>
          <p:cNvSpPr txBox="1"/>
          <p:nvPr/>
        </p:nvSpPr>
        <p:spPr>
          <a:xfrm>
            <a:off x="6654800" y="4369689"/>
            <a:ext cx="4673600" cy="458406"/>
          </a:xfrm>
          <a:prstGeom prst="rect">
            <a:avLst/>
          </a:prstGeom>
          <a:noFill/>
        </p:spPr>
        <p:txBody>
          <a:bodyPr wrap="square" lIns="0" tIns="0" rIns="0" bIns="0" anchor="t">
            <a:noAutofit/>
          </a:bodyPr>
          <a:lstStyle/>
          <a:p>
            <a:pPr algn="l">
              <a:lnSpc>
                <a:spcPts val="1860"/>
              </a:lnSpc>
            </a:pPr>
            <a:r>
              <a:rPr sz="1200" b="0">
                <a:solidFill>
                  <a:srgbClr val="1E2833"/>
                </a:solidFill>
                <a:latin typeface="Microsoft JhengHei"/>
                <a:ea typeface="Microsoft JhengHei"/>
                <a:cs typeface="Microsoft JhengHei"/>
              </a:rPr>
              <a:t>• </a:t>
            </a:r>
            <a:r>
              <a:rPr sz="1200" b="1">
                <a:solidFill>
                  <a:srgbClr val="1E2833"/>
                </a:solidFill>
                <a:latin typeface="Microsoft JhengHei"/>
                <a:ea typeface="Microsoft JhengHei"/>
                <a:cs typeface="Microsoft JhengHei"/>
              </a:rPr>
              <a:t>Back to Work:</a:t>
            </a:r>
            <a:r>
              <a:rPr sz="1200" b="0">
                <a:solidFill>
                  <a:srgbClr val="1E2833"/>
                </a:solidFill>
                <a:latin typeface="Microsoft JhengHei"/>
                <a:ea typeface="Microsoft JhengHei"/>
                <a:cs typeface="Microsoft JhengHei"/>
              </a:rPr>
              <a:t> Returned to full-time engineering career and active family life.</a:t>
            </a:r>
          </a:p>
        </p:txBody>
      </p:sp>
      <p:sp>
        <p:nvSpPr>
          <p:cNvPr id="31" name="Rounded Rectangle 30"/>
          <p:cNvSpPr/>
          <p:nvPr/>
        </p:nvSpPr>
        <p:spPr>
          <a:xfrm>
            <a:off x="6502400" y="4944046"/>
            <a:ext cx="4826000" cy="660400"/>
          </a:xfrm>
          <a:prstGeom prst="roundRect">
            <a:avLst>
              <a:gd name="adj" fmla="val 11538"/>
            </a:avLst>
          </a:prstGeom>
          <a:solidFill>
            <a:srgbClr val="F4F6F9"/>
          </a:solidFill>
          <a:ln>
            <a:noFill/>
          </a:ln>
          <a:effectLst/>
        </p:spPr>
        <p:txBody>
          <a:bodyPr rtlCol="0" anchor="ctr"/>
          <a:lstStyle/>
          <a:p>
            <a:endParaRPr/>
          </a:p>
        </p:txBody>
      </p:sp>
      <p:sp>
        <p:nvSpPr>
          <p:cNvPr id="32" name="TextBox 31"/>
          <p:cNvSpPr txBox="1"/>
          <p:nvPr/>
        </p:nvSpPr>
        <p:spPr>
          <a:xfrm>
            <a:off x="6654800" y="5058346"/>
            <a:ext cx="4521200" cy="431800"/>
          </a:xfrm>
          <a:prstGeom prst="rect">
            <a:avLst/>
          </a:prstGeom>
          <a:noFill/>
        </p:spPr>
        <p:txBody>
          <a:bodyPr wrap="square" lIns="0" tIns="0" rIns="0" bIns="0" anchor="t">
            <a:noAutofit/>
          </a:bodyPr>
          <a:lstStyle/>
          <a:p>
            <a:pPr algn="l">
              <a:lnSpc>
                <a:spcPts val="1610"/>
              </a:lnSpc>
            </a:pPr>
            <a:r>
              <a:rPr sz="1150" b="1">
                <a:solidFill>
                  <a:srgbClr val="24476E"/>
                </a:solidFill>
                <a:latin typeface="Microsoft JhengHei"/>
                <a:ea typeface="Microsoft JhengHei"/>
                <a:cs typeface="Microsoft JhengHei"/>
              </a:rPr>
              <a:t>❤️ Evidence-based medicine turned a potential catastrophe into a victory!</a:t>
            </a:r>
          </a:p>
        </p:txBody>
      </p:sp>
      <p:sp>
        <p:nvSpPr>
          <p:cNvPr id="33" name="Rectangle 32"/>
          <p:cNvSpPr/>
          <p:nvPr/>
        </p:nvSpPr>
        <p:spPr>
          <a:xfrm>
            <a:off x="609600" y="6066854"/>
            <a:ext cx="10972800" cy="6350"/>
          </a:xfrm>
          <a:prstGeom prst="rect">
            <a:avLst/>
          </a:prstGeom>
          <a:solidFill>
            <a:srgbClr val="F0F2F4"/>
          </a:solidFill>
          <a:ln>
            <a:noFill/>
          </a:ln>
          <a:effectLst/>
        </p:spPr>
        <p:txBody>
          <a:bodyPr rtlCol="0" anchor="ctr"/>
          <a:lstStyle/>
          <a:p>
            <a:endParaRPr/>
          </a:p>
        </p:txBody>
      </p:sp>
      <p:sp>
        <p:nvSpPr>
          <p:cNvPr id="34" name="TextBox 33"/>
          <p:cNvSpPr txBox="1"/>
          <p:nvPr/>
        </p:nvSpPr>
        <p:spPr>
          <a:xfrm>
            <a:off x="609600" y="6130354"/>
            <a:ext cx="6695678" cy="171450"/>
          </a:xfrm>
          <a:prstGeom prst="rect">
            <a:avLst/>
          </a:prstGeom>
          <a:noFill/>
        </p:spPr>
        <p:txBody>
          <a:bodyPr wrap="none" lIns="0" tIns="0" rIns="0" bIns="0" anchor="t">
            <a:noAutofit/>
          </a:bodyPr>
          <a:lstStyle/>
          <a:p>
            <a:pPr algn="l">
              <a:lnSpc>
                <a:spcPts val="1330"/>
              </a:lnSpc>
            </a:pPr>
            <a:r>
              <a:rPr sz="950" b="0">
                <a:solidFill>
                  <a:srgbClr val="5F6B77"/>
                </a:solidFill>
                <a:latin typeface="Microsoft JhengHei"/>
                <a:ea typeface="Microsoft JhengHei"/>
                <a:cs typeface="Microsoft JhengHei"/>
              </a:rPr>
              <a:t>Chen CW (陳致瑋), Third-Year Medical Student, National Taiwan University. Case Follow-Up 2026.</a:t>
            </a:r>
          </a:p>
        </p:txBody>
      </p:sp>
      <p:sp>
        <p:nvSpPr>
          <p:cNvPr id="35" name="Rounded Rectangle 34"/>
          <p:cNvSpPr/>
          <p:nvPr/>
        </p:nvSpPr>
        <p:spPr>
          <a:xfrm>
            <a:off x="8473948" y="190500"/>
            <a:ext cx="599313"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36" name="TextBox 35"/>
          <p:cNvSpPr txBox="1"/>
          <p:nvPr/>
        </p:nvSpPr>
        <p:spPr>
          <a:xfrm>
            <a:off x="8575548" y="241300"/>
            <a:ext cx="495141"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1. Case</a:t>
            </a:r>
          </a:p>
        </p:txBody>
      </p:sp>
      <p:sp>
        <p:nvSpPr>
          <p:cNvPr id="37" name="Rounded Rectangle 36"/>
          <p:cNvSpPr/>
          <p:nvPr/>
        </p:nvSpPr>
        <p:spPr>
          <a:xfrm>
            <a:off x="9124061" y="190500"/>
            <a:ext cx="689483"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38" name="TextBox 37"/>
          <p:cNvSpPr txBox="1"/>
          <p:nvPr/>
        </p:nvSpPr>
        <p:spPr>
          <a:xfrm>
            <a:off x="9225661" y="241300"/>
            <a:ext cx="607854"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2. Target</a:t>
            </a:r>
          </a:p>
        </p:txBody>
      </p:sp>
      <p:sp>
        <p:nvSpPr>
          <p:cNvPr id="39" name="Rounded Rectangle 38"/>
          <p:cNvSpPr/>
          <p:nvPr/>
        </p:nvSpPr>
        <p:spPr>
          <a:xfrm>
            <a:off x="9864344" y="190500"/>
            <a:ext cx="795718"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40" name="TextBox 39"/>
          <p:cNvSpPr txBox="1"/>
          <p:nvPr/>
        </p:nvSpPr>
        <p:spPr>
          <a:xfrm>
            <a:off x="9965944" y="241300"/>
            <a:ext cx="740648"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3. Therapy</a:t>
            </a:r>
          </a:p>
        </p:txBody>
      </p:sp>
      <p:sp>
        <p:nvSpPr>
          <p:cNvPr id="41" name="Rounded Rectangle 40"/>
          <p:cNvSpPr/>
          <p:nvPr/>
        </p:nvSpPr>
        <p:spPr>
          <a:xfrm>
            <a:off x="10710862" y="190500"/>
            <a:ext cx="871538" cy="266700"/>
          </a:xfrm>
          <a:prstGeom prst="roundRect">
            <a:avLst>
              <a:gd name="adj" fmla="val 50000"/>
            </a:avLst>
          </a:prstGeom>
          <a:solidFill>
            <a:srgbClr val="24476E"/>
          </a:solidFill>
          <a:ln w="12700">
            <a:solidFill>
              <a:srgbClr val="24476E"/>
            </a:solidFill>
          </a:ln>
          <a:effectLst/>
        </p:spPr>
        <p:txBody>
          <a:bodyPr rtlCol="0" anchor="ctr"/>
          <a:lstStyle/>
          <a:p>
            <a:endParaRPr/>
          </a:p>
        </p:txBody>
      </p:sp>
      <p:sp>
        <p:nvSpPr>
          <p:cNvPr id="42" name="TextBox 41"/>
          <p:cNvSpPr txBox="1"/>
          <p:nvPr/>
        </p:nvSpPr>
        <p:spPr>
          <a:xfrm>
            <a:off x="10812462" y="241300"/>
            <a:ext cx="835422" cy="165100"/>
          </a:xfrm>
          <a:prstGeom prst="rect">
            <a:avLst/>
          </a:prstGeom>
          <a:noFill/>
        </p:spPr>
        <p:txBody>
          <a:bodyPr wrap="none" lIns="0" tIns="0" rIns="0" bIns="0" anchor="t">
            <a:noAutofit/>
          </a:bodyPr>
          <a:lstStyle/>
          <a:p>
            <a:pPr algn="l">
              <a:lnSpc>
                <a:spcPts val="1260"/>
              </a:lnSpc>
            </a:pPr>
            <a:r>
              <a:rPr sz="900" b="1">
                <a:solidFill>
                  <a:srgbClr val="FFFFFF"/>
                </a:solidFill>
                <a:latin typeface="Microsoft JhengHei"/>
                <a:ea typeface="Microsoft JhengHei"/>
                <a:cs typeface="Microsoft JhengHei"/>
              </a:rPr>
              <a:t>4. Roadmap</a:t>
            </a:r>
          </a:p>
        </p:txBody>
      </p:sp>
      <p:sp>
        <p:nvSpPr>
          <p:cNvPr id="43" name="Rectangle 42"/>
          <p:cNvSpPr/>
          <p:nvPr/>
        </p:nvSpPr>
        <p:spPr>
          <a:xfrm>
            <a:off x="0" y="6527800"/>
            <a:ext cx="12192000" cy="330200"/>
          </a:xfrm>
          <a:prstGeom prst="rect">
            <a:avLst/>
          </a:prstGeom>
          <a:solidFill>
            <a:srgbClr val="FFFFFF"/>
          </a:solidFill>
          <a:ln>
            <a:noFill/>
          </a:ln>
          <a:effectLst/>
        </p:spPr>
        <p:txBody>
          <a:bodyPr rtlCol="0" anchor="ctr"/>
          <a:lstStyle/>
          <a:p>
            <a:endParaRPr/>
          </a:p>
        </p:txBody>
      </p:sp>
      <p:sp>
        <p:nvSpPr>
          <p:cNvPr id="44" name="Rectangle 43"/>
          <p:cNvSpPr/>
          <p:nvPr/>
        </p:nvSpPr>
        <p:spPr>
          <a:xfrm>
            <a:off x="0" y="6527800"/>
            <a:ext cx="12192000" cy="12700"/>
          </a:xfrm>
          <a:prstGeom prst="rect">
            <a:avLst/>
          </a:prstGeom>
          <a:solidFill>
            <a:srgbClr val="F0F2F4"/>
          </a:solidFill>
          <a:ln>
            <a:noFill/>
          </a:ln>
          <a:effectLst/>
        </p:spPr>
        <p:txBody>
          <a:bodyPr rtlCol="0" anchor="ctr"/>
          <a:lstStyle/>
          <a:p>
            <a:endParaRPr/>
          </a:p>
        </p:txBody>
      </p:sp>
      <p:sp>
        <p:nvSpPr>
          <p:cNvPr id="45" name="TextBox 44"/>
          <p:cNvSpPr txBox="1"/>
          <p:nvPr/>
        </p:nvSpPr>
        <p:spPr>
          <a:xfrm>
            <a:off x="609600" y="6613525"/>
            <a:ext cx="905986" cy="171450"/>
          </a:xfrm>
          <a:prstGeom prst="rect">
            <a:avLst/>
          </a:prstGeom>
          <a:noFill/>
        </p:spPr>
        <p:txBody>
          <a:bodyPr wrap="none" lIns="0" tIns="0" rIns="0" bIns="0" anchor="t">
            <a:noAutofit/>
          </a:bodyPr>
          <a:lstStyle/>
          <a:p>
            <a:pPr algn="l">
              <a:lnSpc>
                <a:spcPts val="1330"/>
              </a:lnSpc>
            </a:pPr>
            <a:r>
              <a:rPr sz="950" b="1">
                <a:solidFill>
                  <a:srgbClr val="24476E"/>
                </a:solidFill>
                <a:latin typeface="Microsoft JhengHei"/>
                <a:ea typeface="Microsoft JhengHei"/>
                <a:cs typeface="Microsoft JhengHei"/>
              </a:rPr>
              <a:t>4. Roadmap</a:t>
            </a:r>
          </a:p>
        </p:txBody>
      </p:sp>
      <p:sp>
        <p:nvSpPr>
          <p:cNvPr id="46" name="Rounded Rectangle 45"/>
          <p:cNvSpPr/>
          <p:nvPr/>
        </p:nvSpPr>
        <p:spPr>
          <a:xfrm>
            <a:off x="1474089" y="6680200"/>
            <a:ext cx="9572942" cy="38100"/>
          </a:xfrm>
          <a:prstGeom prst="roundRect">
            <a:avLst>
              <a:gd name="adj" fmla="val 50000"/>
            </a:avLst>
          </a:prstGeom>
          <a:solidFill>
            <a:srgbClr val="F0F2F4"/>
          </a:solidFill>
          <a:ln>
            <a:noFill/>
          </a:ln>
          <a:effectLst/>
        </p:spPr>
        <p:txBody>
          <a:bodyPr rtlCol="0" anchor="ctr"/>
          <a:lstStyle/>
          <a:p>
            <a:endParaRPr/>
          </a:p>
        </p:txBody>
      </p:sp>
      <p:sp>
        <p:nvSpPr>
          <p:cNvPr id="47" name="Rectangle 46"/>
          <p:cNvSpPr/>
          <p:nvPr/>
        </p:nvSpPr>
        <p:spPr>
          <a:xfrm>
            <a:off x="1474089" y="6680200"/>
            <a:ext cx="8775128" cy="38100"/>
          </a:xfrm>
          <a:prstGeom prst="rect">
            <a:avLst/>
          </a:prstGeom>
          <a:solidFill>
            <a:srgbClr val="F3C84B"/>
          </a:solidFill>
          <a:ln>
            <a:noFill/>
          </a:ln>
          <a:effectLst/>
        </p:spPr>
        <p:txBody>
          <a:bodyPr rtlCol="0" anchor="ctr"/>
          <a:lstStyle/>
          <a:p>
            <a:endParaRPr/>
          </a:p>
        </p:txBody>
      </p:sp>
      <p:sp>
        <p:nvSpPr>
          <p:cNvPr id="48" name="TextBox 47"/>
          <p:cNvSpPr txBox="1"/>
          <p:nvPr/>
        </p:nvSpPr>
        <p:spPr>
          <a:xfrm>
            <a:off x="11186732" y="6613525"/>
            <a:ext cx="494586" cy="171450"/>
          </a:xfrm>
          <a:prstGeom prst="rect">
            <a:avLst/>
          </a:prstGeom>
          <a:noFill/>
        </p:spPr>
        <p:txBody>
          <a:bodyPr wrap="none" lIns="0" tIns="0" rIns="0" bIns="0" anchor="t">
            <a:noAutofit/>
          </a:bodyPr>
          <a:lstStyle/>
          <a:p>
            <a:pPr algn="l">
              <a:lnSpc>
                <a:spcPts val="1330"/>
              </a:lnSpc>
            </a:pPr>
            <a:r>
              <a:rPr sz="950" b="1">
                <a:solidFill>
                  <a:srgbClr val="3B4754"/>
                </a:solidFill>
                <a:latin typeface="Microsoft JhengHei"/>
                <a:ea typeface="Microsoft JhengHei"/>
                <a:cs typeface="Microsoft JhengHei"/>
              </a:rPr>
              <a:t>11 / 12</a:t>
            </a:r>
          </a:p>
        </p:txBody>
      </p:sp>
      <p:sp>
        <p:nvSpPr>
          <p:cNvPr id="49" name="LINK_Rectangle 48">
            <a:hlinkClick r:id="rId3" action="ppaction://hlinksldjump"/>
          </p:cNvPr>
          <p:cNvSpPr/>
          <p:nvPr/>
        </p:nvSpPr>
        <p:spPr>
          <a:xfrm>
            <a:off x="8473976" y="190500"/>
            <a:ext cx="599281" cy="266700"/>
          </a:xfrm>
          <a:prstGeom prst="rect">
            <a:avLst/>
          </a:prstGeom>
          <a:solidFill>
            <a:srgbClr val="FFFFFF">
              <a:alpha val="0"/>
            </a:srgbClr>
          </a:solidFill>
          <a:ln>
            <a:noFill/>
          </a:ln>
          <a:effectLst/>
        </p:spPr>
        <p:txBody>
          <a:bodyPr rtlCol="0" anchor="ctr"/>
          <a:lstStyle/>
          <a:p>
            <a:pPr algn="ctr"/>
            <a:endParaRPr/>
          </a:p>
        </p:txBody>
      </p:sp>
      <p:sp>
        <p:nvSpPr>
          <p:cNvPr id="50" name="LINK_Rectangle 49">
            <a:hlinkClick r:id="rId4" action="ppaction://hlinksldjump"/>
          </p:cNvPr>
          <p:cNvSpPr/>
          <p:nvPr/>
        </p:nvSpPr>
        <p:spPr>
          <a:xfrm>
            <a:off x="9124057" y="190500"/>
            <a:ext cx="689471" cy="266700"/>
          </a:xfrm>
          <a:prstGeom prst="rect">
            <a:avLst/>
          </a:prstGeom>
          <a:solidFill>
            <a:srgbClr val="FFFFFF">
              <a:alpha val="0"/>
            </a:srgbClr>
          </a:solidFill>
          <a:ln>
            <a:noFill/>
          </a:ln>
          <a:effectLst/>
        </p:spPr>
        <p:txBody>
          <a:bodyPr rtlCol="0" anchor="ctr"/>
          <a:lstStyle/>
          <a:p>
            <a:pPr algn="ctr"/>
            <a:endParaRPr/>
          </a:p>
        </p:txBody>
      </p:sp>
      <p:sp>
        <p:nvSpPr>
          <p:cNvPr id="51" name="LINK_Rectangle 50">
            <a:hlinkClick r:id="rId5" action="ppaction://hlinksldjump"/>
          </p:cNvPr>
          <p:cNvSpPr/>
          <p:nvPr/>
        </p:nvSpPr>
        <p:spPr>
          <a:xfrm>
            <a:off x="9864328" y="190500"/>
            <a:ext cx="795734" cy="266700"/>
          </a:xfrm>
          <a:prstGeom prst="rect">
            <a:avLst/>
          </a:prstGeom>
          <a:solidFill>
            <a:srgbClr val="FFFFFF">
              <a:alpha val="0"/>
            </a:srgbClr>
          </a:solidFill>
          <a:ln>
            <a:noFill/>
          </a:ln>
          <a:effectLst/>
        </p:spPr>
        <p:txBody>
          <a:bodyPr rtlCol="0" anchor="ctr"/>
          <a:lstStyle/>
          <a:p>
            <a:pPr algn="ctr"/>
            <a:endParaRPr/>
          </a:p>
        </p:txBody>
      </p:sp>
      <p:sp>
        <p:nvSpPr>
          <p:cNvPr id="52" name="LINK_Rectangle 51">
            <a:hlinkClick r:id="rId6" action="ppaction://hlinksldjump"/>
          </p:cNvPr>
          <p:cNvSpPr/>
          <p:nvPr/>
        </p:nvSpPr>
        <p:spPr>
          <a:xfrm>
            <a:off x="10710862" y="190500"/>
            <a:ext cx="871538" cy="266700"/>
          </a:xfrm>
          <a:prstGeom prst="rect">
            <a:avLst/>
          </a:prstGeom>
          <a:solidFill>
            <a:srgbClr val="FFFFFF">
              <a:alpha val="0"/>
            </a:srgbClr>
          </a:solidFill>
          <a:ln>
            <a:noFill/>
          </a:ln>
          <a:effectLst/>
        </p:spPr>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2000" cy="6858000"/>
          </a:xfrm>
          <a:prstGeom prst="rect">
            <a:avLst/>
          </a:prstGeom>
          <a:solidFill>
            <a:srgbClr val="FFFFFF"/>
          </a:solidFill>
          <a:ln>
            <a:noFill/>
          </a:ln>
          <a:effectLst/>
        </p:spPr>
        <p:txBody>
          <a:bodyPr rtlCol="0" anchor="ctr"/>
          <a:lstStyle/>
          <a:p>
            <a:pPr algn="ctr"/>
            <a:endParaRPr/>
          </a:p>
        </p:txBody>
      </p:sp>
      <p:sp>
        <p:nvSpPr>
          <p:cNvPr id="3" name="TextBox 2"/>
          <p:cNvSpPr txBox="1"/>
          <p:nvPr/>
        </p:nvSpPr>
        <p:spPr>
          <a:xfrm>
            <a:off x="609600" y="377825"/>
            <a:ext cx="2284889" cy="152400"/>
          </a:xfrm>
          <a:prstGeom prst="rect">
            <a:avLst/>
          </a:prstGeom>
          <a:noFill/>
        </p:spPr>
        <p:txBody>
          <a:bodyPr wrap="none" lIns="0" tIns="0" rIns="0" bIns="0" anchor="t">
            <a:noAutofit/>
          </a:bodyPr>
          <a:lstStyle/>
          <a:p>
            <a:pPr algn="l">
              <a:lnSpc>
                <a:spcPts val="1120"/>
              </a:lnSpc>
            </a:pPr>
            <a:r>
              <a:rPr sz="800" b="0">
                <a:solidFill>
                  <a:srgbClr val="1E2833"/>
                </a:solidFill>
                <a:latin typeface="Microsoft JhengHei"/>
                <a:ea typeface="Microsoft JhengHei"/>
                <a:cs typeface="Microsoft JhengHei"/>
              </a:rPr>
              <a:t>Summary &amp; Discussion • Scan to View</a:t>
            </a:r>
          </a:p>
        </p:txBody>
      </p:sp>
      <p:sp>
        <p:nvSpPr>
          <p:cNvPr id="4" name="Rounded Rectangle 3"/>
          <p:cNvSpPr/>
          <p:nvPr/>
        </p:nvSpPr>
        <p:spPr>
          <a:xfrm>
            <a:off x="7344664" y="330200"/>
            <a:ext cx="884936" cy="247650"/>
          </a:xfrm>
          <a:prstGeom prst="roundRect">
            <a:avLst>
              <a:gd name="adj" fmla="val 50000"/>
            </a:avLst>
          </a:prstGeom>
          <a:solidFill>
            <a:srgbClr val="FFFFFF"/>
          </a:solidFill>
          <a:ln w="6350">
            <a:solidFill>
              <a:srgbClr val="24476E"/>
            </a:solidFill>
          </a:ln>
          <a:effectLst/>
        </p:spPr>
        <p:txBody>
          <a:bodyPr rtlCol="0" anchor="ctr"/>
          <a:lstStyle/>
          <a:p>
            <a:endParaRPr/>
          </a:p>
        </p:txBody>
      </p:sp>
      <p:sp>
        <p:nvSpPr>
          <p:cNvPr id="5" name="TextBox 4"/>
          <p:cNvSpPr txBox="1"/>
          <p:nvPr/>
        </p:nvSpPr>
        <p:spPr>
          <a:xfrm>
            <a:off x="7465314" y="374650"/>
            <a:ext cx="237109" cy="158750"/>
          </a:xfrm>
          <a:prstGeom prst="rect">
            <a:avLst/>
          </a:prstGeom>
          <a:noFill/>
        </p:spPr>
        <p:txBody>
          <a:bodyPr wrap="none" lIns="0" tIns="0" rIns="0" bIns="0" anchor="t">
            <a:noAutofit/>
          </a:bodyPr>
          <a:lstStyle/>
          <a:p>
            <a:pPr algn="l">
              <a:lnSpc>
                <a:spcPts val="1190"/>
              </a:lnSpc>
            </a:pPr>
            <a:r>
              <a:rPr sz="850" b="1">
                <a:solidFill>
                  <a:srgbClr val="24476E"/>
                </a:solidFill>
                <a:latin typeface="Microsoft JhengHei"/>
                <a:ea typeface="Microsoft JhengHei"/>
                <a:cs typeface="Microsoft JhengHei"/>
              </a:rPr>
              <a:t>🌐</a:t>
            </a:r>
          </a:p>
        </p:txBody>
      </p:sp>
      <p:sp>
        <p:nvSpPr>
          <p:cNvPr id="6" name="TextBox 5"/>
          <p:cNvSpPr txBox="1"/>
          <p:nvPr/>
        </p:nvSpPr>
        <p:spPr>
          <a:xfrm>
            <a:off x="7651623" y="374650"/>
            <a:ext cx="571659" cy="158750"/>
          </a:xfrm>
          <a:prstGeom prst="rect">
            <a:avLst/>
          </a:prstGeom>
          <a:noFill/>
        </p:spPr>
        <p:txBody>
          <a:bodyPr wrap="none" lIns="0" tIns="0" rIns="0" bIns="0" anchor="t">
            <a:noAutofit/>
          </a:bodyPr>
          <a:lstStyle/>
          <a:p>
            <a:pPr algn="l">
              <a:lnSpc>
                <a:spcPts val="1190"/>
              </a:lnSpc>
            </a:pPr>
            <a:r>
              <a:rPr sz="850" b="1">
                <a:solidFill>
                  <a:srgbClr val="24476E"/>
                </a:solidFill>
                <a:latin typeface="Microsoft JhengHei"/>
                <a:ea typeface="Microsoft JhengHei"/>
                <a:cs typeface="Microsoft JhengHei"/>
              </a:rPr>
              <a:t>EN / 中文</a:t>
            </a:r>
          </a:p>
        </p:txBody>
      </p:sp>
      <p:sp>
        <p:nvSpPr>
          <p:cNvPr id="7" name="TextBox 6"/>
          <p:cNvSpPr txBox="1"/>
          <p:nvPr/>
        </p:nvSpPr>
        <p:spPr>
          <a:xfrm>
            <a:off x="609600" y="603250"/>
            <a:ext cx="6102429" cy="361950"/>
          </a:xfrm>
          <a:prstGeom prst="rect">
            <a:avLst/>
          </a:prstGeom>
          <a:noFill/>
        </p:spPr>
        <p:txBody>
          <a:bodyPr wrap="none" lIns="0" tIns="0" rIns="0" bIns="0" anchor="t">
            <a:noAutofit/>
          </a:bodyPr>
          <a:lstStyle/>
          <a:p>
            <a:pPr algn="l">
              <a:lnSpc>
                <a:spcPts val="2500"/>
              </a:lnSpc>
            </a:pPr>
            <a:r>
              <a:rPr sz="2000" b="1" spc="-20">
                <a:solidFill>
                  <a:srgbClr val="1E2833"/>
                </a:solidFill>
                <a:latin typeface="Microsoft JhengHei"/>
                <a:ea typeface="Microsoft JhengHei"/>
                <a:cs typeface="Microsoft JhengHei"/>
              </a:rPr>
              <a:t>Conclusion: Returning to Healthy Life</a:t>
            </a:r>
          </a:p>
        </p:txBody>
      </p:sp>
      <p:sp>
        <p:nvSpPr>
          <p:cNvPr id="8" name="TextBox 7"/>
          <p:cNvSpPr txBox="1"/>
          <p:nvPr/>
        </p:nvSpPr>
        <p:spPr>
          <a:xfrm>
            <a:off x="609600" y="977900"/>
            <a:ext cx="4588748" cy="222250"/>
          </a:xfrm>
          <a:prstGeom prst="rect">
            <a:avLst/>
          </a:prstGeom>
          <a:noFill/>
        </p:spPr>
        <p:txBody>
          <a:bodyPr wrap="none" lIns="0" tIns="0" rIns="0" bIns="0" anchor="t">
            <a:noAutofit/>
          </a:bodyPr>
          <a:lstStyle/>
          <a:p>
            <a:pPr algn="l">
              <a:lnSpc>
                <a:spcPts val="1680"/>
              </a:lnSpc>
            </a:pPr>
            <a:r>
              <a:rPr sz="1200" b="0">
                <a:solidFill>
                  <a:srgbClr val="5F6B77"/>
                </a:solidFill>
                <a:latin typeface="Microsoft JhengHei"/>
                <a:ea typeface="Microsoft JhengHei"/>
                <a:cs typeface="Microsoft JhengHei"/>
              </a:rPr>
              <a:t>Key clinical takeaways, mobile web access, and Q&amp;A</a:t>
            </a:r>
          </a:p>
        </p:txBody>
      </p:sp>
      <p:sp>
        <p:nvSpPr>
          <p:cNvPr id="9" name="Rounded Rectangle 8"/>
          <p:cNvSpPr/>
          <p:nvPr/>
        </p:nvSpPr>
        <p:spPr>
          <a:xfrm>
            <a:off x="609600" y="1324546"/>
            <a:ext cx="6192456" cy="4508500"/>
          </a:xfrm>
          <a:prstGeom prst="roundRect">
            <a:avLst>
              <a:gd name="adj" fmla="val 2535"/>
            </a:avLst>
          </a:prstGeom>
          <a:solidFill>
            <a:srgbClr val="F0F2F4"/>
          </a:solidFill>
          <a:ln>
            <a:noFill/>
          </a:ln>
          <a:effectLst/>
        </p:spPr>
        <p:txBody>
          <a:bodyPr rtlCol="0" anchor="ctr"/>
          <a:lstStyle/>
          <a:p>
            <a:endParaRPr/>
          </a:p>
        </p:txBody>
      </p:sp>
      <p:sp>
        <p:nvSpPr>
          <p:cNvPr id="10" name="Rectangle 9"/>
          <p:cNvSpPr/>
          <p:nvPr/>
        </p:nvSpPr>
        <p:spPr>
          <a:xfrm>
            <a:off x="609600" y="1324546"/>
            <a:ext cx="50800" cy="4508500"/>
          </a:xfrm>
          <a:prstGeom prst="rect">
            <a:avLst/>
          </a:prstGeom>
          <a:solidFill>
            <a:srgbClr val="24476E"/>
          </a:solidFill>
          <a:ln>
            <a:noFill/>
          </a:ln>
          <a:effectLst/>
        </p:spPr>
        <p:txBody>
          <a:bodyPr rtlCol="0" anchor="ctr"/>
          <a:lstStyle/>
          <a:p>
            <a:endParaRPr/>
          </a:p>
        </p:txBody>
      </p:sp>
      <p:sp>
        <p:nvSpPr>
          <p:cNvPr id="11" name="TextBox 10"/>
          <p:cNvSpPr txBox="1"/>
          <p:nvPr/>
        </p:nvSpPr>
        <p:spPr>
          <a:xfrm>
            <a:off x="914400" y="1553146"/>
            <a:ext cx="3068876" cy="203200"/>
          </a:xfrm>
          <a:prstGeom prst="rect">
            <a:avLst/>
          </a:prstGeom>
          <a:noFill/>
        </p:spPr>
        <p:txBody>
          <a:bodyPr wrap="none" lIns="0" tIns="0" rIns="0" bIns="0" anchor="t">
            <a:noAutofit/>
          </a:bodyPr>
          <a:lstStyle/>
          <a:p>
            <a:pPr algn="l">
              <a:lnSpc>
                <a:spcPts val="1120"/>
              </a:lnSpc>
            </a:pPr>
            <a:r>
              <a:rPr sz="1100" b="1">
                <a:solidFill>
                  <a:srgbClr val="24476E"/>
                </a:solidFill>
                <a:latin typeface="Microsoft JhengHei"/>
                <a:ea typeface="Microsoft JhengHei"/>
                <a:cs typeface="Microsoft JhengHei"/>
              </a:rPr>
              <a:t>Core Takeaways for Clinical Practice</a:t>
            </a:r>
          </a:p>
        </p:txBody>
      </p:sp>
      <p:sp>
        <p:nvSpPr>
          <p:cNvPr id="12" name="Rectangle 11"/>
          <p:cNvSpPr/>
          <p:nvPr/>
        </p:nvSpPr>
        <p:spPr>
          <a:xfrm>
            <a:off x="914400" y="1553146"/>
            <a:ext cx="2455100" cy="203200"/>
          </a:xfrm>
          <a:prstGeom prst="rect">
            <a:avLst/>
          </a:prstGeom>
          <a:solidFill>
            <a:srgbClr val="1E3A5F">
              <a:alpha val="12000"/>
            </a:srgbClr>
          </a:solidFill>
          <a:ln>
            <a:noFill/>
          </a:ln>
          <a:effectLst/>
        </p:spPr>
        <p:txBody>
          <a:bodyPr rtlCol="0" anchor="ctr"/>
          <a:lstStyle/>
          <a:p>
            <a:endParaRPr/>
          </a:p>
        </p:txBody>
      </p:sp>
      <p:sp>
        <p:nvSpPr>
          <p:cNvPr id="13" name="Rounded Rectangle 12"/>
          <p:cNvSpPr/>
          <p:nvPr/>
        </p:nvSpPr>
        <p:spPr>
          <a:xfrm>
            <a:off x="914400" y="1896046"/>
            <a:ext cx="5633656" cy="933450"/>
          </a:xfrm>
          <a:prstGeom prst="roundRect">
            <a:avLst>
              <a:gd name="adj" fmla="val 8163"/>
            </a:avLst>
          </a:prstGeom>
          <a:solidFill>
            <a:srgbClr val="FFFFFF"/>
          </a:solidFill>
          <a:ln>
            <a:noFill/>
          </a:ln>
          <a:effectLst/>
        </p:spPr>
        <p:txBody>
          <a:bodyPr rtlCol="0" anchor="ctr"/>
          <a:lstStyle/>
          <a:p>
            <a:endParaRPr/>
          </a:p>
        </p:txBody>
      </p:sp>
      <p:sp>
        <p:nvSpPr>
          <p:cNvPr id="14" name="TextBox 13"/>
          <p:cNvSpPr txBox="1"/>
          <p:nvPr/>
        </p:nvSpPr>
        <p:spPr>
          <a:xfrm>
            <a:off x="1066800" y="2023046"/>
            <a:ext cx="4291965" cy="222250"/>
          </a:xfrm>
          <a:prstGeom prst="rect">
            <a:avLst/>
          </a:prstGeom>
          <a:noFill/>
        </p:spPr>
        <p:txBody>
          <a:bodyPr wrap="none" lIns="0" tIns="0" rIns="0" bIns="0" anchor="t">
            <a:noAutofit/>
          </a:bodyPr>
          <a:lstStyle/>
          <a:p>
            <a:pPr algn="l">
              <a:lnSpc>
                <a:spcPts val="1120"/>
              </a:lnSpc>
            </a:pPr>
            <a:r>
              <a:rPr sz="1200" b="1">
                <a:solidFill>
                  <a:srgbClr val="24476E"/>
                </a:solidFill>
                <a:latin typeface="Microsoft JhengHei"/>
                <a:ea typeface="Microsoft JhengHei"/>
                <a:cs typeface="Microsoft JhengHei"/>
              </a:rPr>
              <a:t>1. Stent Fixes Local; Biology Governs Systemic</a:t>
            </a:r>
          </a:p>
        </p:txBody>
      </p:sp>
      <p:sp>
        <p:nvSpPr>
          <p:cNvPr id="15" name="TextBox 14"/>
          <p:cNvSpPr txBox="1"/>
          <p:nvPr/>
        </p:nvSpPr>
        <p:spPr>
          <a:xfrm>
            <a:off x="1066800" y="2283396"/>
            <a:ext cx="5328856" cy="412750"/>
          </a:xfrm>
          <a:prstGeom prst="rect">
            <a:avLst/>
          </a:prstGeom>
          <a:noFill/>
        </p:spPr>
        <p:txBody>
          <a:bodyPr wrap="square" lIns="0" tIns="0" rIns="0" bIns="0" anchor="t">
            <a:noAutofit/>
          </a:bodyPr>
          <a:lstStyle/>
          <a:p>
            <a:pPr algn="l">
              <a:lnSpc>
                <a:spcPts val="1650"/>
              </a:lnSpc>
            </a:pPr>
            <a:r>
              <a:rPr sz="1100" b="0">
                <a:solidFill>
                  <a:srgbClr val="1E2833"/>
                </a:solidFill>
                <a:latin typeface="Microsoft JhengHei"/>
                <a:ea typeface="Microsoft JhengHei"/>
                <a:cs typeface="Microsoft JhengHei"/>
              </a:rPr>
              <a:t>Stents cover 5% of the coronary tree. 50% of recurrent MIs occur at non-stented sites. Plaque biology must be treated systemically.</a:t>
            </a:r>
          </a:p>
        </p:txBody>
      </p:sp>
      <p:sp>
        <p:nvSpPr>
          <p:cNvPr id="16" name="Rounded Rectangle 15"/>
          <p:cNvSpPr/>
          <p:nvPr/>
        </p:nvSpPr>
        <p:spPr>
          <a:xfrm>
            <a:off x="914400" y="2943796"/>
            <a:ext cx="5633656" cy="933450"/>
          </a:xfrm>
          <a:prstGeom prst="roundRect">
            <a:avLst>
              <a:gd name="adj" fmla="val 8163"/>
            </a:avLst>
          </a:prstGeom>
          <a:solidFill>
            <a:srgbClr val="FFFFFF"/>
          </a:solidFill>
          <a:ln>
            <a:noFill/>
          </a:ln>
          <a:effectLst/>
        </p:spPr>
        <p:txBody>
          <a:bodyPr rtlCol="0" anchor="ctr"/>
          <a:lstStyle/>
          <a:p>
            <a:endParaRPr/>
          </a:p>
        </p:txBody>
      </p:sp>
      <p:sp>
        <p:nvSpPr>
          <p:cNvPr id="17" name="Rectangle 16"/>
          <p:cNvSpPr/>
          <p:nvPr/>
        </p:nvSpPr>
        <p:spPr>
          <a:xfrm>
            <a:off x="914400" y="2943796"/>
            <a:ext cx="38100" cy="933450"/>
          </a:xfrm>
          <a:prstGeom prst="rect">
            <a:avLst/>
          </a:prstGeom>
          <a:solidFill>
            <a:srgbClr val="3F7A55"/>
          </a:solidFill>
          <a:ln>
            <a:noFill/>
          </a:ln>
          <a:effectLst/>
        </p:spPr>
        <p:txBody>
          <a:bodyPr rtlCol="0" anchor="ctr"/>
          <a:lstStyle/>
          <a:p>
            <a:endParaRPr/>
          </a:p>
        </p:txBody>
      </p:sp>
      <p:sp>
        <p:nvSpPr>
          <p:cNvPr id="18" name="TextBox 17"/>
          <p:cNvSpPr txBox="1"/>
          <p:nvPr/>
        </p:nvSpPr>
        <p:spPr>
          <a:xfrm>
            <a:off x="1104900" y="3070796"/>
            <a:ext cx="4064476" cy="222250"/>
          </a:xfrm>
          <a:prstGeom prst="rect">
            <a:avLst/>
          </a:prstGeom>
          <a:noFill/>
        </p:spPr>
        <p:txBody>
          <a:bodyPr wrap="none" lIns="0" tIns="0" rIns="0" bIns="0" anchor="t">
            <a:noAutofit/>
          </a:bodyPr>
          <a:lstStyle/>
          <a:p>
            <a:pPr algn="l">
              <a:lnSpc>
                <a:spcPts val="1120"/>
              </a:lnSpc>
            </a:pPr>
            <a:r>
              <a:rPr sz="1200" b="1">
                <a:solidFill>
                  <a:srgbClr val="24476E"/>
                </a:solidFill>
                <a:latin typeface="Microsoft JhengHei"/>
                <a:ea typeface="Microsoft JhengHei"/>
                <a:cs typeface="Microsoft JhengHei"/>
              </a:rPr>
              <a:t>2. Dual Target &lt; 55 mg/dL is Non-Negotiable</a:t>
            </a:r>
          </a:p>
        </p:txBody>
      </p:sp>
      <p:sp>
        <p:nvSpPr>
          <p:cNvPr id="19" name="TextBox 18"/>
          <p:cNvSpPr txBox="1"/>
          <p:nvPr/>
        </p:nvSpPr>
        <p:spPr>
          <a:xfrm>
            <a:off x="1104900" y="3331146"/>
            <a:ext cx="5290756" cy="412750"/>
          </a:xfrm>
          <a:prstGeom prst="rect">
            <a:avLst/>
          </a:prstGeom>
          <a:noFill/>
        </p:spPr>
        <p:txBody>
          <a:bodyPr wrap="square" lIns="0" tIns="0" rIns="0" bIns="0" anchor="t">
            <a:noAutofit/>
          </a:bodyPr>
          <a:lstStyle/>
          <a:p>
            <a:pPr algn="l">
              <a:lnSpc>
                <a:spcPts val="1650"/>
              </a:lnSpc>
            </a:pPr>
            <a:r>
              <a:rPr sz="1100" b="0">
                <a:solidFill>
                  <a:srgbClr val="1E2833"/>
                </a:solidFill>
                <a:latin typeface="Microsoft JhengHei"/>
                <a:ea typeface="Microsoft JhengHei"/>
                <a:cs typeface="Microsoft JhengHei"/>
              </a:rPr>
              <a:t>Achieving ≥ 50% drop AND absolute LDL &lt; 55 mg/dL triggers fibrous cap thickening and true plaque stabilization.</a:t>
            </a:r>
          </a:p>
        </p:txBody>
      </p:sp>
      <p:sp>
        <p:nvSpPr>
          <p:cNvPr id="20" name="Rounded Rectangle 19"/>
          <p:cNvSpPr/>
          <p:nvPr/>
        </p:nvSpPr>
        <p:spPr>
          <a:xfrm>
            <a:off x="914400" y="3991546"/>
            <a:ext cx="5633656" cy="933450"/>
          </a:xfrm>
          <a:prstGeom prst="roundRect">
            <a:avLst>
              <a:gd name="adj" fmla="val 8163"/>
            </a:avLst>
          </a:prstGeom>
          <a:solidFill>
            <a:srgbClr val="FFFFFF"/>
          </a:solidFill>
          <a:ln>
            <a:noFill/>
          </a:ln>
          <a:effectLst/>
        </p:spPr>
        <p:txBody>
          <a:bodyPr rtlCol="0" anchor="ctr"/>
          <a:lstStyle/>
          <a:p>
            <a:endParaRPr/>
          </a:p>
        </p:txBody>
      </p:sp>
      <p:sp>
        <p:nvSpPr>
          <p:cNvPr id="21" name="TextBox 20"/>
          <p:cNvSpPr txBox="1"/>
          <p:nvPr/>
        </p:nvSpPr>
        <p:spPr>
          <a:xfrm>
            <a:off x="1066800" y="4118546"/>
            <a:ext cx="4089638" cy="222250"/>
          </a:xfrm>
          <a:prstGeom prst="rect">
            <a:avLst/>
          </a:prstGeom>
          <a:noFill/>
        </p:spPr>
        <p:txBody>
          <a:bodyPr wrap="none" lIns="0" tIns="0" rIns="0" bIns="0" anchor="t">
            <a:noAutofit/>
          </a:bodyPr>
          <a:lstStyle/>
          <a:p>
            <a:pPr algn="l">
              <a:lnSpc>
                <a:spcPts val="1120"/>
              </a:lnSpc>
            </a:pPr>
            <a:r>
              <a:rPr sz="1200" b="1">
                <a:solidFill>
                  <a:srgbClr val="24476E"/>
                </a:solidFill>
                <a:latin typeface="Microsoft JhengHei"/>
                <a:ea typeface="Microsoft JhengHei"/>
                <a:cs typeface="Microsoft JhengHei"/>
              </a:rPr>
              <a:t>3. Upfront Dual Therapy Beats Monotherapy</a:t>
            </a:r>
          </a:p>
        </p:txBody>
      </p:sp>
      <p:sp>
        <p:nvSpPr>
          <p:cNvPr id="22" name="TextBox 21"/>
          <p:cNvSpPr txBox="1"/>
          <p:nvPr/>
        </p:nvSpPr>
        <p:spPr>
          <a:xfrm>
            <a:off x="1066800" y="4378896"/>
            <a:ext cx="5328856" cy="412750"/>
          </a:xfrm>
          <a:prstGeom prst="rect">
            <a:avLst/>
          </a:prstGeom>
          <a:noFill/>
        </p:spPr>
        <p:txBody>
          <a:bodyPr wrap="square" lIns="0" tIns="0" rIns="0" bIns="0" anchor="t">
            <a:noAutofit/>
          </a:bodyPr>
          <a:lstStyle/>
          <a:p>
            <a:pPr algn="l">
              <a:lnSpc>
                <a:spcPts val="1650"/>
              </a:lnSpc>
            </a:pPr>
            <a:r>
              <a:rPr sz="1100" b="0">
                <a:solidFill>
                  <a:srgbClr val="1E2833"/>
                </a:solidFill>
                <a:latin typeface="Microsoft JhengHei"/>
                <a:ea typeface="Microsoft JhengHei"/>
                <a:cs typeface="Microsoft JhengHei"/>
              </a:rPr>
              <a:t>Starting Statin + Ezetimibe before discharge overcomes the Rule of Six, doubling goal attainment safely.</a:t>
            </a:r>
          </a:p>
        </p:txBody>
      </p:sp>
      <p:sp>
        <p:nvSpPr>
          <p:cNvPr id="23" name="TextBox 22"/>
          <p:cNvSpPr txBox="1"/>
          <p:nvPr/>
        </p:nvSpPr>
        <p:spPr>
          <a:xfrm>
            <a:off x="914400" y="5198046"/>
            <a:ext cx="5633656" cy="406400"/>
          </a:xfrm>
          <a:prstGeom prst="rect">
            <a:avLst/>
          </a:prstGeom>
          <a:noFill/>
        </p:spPr>
        <p:txBody>
          <a:bodyPr wrap="square" lIns="0" tIns="0" rIns="0" bIns="0" anchor="t">
            <a:noAutofit/>
          </a:bodyPr>
          <a:lstStyle/>
          <a:p>
            <a:pPr algn="l">
              <a:lnSpc>
                <a:spcPts val="1540"/>
              </a:lnSpc>
            </a:pPr>
            <a:r>
              <a:rPr sz="1100" b="1">
                <a:solidFill>
                  <a:srgbClr val="24476E"/>
                </a:solidFill>
                <a:latin typeface="Microsoft JhengHei"/>
                <a:ea typeface="Microsoft JhengHei"/>
                <a:cs typeface="Microsoft JhengHei"/>
              </a:rPr>
              <a:t>Author: CHEN, CHIH-WEI ｜ Third-Year Medical Student, National Taiwan University</a:t>
            </a:r>
          </a:p>
        </p:txBody>
      </p:sp>
      <p:sp>
        <p:nvSpPr>
          <p:cNvPr id="24" name="Rounded Rectangle 23"/>
          <p:cNvSpPr/>
          <p:nvPr/>
        </p:nvSpPr>
        <p:spPr>
          <a:xfrm>
            <a:off x="7005256" y="1324546"/>
            <a:ext cx="4577144" cy="4508500"/>
          </a:xfrm>
          <a:prstGeom prst="roundRect">
            <a:avLst>
              <a:gd name="adj" fmla="val 2535"/>
            </a:avLst>
          </a:prstGeom>
          <a:solidFill>
            <a:srgbClr val="F0F2F4"/>
          </a:solidFill>
          <a:ln w="12700">
            <a:solidFill>
              <a:srgbClr val="E3E6E9"/>
            </a:solidFill>
          </a:ln>
          <a:effectLst/>
        </p:spPr>
        <p:txBody>
          <a:bodyPr rtlCol="0" anchor="ctr"/>
          <a:lstStyle/>
          <a:p>
            <a:endParaRPr/>
          </a:p>
        </p:txBody>
      </p:sp>
      <p:sp>
        <p:nvSpPr>
          <p:cNvPr id="25" name="TextBox 24"/>
          <p:cNvSpPr txBox="1"/>
          <p:nvPr/>
        </p:nvSpPr>
        <p:spPr>
          <a:xfrm>
            <a:off x="8432125" y="1540446"/>
            <a:ext cx="1723152" cy="190500"/>
          </a:xfrm>
          <a:prstGeom prst="rect">
            <a:avLst/>
          </a:prstGeom>
          <a:noFill/>
        </p:spPr>
        <p:txBody>
          <a:bodyPr wrap="none" lIns="0" tIns="0" rIns="0" bIns="0" anchor="t">
            <a:noAutofit/>
          </a:bodyPr>
          <a:lstStyle/>
          <a:p>
            <a:pPr algn="ctr">
              <a:lnSpc>
                <a:spcPts val="1120"/>
              </a:lnSpc>
            </a:pPr>
            <a:r>
              <a:rPr sz="1050" b="1">
                <a:solidFill>
                  <a:srgbClr val="24476E"/>
                </a:solidFill>
                <a:latin typeface="Microsoft JhengHei"/>
                <a:ea typeface="Microsoft JhengHei"/>
                <a:cs typeface="Microsoft JhengHei"/>
              </a:rPr>
              <a:t>Interactive Web Deck</a:t>
            </a:r>
          </a:p>
        </p:txBody>
      </p:sp>
      <p:sp>
        <p:nvSpPr>
          <p:cNvPr id="26" name="Rectangle 25"/>
          <p:cNvSpPr/>
          <p:nvPr/>
        </p:nvSpPr>
        <p:spPr>
          <a:xfrm>
            <a:off x="8604440" y="1540446"/>
            <a:ext cx="1378522" cy="190500"/>
          </a:xfrm>
          <a:prstGeom prst="rect">
            <a:avLst/>
          </a:prstGeom>
          <a:solidFill>
            <a:srgbClr val="1E3A5F">
              <a:alpha val="8000"/>
            </a:srgbClr>
          </a:solidFill>
          <a:ln>
            <a:noFill/>
          </a:ln>
          <a:effectLst/>
        </p:spPr>
        <p:txBody>
          <a:bodyPr rtlCol="0" anchor="ctr"/>
          <a:lstStyle/>
          <a:p>
            <a:endParaRPr/>
          </a:p>
        </p:txBody>
      </p:sp>
      <p:sp>
        <p:nvSpPr>
          <p:cNvPr id="27" name="TextBox 26"/>
          <p:cNvSpPr txBox="1"/>
          <p:nvPr/>
        </p:nvSpPr>
        <p:spPr>
          <a:xfrm>
            <a:off x="7520321" y="1832546"/>
            <a:ext cx="3546951" cy="254000"/>
          </a:xfrm>
          <a:prstGeom prst="rect">
            <a:avLst/>
          </a:prstGeom>
          <a:noFill/>
        </p:spPr>
        <p:txBody>
          <a:bodyPr wrap="none" lIns="0" tIns="0" rIns="0" bIns="0" anchor="t">
            <a:noAutofit/>
          </a:bodyPr>
          <a:lstStyle/>
          <a:p>
            <a:pPr algn="ctr">
              <a:lnSpc>
                <a:spcPts val="1960"/>
              </a:lnSpc>
            </a:pPr>
            <a:r>
              <a:rPr sz="1400" b="1">
                <a:solidFill>
                  <a:srgbClr val="24476E"/>
                </a:solidFill>
                <a:latin typeface="Microsoft JhengHei"/>
                <a:ea typeface="Microsoft JhengHei"/>
                <a:cs typeface="Microsoft JhengHei"/>
              </a:rPr>
              <a:t>Scan QR Code to Read on Phone</a:t>
            </a:r>
          </a:p>
        </p:txBody>
      </p:sp>
      <p:sp>
        <p:nvSpPr>
          <p:cNvPr id="28" name="TextBox 27"/>
          <p:cNvSpPr txBox="1"/>
          <p:nvPr/>
        </p:nvSpPr>
        <p:spPr>
          <a:xfrm>
            <a:off x="6854531" y="2150046"/>
            <a:ext cx="4878467" cy="184150"/>
          </a:xfrm>
          <a:prstGeom prst="rect">
            <a:avLst/>
          </a:prstGeom>
          <a:noFill/>
        </p:spPr>
        <p:txBody>
          <a:bodyPr wrap="none" lIns="0" tIns="0" rIns="0" bIns="0" anchor="t">
            <a:noAutofit/>
          </a:bodyPr>
          <a:lstStyle/>
          <a:p>
            <a:pPr algn="ctr">
              <a:lnSpc>
                <a:spcPts val="1500"/>
              </a:lnSpc>
            </a:pPr>
            <a:r>
              <a:rPr sz="1000" b="0">
                <a:solidFill>
                  <a:srgbClr val="5F6B77"/>
                </a:solidFill>
                <a:latin typeface="Microsoft JhengHei"/>
                <a:ea typeface="Microsoft JhengHei"/>
                <a:cs typeface="Microsoft JhengHei"/>
              </a:rPr>
              <a:t>Supports English narration, Chinese voice-over, and full references</a:t>
            </a:r>
          </a:p>
        </p:txBody>
      </p:sp>
      <p:sp>
        <p:nvSpPr>
          <p:cNvPr id="29" name="Rounded Rectangle 28"/>
          <p:cNvSpPr/>
          <p:nvPr/>
        </p:nvSpPr>
        <p:spPr>
          <a:xfrm>
            <a:off x="8461946" y="2842196"/>
            <a:ext cx="1663700" cy="1663700"/>
          </a:xfrm>
          <a:prstGeom prst="roundRect">
            <a:avLst>
              <a:gd name="adj" fmla="val 6870"/>
            </a:avLst>
          </a:prstGeom>
          <a:solidFill>
            <a:srgbClr val="FFFFFF"/>
          </a:solidFill>
          <a:ln>
            <a:noFill/>
          </a:ln>
          <a:effectLst/>
        </p:spPr>
        <p:txBody>
          <a:bodyPr rtlCol="0" anchor="ctr"/>
          <a:lstStyle/>
          <a:p>
            <a:endParaRPr/>
          </a:p>
        </p:txBody>
      </p:sp>
      <p:pic>
        <p:nvPicPr>
          <p:cNvPr id="30" name="Picture 29" descr="qrcode.png"/>
          <p:cNvPicPr>
            <a:picLocks noChangeAspect="1"/>
          </p:cNvPicPr>
          <p:nvPr/>
        </p:nvPicPr>
        <p:blipFill>
          <a:blip r:embed="rId3"/>
          <a:stretch>
            <a:fillRect/>
          </a:stretch>
        </p:blipFill>
        <p:spPr>
          <a:xfrm>
            <a:off x="8563546" y="2943796"/>
            <a:ext cx="1460500" cy="1460500"/>
          </a:xfrm>
          <a:prstGeom prst="rect">
            <a:avLst/>
          </a:prstGeom>
        </p:spPr>
      </p:pic>
      <p:sp>
        <p:nvSpPr>
          <p:cNvPr id="31" name="Rounded Rectangle 30"/>
          <p:cNvSpPr/>
          <p:nvPr/>
        </p:nvSpPr>
        <p:spPr>
          <a:xfrm>
            <a:off x="7208456" y="4994846"/>
            <a:ext cx="4170743" cy="368300"/>
          </a:xfrm>
          <a:prstGeom prst="roundRect">
            <a:avLst>
              <a:gd name="adj" fmla="val 17241"/>
            </a:avLst>
          </a:prstGeom>
          <a:solidFill>
            <a:srgbClr val="24476E"/>
          </a:solidFill>
          <a:ln>
            <a:noFill/>
          </a:ln>
          <a:effectLst/>
        </p:spPr>
        <p:txBody>
          <a:bodyPr rtlCol="0" anchor="ctr"/>
          <a:lstStyle/>
          <a:p>
            <a:endParaRPr/>
          </a:p>
        </p:txBody>
      </p:sp>
      <p:sp>
        <p:nvSpPr>
          <p:cNvPr id="32" name="TextBox 31"/>
          <p:cNvSpPr txBox="1"/>
          <p:nvPr/>
        </p:nvSpPr>
        <p:spPr>
          <a:xfrm>
            <a:off x="7528020" y="5083746"/>
            <a:ext cx="3531552" cy="190500"/>
          </a:xfrm>
          <a:prstGeom prst="rect">
            <a:avLst/>
          </a:prstGeom>
          <a:noFill/>
        </p:spPr>
        <p:txBody>
          <a:bodyPr wrap="none" lIns="0" tIns="0" rIns="0" bIns="0" anchor="t">
            <a:noAutofit/>
          </a:bodyPr>
          <a:lstStyle/>
          <a:p>
            <a:pPr algn="ctr">
              <a:lnSpc>
                <a:spcPts val="1470"/>
              </a:lnSpc>
            </a:pPr>
            <a:r>
              <a:rPr sz="1050" b="1">
                <a:solidFill>
                  <a:srgbClr val="FFFFFF"/>
                </a:solidFill>
                <a:latin typeface="Microsoft JhengHei"/>
                <a:ea typeface="Microsoft JhengHei"/>
                <a:cs typeface="Microsoft JhengHei"/>
              </a:rPr>
              <a:t>a7662888.github.io/stemi-ldl-management</a:t>
            </a:r>
          </a:p>
        </p:txBody>
      </p:sp>
      <p:sp>
        <p:nvSpPr>
          <p:cNvPr id="33" name="TextBox 32"/>
          <p:cNvSpPr txBox="1"/>
          <p:nvPr/>
        </p:nvSpPr>
        <p:spPr>
          <a:xfrm>
            <a:off x="7800840" y="5452046"/>
            <a:ext cx="1593929" cy="165100"/>
          </a:xfrm>
          <a:prstGeom prst="rect">
            <a:avLst/>
          </a:prstGeom>
          <a:noFill/>
        </p:spPr>
        <p:txBody>
          <a:bodyPr wrap="none" lIns="0" tIns="0" rIns="0" bIns="0" anchor="t">
            <a:noAutofit/>
          </a:bodyPr>
          <a:lstStyle/>
          <a:p>
            <a:pPr algn="ctr">
              <a:lnSpc>
                <a:spcPts val="1260"/>
              </a:lnSpc>
            </a:pPr>
            <a:r>
              <a:rPr sz="900" b="1">
                <a:solidFill>
                  <a:srgbClr val="1E2833"/>
                </a:solidFill>
                <a:latin typeface="Microsoft JhengHei"/>
                <a:ea typeface="Microsoft JhengHei"/>
                <a:cs typeface="Microsoft JhengHei"/>
              </a:rPr>
              <a:t>Download Native PPTX</a:t>
            </a:r>
          </a:p>
        </p:txBody>
      </p:sp>
      <p:sp>
        <p:nvSpPr>
          <p:cNvPr id="34" name="TextBox 33"/>
          <p:cNvSpPr txBox="1"/>
          <p:nvPr/>
        </p:nvSpPr>
        <p:spPr>
          <a:xfrm>
            <a:off x="9279826" y="5452046"/>
            <a:ext cx="139700" cy="152400"/>
          </a:xfrm>
          <a:prstGeom prst="rect">
            <a:avLst/>
          </a:prstGeom>
          <a:noFill/>
        </p:spPr>
        <p:txBody>
          <a:bodyPr wrap="none" lIns="0" tIns="0" rIns="0" bIns="0" anchor="t">
            <a:noAutofit/>
          </a:bodyPr>
          <a:lstStyle/>
          <a:p>
            <a:pPr algn="ctr">
              <a:lnSpc>
                <a:spcPts val="1120"/>
              </a:lnSpc>
            </a:pPr>
            <a:r>
              <a:rPr sz="800" b="0">
                <a:solidFill>
                  <a:srgbClr val="E3E6E9"/>
                </a:solidFill>
                <a:latin typeface="Microsoft JhengHei"/>
                <a:ea typeface="Microsoft JhengHei"/>
                <a:cs typeface="Microsoft JhengHei"/>
              </a:rPr>
              <a:t>|</a:t>
            </a:r>
          </a:p>
        </p:txBody>
      </p:sp>
      <p:sp>
        <p:nvSpPr>
          <p:cNvPr id="35" name="TextBox 34"/>
          <p:cNvSpPr txBox="1"/>
          <p:nvPr/>
        </p:nvSpPr>
        <p:spPr>
          <a:xfrm>
            <a:off x="9292336" y="5452046"/>
            <a:ext cx="1483360" cy="165100"/>
          </a:xfrm>
          <a:prstGeom prst="rect">
            <a:avLst/>
          </a:prstGeom>
          <a:noFill/>
        </p:spPr>
        <p:txBody>
          <a:bodyPr wrap="none" lIns="0" tIns="0" rIns="0" bIns="0" anchor="t">
            <a:noAutofit/>
          </a:bodyPr>
          <a:lstStyle/>
          <a:p>
            <a:pPr algn="ctr">
              <a:lnSpc>
                <a:spcPts val="1260"/>
              </a:lnSpc>
            </a:pPr>
            <a:r>
              <a:rPr sz="900" b="1">
                <a:solidFill>
                  <a:srgbClr val="3F7A55"/>
                </a:solidFill>
                <a:latin typeface="Microsoft JhengHei"/>
                <a:ea typeface="Microsoft JhengHei"/>
                <a:cs typeface="Microsoft JhengHei"/>
              </a:rPr>
              <a:t>Download Offline ZIP</a:t>
            </a:r>
          </a:p>
        </p:txBody>
      </p:sp>
      <p:sp>
        <p:nvSpPr>
          <p:cNvPr id="36" name="Rectangle 35"/>
          <p:cNvSpPr/>
          <p:nvPr/>
        </p:nvSpPr>
        <p:spPr>
          <a:xfrm>
            <a:off x="609600" y="6066854"/>
            <a:ext cx="10972800" cy="6350"/>
          </a:xfrm>
          <a:prstGeom prst="rect">
            <a:avLst/>
          </a:prstGeom>
          <a:solidFill>
            <a:srgbClr val="F0F2F4"/>
          </a:solidFill>
          <a:ln>
            <a:noFill/>
          </a:ln>
          <a:effectLst/>
        </p:spPr>
        <p:txBody>
          <a:bodyPr rtlCol="0" anchor="ctr"/>
          <a:lstStyle/>
          <a:p>
            <a:endParaRPr/>
          </a:p>
        </p:txBody>
      </p:sp>
      <p:sp>
        <p:nvSpPr>
          <p:cNvPr id="37" name="TextBox 36"/>
          <p:cNvSpPr txBox="1"/>
          <p:nvPr/>
        </p:nvSpPr>
        <p:spPr>
          <a:xfrm>
            <a:off x="609600" y="6130354"/>
            <a:ext cx="10865961" cy="171450"/>
          </a:xfrm>
          <a:prstGeom prst="rect">
            <a:avLst/>
          </a:prstGeom>
          <a:noFill/>
        </p:spPr>
        <p:txBody>
          <a:bodyPr wrap="none" lIns="0" tIns="0" rIns="0" bIns="0" anchor="t">
            <a:noAutofit/>
          </a:bodyPr>
          <a:lstStyle/>
          <a:p>
            <a:pPr algn="l">
              <a:lnSpc>
                <a:spcPts val="1330"/>
              </a:lnSpc>
            </a:pPr>
            <a:r>
              <a:rPr sz="950" b="0">
                <a:solidFill>
                  <a:srgbClr val="5F6B77"/>
                </a:solidFill>
                <a:latin typeface="Microsoft JhengHei"/>
                <a:ea typeface="Microsoft JhengHei"/>
                <a:cs typeface="Microsoft JhengHei"/>
              </a:rPr>
              <a:t>1. 2026 ACC/AHA Guideline. Circulation. 2026. | 2. PREDIMED. NEJM. 2018. | 3. IMPROVE-IT. NEJM. 2015. | 4. FOURIER. NEJM. 2017. | 5. PROSPECT. NEJM. 2011.</a:t>
            </a:r>
          </a:p>
        </p:txBody>
      </p:sp>
      <p:sp>
        <p:nvSpPr>
          <p:cNvPr id="38" name="Rounded Rectangle 37"/>
          <p:cNvSpPr/>
          <p:nvPr/>
        </p:nvSpPr>
        <p:spPr>
          <a:xfrm>
            <a:off x="8473948" y="190500"/>
            <a:ext cx="599313"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39" name="TextBox 38"/>
          <p:cNvSpPr txBox="1"/>
          <p:nvPr/>
        </p:nvSpPr>
        <p:spPr>
          <a:xfrm>
            <a:off x="8575548" y="241300"/>
            <a:ext cx="495141"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1. Case</a:t>
            </a:r>
          </a:p>
        </p:txBody>
      </p:sp>
      <p:sp>
        <p:nvSpPr>
          <p:cNvPr id="40" name="Rounded Rectangle 39"/>
          <p:cNvSpPr/>
          <p:nvPr/>
        </p:nvSpPr>
        <p:spPr>
          <a:xfrm>
            <a:off x="9124061" y="190500"/>
            <a:ext cx="689483"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41" name="TextBox 40"/>
          <p:cNvSpPr txBox="1"/>
          <p:nvPr/>
        </p:nvSpPr>
        <p:spPr>
          <a:xfrm>
            <a:off x="9225661" y="241300"/>
            <a:ext cx="607854"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2. Target</a:t>
            </a:r>
          </a:p>
        </p:txBody>
      </p:sp>
      <p:sp>
        <p:nvSpPr>
          <p:cNvPr id="42" name="Rounded Rectangle 41"/>
          <p:cNvSpPr/>
          <p:nvPr/>
        </p:nvSpPr>
        <p:spPr>
          <a:xfrm>
            <a:off x="9864344" y="190500"/>
            <a:ext cx="795718" cy="266700"/>
          </a:xfrm>
          <a:prstGeom prst="roundRect">
            <a:avLst>
              <a:gd name="adj" fmla="val 50000"/>
            </a:avLst>
          </a:prstGeom>
          <a:solidFill>
            <a:srgbClr val="FFFFFF"/>
          </a:solidFill>
          <a:ln w="12700">
            <a:solidFill>
              <a:srgbClr val="E3E6E9"/>
            </a:solidFill>
          </a:ln>
          <a:effectLst/>
        </p:spPr>
        <p:txBody>
          <a:bodyPr rtlCol="0" anchor="ctr"/>
          <a:lstStyle/>
          <a:p>
            <a:endParaRPr/>
          </a:p>
        </p:txBody>
      </p:sp>
      <p:sp>
        <p:nvSpPr>
          <p:cNvPr id="43" name="TextBox 42"/>
          <p:cNvSpPr txBox="1"/>
          <p:nvPr/>
        </p:nvSpPr>
        <p:spPr>
          <a:xfrm>
            <a:off x="9965944" y="241300"/>
            <a:ext cx="740648" cy="165100"/>
          </a:xfrm>
          <a:prstGeom prst="rect">
            <a:avLst/>
          </a:prstGeom>
          <a:noFill/>
        </p:spPr>
        <p:txBody>
          <a:bodyPr wrap="none" lIns="0" tIns="0" rIns="0" bIns="0" anchor="t">
            <a:noAutofit/>
          </a:bodyPr>
          <a:lstStyle/>
          <a:p>
            <a:pPr algn="l">
              <a:lnSpc>
                <a:spcPts val="1260"/>
              </a:lnSpc>
            </a:pPr>
            <a:r>
              <a:rPr sz="900" b="1">
                <a:solidFill>
                  <a:srgbClr val="5F6B77"/>
                </a:solidFill>
                <a:latin typeface="Microsoft JhengHei"/>
                <a:ea typeface="Microsoft JhengHei"/>
                <a:cs typeface="Microsoft JhengHei"/>
              </a:rPr>
              <a:t>3. Therapy</a:t>
            </a:r>
          </a:p>
        </p:txBody>
      </p:sp>
      <p:sp>
        <p:nvSpPr>
          <p:cNvPr id="44" name="Rounded Rectangle 43"/>
          <p:cNvSpPr/>
          <p:nvPr/>
        </p:nvSpPr>
        <p:spPr>
          <a:xfrm>
            <a:off x="10710862" y="190500"/>
            <a:ext cx="871538" cy="266700"/>
          </a:xfrm>
          <a:prstGeom prst="roundRect">
            <a:avLst>
              <a:gd name="adj" fmla="val 50000"/>
            </a:avLst>
          </a:prstGeom>
          <a:solidFill>
            <a:srgbClr val="24476E"/>
          </a:solidFill>
          <a:ln w="12700">
            <a:solidFill>
              <a:srgbClr val="24476E"/>
            </a:solidFill>
          </a:ln>
          <a:effectLst/>
        </p:spPr>
        <p:txBody>
          <a:bodyPr rtlCol="0" anchor="ctr"/>
          <a:lstStyle/>
          <a:p>
            <a:endParaRPr/>
          </a:p>
        </p:txBody>
      </p:sp>
      <p:sp>
        <p:nvSpPr>
          <p:cNvPr id="45" name="TextBox 44"/>
          <p:cNvSpPr txBox="1"/>
          <p:nvPr/>
        </p:nvSpPr>
        <p:spPr>
          <a:xfrm>
            <a:off x="10812462" y="241300"/>
            <a:ext cx="835422" cy="165100"/>
          </a:xfrm>
          <a:prstGeom prst="rect">
            <a:avLst/>
          </a:prstGeom>
          <a:noFill/>
        </p:spPr>
        <p:txBody>
          <a:bodyPr wrap="none" lIns="0" tIns="0" rIns="0" bIns="0" anchor="t">
            <a:noAutofit/>
          </a:bodyPr>
          <a:lstStyle/>
          <a:p>
            <a:pPr algn="l">
              <a:lnSpc>
                <a:spcPts val="1260"/>
              </a:lnSpc>
            </a:pPr>
            <a:r>
              <a:rPr sz="900" b="1">
                <a:solidFill>
                  <a:srgbClr val="FFFFFF"/>
                </a:solidFill>
                <a:latin typeface="Microsoft JhengHei"/>
                <a:ea typeface="Microsoft JhengHei"/>
                <a:cs typeface="Microsoft JhengHei"/>
              </a:rPr>
              <a:t>4. Roadmap</a:t>
            </a:r>
          </a:p>
        </p:txBody>
      </p:sp>
      <p:sp>
        <p:nvSpPr>
          <p:cNvPr id="46" name="Rectangle 45"/>
          <p:cNvSpPr/>
          <p:nvPr/>
        </p:nvSpPr>
        <p:spPr>
          <a:xfrm>
            <a:off x="0" y="6527800"/>
            <a:ext cx="12192000" cy="330200"/>
          </a:xfrm>
          <a:prstGeom prst="rect">
            <a:avLst/>
          </a:prstGeom>
          <a:solidFill>
            <a:srgbClr val="FFFFFF"/>
          </a:solidFill>
          <a:ln>
            <a:noFill/>
          </a:ln>
          <a:effectLst/>
        </p:spPr>
        <p:txBody>
          <a:bodyPr rtlCol="0" anchor="ctr"/>
          <a:lstStyle/>
          <a:p>
            <a:endParaRPr/>
          </a:p>
        </p:txBody>
      </p:sp>
      <p:sp>
        <p:nvSpPr>
          <p:cNvPr id="47" name="Rectangle 46"/>
          <p:cNvSpPr/>
          <p:nvPr/>
        </p:nvSpPr>
        <p:spPr>
          <a:xfrm>
            <a:off x="0" y="6527800"/>
            <a:ext cx="12192000" cy="12700"/>
          </a:xfrm>
          <a:prstGeom prst="rect">
            <a:avLst/>
          </a:prstGeom>
          <a:solidFill>
            <a:srgbClr val="F0F2F4"/>
          </a:solidFill>
          <a:ln>
            <a:noFill/>
          </a:ln>
          <a:effectLst/>
        </p:spPr>
        <p:txBody>
          <a:bodyPr rtlCol="0" anchor="ctr"/>
          <a:lstStyle/>
          <a:p>
            <a:endParaRPr/>
          </a:p>
        </p:txBody>
      </p:sp>
      <p:sp>
        <p:nvSpPr>
          <p:cNvPr id="48" name="TextBox 47"/>
          <p:cNvSpPr txBox="1"/>
          <p:nvPr/>
        </p:nvSpPr>
        <p:spPr>
          <a:xfrm>
            <a:off x="609600" y="6613525"/>
            <a:ext cx="905986" cy="171450"/>
          </a:xfrm>
          <a:prstGeom prst="rect">
            <a:avLst/>
          </a:prstGeom>
          <a:noFill/>
        </p:spPr>
        <p:txBody>
          <a:bodyPr wrap="none" lIns="0" tIns="0" rIns="0" bIns="0" anchor="t">
            <a:noAutofit/>
          </a:bodyPr>
          <a:lstStyle/>
          <a:p>
            <a:pPr algn="l">
              <a:lnSpc>
                <a:spcPts val="1330"/>
              </a:lnSpc>
            </a:pPr>
            <a:r>
              <a:rPr sz="950" b="1">
                <a:solidFill>
                  <a:srgbClr val="24476E"/>
                </a:solidFill>
                <a:latin typeface="Microsoft JhengHei"/>
                <a:ea typeface="Microsoft JhengHei"/>
                <a:cs typeface="Microsoft JhengHei"/>
              </a:rPr>
              <a:t>4. Roadmap</a:t>
            </a:r>
          </a:p>
        </p:txBody>
      </p:sp>
      <p:sp>
        <p:nvSpPr>
          <p:cNvPr id="49" name="Rounded Rectangle 48"/>
          <p:cNvSpPr/>
          <p:nvPr/>
        </p:nvSpPr>
        <p:spPr>
          <a:xfrm>
            <a:off x="1474089" y="6680200"/>
            <a:ext cx="9572942" cy="38100"/>
          </a:xfrm>
          <a:prstGeom prst="roundRect">
            <a:avLst>
              <a:gd name="adj" fmla="val 50000"/>
            </a:avLst>
          </a:prstGeom>
          <a:solidFill>
            <a:srgbClr val="F0F2F4"/>
          </a:solidFill>
          <a:ln>
            <a:noFill/>
          </a:ln>
          <a:effectLst/>
        </p:spPr>
        <p:txBody>
          <a:bodyPr rtlCol="0" anchor="ctr"/>
          <a:lstStyle/>
          <a:p>
            <a:endParaRPr/>
          </a:p>
        </p:txBody>
      </p:sp>
      <p:sp>
        <p:nvSpPr>
          <p:cNvPr id="50" name="Rectangle 49"/>
          <p:cNvSpPr/>
          <p:nvPr/>
        </p:nvSpPr>
        <p:spPr>
          <a:xfrm>
            <a:off x="1474089" y="6680200"/>
            <a:ext cx="9572942" cy="38100"/>
          </a:xfrm>
          <a:prstGeom prst="rect">
            <a:avLst/>
          </a:prstGeom>
          <a:solidFill>
            <a:srgbClr val="F3C84B"/>
          </a:solidFill>
          <a:ln>
            <a:noFill/>
          </a:ln>
          <a:effectLst/>
        </p:spPr>
        <p:txBody>
          <a:bodyPr rtlCol="0" anchor="ctr"/>
          <a:lstStyle/>
          <a:p>
            <a:endParaRPr/>
          </a:p>
        </p:txBody>
      </p:sp>
      <p:sp>
        <p:nvSpPr>
          <p:cNvPr id="51" name="TextBox 50"/>
          <p:cNvSpPr txBox="1"/>
          <p:nvPr/>
        </p:nvSpPr>
        <p:spPr>
          <a:xfrm>
            <a:off x="11186732" y="6613525"/>
            <a:ext cx="494586" cy="171450"/>
          </a:xfrm>
          <a:prstGeom prst="rect">
            <a:avLst/>
          </a:prstGeom>
          <a:noFill/>
        </p:spPr>
        <p:txBody>
          <a:bodyPr wrap="none" lIns="0" tIns="0" rIns="0" bIns="0" anchor="t">
            <a:noAutofit/>
          </a:bodyPr>
          <a:lstStyle/>
          <a:p>
            <a:pPr algn="l">
              <a:lnSpc>
                <a:spcPts val="1330"/>
              </a:lnSpc>
            </a:pPr>
            <a:r>
              <a:rPr sz="950" b="1">
                <a:solidFill>
                  <a:srgbClr val="3B4754"/>
                </a:solidFill>
                <a:latin typeface="Microsoft JhengHei"/>
                <a:ea typeface="Microsoft JhengHei"/>
                <a:cs typeface="Microsoft JhengHei"/>
              </a:rPr>
              <a:t>12 / 12</a:t>
            </a:r>
          </a:p>
        </p:txBody>
      </p:sp>
      <p:sp>
        <p:nvSpPr>
          <p:cNvPr id="52" name="LINK_Rectangle 51">
            <a:hlinkClick r:id="rId4" action="ppaction://hlinksldjump"/>
          </p:cNvPr>
          <p:cNvSpPr/>
          <p:nvPr/>
        </p:nvSpPr>
        <p:spPr>
          <a:xfrm>
            <a:off x="8473976" y="190500"/>
            <a:ext cx="599281" cy="266700"/>
          </a:xfrm>
          <a:prstGeom prst="rect">
            <a:avLst/>
          </a:prstGeom>
          <a:solidFill>
            <a:srgbClr val="FFFFFF">
              <a:alpha val="0"/>
            </a:srgbClr>
          </a:solidFill>
          <a:ln>
            <a:noFill/>
          </a:ln>
          <a:effectLst/>
        </p:spPr>
        <p:txBody>
          <a:bodyPr rtlCol="0" anchor="ctr"/>
          <a:lstStyle/>
          <a:p>
            <a:pPr algn="ctr"/>
            <a:endParaRPr/>
          </a:p>
        </p:txBody>
      </p:sp>
      <p:sp>
        <p:nvSpPr>
          <p:cNvPr id="53" name="LINK_Rectangle 52">
            <a:hlinkClick r:id="rId5" action="ppaction://hlinksldjump"/>
          </p:cNvPr>
          <p:cNvSpPr/>
          <p:nvPr/>
        </p:nvSpPr>
        <p:spPr>
          <a:xfrm>
            <a:off x="9124057" y="190500"/>
            <a:ext cx="689471" cy="266700"/>
          </a:xfrm>
          <a:prstGeom prst="rect">
            <a:avLst/>
          </a:prstGeom>
          <a:solidFill>
            <a:srgbClr val="FFFFFF">
              <a:alpha val="0"/>
            </a:srgbClr>
          </a:solidFill>
          <a:ln>
            <a:noFill/>
          </a:ln>
          <a:effectLst/>
        </p:spPr>
        <p:txBody>
          <a:bodyPr rtlCol="0" anchor="ctr"/>
          <a:lstStyle/>
          <a:p>
            <a:pPr algn="ctr"/>
            <a:endParaRPr/>
          </a:p>
        </p:txBody>
      </p:sp>
      <p:sp>
        <p:nvSpPr>
          <p:cNvPr id="54" name="LINK_Rectangle 53">
            <a:hlinkClick r:id="rId6" action="ppaction://hlinksldjump"/>
          </p:cNvPr>
          <p:cNvSpPr/>
          <p:nvPr/>
        </p:nvSpPr>
        <p:spPr>
          <a:xfrm>
            <a:off x="9864328" y="190500"/>
            <a:ext cx="795734" cy="266700"/>
          </a:xfrm>
          <a:prstGeom prst="rect">
            <a:avLst/>
          </a:prstGeom>
          <a:solidFill>
            <a:srgbClr val="FFFFFF">
              <a:alpha val="0"/>
            </a:srgbClr>
          </a:solidFill>
          <a:ln>
            <a:noFill/>
          </a:ln>
          <a:effectLst/>
        </p:spPr>
        <p:txBody>
          <a:bodyPr rtlCol="0" anchor="ctr"/>
          <a:lstStyle/>
          <a:p>
            <a:pPr algn="ctr"/>
            <a:endParaRPr/>
          </a:p>
        </p:txBody>
      </p:sp>
      <p:sp>
        <p:nvSpPr>
          <p:cNvPr id="55" name="LINK_Rectangle 54">
            <a:hlinkClick r:id="rId7" action="ppaction://hlinksldjump"/>
          </p:cNvPr>
          <p:cNvSpPr/>
          <p:nvPr/>
        </p:nvSpPr>
        <p:spPr>
          <a:xfrm>
            <a:off x="10710862" y="190500"/>
            <a:ext cx="871538" cy="266700"/>
          </a:xfrm>
          <a:prstGeom prst="rect">
            <a:avLst/>
          </a:prstGeom>
          <a:solidFill>
            <a:srgbClr val="FFFFFF">
              <a:alpha val="0"/>
            </a:srgbClr>
          </a:solidFill>
          <a:ln>
            <a:noFill/>
          </a:ln>
          <a:effectLst/>
        </p:spPr>
        <p:txBody>
          <a:bodyPr rtlCol="0" anchor="ctr"/>
          <a:lstStyle/>
          <a:p>
            <a:pPr algn="ctr"/>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3415</Words>
  <Application>Microsoft Office PowerPoint</Application>
  <PresentationFormat>寬螢幕</PresentationFormat>
  <Paragraphs>378</Paragraphs>
  <Slides>12</Slides>
  <Notes>12</Notes>
  <HiddenSlides>0</HiddenSlides>
  <MMClips>0</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12</vt:i4>
      </vt:variant>
    </vt:vector>
  </HeadingPairs>
  <TitlesOfParts>
    <vt:vector size="16" baseType="lpstr">
      <vt:lpstr>Microsoft JhengHei</vt:lpstr>
      <vt:lpstr>Arial</vt:lpstr>
      <vt:lpstr>Calibri</vt:lpstr>
      <vt:lpstr>Office Theme</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Pei-Hao Chen</cp:lastModifiedBy>
  <cp:revision>2</cp:revision>
  <dcterms:created xsi:type="dcterms:W3CDTF">2013-01-27T09:14:16Z</dcterms:created>
  <dcterms:modified xsi:type="dcterms:W3CDTF">2026-10-29T15:56:03Z</dcterms:modified>
  <cp:category/>
</cp:coreProperties>
</file>