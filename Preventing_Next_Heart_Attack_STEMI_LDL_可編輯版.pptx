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4969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p1｜Title Slide</a:t>
            </a:r>
          </a:p>
          <a:p>
            <a:endParaRPr/>
          </a:p>
          <a:p>
            <a:r>
              <a:t>Good morning, professors and colleagues. I am Chih-Wei Chen from National Taiwan University. Today, we examine an essential clinical dilemma: why opening an occluded coronary artery with a stent is only the very first step in secondary prevention.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p2｜Meet Mr. Hong</a:t>
            </a:r>
          </a:p>
          <a:p>
            <a:endParaRPr/>
          </a:p>
          <a:p>
            <a:r>
              <a:t>Meet our patient, Mr. Hong, a forty-eight-year-old gentleman rushed to the ER with a severe anterior wall myocardial infarction.</a:t>
            </a:r>
          </a:p>
          <a:p>
            <a:r>
              <a:t>The cardiac team performed an exemplary job: within thirty-eight minutes, door-to-balloon time, they placed a forty-eight-millimeter drug-eluting stent and restored full TIMI three flow.</a:t>
            </a:r>
          </a:p>
          <a:p>
            <a:r>
              <a:t>However, admission lab results revealed an LDL cholesterol of 173 milligrams per deciliter. While the stent fixed a forty-eight-millimeter segment, this high systemic cholesterol continues to endanger the rest of his coronary tree.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p3｜Plaque Biology</a:t>
            </a:r>
          </a:p>
          <a:p>
            <a:endParaRPr/>
          </a:p>
          <a:p>
            <a:r>
              <a:t>To protect Mr. Hong, we must clearly distinguish between a local vascular fix and a systemic disease process.</a:t>
            </a:r>
          </a:p>
          <a:p>
            <a:r>
              <a:t>His stent covers forty-eight millimeters. But the coronary arterial tree extends over one thousand millimeters. Stenting clears only five percent of his vessels.</a:t>
            </a:r>
          </a:p>
          <a:p>
            <a:r>
              <a:t>In the PROSPECT trial, half of all recurrent heart attacks occurred at non-stented sites. High circulating LDL particles continuously infiltrate the vessel wall, creating fragile plaques that can rupture at any moment.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p4｜Target &lt; 55 mg/dL</a:t>
            </a:r>
          </a:p>
          <a:p>
            <a:endParaRPr/>
          </a:p>
          <a:p>
            <a:r>
              <a:t>What is our evidence-based goal for Mr. Hong? The latest 2026 ACC and AHA guidelines mandate two strict rules for very-high-risk patients.</a:t>
            </a:r>
          </a:p>
          <a:p>
            <a:r>
              <a:t>First, achieve at least a fifty percent reduction from baseline. Second, reach an absolute LDL level below fifty-five milligrams per deciliter.</a:t>
            </a:r>
          </a:p>
          <a:p>
            <a:r>
              <a:t>Why below fifty-five? Intravascular ultrasound trials prove that atherosclerotic plaques stop growing and actually regress only when LDL drops below this critical threshold.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p5｜Lifestyle Management</a:t>
            </a:r>
          </a:p>
          <a:p>
            <a:endParaRPr/>
          </a:p>
          <a:p>
            <a:r>
              <a:t>Before adding drugs, non-pharmacological management is the indispensable foundation for every heart attack patient.</a:t>
            </a:r>
          </a:p>
          <a:p>
            <a:r>
              <a:t>First, dietary changes: shifting to a Mediterranean diet, eliminating trans fats, and adding soluble fiber and plant stanols can lower circulating LDL by ten to fifteen percent.</a:t>
            </a:r>
          </a:p>
          <a:p>
            <a:r>
              <a:t>Second, structured cardiac rehabilitation and smoking cessation cut recurrent mortality by over twenty-five percent. However, for Mr. Hong with an LDL of 173, lifestyle alone cannot close the remaining gap to fifty-five.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p6｜The 31.5 mg/dL Gap</a:t>
            </a:r>
          </a:p>
          <a:p>
            <a:endParaRPr/>
          </a:p>
          <a:p>
            <a:r>
              <a:t>Let us calculate the clinical math for Mr. Hong on standard therapy.</a:t>
            </a:r>
          </a:p>
          <a:p>
            <a:r>
              <a:t>His baseline LDL is 173. A high-intensity statin lowers LDL by approximately fifty percent, bringing him down to 86.5 milligrams per deciliter.</a:t>
            </a:r>
          </a:p>
          <a:p>
            <a:r>
              <a:t>However, our target is below fifty-five. That leaves a persistent gap of over thirty-one milligrams. Doubling the statin dose only yields six percent more reduction. Monotherapy simply cannot get him to goal.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p7｜Dual Pathway</a:t>
            </a:r>
          </a:p>
          <a:p>
            <a:endParaRPr/>
          </a:p>
          <a:p>
            <a:r>
              <a:t>How do we bridge this gap? By combining two complementary biological pathways.</a:t>
            </a:r>
          </a:p>
          <a:p>
            <a:r>
              <a:t>The statin stops the liver from synthesizing cholesterol. Ezetimibe blocks the gut from absorbing cholesterol through the NPC1L1 transporter. Together, they provide a sixty-five percent drop.</a:t>
            </a:r>
          </a:p>
          <a:p>
            <a:r>
              <a:t>The recent Ez-PAVE and IMPROVE-IT trials demonstrated that starting combination therapy upfront before discharge doubles goal achievement without increasing adverse events.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p8｜PCSK9 Inhibitors</a:t>
            </a:r>
          </a:p>
          <a:p>
            <a:endParaRPr/>
          </a:p>
          <a:p>
            <a:r>
              <a:t>What if Mr. Hong's LDL remains above fifty-five at follow-up? We deploy our third weapon: a PCSK9 inhibitor.</a:t>
            </a:r>
          </a:p>
          <a:p>
            <a:r>
              <a:t>PCSK9 is a protein that destroys LDL receptors in the liver. By blocking PCSK9 with an injectable monoclonal antibody, receptors survive to recycle over one hundred times, clearing massive amounts of LDL from the blood.</a:t>
            </a:r>
          </a:p>
          <a:p>
            <a:r>
              <a:t>In the FOURIER and ODYSSEY trials, adding a PCSK9 inhibitor produced an extra sixty percent drop, pushing LDL down to thirty or forty and slashing secondary heart attacks.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p9｜Clinical Roadmap</a:t>
            </a:r>
          </a:p>
          <a:p>
            <a:endParaRPr/>
          </a:p>
          <a:p>
            <a:r>
              <a:t>Here is Mr. Hong's complete clinical roadmap from acute admission to lifelong survival.</a:t>
            </a:r>
          </a:p>
          <a:p>
            <a:r>
              <a:t>In the acute phase, we place the stent, start combination statin plus ezetimibe before discharge, and begin bedside lifestyle and rehab counseling.</a:t>
            </a:r>
          </a:p>
          <a:p>
            <a:r>
              <a:t>In the subacute phase at week four, we recheck his lipid panel. If he is not below fifty-five, we escalate to a PCSK9 inhibitor immediately.</a:t>
            </a:r>
          </a:p>
          <a:p>
            <a:r>
              <a:t>In the chronic phase, maintaining low LDL and regular exercise ensures permanent plaque stabilization and long-term survival.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p10｜Conclusion</a:t>
            </a:r>
          </a:p>
          <a:p>
            <a:endParaRPr/>
          </a:p>
          <a:p>
            <a:r>
              <a:t>To conclude, Mr. Hong's case illustrates the vital synergy of lifestyle and modern lipid pharmacology.</a:t>
            </a:r>
          </a:p>
          <a:p>
            <a:r>
              <a:t>With upfront statin plus ezetimibe and cardiac rehabilitation, Mr. Hong's six-week LDL reached fifty-two milligrams per deciliter, beating our target.</a:t>
            </a:r>
          </a:p>
          <a:p>
            <a:r>
              <a:t>Thank you very much for your time. You can scan the QR code to review the interactive deck on your phone. I look forward to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6.xml"/><Relationship Id="rId4" Type="http://schemas.openxmlformats.org/officeDocument/2006/relationships/slide" Target="slide4.xml"/></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6.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slide" Target="slide9.xml"/><Relationship Id="rId4" Type="http://schemas.openxmlformats.org/officeDocument/2006/relationships/slide" Target="slide6.xml"/></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6.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slide" Target="slide9.xml"/><Relationship Id="rId4" Type="http://schemas.openxmlformats.org/officeDocument/2006/relationships/slide" Target="slide4.xml"/></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6.xml"/><Relationship Id="rId4" Type="http://schemas.openxmlformats.org/officeDocument/2006/relationships/slide" Target="slide4.xml"/></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6.xml"/><Relationship Id="rId4" Type="http://schemas.openxmlformats.org/officeDocument/2006/relationships/slide" Target="slide4.xml"/></Relationships>
</file>

<file path=ppt/slides/_rels/slide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6.xml"/><Relationship Id="rId4" Type="http://schemas.openxmlformats.org/officeDocument/2006/relationships/slide" Target="slide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9.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4.xml"/><Relationship Id="rId4"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FFFFF"/>
          </a:solidFill>
          <a:ln>
            <a:noFill/>
          </a:ln>
          <a:effectLst/>
        </p:spPr>
        <p:txBody>
          <a:bodyPr rtlCol="0" anchor="ctr"/>
          <a:lstStyle/>
          <a:p>
            <a:pPr algn="ctr"/>
            <a:endParaRPr/>
          </a:p>
        </p:txBody>
      </p:sp>
      <p:sp>
        <p:nvSpPr>
          <p:cNvPr id="3" name="Rounded Rectangle 2"/>
          <p:cNvSpPr/>
          <p:nvPr/>
        </p:nvSpPr>
        <p:spPr>
          <a:xfrm>
            <a:off x="482600" y="698500"/>
            <a:ext cx="3744532" cy="260350"/>
          </a:xfrm>
          <a:prstGeom prst="roundRect">
            <a:avLst>
              <a:gd name="adj" fmla="val 50000"/>
            </a:avLst>
          </a:prstGeom>
          <a:solidFill>
            <a:srgbClr val="1E2833">
              <a:alpha val="8000"/>
            </a:srgbClr>
          </a:solidFill>
          <a:ln>
            <a:noFill/>
          </a:ln>
          <a:effectLst/>
        </p:spPr>
        <p:txBody>
          <a:bodyPr rtlCol="0" anchor="ctr"/>
          <a:lstStyle/>
          <a:p>
            <a:endParaRPr/>
          </a:p>
        </p:txBody>
      </p:sp>
      <p:sp>
        <p:nvSpPr>
          <p:cNvPr id="4" name="TextBox 3"/>
          <p:cNvSpPr txBox="1"/>
          <p:nvPr/>
        </p:nvSpPr>
        <p:spPr>
          <a:xfrm>
            <a:off x="596900" y="736600"/>
            <a:ext cx="4394914" cy="184150"/>
          </a:xfrm>
          <a:prstGeom prst="rect">
            <a:avLst/>
          </a:prstGeom>
          <a:noFill/>
        </p:spPr>
        <p:txBody>
          <a:bodyPr wrap="none" lIns="0" tIns="0" rIns="0" bIns="0" anchor="t">
            <a:noAutofit/>
          </a:bodyPr>
          <a:lstStyle/>
          <a:p>
            <a:pPr algn="l">
              <a:lnSpc>
                <a:spcPts val="1400"/>
              </a:lnSpc>
            </a:pPr>
            <a:r>
              <a:rPr sz="1000" b="1">
                <a:solidFill>
                  <a:srgbClr val="1E2833"/>
                </a:solidFill>
                <a:latin typeface="Microsoft JhengHei"/>
                <a:ea typeface="Microsoft JhengHei"/>
                <a:cs typeface="Microsoft JhengHei"/>
              </a:rPr>
              <a:t>2026 Clinical Cardiology Lecture ｜ 臨床心臟學全方位講座</a:t>
            </a:r>
          </a:p>
        </p:txBody>
      </p:sp>
      <p:sp>
        <p:nvSpPr>
          <p:cNvPr id="5" name="TextBox 4"/>
          <p:cNvSpPr txBox="1"/>
          <p:nvPr/>
        </p:nvSpPr>
        <p:spPr>
          <a:xfrm>
            <a:off x="482600" y="1054100"/>
            <a:ext cx="7703106" cy="956882"/>
          </a:xfrm>
          <a:prstGeom prst="rect">
            <a:avLst/>
          </a:prstGeom>
          <a:noFill/>
        </p:spPr>
        <p:txBody>
          <a:bodyPr wrap="none" lIns="0" tIns="0" rIns="0" bIns="0" anchor="t">
            <a:noAutofit/>
          </a:bodyPr>
          <a:lstStyle/>
          <a:p>
            <a:pPr algn="l">
              <a:lnSpc>
                <a:spcPts val="3329"/>
              </a:lnSpc>
            </a:pPr>
            <a:r>
              <a:rPr sz="2900" b="1" spc="-58">
                <a:solidFill>
                  <a:srgbClr val="1C1917"/>
                </a:solidFill>
                <a:latin typeface="Microsoft JhengHei"/>
                <a:ea typeface="Microsoft JhengHei"/>
                <a:cs typeface="Microsoft JhengHei"/>
              </a:rPr>
              <a:t>Preventing the Next Heart Attack:</a:t>
            </a:r>
          </a:p>
          <a:p>
            <a:pPr algn="l">
              <a:lnSpc>
                <a:spcPts val="3329"/>
              </a:lnSpc>
            </a:pPr>
            <a:r>
              <a:rPr sz="2900" b="1" spc="-58">
                <a:solidFill>
                  <a:srgbClr val="2D6A4F"/>
                </a:solidFill>
                <a:latin typeface="Microsoft JhengHei"/>
                <a:ea typeface="Microsoft JhengHei"/>
                <a:cs typeface="Microsoft JhengHei"/>
              </a:rPr>
              <a:t>LDL Management After STEMI</a:t>
            </a:r>
          </a:p>
        </p:txBody>
      </p:sp>
      <p:sp>
        <p:nvSpPr>
          <p:cNvPr id="6" name="TextBox 5"/>
          <p:cNvSpPr txBox="1"/>
          <p:nvPr/>
        </p:nvSpPr>
        <p:spPr>
          <a:xfrm>
            <a:off x="482600" y="2009013"/>
            <a:ext cx="6532404" cy="292100"/>
          </a:xfrm>
          <a:prstGeom prst="rect">
            <a:avLst/>
          </a:prstGeom>
          <a:noFill/>
        </p:spPr>
        <p:txBody>
          <a:bodyPr wrap="none" lIns="0" tIns="0" rIns="0" bIns="0" anchor="t">
            <a:noAutofit/>
          </a:bodyPr>
          <a:lstStyle/>
          <a:p>
            <a:pPr algn="l">
              <a:lnSpc>
                <a:spcPts val="2240"/>
              </a:lnSpc>
            </a:pPr>
            <a:r>
              <a:rPr sz="1600" b="1">
                <a:solidFill>
                  <a:srgbClr val="1E2833"/>
                </a:solidFill>
                <a:latin typeface="Microsoft JhengHei"/>
                <a:ea typeface="Microsoft JhengHei"/>
                <a:cs typeface="Microsoft JhengHei"/>
              </a:rPr>
              <a:t>預防下一次心肌梗塞：STEMI 後的 LDL 膽固醇全方位管理</a:t>
            </a:r>
          </a:p>
        </p:txBody>
      </p:sp>
      <p:sp>
        <p:nvSpPr>
          <p:cNvPr id="7" name="TextBox 6"/>
          <p:cNvSpPr txBox="1"/>
          <p:nvPr/>
        </p:nvSpPr>
        <p:spPr>
          <a:xfrm>
            <a:off x="482600" y="2447163"/>
            <a:ext cx="6223000" cy="642556"/>
          </a:xfrm>
          <a:prstGeom prst="rect">
            <a:avLst/>
          </a:prstGeom>
          <a:noFill/>
        </p:spPr>
        <p:txBody>
          <a:bodyPr wrap="square" lIns="0" tIns="0" rIns="0" bIns="0" anchor="t">
            <a:noAutofit/>
          </a:bodyPr>
          <a:lstStyle/>
          <a:p>
            <a:pPr algn="l">
              <a:lnSpc>
                <a:spcPts val="1680"/>
              </a:lnSpc>
            </a:pPr>
            <a:r>
              <a:rPr sz="1200" b="0">
                <a:solidFill>
                  <a:srgbClr val="44403C"/>
                </a:solidFill>
                <a:latin typeface="Microsoft JhengHei"/>
                <a:ea typeface="Microsoft JhengHei"/>
                <a:cs typeface="Microsoft JhengHei"/>
              </a:rPr>
              <a:t>A Comprehensive Journey from Acute Intervention to Chronic Prevention: Bridging Non-Pharmacological Care &amp; Stepwise Lipid Therapies</a:t>
            </a:r>
          </a:p>
          <a:p>
            <a:pPr algn="l">
              <a:lnSpc>
                <a:spcPts val="1680"/>
              </a:lnSpc>
            </a:pPr>
            <a:r>
              <a:rPr sz="1050" b="0">
                <a:solidFill>
                  <a:srgbClr val="78716C"/>
                </a:solidFill>
                <a:latin typeface="Microsoft JhengHei"/>
                <a:ea typeface="Microsoft JhengHei"/>
                <a:cs typeface="Microsoft JhengHei"/>
              </a:rPr>
              <a:t>從急性導管處置、非藥物生活介入到階梯式降脂藥物的全人照護實證</a:t>
            </a:r>
          </a:p>
        </p:txBody>
      </p:sp>
      <p:sp>
        <p:nvSpPr>
          <p:cNvPr id="8" name="Rectangle 7"/>
          <p:cNvSpPr/>
          <p:nvPr/>
        </p:nvSpPr>
        <p:spPr>
          <a:xfrm>
            <a:off x="482600" y="3347466"/>
            <a:ext cx="7112000" cy="12700"/>
          </a:xfrm>
          <a:prstGeom prst="rect">
            <a:avLst/>
          </a:prstGeom>
          <a:solidFill>
            <a:srgbClr val="E2DDD5"/>
          </a:solidFill>
          <a:ln>
            <a:noFill/>
          </a:ln>
          <a:effectLst/>
        </p:spPr>
        <p:txBody>
          <a:bodyPr rtlCol="0" anchor="ctr"/>
          <a:lstStyle/>
          <a:p>
            <a:endParaRPr/>
          </a:p>
        </p:txBody>
      </p:sp>
      <p:sp>
        <p:nvSpPr>
          <p:cNvPr id="9" name="Rounded Rectangle 8"/>
          <p:cNvSpPr/>
          <p:nvPr/>
        </p:nvSpPr>
        <p:spPr>
          <a:xfrm>
            <a:off x="482600" y="3595116"/>
            <a:ext cx="457200" cy="457200"/>
          </a:xfrm>
          <a:prstGeom prst="roundRect">
            <a:avLst>
              <a:gd name="adj" fmla="val 50000"/>
            </a:avLst>
          </a:prstGeom>
          <a:solidFill>
            <a:srgbClr val="1E2833"/>
          </a:solidFill>
          <a:ln>
            <a:noFill/>
          </a:ln>
          <a:effectLst/>
        </p:spPr>
        <p:txBody>
          <a:bodyPr rtlCol="0" anchor="ctr"/>
          <a:lstStyle/>
          <a:p>
            <a:endParaRPr/>
          </a:p>
        </p:txBody>
      </p:sp>
      <p:sp>
        <p:nvSpPr>
          <p:cNvPr id="10" name="TextBox 9"/>
          <p:cNvSpPr txBox="1"/>
          <p:nvPr/>
        </p:nvSpPr>
        <p:spPr>
          <a:xfrm>
            <a:off x="525844" y="3696716"/>
            <a:ext cx="370586" cy="254000"/>
          </a:xfrm>
          <a:prstGeom prst="rect">
            <a:avLst/>
          </a:prstGeom>
          <a:noFill/>
        </p:spPr>
        <p:txBody>
          <a:bodyPr wrap="none" lIns="0" tIns="0" rIns="0" bIns="0" anchor="t">
            <a:noAutofit/>
          </a:bodyPr>
          <a:lstStyle/>
          <a:p>
            <a:pPr algn="ctr">
              <a:lnSpc>
                <a:spcPts val="1960"/>
              </a:lnSpc>
            </a:pPr>
            <a:r>
              <a:rPr sz="1400" b="1">
                <a:solidFill>
                  <a:srgbClr val="FFFFFF"/>
                </a:solidFill>
                <a:latin typeface="Microsoft JhengHei"/>
                <a:ea typeface="Microsoft JhengHei"/>
                <a:cs typeface="Microsoft JhengHei"/>
              </a:rPr>
              <a:t>CW</a:t>
            </a:r>
          </a:p>
        </p:txBody>
      </p:sp>
      <p:sp>
        <p:nvSpPr>
          <p:cNvPr id="11" name="TextBox 10"/>
          <p:cNvSpPr txBox="1"/>
          <p:nvPr/>
        </p:nvSpPr>
        <p:spPr>
          <a:xfrm>
            <a:off x="1092200" y="3512566"/>
            <a:ext cx="2826385" cy="254000"/>
          </a:xfrm>
          <a:prstGeom prst="rect">
            <a:avLst/>
          </a:prstGeom>
          <a:noFill/>
        </p:spPr>
        <p:txBody>
          <a:bodyPr wrap="none" lIns="0" tIns="0" rIns="0" bIns="0" anchor="t">
            <a:noAutofit/>
          </a:bodyPr>
          <a:lstStyle/>
          <a:p>
            <a:pPr algn="l">
              <a:lnSpc>
                <a:spcPts val="1960"/>
              </a:lnSpc>
            </a:pPr>
            <a:r>
              <a:rPr sz="1400" b="1">
                <a:solidFill>
                  <a:srgbClr val="1C1917"/>
                </a:solidFill>
                <a:latin typeface="Microsoft JhengHei"/>
                <a:ea typeface="Microsoft JhengHei"/>
                <a:cs typeface="Microsoft JhengHei"/>
              </a:rPr>
              <a:t>CHEN, CHIH-WEI ｜ 陳致瑋</a:t>
            </a:r>
          </a:p>
        </p:txBody>
      </p:sp>
      <p:sp>
        <p:nvSpPr>
          <p:cNvPr id="12" name="TextBox 11"/>
          <p:cNvSpPr txBox="1"/>
          <p:nvPr/>
        </p:nvSpPr>
        <p:spPr>
          <a:xfrm>
            <a:off x="1092200" y="3791966"/>
            <a:ext cx="6089809" cy="203200"/>
          </a:xfrm>
          <a:prstGeom prst="rect">
            <a:avLst/>
          </a:prstGeom>
          <a:noFill/>
        </p:spPr>
        <p:txBody>
          <a:bodyPr wrap="none" lIns="0" tIns="0" rIns="0" bIns="0" anchor="t">
            <a:noAutofit/>
          </a:bodyPr>
          <a:lstStyle/>
          <a:p>
            <a:pPr algn="l">
              <a:lnSpc>
                <a:spcPts val="1540"/>
              </a:lnSpc>
            </a:pPr>
            <a:r>
              <a:rPr sz="1100" b="0">
                <a:solidFill>
                  <a:srgbClr val="78716C"/>
                </a:solidFill>
                <a:latin typeface="Microsoft JhengHei"/>
                <a:ea typeface="Microsoft JhengHei"/>
                <a:cs typeface="Microsoft JhengHei"/>
              </a:rPr>
              <a:t>Third-Year Medical Student, National Taiwan University ｜ 台大醫學系三年級</a:t>
            </a:r>
          </a:p>
        </p:txBody>
      </p:sp>
      <p:sp>
        <p:nvSpPr>
          <p:cNvPr id="13" name="Rectangle 12"/>
          <p:cNvSpPr/>
          <p:nvPr/>
        </p:nvSpPr>
        <p:spPr>
          <a:xfrm>
            <a:off x="0" y="6527800"/>
            <a:ext cx="12192000" cy="330200"/>
          </a:xfrm>
          <a:prstGeom prst="rect">
            <a:avLst/>
          </a:prstGeom>
          <a:solidFill>
            <a:srgbClr val="FFFFFF"/>
          </a:solidFill>
          <a:ln>
            <a:noFill/>
          </a:ln>
          <a:effectLst/>
        </p:spPr>
        <p:txBody>
          <a:bodyPr rtlCol="0" anchor="ctr"/>
          <a:lstStyle/>
          <a:p>
            <a:endParaRPr/>
          </a:p>
        </p:txBody>
      </p:sp>
      <p:sp>
        <p:nvSpPr>
          <p:cNvPr id="14" name="Rectangle 13"/>
          <p:cNvSpPr/>
          <p:nvPr/>
        </p:nvSpPr>
        <p:spPr>
          <a:xfrm>
            <a:off x="0" y="6527800"/>
            <a:ext cx="12192000" cy="12700"/>
          </a:xfrm>
          <a:prstGeom prst="rect">
            <a:avLst/>
          </a:prstGeom>
          <a:solidFill>
            <a:srgbClr val="EFECE6"/>
          </a:solidFill>
          <a:ln>
            <a:noFill/>
          </a:ln>
          <a:effectLst/>
        </p:spPr>
        <p:txBody>
          <a:bodyPr rtlCol="0" anchor="ctr"/>
          <a:lstStyle/>
          <a:p>
            <a:endParaRPr/>
          </a:p>
        </p:txBody>
      </p:sp>
      <p:sp>
        <p:nvSpPr>
          <p:cNvPr id="15" name="TextBox 14"/>
          <p:cNvSpPr txBox="1"/>
          <p:nvPr/>
        </p:nvSpPr>
        <p:spPr>
          <a:xfrm>
            <a:off x="482600" y="6613525"/>
            <a:ext cx="538162" cy="171450"/>
          </a:xfrm>
          <a:prstGeom prst="rect">
            <a:avLst/>
          </a:prstGeom>
          <a:noFill/>
        </p:spPr>
        <p:txBody>
          <a:bodyPr wrap="none" lIns="0" tIns="0" rIns="0" bIns="0" anchor="t">
            <a:noAutofit/>
          </a:bodyPr>
          <a:lstStyle/>
          <a:p>
            <a:pPr algn="l">
              <a:lnSpc>
                <a:spcPts val="1330"/>
              </a:lnSpc>
            </a:pPr>
            <a:r>
              <a:rPr sz="950" b="1">
                <a:solidFill>
                  <a:srgbClr val="1E2833"/>
                </a:solidFill>
                <a:latin typeface="Microsoft JhengHei"/>
                <a:ea typeface="Microsoft JhengHei"/>
                <a:cs typeface="Microsoft JhengHei"/>
              </a:rPr>
              <a:t>1. Case</a:t>
            </a:r>
          </a:p>
        </p:txBody>
      </p:sp>
      <p:sp>
        <p:nvSpPr>
          <p:cNvPr id="16" name="Rounded Rectangle 15"/>
          <p:cNvSpPr/>
          <p:nvPr/>
        </p:nvSpPr>
        <p:spPr>
          <a:xfrm>
            <a:off x="1052830" y="6680200"/>
            <a:ext cx="10121202" cy="38100"/>
          </a:xfrm>
          <a:prstGeom prst="roundRect">
            <a:avLst>
              <a:gd name="adj" fmla="val 50000"/>
            </a:avLst>
          </a:prstGeom>
          <a:solidFill>
            <a:srgbClr val="EFECE6"/>
          </a:solidFill>
          <a:ln>
            <a:noFill/>
          </a:ln>
          <a:effectLst/>
        </p:spPr>
        <p:txBody>
          <a:bodyPr rtlCol="0" anchor="ctr"/>
          <a:lstStyle/>
          <a:p>
            <a:endParaRPr/>
          </a:p>
        </p:txBody>
      </p:sp>
      <p:sp>
        <p:nvSpPr>
          <p:cNvPr id="17" name="Rectangle 16"/>
          <p:cNvSpPr/>
          <p:nvPr/>
        </p:nvSpPr>
        <p:spPr>
          <a:xfrm>
            <a:off x="1052830" y="6680200"/>
            <a:ext cx="1012063" cy="38100"/>
          </a:xfrm>
          <a:prstGeom prst="rect">
            <a:avLst/>
          </a:prstGeom>
          <a:solidFill>
            <a:srgbClr val="F3C84B"/>
          </a:solidFill>
          <a:ln>
            <a:noFill/>
          </a:ln>
          <a:effectLst/>
        </p:spPr>
        <p:txBody>
          <a:bodyPr rtlCol="0" anchor="ctr"/>
          <a:lstStyle/>
          <a:p>
            <a:endParaRPr/>
          </a:p>
        </p:txBody>
      </p:sp>
      <p:sp>
        <p:nvSpPr>
          <p:cNvPr id="18" name="TextBox 17"/>
          <p:cNvSpPr txBox="1"/>
          <p:nvPr/>
        </p:nvSpPr>
        <p:spPr>
          <a:xfrm>
            <a:off x="11313732" y="6613525"/>
            <a:ext cx="494586" cy="171450"/>
          </a:xfrm>
          <a:prstGeom prst="rect">
            <a:avLst/>
          </a:prstGeom>
          <a:noFill/>
        </p:spPr>
        <p:txBody>
          <a:bodyPr wrap="none" lIns="0" tIns="0" rIns="0" bIns="0" anchor="t">
            <a:noAutofit/>
          </a:bodyPr>
          <a:lstStyle/>
          <a:p>
            <a:pPr algn="l">
              <a:lnSpc>
                <a:spcPts val="1330"/>
              </a:lnSpc>
            </a:pPr>
            <a:r>
              <a:rPr sz="950" b="1">
                <a:solidFill>
                  <a:srgbClr val="44403C"/>
                </a:solidFill>
                <a:latin typeface="Microsoft JhengHei"/>
                <a:ea typeface="Microsoft JhengHei"/>
                <a:cs typeface="Microsoft JhengHei"/>
              </a:rPr>
              <a:t>01 /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482600" y="241300"/>
            <a:ext cx="9735344" cy="419100"/>
          </a:xfrm>
          <a:prstGeom prst="rect">
            <a:avLst/>
          </a:prstGeom>
          <a:noFill/>
        </p:spPr>
        <p:txBody>
          <a:bodyPr wrap="none" lIns="0" tIns="0" rIns="0" bIns="0" anchor="t">
            <a:noAutofit/>
          </a:bodyPr>
          <a:lstStyle/>
          <a:p>
            <a:pPr algn="l">
              <a:lnSpc>
                <a:spcPts val="2710"/>
              </a:lnSpc>
            </a:pPr>
            <a:r>
              <a:rPr sz="2300" b="1" spc="-23">
                <a:solidFill>
                  <a:srgbClr val="1C1917"/>
                </a:solidFill>
                <a:latin typeface="Microsoft JhengHei"/>
                <a:ea typeface="Microsoft JhengHei"/>
                <a:cs typeface="Microsoft JhengHei"/>
              </a:rPr>
              <a:t>Meet Mr. Hong: Successful Stent, But Hidden Danger</a:t>
            </a:r>
          </a:p>
        </p:txBody>
      </p:sp>
      <p:sp>
        <p:nvSpPr>
          <p:cNvPr id="4" name="TextBox 3"/>
          <p:cNvSpPr txBox="1"/>
          <p:nvPr/>
        </p:nvSpPr>
        <p:spPr>
          <a:xfrm>
            <a:off x="482600" y="649414"/>
            <a:ext cx="9272984" cy="215900"/>
          </a:xfrm>
          <a:prstGeom prst="rect">
            <a:avLst/>
          </a:prstGeom>
          <a:noFill/>
        </p:spPr>
        <p:txBody>
          <a:bodyPr wrap="none" lIns="0" tIns="0" rIns="0" bIns="0" anchor="t">
            <a:noAutofit/>
          </a:bodyPr>
          <a:lstStyle/>
          <a:p>
            <a:pPr algn="l">
              <a:lnSpc>
                <a:spcPts val="1550"/>
              </a:lnSpc>
            </a:pPr>
            <a:r>
              <a:rPr sz="1150" b="1">
                <a:solidFill>
                  <a:srgbClr val="1E2833"/>
                </a:solidFill>
                <a:latin typeface="Microsoft JhengHei"/>
                <a:ea typeface="Microsoft JhengHei"/>
                <a:cs typeface="Microsoft JhengHei"/>
              </a:rPr>
              <a:t>洪先生的個案挑戰：成功置放支架，但體內仍潛伏致命高血脂</a:t>
            </a:r>
            <a:r>
              <a:rPr sz="1150" b="0">
                <a:solidFill>
                  <a:srgbClr val="44403C"/>
                </a:solidFill>
                <a:latin typeface="Microsoft JhengHei"/>
                <a:ea typeface="Microsoft JhengHei"/>
                <a:cs typeface="Microsoft JhengHei"/>
              </a:rPr>
              <a:t> ｜ Acute PCI Success vs. Baseline Metabolic Danger</a:t>
            </a:r>
          </a:p>
        </p:txBody>
      </p:sp>
      <p:sp>
        <p:nvSpPr>
          <p:cNvPr id="5" name="Rounded Rectangle 4"/>
          <p:cNvSpPr/>
          <p:nvPr/>
        </p:nvSpPr>
        <p:spPr>
          <a:xfrm>
            <a:off x="482600" y="960818"/>
            <a:ext cx="5511800" cy="5071682"/>
          </a:xfrm>
          <a:prstGeom prst="roundRect">
            <a:avLst>
              <a:gd name="adj" fmla="val 2504"/>
            </a:avLst>
          </a:prstGeom>
          <a:solidFill>
            <a:srgbClr val="2D6A4F">
              <a:alpha val="8000"/>
            </a:srgbClr>
          </a:solidFill>
          <a:ln>
            <a:noFill/>
          </a:ln>
          <a:effectLst/>
        </p:spPr>
        <p:txBody>
          <a:bodyPr rtlCol="0" anchor="ctr"/>
          <a:lstStyle/>
          <a:p>
            <a:endParaRPr/>
          </a:p>
        </p:txBody>
      </p:sp>
      <p:sp>
        <p:nvSpPr>
          <p:cNvPr id="6" name="Rectangle 5"/>
          <p:cNvSpPr/>
          <p:nvPr/>
        </p:nvSpPr>
        <p:spPr>
          <a:xfrm>
            <a:off x="482600" y="960818"/>
            <a:ext cx="5511800" cy="50800"/>
          </a:xfrm>
          <a:prstGeom prst="rect">
            <a:avLst/>
          </a:prstGeom>
          <a:solidFill>
            <a:srgbClr val="2D6A4F"/>
          </a:solidFill>
          <a:ln>
            <a:noFill/>
          </a:ln>
          <a:effectLst/>
        </p:spPr>
        <p:txBody>
          <a:bodyPr rtlCol="0" anchor="ctr"/>
          <a:lstStyle/>
          <a:p>
            <a:endParaRPr/>
          </a:p>
        </p:txBody>
      </p:sp>
      <p:sp>
        <p:nvSpPr>
          <p:cNvPr id="7" name="Rectangle 6"/>
          <p:cNvSpPr/>
          <p:nvPr/>
        </p:nvSpPr>
        <p:spPr>
          <a:xfrm>
            <a:off x="5981700" y="960818"/>
            <a:ext cx="12700" cy="5071682"/>
          </a:xfrm>
          <a:prstGeom prst="rect">
            <a:avLst/>
          </a:prstGeom>
          <a:solidFill>
            <a:srgbClr val="E2DDD5"/>
          </a:solidFill>
          <a:ln>
            <a:noFill/>
          </a:ln>
          <a:effectLst/>
        </p:spPr>
        <p:txBody>
          <a:bodyPr rtlCol="0" anchor="ctr"/>
          <a:lstStyle/>
          <a:p>
            <a:endParaRPr/>
          </a:p>
        </p:txBody>
      </p:sp>
      <p:sp>
        <p:nvSpPr>
          <p:cNvPr id="8" name="Rectangle 7"/>
          <p:cNvSpPr/>
          <p:nvPr/>
        </p:nvSpPr>
        <p:spPr>
          <a:xfrm>
            <a:off x="482600" y="6019800"/>
            <a:ext cx="5511800" cy="12700"/>
          </a:xfrm>
          <a:prstGeom prst="rect">
            <a:avLst/>
          </a:prstGeom>
          <a:solidFill>
            <a:srgbClr val="E2DDD5"/>
          </a:solidFill>
          <a:ln>
            <a:noFill/>
          </a:ln>
          <a:effectLst/>
        </p:spPr>
        <p:txBody>
          <a:bodyPr rtlCol="0" anchor="ctr"/>
          <a:lstStyle/>
          <a:p>
            <a:endParaRPr/>
          </a:p>
        </p:txBody>
      </p:sp>
      <p:sp>
        <p:nvSpPr>
          <p:cNvPr id="9" name="Rectangle 8"/>
          <p:cNvSpPr/>
          <p:nvPr/>
        </p:nvSpPr>
        <p:spPr>
          <a:xfrm>
            <a:off x="482600" y="960818"/>
            <a:ext cx="12700" cy="5071682"/>
          </a:xfrm>
          <a:prstGeom prst="rect">
            <a:avLst/>
          </a:prstGeom>
          <a:solidFill>
            <a:srgbClr val="E2DDD5"/>
          </a:solidFill>
          <a:ln>
            <a:noFill/>
          </a:ln>
          <a:effectLst/>
        </p:spPr>
        <p:txBody>
          <a:bodyPr rtlCol="0" anchor="ctr"/>
          <a:lstStyle/>
          <a:p>
            <a:endParaRPr/>
          </a:p>
        </p:txBody>
      </p:sp>
      <p:sp>
        <p:nvSpPr>
          <p:cNvPr id="10" name="Rounded Rectangle 9"/>
          <p:cNvSpPr/>
          <p:nvPr/>
        </p:nvSpPr>
        <p:spPr>
          <a:xfrm>
            <a:off x="660400" y="1151318"/>
            <a:ext cx="1983486" cy="209550"/>
          </a:xfrm>
          <a:prstGeom prst="roundRect">
            <a:avLst>
              <a:gd name="adj" fmla="val 50000"/>
            </a:avLst>
          </a:prstGeom>
          <a:solidFill>
            <a:srgbClr val="2D6A4F">
              <a:alpha val="8000"/>
            </a:srgbClr>
          </a:solidFill>
          <a:ln>
            <a:noFill/>
          </a:ln>
          <a:effectLst/>
        </p:spPr>
        <p:txBody>
          <a:bodyPr rtlCol="0" anchor="ctr"/>
          <a:lstStyle/>
          <a:p>
            <a:endParaRPr/>
          </a:p>
        </p:txBody>
      </p:sp>
      <p:sp>
        <p:nvSpPr>
          <p:cNvPr id="11" name="TextBox 10"/>
          <p:cNvSpPr txBox="1"/>
          <p:nvPr/>
        </p:nvSpPr>
        <p:spPr>
          <a:xfrm>
            <a:off x="749300" y="1176718"/>
            <a:ext cx="2257108" cy="158750"/>
          </a:xfrm>
          <a:prstGeom prst="rect">
            <a:avLst/>
          </a:prstGeom>
          <a:noFill/>
        </p:spPr>
        <p:txBody>
          <a:bodyPr wrap="none" lIns="0" tIns="0" rIns="0" bIns="0" anchor="t">
            <a:noAutofit/>
          </a:bodyPr>
          <a:lstStyle/>
          <a:p>
            <a:pPr algn="l">
              <a:lnSpc>
                <a:spcPts val="1190"/>
              </a:lnSpc>
            </a:pPr>
            <a:r>
              <a:rPr sz="850" b="1">
                <a:solidFill>
                  <a:srgbClr val="2D6A4F"/>
                </a:solidFill>
                <a:latin typeface="Microsoft JhengHei"/>
                <a:ea typeface="Microsoft JhengHei"/>
                <a:cs typeface="Microsoft JhengHei"/>
              </a:rPr>
              <a:t>Cath Lab Victory ｜ 急性心導管成就</a:t>
            </a:r>
          </a:p>
        </p:txBody>
      </p:sp>
      <p:sp>
        <p:nvSpPr>
          <p:cNvPr id="12" name="TextBox 11"/>
          <p:cNvSpPr txBox="1"/>
          <p:nvPr/>
        </p:nvSpPr>
        <p:spPr>
          <a:xfrm>
            <a:off x="660400" y="1386268"/>
            <a:ext cx="4505166" cy="279400"/>
          </a:xfrm>
          <a:prstGeom prst="rect">
            <a:avLst/>
          </a:prstGeom>
          <a:noFill/>
        </p:spPr>
        <p:txBody>
          <a:bodyPr wrap="none" lIns="0" tIns="0" rIns="0" bIns="0" anchor="t">
            <a:noAutofit/>
          </a:bodyPr>
          <a:lstStyle/>
          <a:p>
            <a:pPr algn="l">
              <a:lnSpc>
                <a:spcPts val="1880"/>
              </a:lnSpc>
            </a:pPr>
            <a:r>
              <a:rPr sz="1500" b="1">
                <a:solidFill>
                  <a:srgbClr val="2D6A4F"/>
                </a:solidFill>
                <a:latin typeface="Microsoft JhengHei"/>
                <a:ea typeface="Microsoft JhengHei"/>
                <a:cs typeface="Microsoft JhengHei"/>
              </a:rPr>
              <a:t>1. The Blockage is Cleared </a:t>
            </a:r>
            <a:r>
              <a:rPr sz="1200" b="1">
                <a:solidFill>
                  <a:srgbClr val="78716C"/>
                </a:solidFill>
                <a:latin typeface="Microsoft JhengHei"/>
                <a:ea typeface="Microsoft JhengHei"/>
                <a:cs typeface="Microsoft JhengHei"/>
              </a:rPr>
              <a:t>(急性阻塞解除)</a:t>
            </a:r>
          </a:p>
        </p:txBody>
      </p:sp>
      <p:sp>
        <p:nvSpPr>
          <p:cNvPr id="13" name="Rounded Rectangle 12"/>
          <p:cNvSpPr/>
          <p:nvPr/>
        </p:nvSpPr>
        <p:spPr>
          <a:xfrm>
            <a:off x="660400" y="1713294"/>
            <a:ext cx="25273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14" name="TextBox 13"/>
          <p:cNvSpPr txBox="1"/>
          <p:nvPr/>
        </p:nvSpPr>
        <p:spPr>
          <a:xfrm>
            <a:off x="1451920" y="1719644"/>
            <a:ext cx="944324" cy="501650"/>
          </a:xfrm>
          <a:prstGeom prst="rect">
            <a:avLst/>
          </a:prstGeom>
          <a:noFill/>
        </p:spPr>
        <p:txBody>
          <a:bodyPr wrap="none" lIns="0" tIns="0" rIns="0" bIns="0" anchor="t">
            <a:noAutofit/>
          </a:bodyPr>
          <a:lstStyle/>
          <a:p>
            <a:pPr algn="ctr">
              <a:lnSpc>
                <a:spcPts val="2840"/>
              </a:lnSpc>
            </a:pPr>
            <a:r>
              <a:rPr sz="2700" b="1">
                <a:solidFill>
                  <a:srgbClr val="2D6A4F"/>
                </a:solidFill>
                <a:latin typeface="Microsoft JhengHei"/>
                <a:ea typeface="Microsoft JhengHei"/>
                <a:cs typeface="Microsoft JhengHei"/>
              </a:rPr>
              <a:t>38m</a:t>
            </a:r>
          </a:p>
        </p:txBody>
      </p:sp>
      <p:sp>
        <p:nvSpPr>
          <p:cNvPr id="15" name="TextBox 14"/>
          <p:cNvSpPr txBox="1"/>
          <p:nvPr/>
        </p:nvSpPr>
        <p:spPr>
          <a:xfrm>
            <a:off x="1391753" y="2168525"/>
            <a:ext cx="1064657"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Door-to-Balloon</a:t>
            </a:r>
          </a:p>
        </p:txBody>
      </p:sp>
      <p:sp>
        <p:nvSpPr>
          <p:cNvPr id="16" name="TextBox 15"/>
          <p:cNvSpPr txBox="1"/>
          <p:nvPr/>
        </p:nvSpPr>
        <p:spPr>
          <a:xfrm>
            <a:off x="1513284" y="2327275"/>
            <a:ext cx="821531"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門球時間 (分鐘)</a:t>
            </a:r>
          </a:p>
        </p:txBody>
      </p:sp>
      <p:sp>
        <p:nvSpPr>
          <p:cNvPr id="17" name="Rounded Rectangle 16"/>
          <p:cNvSpPr/>
          <p:nvPr/>
        </p:nvSpPr>
        <p:spPr>
          <a:xfrm>
            <a:off x="3289300" y="1713294"/>
            <a:ext cx="25273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18" name="TextBox 17"/>
          <p:cNvSpPr txBox="1"/>
          <p:nvPr/>
        </p:nvSpPr>
        <p:spPr>
          <a:xfrm>
            <a:off x="3898122" y="1719644"/>
            <a:ext cx="1309529" cy="501650"/>
          </a:xfrm>
          <a:prstGeom prst="rect">
            <a:avLst/>
          </a:prstGeom>
          <a:noFill/>
        </p:spPr>
        <p:txBody>
          <a:bodyPr wrap="none" lIns="0" tIns="0" rIns="0" bIns="0" anchor="t">
            <a:noAutofit/>
          </a:bodyPr>
          <a:lstStyle/>
          <a:p>
            <a:pPr algn="ctr">
              <a:lnSpc>
                <a:spcPts val="2840"/>
              </a:lnSpc>
            </a:pPr>
            <a:r>
              <a:rPr sz="2700" b="1">
                <a:solidFill>
                  <a:srgbClr val="1E2833"/>
                </a:solidFill>
                <a:latin typeface="Microsoft JhengHei"/>
                <a:ea typeface="Microsoft JhengHei"/>
                <a:cs typeface="Microsoft JhengHei"/>
              </a:rPr>
              <a:t>TIMI 3</a:t>
            </a:r>
          </a:p>
        </p:txBody>
      </p:sp>
      <p:sp>
        <p:nvSpPr>
          <p:cNvPr id="19" name="TextBox 18"/>
          <p:cNvSpPr txBox="1"/>
          <p:nvPr/>
        </p:nvSpPr>
        <p:spPr>
          <a:xfrm>
            <a:off x="3943358" y="2168525"/>
            <a:ext cx="1219121"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Full Flow Restored</a:t>
            </a:r>
          </a:p>
        </p:txBody>
      </p:sp>
      <p:sp>
        <p:nvSpPr>
          <p:cNvPr id="20" name="TextBox 19"/>
          <p:cNvSpPr txBox="1"/>
          <p:nvPr/>
        </p:nvSpPr>
        <p:spPr>
          <a:xfrm>
            <a:off x="4195762" y="2327275"/>
            <a:ext cx="714375"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完全恢復灌流</a:t>
            </a:r>
          </a:p>
        </p:txBody>
      </p:sp>
      <p:sp>
        <p:nvSpPr>
          <p:cNvPr id="21" name="TextBox 20"/>
          <p:cNvSpPr txBox="1"/>
          <p:nvPr/>
        </p:nvSpPr>
        <p:spPr>
          <a:xfrm>
            <a:off x="825500" y="2625725"/>
            <a:ext cx="5419090" cy="215900"/>
          </a:xfrm>
          <a:prstGeom prst="rect">
            <a:avLst/>
          </a:prstGeom>
          <a:noFill/>
        </p:spPr>
        <p:txBody>
          <a:bodyPr wrap="non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Acute Anterior STEMI:</a:t>
            </a:r>
            <a:r>
              <a:rPr sz="1150" b="0">
                <a:solidFill>
                  <a:srgbClr val="44403C"/>
                </a:solidFill>
                <a:latin typeface="Microsoft JhengHei"/>
                <a:ea typeface="Microsoft JhengHei"/>
                <a:cs typeface="Microsoft JhengHei"/>
              </a:rPr>
              <a:t> 100% LAD occlusion with red thrombus.</a:t>
            </a:r>
          </a:p>
        </p:txBody>
      </p:sp>
      <p:sp>
        <p:nvSpPr>
          <p:cNvPr id="22" name="TextBox 21"/>
          <p:cNvSpPr txBox="1"/>
          <p:nvPr/>
        </p:nvSpPr>
        <p:spPr>
          <a:xfrm>
            <a:off x="825500" y="2856484"/>
            <a:ext cx="2563812"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前降支急性完全阻塞，血栓抽吸打通。</a:t>
            </a:r>
          </a:p>
        </p:txBody>
      </p:sp>
      <p:sp>
        <p:nvSpPr>
          <p:cNvPr id="23" name="TextBox 22"/>
          <p:cNvSpPr txBox="1"/>
          <p:nvPr/>
        </p:nvSpPr>
        <p:spPr>
          <a:xfrm>
            <a:off x="825500" y="3063176"/>
            <a:ext cx="4212193" cy="215900"/>
          </a:xfrm>
          <a:prstGeom prst="rect">
            <a:avLst/>
          </a:prstGeom>
          <a:noFill/>
        </p:spPr>
        <p:txBody>
          <a:bodyPr wrap="non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Synergy Stent:</a:t>
            </a:r>
            <a:r>
              <a:rPr sz="1150" b="0">
                <a:solidFill>
                  <a:srgbClr val="44403C"/>
                </a:solidFill>
                <a:latin typeface="Microsoft JhengHei"/>
                <a:ea typeface="Microsoft JhengHei"/>
                <a:cs typeface="Microsoft JhengHei"/>
              </a:rPr>
              <a:t> 48 mm drug-eluting stent placed.</a:t>
            </a:r>
          </a:p>
        </p:txBody>
      </p:sp>
      <p:sp>
        <p:nvSpPr>
          <p:cNvPr id="24" name="TextBox 23"/>
          <p:cNvSpPr txBox="1"/>
          <p:nvPr/>
        </p:nvSpPr>
        <p:spPr>
          <a:xfrm>
            <a:off x="825500" y="3293936"/>
            <a:ext cx="2195592"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成功置放 48 毫米長段塗藥支架。</a:t>
            </a:r>
          </a:p>
        </p:txBody>
      </p:sp>
      <p:sp>
        <p:nvSpPr>
          <p:cNvPr id="25" name="TextBox 24"/>
          <p:cNvSpPr txBox="1"/>
          <p:nvPr/>
        </p:nvSpPr>
        <p:spPr>
          <a:xfrm>
            <a:off x="825500" y="3500628"/>
            <a:ext cx="4615815" cy="215900"/>
          </a:xfrm>
          <a:prstGeom prst="rect">
            <a:avLst/>
          </a:prstGeom>
          <a:noFill/>
        </p:spPr>
        <p:txBody>
          <a:bodyPr wrap="non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Preserved Function:</a:t>
            </a:r>
            <a:r>
              <a:rPr sz="1150" b="0">
                <a:solidFill>
                  <a:srgbClr val="44403C"/>
                </a:solidFill>
                <a:latin typeface="Microsoft JhengHei"/>
                <a:ea typeface="Microsoft JhengHei"/>
                <a:cs typeface="Microsoft JhengHei"/>
              </a:rPr>
              <a:t> Post-PCI LVEF preserved at 58%.</a:t>
            </a:r>
          </a:p>
        </p:txBody>
      </p:sp>
      <p:sp>
        <p:nvSpPr>
          <p:cNvPr id="26" name="TextBox 25"/>
          <p:cNvSpPr txBox="1"/>
          <p:nvPr/>
        </p:nvSpPr>
        <p:spPr>
          <a:xfrm>
            <a:off x="825500" y="3731450"/>
            <a:ext cx="2300764"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左心室收縮分率良好維持於 58%。</a:t>
            </a:r>
          </a:p>
        </p:txBody>
      </p:sp>
      <p:sp>
        <p:nvSpPr>
          <p:cNvPr id="27" name="Rounded Rectangle 26"/>
          <p:cNvSpPr/>
          <p:nvPr/>
        </p:nvSpPr>
        <p:spPr>
          <a:xfrm>
            <a:off x="660400" y="5372100"/>
            <a:ext cx="5156200" cy="508000"/>
          </a:xfrm>
          <a:prstGeom prst="roundRect">
            <a:avLst>
              <a:gd name="adj" fmla="val 15000"/>
            </a:avLst>
          </a:prstGeom>
          <a:solidFill>
            <a:srgbClr val="2D6A4F">
              <a:alpha val="8000"/>
            </a:srgbClr>
          </a:solidFill>
          <a:ln>
            <a:noFill/>
          </a:ln>
          <a:effectLst/>
        </p:spPr>
        <p:txBody>
          <a:bodyPr rtlCol="0" anchor="ctr"/>
          <a:lstStyle/>
          <a:p>
            <a:endParaRPr/>
          </a:p>
        </p:txBody>
      </p:sp>
      <p:sp>
        <p:nvSpPr>
          <p:cNvPr id="28" name="TextBox 27"/>
          <p:cNvSpPr txBox="1"/>
          <p:nvPr/>
        </p:nvSpPr>
        <p:spPr>
          <a:xfrm>
            <a:off x="774700" y="5448300"/>
            <a:ext cx="2729865" cy="184150"/>
          </a:xfrm>
          <a:prstGeom prst="rect">
            <a:avLst/>
          </a:prstGeom>
          <a:noFill/>
        </p:spPr>
        <p:txBody>
          <a:bodyPr wrap="none" lIns="0" tIns="0" rIns="0" bIns="0" anchor="t">
            <a:noAutofit/>
          </a:bodyPr>
          <a:lstStyle/>
          <a:p>
            <a:pPr algn="l">
              <a:lnSpc>
                <a:spcPts val="1400"/>
              </a:lnSpc>
            </a:pPr>
            <a:r>
              <a:rPr sz="1000" b="1">
                <a:solidFill>
                  <a:srgbClr val="2D6A4F"/>
                </a:solidFill>
                <a:latin typeface="Microsoft JhengHei"/>
                <a:ea typeface="Microsoft JhengHei"/>
                <a:cs typeface="Microsoft JhengHei"/>
              </a:rPr>
              <a:t>✓ Acute myocardium saved today!</a:t>
            </a:r>
          </a:p>
        </p:txBody>
      </p:sp>
      <p:sp>
        <p:nvSpPr>
          <p:cNvPr id="29" name="TextBox 28"/>
          <p:cNvSpPr txBox="1"/>
          <p:nvPr/>
        </p:nvSpPr>
        <p:spPr>
          <a:xfrm>
            <a:off x="774700" y="5645150"/>
            <a:ext cx="3103562" cy="158750"/>
          </a:xfrm>
          <a:prstGeom prst="rect">
            <a:avLst/>
          </a:prstGeom>
          <a:noFill/>
        </p:spPr>
        <p:txBody>
          <a:bodyPr wrap="none" lIns="0" tIns="0" rIns="0" bIns="0" anchor="t">
            <a:noAutofit/>
          </a:bodyPr>
          <a:lstStyle/>
          <a:p>
            <a:pPr algn="l">
              <a:lnSpc>
                <a:spcPts val="1190"/>
              </a:lnSpc>
            </a:pPr>
            <a:r>
              <a:rPr sz="850" b="1">
                <a:solidFill>
                  <a:srgbClr val="427860"/>
                </a:solidFill>
                <a:latin typeface="Microsoft JhengHei"/>
                <a:ea typeface="Microsoft JhengHei"/>
                <a:cs typeface="Microsoft JhengHei"/>
              </a:rPr>
              <a:t>今日成功挽救急性缺血心肌，心臟收縮功能順利保全</a:t>
            </a:r>
          </a:p>
        </p:txBody>
      </p:sp>
      <p:sp>
        <p:nvSpPr>
          <p:cNvPr id="30" name="Rounded Rectangle 29"/>
          <p:cNvSpPr/>
          <p:nvPr/>
        </p:nvSpPr>
        <p:spPr>
          <a:xfrm>
            <a:off x="6197600" y="960818"/>
            <a:ext cx="5511800" cy="5071682"/>
          </a:xfrm>
          <a:prstGeom prst="roundRect">
            <a:avLst>
              <a:gd name="adj" fmla="val 2504"/>
            </a:avLst>
          </a:prstGeom>
          <a:solidFill>
            <a:srgbClr val="A44A3F">
              <a:alpha val="8000"/>
            </a:srgbClr>
          </a:solidFill>
          <a:ln>
            <a:noFill/>
          </a:ln>
          <a:effectLst/>
        </p:spPr>
        <p:txBody>
          <a:bodyPr rtlCol="0" anchor="ctr"/>
          <a:lstStyle/>
          <a:p>
            <a:endParaRPr/>
          </a:p>
        </p:txBody>
      </p:sp>
      <p:sp>
        <p:nvSpPr>
          <p:cNvPr id="31" name="Rectangle 30"/>
          <p:cNvSpPr/>
          <p:nvPr/>
        </p:nvSpPr>
        <p:spPr>
          <a:xfrm>
            <a:off x="6197600" y="960818"/>
            <a:ext cx="5511800" cy="50800"/>
          </a:xfrm>
          <a:prstGeom prst="rect">
            <a:avLst/>
          </a:prstGeom>
          <a:solidFill>
            <a:srgbClr val="A44A3F"/>
          </a:solidFill>
          <a:ln>
            <a:noFill/>
          </a:ln>
          <a:effectLst/>
        </p:spPr>
        <p:txBody>
          <a:bodyPr rtlCol="0" anchor="ctr"/>
          <a:lstStyle/>
          <a:p>
            <a:endParaRPr/>
          </a:p>
        </p:txBody>
      </p:sp>
      <p:sp>
        <p:nvSpPr>
          <p:cNvPr id="32" name="Rectangle 31"/>
          <p:cNvSpPr/>
          <p:nvPr/>
        </p:nvSpPr>
        <p:spPr>
          <a:xfrm>
            <a:off x="11696700" y="960818"/>
            <a:ext cx="12700" cy="5071682"/>
          </a:xfrm>
          <a:prstGeom prst="rect">
            <a:avLst/>
          </a:prstGeom>
          <a:solidFill>
            <a:srgbClr val="E2DDD5"/>
          </a:solidFill>
          <a:ln>
            <a:noFill/>
          </a:ln>
          <a:effectLst/>
        </p:spPr>
        <p:txBody>
          <a:bodyPr rtlCol="0" anchor="ctr"/>
          <a:lstStyle/>
          <a:p>
            <a:endParaRPr/>
          </a:p>
        </p:txBody>
      </p:sp>
      <p:sp>
        <p:nvSpPr>
          <p:cNvPr id="33" name="Rectangle 32"/>
          <p:cNvSpPr/>
          <p:nvPr/>
        </p:nvSpPr>
        <p:spPr>
          <a:xfrm>
            <a:off x="6197600" y="6019800"/>
            <a:ext cx="5511800" cy="12700"/>
          </a:xfrm>
          <a:prstGeom prst="rect">
            <a:avLst/>
          </a:prstGeom>
          <a:solidFill>
            <a:srgbClr val="E2DDD5"/>
          </a:solidFill>
          <a:ln>
            <a:noFill/>
          </a:ln>
          <a:effectLst/>
        </p:spPr>
        <p:txBody>
          <a:bodyPr rtlCol="0" anchor="ctr"/>
          <a:lstStyle/>
          <a:p>
            <a:endParaRPr/>
          </a:p>
        </p:txBody>
      </p:sp>
      <p:sp>
        <p:nvSpPr>
          <p:cNvPr id="34" name="Rectangle 33"/>
          <p:cNvSpPr/>
          <p:nvPr/>
        </p:nvSpPr>
        <p:spPr>
          <a:xfrm>
            <a:off x="6197600" y="960818"/>
            <a:ext cx="12700" cy="5071682"/>
          </a:xfrm>
          <a:prstGeom prst="rect">
            <a:avLst/>
          </a:prstGeom>
          <a:solidFill>
            <a:srgbClr val="E2DDD5"/>
          </a:solidFill>
          <a:ln>
            <a:noFill/>
          </a:ln>
          <a:effectLst/>
        </p:spPr>
        <p:txBody>
          <a:bodyPr rtlCol="0" anchor="ctr"/>
          <a:lstStyle/>
          <a:p>
            <a:endParaRPr/>
          </a:p>
        </p:txBody>
      </p:sp>
      <p:sp>
        <p:nvSpPr>
          <p:cNvPr id="35" name="Rounded Rectangle 34"/>
          <p:cNvSpPr/>
          <p:nvPr/>
        </p:nvSpPr>
        <p:spPr>
          <a:xfrm>
            <a:off x="6375400" y="1151318"/>
            <a:ext cx="2000440" cy="209550"/>
          </a:xfrm>
          <a:prstGeom prst="roundRect">
            <a:avLst>
              <a:gd name="adj" fmla="val 50000"/>
            </a:avLst>
          </a:prstGeom>
          <a:solidFill>
            <a:srgbClr val="A44A3F">
              <a:alpha val="8000"/>
            </a:srgbClr>
          </a:solidFill>
          <a:ln>
            <a:noFill/>
          </a:ln>
          <a:effectLst/>
        </p:spPr>
        <p:txBody>
          <a:bodyPr rtlCol="0" anchor="ctr"/>
          <a:lstStyle/>
          <a:p>
            <a:endParaRPr/>
          </a:p>
        </p:txBody>
      </p:sp>
      <p:sp>
        <p:nvSpPr>
          <p:cNvPr id="36" name="TextBox 35"/>
          <p:cNvSpPr txBox="1"/>
          <p:nvPr/>
        </p:nvSpPr>
        <p:spPr>
          <a:xfrm>
            <a:off x="6464300" y="1176718"/>
            <a:ext cx="2278301" cy="158750"/>
          </a:xfrm>
          <a:prstGeom prst="rect">
            <a:avLst/>
          </a:prstGeom>
          <a:noFill/>
        </p:spPr>
        <p:txBody>
          <a:bodyPr wrap="none" lIns="0" tIns="0" rIns="0" bIns="0" anchor="t">
            <a:noAutofit/>
          </a:bodyPr>
          <a:lstStyle/>
          <a:p>
            <a:pPr algn="l">
              <a:lnSpc>
                <a:spcPts val="1190"/>
              </a:lnSpc>
            </a:pPr>
            <a:r>
              <a:rPr sz="850" b="1">
                <a:solidFill>
                  <a:srgbClr val="A44A3F"/>
                </a:solidFill>
                <a:latin typeface="Microsoft JhengHei"/>
                <a:ea typeface="Microsoft JhengHei"/>
                <a:cs typeface="Microsoft JhengHei"/>
              </a:rPr>
              <a:t>Metabolic Warning ｜ 潛在代謝危機</a:t>
            </a:r>
          </a:p>
        </p:txBody>
      </p:sp>
      <p:sp>
        <p:nvSpPr>
          <p:cNvPr id="37" name="TextBox 36"/>
          <p:cNvSpPr txBox="1"/>
          <p:nvPr/>
        </p:nvSpPr>
        <p:spPr>
          <a:xfrm>
            <a:off x="6375400" y="1386268"/>
            <a:ext cx="4378008" cy="279400"/>
          </a:xfrm>
          <a:prstGeom prst="rect">
            <a:avLst/>
          </a:prstGeom>
          <a:noFill/>
        </p:spPr>
        <p:txBody>
          <a:bodyPr wrap="none" lIns="0" tIns="0" rIns="0" bIns="0" anchor="t">
            <a:noAutofit/>
          </a:bodyPr>
          <a:lstStyle/>
          <a:p>
            <a:pPr algn="l">
              <a:lnSpc>
                <a:spcPts val="1880"/>
              </a:lnSpc>
            </a:pPr>
            <a:r>
              <a:rPr sz="1500" b="1">
                <a:solidFill>
                  <a:srgbClr val="A44A3F"/>
                </a:solidFill>
                <a:latin typeface="Microsoft JhengHei"/>
                <a:ea typeface="Microsoft JhengHei"/>
                <a:cs typeface="Microsoft JhengHei"/>
              </a:rPr>
              <a:t>2. The Underlying Threat </a:t>
            </a:r>
            <a:r>
              <a:rPr sz="1200" b="1">
                <a:solidFill>
                  <a:srgbClr val="78716C"/>
                </a:solidFill>
                <a:latin typeface="Microsoft JhengHei"/>
                <a:ea typeface="Microsoft JhengHei"/>
                <a:cs typeface="Microsoft JhengHei"/>
              </a:rPr>
              <a:t>(體內潛伏威脅)</a:t>
            </a:r>
          </a:p>
        </p:txBody>
      </p:sp>
      <p:sp>
        <p:nvSpPr>
          <p:cNvPr id="38" name="Rounded Rectangle 37"/>
          <p:cNvSpPr/>
          <p:nvPr/>
        </p:nvSpPr>
        <p:spPr>
          <a:xfrm>
            <a:off x="6375400" y="1713294"/>
            <a:ext cx="25273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39" name="TextBox 38"/>
          <p:cNvSpPr txBox="1"/>
          <p:nvPr/>
        </p:nvSpPr>
        <p:spPr>
          <a:xfrm>
            <a:off x="7247422" y="1719644"/>
            <a:ext cx="783193" cy="501650"/>
          </a:xfrm>
          <a:prstGeom prst="rect">
            <a:avLst/>
          </a:prstGeom>
          <a:noFill/>
        </p:spPr>
        <p:txBody>
          <a:bodyPr wrap="none" lIns="0" tIns="0" rIns="0" bIns="0" anchor="t">
            <a:noAutofit/>
          </a:bodyPr>
          <a:lstStyle/>
          <a:p>
            <a:pPr algn="ctr">
              <a:lnSpc>
                <a:spcPts val="2840"/>
              </a:lnSpc>
            </a:pPr>
            <a:r>
              <a:rPr sz="2700" b="1">
                <a:solidFill>
                  <a:srgbClr val="A44A3F"/>
                </a:solidFill>
                <a:latin typeface="Microsoft JhengHei"/>
                <a:ea typeface="Microsoft JhengHei"/>
                <a:cs typeface="Microsoft JhengHei"/>
              </a:rPr>
              <a:t>173</a:t>
            </a:r>
          </a:p>
        </p:txBody>
      </p:sp>
      <p:sp>
        <p:nvSpPr>
          <p:cNvPr id="40" name="TextBox 39"/>
          <p:cNvSpPr txBox="1"/>
          <p:nvPr/>
        </p:nvSpPr>
        <p:spPr>
          <a:xfrm>
            <a:off x="6934446" y="2168525"/>
            <a:ext cx="1409144"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Baseline LDL (mg/dL)</a:t>
            </a:r>
          </a:p>
        </p:txBody>
      </p:sp>
      <p:sp>
        <p:nvSpPr>
          <p:cNvPr id="41" name="TextBox 40"/>
          <p:cNvSpPr txBox="1"/>
          <p:nvPr/>
        </p:nvSpPr>
        <p:spPr>
          <a:xfrm>
            <a:off x="7162800" y="2327275"/>
            <a:ext cx="952500"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基準低密度膽固醇</a:t>
            </a:r>
          </a:p>
        </p:txBody>
      </p:sp>
      <p:sp>
        <p:nvSpPr>
          <p:cNvPr id="42" name="Rounded Rectangle 41"/>
          <p:cNvSpPr/>
          <p:nvPr/>
        </p:nvSpPr>
        <p:spPr>
          <a:xfrm>
            <a:off x="9004300" y="1713294"/>
            <a:ext cx="25273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43" name="TextBox 42"/>
          <p:cNvSpPr txBox="1"/>
          <p:nvPr/>
        </p:nvSpPr>
        <p:spPr>
          <a:xfrm>
            <a:off x="9876322" y="1719644"/>
            <a:ext cx="783193" cy="501650"/>
          </a:xfrm>
          <a:prstGeom prst="rect">
            <a:avLst/>
          </a:prstGeom>
          <a:noFill/>
        </p:spPr>
        <p:txBody>
          <a:bodyPr wrap="none" lIns="0" tIns="0" rIns="0" bIns="0" anchor="t">
            <a:noAutofit/>
          </a:bodyPr>
          <a:lstStyle/>
          <a:p>
            <a:pPr algn="ctr">
              <a:lnSpc>
                <a:spcPts val="2840"/>
              </a:lnSpc>
            </a:pPr>
            <a:r>
              <a:rPr sz="2700" b="1">
                <a:solidFill>
                  <a:srgbClr val="1E2833"/>
                </a:solidFill>
                <a:latin typeface="Microsoft JhengHei"/>
                <a:ea typeface="Microsoft JhengHei"/>
                <a:cs typeface="Microsoft JhengHei"/>
              </a:rPr>
              <a:t>756</a:t>
            </a:r>
          </a:p>
        </p:txBody>
      </p:sp>
      <p:sp>
        <p:nvSpPr>
          <p:cNvPr id="44" name="TextBox 43"/>
          <p:cNvSpPr txBox="1"/>
          <p:nvPr/>
        </p:nvSpPr>
        <p:spPr>
          <a:xfrm>
            <a:off x="9691521" y="2168525"/>
            <a:ext cx="1152922"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Troponin T (ng/L)</a:t>
            </a:r>
          </a:p>
        </p:txBody>
      </p:sp>
      <p:sp>
        <p:nvSpPr>
          <p:cNvPr id="45" name="TextBox 44"/>
          <p:cNvSpPr txBox="1"/>
          <p:nvPr/>
        </p:nvSpPr>
        <p:spPr>
          <a:xfrm>
            <a:off x="9791700" y="2327275"/>
            <a:ext cx="952500"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心肌壞死標記峰值</a:t>
            </a:r>
          </a:p>
        </p:txBody>
      </p:sp>
      <p:sp>
        <p:nvSpPr>
          <p:cNvPr id="46" name="TextBox 45"/>
          <p:cNvSpPr txBox="1"/>
          <p:nvPr/>
        </p:nvSpPr>
        <p:spPr>
          <a:xfrm>
            <a:off x="6540500" y="2625725"/>
            <a:ext cx="5651500" cy="215900"/>
          </a:xfrm>
          <a:prstGeom prst="rect">
            <a:avLst/>
          </a:prstGeom>
          <a:noFill/>
        </p:spPr>
        <p:txBody>
          <a:bodyPr wrap="non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Severe Dyslipidemia:</a:t>
            </a:r>
            <a:r>
              <a:rPr sz="1150" b="0">
                <a:solidFill>
                  <a:srgbClr val="44403C"/>
                </a:solidFill>
                <a:latin typeface="Microsoft JhengHei"/>
                <a:ea typeface="Microsoft JhengHei"/>
                <a:cs typeface="Microsoft JhengHei"/>
              </a:rPr>
              <a:t> LDL-C 173 mg/dL, Total Cholesterol 254 mg/dL.</a:t>
            </a:r>
          </a:p>
        </p:txBody>
      </p:sp>
      <p:sp>
        <p:nvSpPr>
          <p:cNvPr id="47" name="TextBox 46"/>
          <p:cNvSpPr txBox="1"/>
          <p:nvPr/>
        </p:nvSpPr>
        <p:spPr>
          <a:xfrm>
            <a:off x="6540500" y="2856484"/>
            <a:ext cx="2740422"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嚴重高血脂症，總膽固醇達 254 mg/dL。</a:t>
            </a:r>
          </a:p>
        </p:txBody>
      </p:sp>
      <p:sp>
        <p:nvSpPr>
          <p:cNvPr id="48" name="TextBox 47"/>
          <p:cNvSpPr txBox="1"/>
          <p:nvPr/>
        </p:nvSpPr>
        <p:spPr>
          <a:xfrm>
            <a:off x="6540500" y="3063176"/>
            <a:ext cx="4494609" cy="215900"/>
          </a:xfrm>
          <a:prstGeom prst="rect">
            <a:avLst/>
          </a:prstGeom>
          <a:noFill/>
        </p:spPr>
        <p:txBody>
          <a:bodyPr wrap="non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Low Protective HDL:</a:t>
            </a:r>
            <a:r>
              <a:rPr sz="1150" b="0">
                <a:solidFill>
                  <a:srgbClr val="44403C"/>
                </a:solidFill>
                <a:latin typeface="Microsoft JhengHei"/>
                <a:ea typeface="Microsoft JhengHei"/>
                <a:cs typeface="Microsoft JhengHei"/>
              </a:rPr>
              <a:t> 38 mg/dL with active smoking.</a:t>
            </a:r>
          </a:p>
        </p:txBody>
      </p:sp>
      <p:sp>
        <p:nvSpPr>
          <p:cNvPr id="49" name="TextBox 48"/>
          <p:cNvSpPr txBox="1"/>
          <p:nvPr/>
        </p:nvSpPr>
        <p:spPr>
          <a:xfrm>
            <a:off x="6540500" y="3293936"/>
            <a:ext cx="3016250"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保護性高密度膽固醇偏低，且具長期抽菸史。</a:t>
            </a:r>
          </a:p>
        </p:txBody>
      </p:sp>
      <p:sp>
        <p:nvSpPr>
          <p:cNvPr id="50" name="TextBox 49"/>
          <p:cNvSpPr txBox="1"/>
          <p:nvPr/>
        </p:nvSpPr>
        <p:spPr>
          <a:xfrm>
            <a:off x="6540500" y="3500628"/>
            <a:ext cx="5651500" cy="215900"/>
          </a:xfrm>
          <a:prstGeom prst="rect">
            <a:avLst/>
          </a:prstGeom>
          <a:noFill/>
        </p:spPr>
        <p:txBody>
          <a:bodyPr wrap="non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The Core Dilemma:</a:t>
            </a:r>
            <a:r>
              <a:rPr sz="1150" b="0">
                <a:solidFill>
                  <a:srgbClr val="44403C"/>
                </a:solidFill>
                <a:latin typeface="Microsoft JhengHei"/>
                <a:ea typeface="Microsoft JhengHei"/>
                <a:cs typeface="Microsoft JhengHei"/>
              </a:rPr>
              <a:t> Stent fixed 48 mm of vessel. What about the rest?</a:t>
            </a:r>
          </a:p>
        </p:txBody>
      </p:sp>
      <p:sp>
        <p:nvSpPr>
          <p:cNvPr id="51" name="TextBox 50"/>
          <p:cNvSpPr txBox="1"/>
          <p:nvPr/>
        </p:nvSpPr>
        <p:spPr>
          <a:xfrm>
            <a:off x="6540500" y="3731450"/>
            <a:ext cx="3100467"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支架修復了局部 48 毫米，其餘血管何去何從？</a:t>
            </a:r>
          </a:p>
        </p:txBody>
      </p:sp>
      <p:sp>
        <p:nvSpPr>
          <p:cNvPr id="52" name="Rounded Rectangle 51"/>
          <p:cNvSpPr/>
          <p:nvPr/>
        </p:nvSpPr>
        <p:spPr>
          <a:xfrm>
            <a:off x="6375400" y="5372100"/>
            <a:ext cx="5156200" cy="508000"/>
          </a:xfrm>
          <a:prstGeom prst="roundRect">
            <a:avLst>
              <a:gd name="adj" fmla="val 15000"/>
            </a:avLst>
          </a:prstGeom>
          <a:solidFill>
            <a:srgbClr val="A44A3F">
              <a:alpha val="8000"/>
            </a:srgbClr>
          </a:solidFill>
          <a:ln>
            <a:noFill/>
          </a:ln>
          <a:effectLst/>
        </p:spPr>
        <p:txBody>
          <a:bodyPr rtlCol="0" anchor="ctr"/>
          <a:lstStyle/>
          <a:p>
            <a:endParaRPr/>
          </a:p>
        </p:txBody>
      </p:sp>
      <p:sp>
        <p:nvSpPr>
          <p:cNvPr id="53" name="TextBox 52"/>
          <p:cNvSpPr txBox="1"/>
          <p:nvPr/>
        </p:nvSpPr>
        <p:spPr>
          <a:xfrm>
            <a:off x="6489700" y="5448300"/>
            <a:ext cx="3259376" cy="184150"/>
          </a:xfrm>
          <a:prstGeom prst="rect">
            <a:avLst/>
          </a:prstGeom>
          <a:noFill/>
        </p:spPr>
        <p:txBody>
          <a:bodyPr wrap="none" lIns="0" tIns="0" rIns="0" bIns="0" anchor="t">
            <a:noAutofit/>
          </a:bodyPr>
          <a:lstStyle/>
          <a:p>
            <a:pPr algn="l">
              <a:lnSpc>
                <a:spcPts val="1400"/>
              </a:lnSpc>
            </a:pPr>
            <a:r>
              <a:rPr sz="1000" b="1">
                <a:solidFill>
                  <a:srgbClr val="A44A3F"/>
                </a:solidFill>
                <a:latin typeface="Microsoft JhengHei"/>
                <a:ea typeface="Microsoft JhengHei"/>
                <a:cs typeface="Microsoft JhengHei"/>
              </a:rPr>
              <a:t>▲ Systemic vascular risk remains active!</a:t>
            </a:r>
          </a:p>
        </p:txBody>
      </p:sp>
      <p:sp>
        <p:nvSpPr>
          <p:cNvPr id="54" name="TextBox 53"/>
          <p:cNvSpPr txBox="1"/>
          <p:nvPr/>
        </p:nvSpPr>
        <p:spPr>
          <a:xfrm>
            <a:off x="6489700" y="5645150"/>
            <a:ext cx="3103562" cy="158750"/>
          </a:xfrm>
          <a:prstGeom prst="rect">
            <a:avLst/>
          </a:prstGeom>
          <a:noFill/>
        </p:spPr>
        <p:txBody>
          <a:bodyPr wrap="none" lIns="0" tIns="0" rIns="0" bIns="0" anchor="t">
            <a:noAutofit/>
          </a:bodyPr>
          <a:lstStyle/>
          <a:p>
            <a:pPr algn="l">
              <a:lnSpc>
                <a:spcPts val="1190"/>
              </a:lnSpc>
            </a:pPr>
            <a:r>
              <a:rPr sz="850" b="1">
                <a:solidFill>
                  <a:srgbClr val="AD5C52"/>
                </a:solidFill>
                <a:latin typeface="Microsoft JhengHei"/>
                <a:ea typeface="Microsoft JhengHei"/>
                <a:cs typeface="Microsoft JhengHei"/>
              </a:rPr>
              <a:t>全身冠狀動脈依然暴露於粥樣硬化破裂的高度威脅中</a:t>
            </a:r>
          </a:p>
        </p:txBody>
      </p:sp>
      <p:sp>
        <p:nvSpPr>
          <p:cNvPr id="55" name="Rectangle 54"/>
          <p:cNvSpPr/>
          <p:nvPr/>
        </p:nvSpPr>
        <p:spPr>
          <a:xfrm>
            <a:off x="482600" y="6184900"/>
            <a:ext cx="11226800" cy="12700"/>
          </a:xfrm>
          <a:prstGeom prst="rect">
            <a:avLst/>
          </a:prstGeom>
          <a:solidFill>
            <a:srgbClr val="EFECE6"/>
          </a:solidFill>
          <a:ln>
            <a:noFill/>
          </a:ln>
          <a:effectLst/>
        </p:spPr>
        <p:txBody>
          <a:bodyPr rtlCol="0" anchor="ctr"/>
          <a:lstStyle/>
          <a:p>
            <a:endParaRPr/>
          </a:p>
        </p:txBody>
      </p:sp>
      <p:sp>
        <p:nvSpPr>
          <p:cNvPr id="56" name="TextBox 55"/>
          <p:cNvSpPr txBox="1"/>
          <p:nvPr/>
        </p:nvSpPr>
        <p:spPr>
          <a:xfrm>
            <a:off x="482600" y="6235700"/>
            <a:ext cx="7023735" cy="266700"/>
          </a:xfrm>
          <a:prstGeom prst="rect">
            <a:avLst/>
          </a:prstGeom>
          <a:noFill/>
        </p:spPr>
        <p:txBody>
          <a:bodyPr wrap="none" lIns="0" tIns="0" rIns="0" bIns="0" anchor="t">
            <a:noAutofit/>
          </a:bodyPr>
          <a:lstStyle/>
          <a:p>
            <a:pPr algn="l">
              <a:lnSpc>
                <a:spcPts val="1050"/>
              </a:lnSpc>
            </a:pPr>
            <a:r>
              <a:rPr sz="750" b="0">
                <a:solidFill>
                  <a:srgbClr val="78716C"/>
                </a:solidFill>
                <a:latin typeface="Microsoft JhengHei"/>
                <a:ea typeface="Microsoft JhengHei"/>
                <a:cs typeface="Microsoft JhengHei"/>
              </a:rPr>
              <a:t>1. Damluji AA, et al. Mechanical Complications of Acute Myocardial Infarction. Circulation. 2021;144(2):e16-e35. PMID: 34126759.</a:t>
            </a:r>
          </a:p>
          <a:p>
            <a:pPr algn="l">
              <a:lnSpc>
                <a:spcPts val="1050"/>
              </a:lnSpc>
            </a:pPr>
            <a:r>
              <a:rPr sz="750" b="0">
                <a:solidFill>
                  <a:srgbClr val="78716C"/>
                </a:solidFill>
                <a:latin typeface="Microsoft JhengHei"/>
                <a:ea typeface="Microsoft JhengHei"/>
                <a:cs typeface="Microsoft JhengHei"/>
              </a:rPr>
              <a:t>2. Braunwald's Heart Disease: A Textbook of Cardiovascular Medicine. 13th ed. Elsevier; 2026. Chapters 34-38.</a:t>
            </a:r>
          </a:p>
        </p:txBody>
      </p:sp>
      <p:sp>
        <p:nvSpPr>
          <p:cNvPr id="57" name="Rounded Rectangle 56"/>
          <p:cNvSpPr/>
          <p:nvPr/>
        </p:nvSpPr>
        <p:spPr>
          <a:xfrm>
            <a:off x="8915400" y="254000"/>
            <a:ext cx="555308" cy="254000"/>
          </a:xfrm>
          <a:prstGeom prst="roundRect">
            <a:avLst>
              <a:gd name="adj" fmla="val 50000"/>
            </a:avLst>
          </a:prstGeom>
          <a:solidFill>
            <a:srgbClr val="1E2833"/>
          </a:solidFill>
          <a:ln w="12700">
            <a:solidFill>
              <a:srgbClr val="1E2833"/>
            </a:solidFill>
          </a:ln>
          <a:effectLst/>
        </p:spPr>
        <p:txBody>
          <a:bodyPr rtlCol="0" anchor="ctr"/>
          <a:lstStyle/>
          <a:p>
            <a:endParaRPr/>
          </a:p>
        </p:txBody>
      </p:sp>
      <p:sp>
        <p:nvSpPr>
          <p:cNvPr id="58" name="TextBox 57"/>
          <p:cNvSpPr txBox="1"/>
          <p:nvPr/>
        </p:nvSpPr>
        <p:spPr>
          <a:xfrm>
            <a:off x="9017000" y="304800"/>
            <a:ext cx="441008" cy="152400"/>
          </a:xfrm>
          <a:prstGeom prst="rect">
            <a:avLst/>
          </a:prstGeom>
          <a:noFill/>
        </p:spPr>
        <p:txBody>
          <a:bodyPr wrap="none" lIns="0" tIns="0" rIns="0" bIns="0" anchor="t">
            <a:noAutofit/>
          </a:bodyPr>
          <a:lstStyle/>
          <a:p>
            <a:pPr algn="l">
              <a:lnSpc>
                <a:spcPts val="1120"/>
              </a:lnSpc>
            </a:pPr>
            <a:r>
              <a:rPr sz="800" b="1">
                <a:solidFill>
                  <a:srgbClr val="FFFFFF"/>
                </a:solidFill>
                <a:latin typeface="Microsoft JhengHei"/>
                <a:ea typeface="Microsoft JhengHei"/>
                <a:cs typeface="Microsoft JhengHei"/>
              </a:rPr>
              <a:t>1. Case</a:t>
            </a:r>
          </a:p>
        </p:txBody>
      </p:sp>
      <p:sp>
        <p:nvSpPr>
          <p:cNvPr id="59" name="Rounded Rectangle 58"/>
          <p:cNvSpPr/>
          <p:nvPr/>
        </p:nvSpPr>
        <p:spPr>
          <a:xfrm>
            <a:off x="9521508" y="254000"/>
            <a:ext cx="684022"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60" name="TextBox 59"/>
          <p:cNvSpPr txBox="1"/>
          <p:nvPr/>
        </p:nvSpPr>
        <p:spPr>
          <a:xfrm>
            <a:off x="9623108" y="304800"/>
            <a:ext cx="601028"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2. Targets</a:t>
            </a:r>
          </a:p>
        </p:txBody>
      </p:sp>
      <p:sp>
        <p:nvSpPr>
          <p:cNvPr id="61" name="Rounded Rectangle 60"/>
          <p:cNvSpPr/>
          <p:nvPr/>
        </p:nvSpPr>
        <p:spPr>
          <a:xfrm>
            <a:off x="10256330" y="254000"/>
            <a:ext cx="729932"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62" name="TextBox 61"/>
          <p:cNvSpPr txBox="1"/>
          <p:nvPr/>
        </p:nvSpPr>
        <p:spPr>
          <a:xfrm>
            <a:off x="10357930" y="304800"/>
            <a:ext cx="658416"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3. Therapy</a:t>
            </a:r>
          </a:p>
        </p:txBody>
      </p:sp>
      <p:sp>
        <p:nvSpPr>
          <p:cNvPr id="63" name="Rounded Rectangle 62"/>
          <p:cNvSpPr/>
          <p:nvPr/>
        </p:nvSpPr>
        <p:spPr>
          <a:xfrm>
            <a:off x="11037126" y="254000"/>
            <a:ext cx="757618"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64" name="TextBox 63"/>
          <p:cNvSpPr txBox="1"/>
          <p:nvPr/>
        </p:nvSpPr>
        <p:spPr>
          <a:xfrm>
            <a:off x="11138726" y="304800"/>
            <a:ext cx="693023"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4. Timeline</a:t>
            </a:r>
          </a:p>
        </p:txBody>
      </p:sp>
      <p:sp>
        <p:nvSpPr>
          <p:cNvPr id="65" name="Rectangle 64"/>
          <p:cNvSpPr/>
          <p:nvPr/>
        </p:nvSpPr>
        <p:spPr>
          <a:xfrm>
            <a:off x="0" y="6527800"/>
            <a:ext cx="12192000" cy="330200"/>
          </a:xfrm>
          <a:prstGeom prst="rect">
            <a:avLst/>
          </a:prstGeom>
          <a:solidFill>
            <a:srgbClr val="FFFFFF"/>
          </a:solidFill>
          <a:ln>
            <a:noFill/>
          </a:ln>
          <a:effectLst/>
        </p:spPr>
        <p:txBody>
          <a:bodyPr rtlCol="0" anchor="ctr"/>
          <a:lstStyle/>
          <a:p>
            <a:endParaRPr/>
          </a:p>
        </p:txBody>
      </p:sp>
      <p:sp>
        <p:nvSpPr>
          <p:cNvPr id="66" name="Rectangle 65"/>
          <p:cNvSpPr/>
          <p:nvPr/>
        </p:nvSpPr>
        <p:spPr>
          <a:xfrm>
            <a:off x="0" y="6527800"/>
            <a:ext cx="12192000" cy="12700"/>
          </a:xfrm>
          <a:prstGeom prst="rect">
            <a:avLst/>
          </a:prstGeom>
          <a:solidFill>
            <a:srgbClr val="EFECE6"/>
          </a:solidFill>
          <a:ln>
            <a:noFill/>
          </a:ln>
          <a:effectLst/>
        </p:spPr>
        <p:txBody>
          <a:bodyPr rtlCol="0" anchor="ctr"/>
          <a:lstStyle/>
          <a:p>
            <a:endParaRPr/>
          </a:p>
        </p:txBody>
      </p:sp>
      <p:sp>
        <p:nvSpPr>
          <p:cNvPr id="67" name="TextBox 66"/>
          <p:cNvSpPr txBox="1"/>
          <p:nvPr/>
        </p:nvSpPr>
        <p:spPr>
          <a:xfrm>
            <a:off x="482600" y="6613525"/>
            <a:ext cx="538162" cy="171450"/>
          </a:xfrm>
          <a:prstGeom prst="rect">
            <a:avLst/>
          </a:prstGeom>
          <a:noFill/>
        </p:spPr>
        <p:txBody>
          <a:bodyPr wrap="none" lIns="0" tIns="0" rIns="0" bIns="0" anchor="t">
            <a:noAutofit/>
          </a:bodyPr>
          <a:lstStyle/>
          <a:p>
            <a:pPr algn="l">
              <a:lnSpc>
                <a:spcPts val="1330"/>
              </a:lnSpc>
            </a:pPr>
            <a:r>
              <a:rPr sz="950" b="1">
                <a:solidFill>
                  <a:srgbClr val="1E2833"/>
                </a:solidFill>
                <a:latin typeface="Microsoft JhengHei"/>
                <a:ea typeface="Microsoft JhengHei"/>
                <a:cs typeface="Microsoft JhengHei"/>
              </a:rPr>
              <a:t>1. Case</a:t>
            </a:r>
          </a:p>
        </p:txBody>
      </p:sp>
      <p:sp>
        <p:nvSpPr>
          <p:cNvPr id="68" name="Rounded Rectangle 67"/>
          <p:cNvSpPr/>
          <p:nvPr/>
        </p:nvSpPr>
        <p:spPr>
          <a:xfrm>
            <a:off x="1052830" y="6680200"/>
            <a:ext cx="10121202" cy="38100"/>
          </a:xfrm>
          <a:prstGeom prst="roundRect">
            <a:avLst>
              <a:gd name="adj" fmla="val 50000"/>
            </a:avLst>
          </a:prstGeom>
          <a:solidFill>
            <a:srgbClr val="EFECE6"/>
          </a:solidFill>
          <a:ln>
            <a:noFill/>
          </a:ln>
          <a:effectLst/>
        </p:spPr>
        <p:txBody>
          <a:bodyPr rtlCol="0" anchor="ctr"/>
          <a:lstStyle/>
          <a:p>
            <a:endParaRPr/>
          </a:p>
        </p:txBody>
      </p:sp>
      <p:sp>
        <p:nvSpPr>
          <p:cNvPr id="69" name="Rectangle 68"/>
          <p:cNvSpPr/>
          <p:nvPr/>
        </p:nvSpPr>
        <p:spPr>
          <a:xfrm>
            <a:off x="1052830" y="6680200"/>
            <a:ext cx="2024190" cy="38100"/>
          </a:xfrm>
          <a:prstGeom prst="rect">
            <a:avLst/>
          </a:prstGeom>
          <a:solidFill>
            <a:srgbClr val="F3C84B"/>
          </a:solidFill>
          <a:ln>
            <a:noFill/>
          </a:ln>
          <a:effectLst/>
        </p:spPr>
        <p:txBody>
          <a:bodyPr rtlCol="0" anchor="ctr"/>
          <a:lstStyle/>
          <a:p>
            <a:endParaRPr/>
          </a:p>
        </p:txBody>
      </p:sp>
      <p:sp>
        <p:nvSpPr>
          <p:cNvPr id="70" name="TextBox 69"/>
          <p:cNvSpPr txBox="1"/>
          <p:nvPr/>
        </p:nvSpPr>
        <p:spPr>
          <a:xfrm>
            <a:off x="11313732" y="6613525"/>
            <a:ext cx="494586" cy="171450"/>
          </a:xfrm>
          <a:prstGeom prst="rect">
            <a:avLst/>
          </a:prstGeom>
          <a:noFill/>
        </p:spPr>
        <p:txBody>
          <a:bodyPr wrap="none" lIns="0" tIns="0" rIns="0" bIns="0" anchor="t">
            <a:noAutofit/>
          </a:bodyPr>
          <a:lstStyle/>
          <a:p>
            <a:pPr algn="l">
              <a:lnSpc>
                <a:spcPts val="1330"/>
              </a:lnSpc>
            </a:pPr>
            <a:r>
              <a:rPr sz="950" b="1">
                <a:solidFill>
                  <a:srgbClr val="44403C"/>
                </a:solidFill>
                <a:latin typeface="Microsoft JhengHei"/>
                <a:ea typeface="Microsoft JhengHei"/>
                <a:cs typeface="Microsoft JhengHei"/>
              </a:rPr>
              <a:t>02 / 10</a:t>
            </a:r>
          </a:p>
        </p:txBody>
      </p:sp>
      <p:sp>
        <p:nvSpPr>
          <p:cNvPr id="71" name="LINK_Rectangle 70">
            <a:hlinkClick r:id="rId3" action="ppaction://hlinksldjump"/>
          </p:cNvPr>
          <p:cNvSpPr/>
          <p:nvPr/>
        </p:nvSpPr>
        <p:spPr>
          <a:xfrm>
            <a:off x="8915400" y="254000"/>
            <a:ext cx="555327" cy="254000"/>
          </a:xfrm>
          <a:prstGeom prst="rect">
            <a:avLst/>
          </a:prstGeom>
          <a:solidFill>
            <a:srgbClr val="FFFFFF">
              <a:alpha val="0"/>
            </a:srgbClr>
          </a:solidFill>
          <a:ln>
            <a:noFill/>
          </a:ln>
          <a:effectLst/>
        </p:spPr>
        <p:txBody>
          <a:bodyPr rtlCol="0" anchor="ctr"/>
          <a:lstStyle/>
          <a:p>
            <a:pPr algn="ctr"/>
            <a:endParaRPr/>
          </a:p>
        </p:txBody>
      </p:sp>
      <p:sp>
        <p:nvSpPr>
          <p:cNvPr id="72" name="LINK_Rectangle 71">
            <a:hlinkClick r:id="rId4" action="ppaction://hlinksldjump"/>
          </p:cNvPr>
          <p:cNvSpPr/>
          <p:nvPr/>
        </p:nvSpPr>
        <p:spPr>
          <a:xfrm>
            <a:off x="9521527" y="254000"/>
            <a:ext cx="684014" cy="254000"/>
          </a:xfrm>
          <a:prstGeom prst="rect">
            <a:avLst/>
          </a:prstGeom>
          <a:solidFill>
            <a:srgbClr val="FFFFFF">
              <a:alpha val="0"/>
            </a:srgbClr>
          </a:solidFill>
          <a:ln>
            <a:noFill/>
          </a:ln>
          <a:effectLst/>
        </p:spPr>
        <p:txBody>
          <a:bodyPr rtlCol="0" anchor="ctr"/>
          <a:lstStyle/>
          <a:p>
            <a:pPr algn="ctr"/>
            <a:endParaRPr/>
          </a:p>
        </p:txBody>
      </p:sp>
      <p:sp>
        <p:nvSpPr>
          <p:cNvPr id="73" name="LINK_Rectangle 72">
            <a:hlinkClick r:id="rId5" action="ppaction://hlinksldjump"/>
          </p:cNvPr>
          <p:cNvSpPr/>
          <p:nvPr/>
        </p:nvSpPr>
        <p:spPr>
          <a:xfrm>
            <a:off x="10256341" y="254000"/>
            <a:ext cx="729952" cy="254000"/>
          </a:xfrm>
          <a:prstGeom prst="rect">
            <a:avLst/>
          </a:prstGeom>
          <a:solidFill>
            <a:srgbClr val="FFFFFF">
              <a:alpha val="0"/>
            </a:srgbClr>
          </a:solidFill>
          <a:ln>
            <a:noFill/>
          </a:ln>
          <a:effectLst/>
        </p:spPr>
        <p:txBody>
          <a:bodyPr rtlCol="0" anchor="ctr"/>
          <a:lstStyle/>
          <a:p>
            <a:pPr algn="ctr"/>
            <a:endParaRPr/>
          </a:p>
        </p:txBody>
      </p:sp>
      <p:sp>
        <p:nvSpPr>
          <p:cNvPr id="74" name="LINK_Rectangle 73">
            <a:hlinkClick r:id="rId6" action="ppaction://hlinksldjump"/>
          </p:cNvPr>
          <p:cNvSpPr/>
          <p:nvPr/>
        </p:nvSpPr>
        <p:spPr>
          <a:xfrm>
            <a:off x="11037094" y="254000"/>
            <a:ext cx="757634" cy="254000"/>
          </a:xfrm>
          <a:prstGeom prst="rect">
            <a:avLst/>
          </a:prstGeom>
          <a:solidFill>
            <a:srgbClr val="FFFFFF">
              <a:alpha val="0"/>
            </a:srgbClr>
          </a:solidFill>
          <a:ln>
            <a:noFill/>
          </a:ln>
          <a:effectLst/>
        </p:spPr>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482600" y="241300"/>
            <a:ext cx="7273766" cy="419100"/>
          </a:xfrm>
          <a:prstGeom prst="rect">
            <a:avLst/>
          </a:prstGeom>
          <a:noFill/>
        </p:spPr>
        <p:txBody>
          <a:bodyPr wrap="none" lIns="0" tIns="0" rIns="0" bIns="0" anchor="t">
            <a:noAutofit/>
          </a:bodyPr>
          <a:lstStyle/>
          <a:p>
            <a:pPr algn="l">
              <a:lnSpc>
                <a:spcPts val="2710"/>
              </a:lnSpc>
            </a:pPr>
            <a:r>
              <a:rPr sz="2300" b="1" spc="-23">
                <a:solidFill>
                  <a:srgbClr val="1C1917"/>
                </a:solidFill>
                <a:latin typeface="Microsoft JhengHei"/>
                <a:ea typeface="Microsoft JhengHei"/>
                <a:cs typeface="Microsoft JhengHei"/>
              </a:rPr>
              <a:t>Local Stent vs. Systemic Plaque Biology</a:t>
            </a:r>
          </a:p>
        </p:txBody>
      </p:sp>
      <p:sp>
        <p:nvSpPr>
          <p:cNvPr id="4" name="TextBox 3"/>
          <p:cNvSpPr txBox="1"/>
          <p:nvPr/>
        </p:nvSpPr>
        <p:spPr>
          <a:xfrm>
            <a:off x="482600" y="649414"/>
            <a:ext cx="8638461" cy="215900"/>
          </a:xfrm>
          <a:prstGeom prst="rect">
            <a:avLst/>
          </a:prstGeom>
          <a:noFill/>
        </p:spPr>
        <p:txBody>
          <a:bodyPr wrap="none" lIns="0" tIns="0" rIns="0" bIns="0" anchor="t">
            <a:noAutofit/>
          </a:bodyPr>
          <a:lstStyle/>
          <a:p>
            <a:pPr algn="l">
              <a:lnSpc>
                <a:spcPts val="1550"/>
              </a:lnSpc>
            </a:pPr>
            <a:r>
              <a:rPr sz="1150" b="1">
                <a:solidFill>
                  <a:srgbClr val="1E2833"/>
                </a:solidFill>
                <a:latin typeface="Microsoft JhengHei"/>
                <a:ea typeface="Microsoft JhengHei"/>
                <a:cs typeface="Microsoft JhengHei"/>
              </a:rPr>
              <a:t>局部支架處置 vs. 全身動脈粥樣硬化病理機轉</a:t>
            </a:r>
            <a:r>
              <a:rPr sz="1150" b="0">
                <a:solidFill>
                  <a:srgbClr val="44403C"/>
                </a:solidFill>
                <a:latin typeface="Microsoft JhengHei"/>
                <a:ea typeface="Microsoft JhengHei"/>
                <a:cs typeface="Microsoft JhengHei"/>
              </a:rPr>
              <a:t> ｜ Why 50% of Recurrent MIs Occur in Non-Stented Arteries</a:t>
            </a:r>
          </a:p>
        </p:txBody>
      </p:sp>
      <p:sp>
        <p:nvSpPr>
          <p:cNvPr id="5" name="Rounded Rectangle 4"/>
          <p:cNvSpPr/>
          <p:nvPr/>
        </p:nvSpPr>
        <p:spPr>
          <a:xfrm>
            <a:off x="482600" y="960818"/>
            <a:ext cx="5511800" cy="5071682"/>
          </a:xfrm>
          <a:prstGeom prst="roundRect">
            <a:avLst>
              <a:gd name="adj" fmla="val 2504"/>
            </a:avLst>
          </a:prstGeom>
          <a:solidFill>
            <a:srgbClr val="1E2833">
              <a:alpha val="8000"/>
            </a:srgbClr>
          </a:solidFill>
          <a:ln>
            <a:noFill/>
          </a:ln>
          <a:effectLst/>
        </p:spPr>
        <p:txBody>
          <a:bodyPr rtlCol="0" anchor="ctr"/>
          <a:lstStyle/>
          <a:p>
            <a:endParaRPr/>
          </a:p>
        </p:txBody>
      </p:sp>
      <p:sp>
        <p:nvSpPr>
          <p:cNvPr id="6" name="Rectangle 5"/>
          <p:cNvSpPr/>
          <p:nvPr/>
        </p:nvSpPr>
        <p:spPr>
          <a:xfrm>
            <a:off x="482600" y="960818"/>
            <a:ext cx="5511800" cy="50800"/>
          </a:xfrm>
          <a:prstGeom prst="rect">
            <a:avLst/>
          </a:prstGeom>
          <a:solidFill>
            <a:srgbClr val="1E2833"/>
          </a:solidFill>
          <a:ln>
            <a:noFill/>
          </a:ln>
          <a:effectLst/>
        </p:spPr>
        <p:txBody>
          <a:bodyPr rtlCol="0" anchor="ctr"/>
          <a:lstStyle/>
          <a:p>
            <a:endParaRPr/>
          </a:p>
        </p:txBody>
      </p:sp>
      <p:sp>
        <p:nvSpPr>
          <p:cNvPr id="7" name="Rectangle 6"/>
          <p:cNvSpPr/>
          <p:nvPr/>
        </p:nvSpPr>
        <p:spPr>
          <a:xfrm>
            <a:off x="5981700" y="960818"/>
            <a:ext cx="12700" cy="5071682"/>
          </a:xfrm>
          <a:prstGeom prst="rect">
            <a:avLst/>
          </a:prstGeom>
          <a:solidFill>
            <a:srgbClr val="E2DDD5"/>
          </a:solidFill>
          <a:ln>
            <a:noFill/>
          </a:ln>
          <a:effectLst/>
        </p:spPr>
        <p:txBody>
          <a:bodyPr rtlCol="0" anchor="ctr"/>
          <a:lstStyle/>
          <a:p>
            <a:endParaRPr/>
          </a:p>
        </p:txBody>
      </p:sp>
      <p:sp>
        <p:nvSpPr>
          <p:cNvPr id="8" name="Rectangle 7"/>
          <p:cNvSpPr/>
          <p:nvPr/>
        </p:nvSpPr>
        <p:spPr>
          <a:xfrm>
            <a:off x="482600" y="6019800"/>
            <a:ext cx="5511800" cy="12700"/>
          </a:xfrm>
          <a:prstGeom prst="rect">
            <a:avLst/>
          </a:prstGeom>
          <a:solidFill>
            <a:srgbClr val="E2DDD5"/>
          </a:solidFill>
          <a:ln>
            <a:noFill/>
          </a:ln>
          <a:effectLst/>
        </p:spPr>
        <p:txBody>
          <a:bodyPr rtlCol="0" anchor="ctr"/>
          <a:lstStyle/>
          <a:p>
            <a:endParaRPr/>
          </a:p>
        </p:txBody>
      </p:sp>
      <p:sp>
        <p:nvSpPr>
          <p:cNvPr id="9" name="Rectangle 8"/>
          <p:cNvSpPr/>
          <p:nvPr/>
        </p:nvSpPr>
        <p:spPr>
          <a:xfrm>
            <a:off x="482600" y="960818"/>
            <a:ext cx="12700" cy="5071682"/>
          </a:xfrm>
          <a:prstGeom prst="rect">
            <a:avLst/>
          </a:prstGeom>
          <a:solidFill>
            <a:srgbClr val="E2DDD5"/>
          </a:solidFill>
          <a:ln>
            <a:noFill/>
          </a:ln>
          <a:effectLst/>
        </p:spPr>
        <p:txBody>
          <a:bodyPr rtlCol="0" anchor="ctr"/>
          <a:lstStyle/>
          <a:p>
            <a:endParaRPr/>
          </a:p>
        </p:txBody>
      </p:sp>
      <p:sp>
        <p:nvSpPr>
          <p:cNvPr id="10" name="Rounded Rectangle 9"/>
          <p:cNvSpPr/>
          <p:nvPr/>
        </p:nvSpPr>
        <p:spPr>
          <a:xfrm>
            <a:off x="660400" y="1151318"/>
            <a:ext cx="1912176" cy="209550"/>
          </a:xfrm>
          <a:prstGeom prst="roundRect">
            <a:avLst>
              <a:gd name="adj" fmla="val 50000"/>
            </a:avLst>
          </a:prstGeom>
          <a:solidFill>
            <a:srgbClr val="1E2833">
              <a:alpha val="8000"/>
            </a:srgbClr>
          </a:solidFill>
          <a:ln>
            <a:noFill/>
          </a:ln>
          <a:effectLst/>
        </p:spPr>
        <p:txBody>
          <a:bodyPr rtlCol="0" anchor="ctr"/>
          <a:lstStyle/>
          <a:p>
            <a:endParaRPr/>
          </a:p>
        </p:txBody>
      </p:sp>
      <p:sp>
        <p:nvSpPr>
          <p:cNvPr id="11" name="TextBox 10"/>
          <p:cNvSpPr txBox="1"/>
          <p:nvPr/>
        </p:nvSpPr>
        <p:spPr>
          <a:xfrm>
            <a:off x="749300" y="1176718"/>
            <a:ext cx="2167969" cy="158750"/>
          </a:xfrm>
          <a:prstGeom prst="rect">
            <a:avLst/>
          </a:prstGeom>
          <a:noFill/>
        </p:spPr>
        <p:txBody>
          <a:bodyPr wrap="none" lIns="0" tIns="0" rIns="0" bIns="0" anchor="t">
            <a:noAutofit/>
          </a:bodyPr>
          <a:lstStyle/>
          <a:p>
            <a:pPr algn="l">
              <a:lnSpc>
                <a:spcPts val="1190"/>
              </a:lnSpc>
            </a:pPr>
            <a:r>
              <a:rPr sz="850" b="1">
                <a:solidFill>
                  <a:srgbClr val="1E2833"/>
                </a:solidFill>
                <a:latin typeface="Microsoft JhengHei"/>
                <a:ea typeface="Microsoft JhengHei"/>
                <a:cs typeface="Microsoft JhengHei"/>
              </a:rPr>
              <a:t>Mechanical Limit ｜ 機械處置極限</a:t>
            </a:r>
          </a:p>
        </p:txBody>
      </p:sp>
      <p:sp>
        <p:nvSpPr>
          <p:cNvPr id="12" name="TextBox 11"/>
          <p:cNvSpPr txBox="1"/>
          <p:nvPr/>
        </p:nvSpPr>
        <p:spPr>
          <a:xfrm>
            <a:off x="660400" y="1386268"/>
            <a:ext cx="4493498" cy="279400"/>
          </a:xfrm>
          <a:prstGeom prst="rect">
            <a:avLst/>
          </a:prstGeom>
          <a:noFill/>
        </p:spPr>
        <p:txBody>
          <a:bodyPr wrap="none" lIns="0" tIns="0" rIns="0" bIns="0" anchor="t">
            <a:noAutofit/>
          </a:bodyPr>
          <a:lstStyle/>
          <a:p>
            <a:pPr algn="l">
              <a:lnSpc>
                <a:spcPts val="1880"/>
              </a:lnSpc>
            </a:pPr>
            <a:r>
              <a:rPr sz="1500" b="1">
                <a:solidFill>
                  <a:srgbClr val="1E2833"/>
                </a:solidFill>
                <a:latin typeface="Microsoft JhengHei"/>
                <a:ea typeface="Microsoft JhengHei"/>
                <a:cs typeface="Microsoft JhengHei"/>
              </a:rPr>
              <a:t>The Mechanical Boundary </a:t>
            </a:r>
            <a:r>
              <a:rPr sz="1200" b="1">
                <a:solidFill>
                  <a:srgbClr val="78716C"/>
                </a:solidFill>
                <a:latin typeface="Microsoft JhengHei"/>
                <a:ea typeface="Microsoft JhengHei"/>
                <a:cs typeface="Microsoft JhengHei"/>
              </a:rPr>
              <a:t>(侷限的覆蓋率)</a:t>
            </a:r>
          </a:p>
        </p:txBody>
      </p:sp>
      <p:sp>
        <p:nvSpPr>
          <p:cNvPr id="13" name="Rounded Rectangle 12"/>
          <p:cNvSpPr/>
          <p:nvPr/>
        </p:nvSpPr>
        <p:spPr>
          <a:xfrm>
            <a:off x="660400" y="1713294"/>
            <a:ext cx="5156200" cy="621030"/>
          </a:xfrm>
          <a:prstGeom prst="roundRect">
            <a:avLst>
              <a:gd name="adj" fmla="val 14314"/>
            </a:avLst>
          </a:prstGeom>
          <a:solidFill>
            <a:srgbClr val="FAF8F5"/>
          </a:solidFill>
          <a:ln w="6350">
            <a:solidFill>
              <a:srgbClr val="E2DDD5"/>
            </a:solidFill>
          </a:ln>
          <a:effectLst/>
        </p:spPr>
        <p:txBody>
          <a:bodyPr rtlCol="0" anchor="ctr"/>
          <a:lstStyle/>
          <a:p>
            <a:endParaRPr/>
          </a:p>
        </p:txBody>
      </p:sp>
      <p:sp>
        <p:nvSpPr>
          <p:cNvPr id="14" name="TextBox 13"/>
          <p:cNvSpPr txBox="1"/>
          <p:nvPr/>
        </p:nvSpPr>
        <p:spPr>
          <a:xfrm>
            <a:off x="781050" y="1802194"/>
            <a:ext cx="5119291" cy="222250"/>
          </a:xfrm>
          <a:prstGeom prst="rect">
            <a:avLst/>
          </a:prstGeom>
          <a:noFill/>
        </p:spPr>
        <p:txBody>
          <a:bodyPr wrap="none" lIns="0" tIns="0" rIns="0" bIns="0" anchor="t">
            <a:noAutofit/>
          </a:bodyPr>
          <a:lstStyle/>
          <a:p>
            <a:pPr algn="l">
              <a:lnSpc>
                <a:spcPts val="1739"/>
              </a:lnSpc>
            </a:pPr>
            <a:r>
              <a:rPr sz="1200" b="1">
                <a:solidFill>
                  <a:srgbClr val="1E2833"/>
                </a:solidFill>
                <a:latin typeface="Microsoft JhengHei"/>
                <a:ea typeface="Microsoft JhengHei"/>
                <a:cs typeface="Microsoft JhengHei"/>
              </a:rPr>
              <a:t>Total Coronary Tree Length: ~1,000 mm (冠狀動脈總長)</a:t>
            </a:r>
          </a:p>
        </p:txBody>
      </p:sp>
      <p:sp>
        <p:nvSpPr>
          <p:cNvPr id="15" name="TextBox 14"/>
          <p:cNvSpPr txBox="1"/>
          <p:nvPr/>
        </p:nvSpPr>
        <p:spPr>
          <a:xfrm>
            <a:off x="781050" y="2054924"/>
            <a:ext cx="3650853" cy="184150"/>
          </a:xfrm>
          <a:prstGeom prst="rect">
            <a:avLst/>
          </a:prstGeom>
          <a:noFill/>
        </p:spPr>
        <p:txBody>
          <a:bodyPr wrap="none" lIns="0" tIns="0" rIns="0" bIns="0" anchor="t">
            <a:noAutofit/>
          </a:bodyPr>
          <a:lstStyle/>
          <a:p>
            <a:pPr algn="l">
              <a:lnSpc>
                <a:spcPts val="1450"/>
              </a:lnSpc>
            </a:pPr>
            <a:r>
              <a:rPr sz="1000" b="0">
                <a:solidFill>
                  <a:srgbClr val="78716C"/>
                </a:solidFill>
                <a:latin typeface="Microsoft JhengHei"/>
                <a:ea typeface="Microsoft JhengHei"/>
                <a:cs typeface="Microsoft JhengHei"/>
              </a:rPr>
              <a:t>Synergy Stent Coverage: </a:t>
            </a:r>
            <a:r>
              <a:rPr sz="1000" b="1">
                <a:solidFill>
                  <a:srgbClr val="78716C"/>
                </a:solidFill>
                <a:latin typeface="Microsoft JhengHei"/>
                <a:ea typeface="Microsoft JhengHei"/>
                <a:cs typeface="Microsoft JhengHei"/>
              </a:rPr>
              <a:t>48 mm (僅約佔 5% 範圍)</a:t>
            </a:r>
          </a:p>
        </p:txBody>
      </p:sp>
      <p:sp>
        <p:nvSpPr>
          <p:cNvPr id="16" name="TextBox 15"/>
          <p:cNvSpPr txBox="1"/>
          <p:nvPr/>
        </p:nvSpPr>
        <p:spPr>
          <a:xfrm>
            <a:off x="825500" y="2391474"/>
            <a:ext cx="5419169" cy="215900"/>
          </a:xfrm>
          <a:prstGeom prst="rect">
            <a:avLst/>
          </a:prstGeom>
          <a:noFill/>
        </p:spPr>
        <p:txBody>
          <a:bodyPr wrap="non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Focal Repair:</a:t>
            </a:r>
            <a:r>
              <a:rPr sz="1150" b="0">
                <a:solidFill>
                  <a:srgbClr val="44403C"/>
                </a:solidFill>
                <a:latin typeface="Microsoft JhengHei"/>
                <a:ea typeface="Microsoft JhengHei"/>
                <a:cs typeface="Microsoft JhengHei"/>
              </a:rPr>
              <a:t> Resolves acute luminal thrombosis and ischemia.</a:t>
            </a:r>
          </a:p>
        </p:txBody>
      </p:sp>
      <p:sp>
        <p:nvSpPr>
          <p:cNvPr id="17" name="TextBox 16"/>
          <p:cNvSpPr txBox="1"/>
          <p:nvPr/>
        </p:nvSpPr>
        <p:spPr>
          <a:xfrm>
            <a:off x="825500" y="2622232"/>
            <a:ext cx="2262188"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支架僅解決局部的急性血栓阻塞。</a:t>
            </a:r>
          </a:p>
        </p:txBody>
      </p:sp>
      <p:sp>
        <p:nvSpPr>
          <p:cNvPr id="18" name="TextBox 17"/>
          <p:cNvSpPr txBox="1"/>
          <p:nvPr/>
        </p:nvSpPr>
        <p:spPr>
          <a:xfrm>
            <a:off x="825500" y="2828925"/>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Systemic Inflammatory Disease:</a:t>
            </a:r>
            <a:r>
              <a:rPr sz="1150" b="0">
                <a:solidFill>
                  <a:srgbClr val="44403C"/>
                </a:solidFill>
                <a:latin typeface="Microsoft JhengHei"/>
                <a:ea typeface="Microsoft JhengHei"/>
                <a:cs typeface="Microsoft JhengHei"/>
              </a:rPr>
              <a:t> Atherosclerosis affects all vascular beds.</a:t>
            </a:r>
          </a:p>
        </p:txBody>
      </p:sp>
      <p:sp>
        <p:nvSpPr>
          <p:cNvPr id="19" name="TextBox 18"/>
          <p:cNvSpPr txBox="1"/>
          <p:nvPr/>
        </p:nvSpPr>
        <p:spPr>
          <a:xfrm>
            <a:off x="825500" y="3271457"/>
            <a:ext cx="3167062"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粥樣硬化是全身血管內皮的慢性慢性發炎反應。</a:t>
            </a:r>
          </a:p>
        </p:txBody>
      </p:sp>
      <p:sp>
        <p:nvSpPr>
          <p:cNvPr id="20" name="TextBox 19"/>
          <p:cNvSpPr txBox="1"/>
          <p:nvPr/>
        </p:nvSpPr>
        <p:spPr>
          <a:xfrm>
            <a:off x="825500" y="3478086"/>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The Remaining 95%:</a:t>
            </a:r>
            <a:r>
              <a:rPr sz="1150" b="0">
                <a:solidFill>
                  <a:srgbClr val="44403C"/>
                </a:solidFill>
                <a:latin typeface="Microsoft JhengHei"/>
                <a:ea typeface="Microsoft JhengHei"/>
                <a:cs typeface="Microsoft JhengHei"/>
              </a:rPr>
              <a:t> Unprotected segments continuously exposed to LDL.</a:t>
            </a:r>
          </a:p>
        </p:txBody>
      </p:sp>
      <p:sp>
        <p:nvSpPr>
          <p:cNvPr id="21" name="TextBox 20"/>
          <p:cNvSpPr txBox="1"/>
          <p:nvPr/>
        </p:nvSpPr>
        <p:spPr>
          <a:xfrm>
            <a:off x="825500" y="3920617"/>
            <a:ext cx="3390186"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其餘 95% 血管隨時承受高濃度致粥樣血脂的侵襲。</a:t>
            </a:r>
          </a:p>
        </p:txBody>
      </p:sp>
      <p:sp>
        <p:nvSpPr>
          <p:cNvPr id="22" name="Rounded Rectangle 21"/>
          <p:cNvSpPr/>
          <p:nvPr/>
        </p:nvSpPr>
        <p:spPr>
          <a:xfrm>
            <a:off x="660400" y="5372100"/>
            <a:ext cx="5156200" cy="508000"/>
          </a:xfrm>
          <a:prstGeom prst="roundRect">
            <a:avLst>
              <a:gd name="adj" fmla="val 15000"/>
            </a:avLst>
          </a:prstGeom>
          <a:solidFill>
            <a:srgbClr val="D4A373">
              <a:alpha val="12000"/>
            </a:srgbClr>
          </a:solidFill>
          <a:ln>
            <a:noFill/>
          </a:ln>
          <a:effectLst/>
        </p:spPr>
        <p:txBody>
          <a:bodyPr rtlCol="0" anchor="ctr"/>
          <a:lstStyle/>
          <a:p>
            <a:endParaRPr/>
          </a:p>
        </p:txBody>
      </p:sp>
      <p:sp>
        <p:nvSpPr>
          <p:cNvPr id="23" name="TextBox 22"/>
          <p:cNvSpPr txBox="1"/>
          <p:nvPr/>
        </p:nvSpPr>
        <p:spPr>
          <a:xfrm>
            <a:off x="774700" y="5448300"/>
            <a:ext cx="4371102" cy="184150"/>
          </a:xfrm>
          <a:prstGeom prst="rect">
            <a:avLst/>
          </a:prstGeom>
          <a:noFill/>
        </p:spPr>
        <p:txBody>
          <a:bodyPr wrap="none" lIns="0" tIns="0" rIns="0" bIns="0" anchor="t">
            <a:noAutofit/>
          </a:bodyPr>
          <a:lstStyle/>
          <a:p>
            <a:pPr algn="l">
              <a:lnSpc>
                <a:spcPts val="1400"/>
              </a:lnSpc>
            </a:pPr>
            <a:r>
              <a:rPr sz="1000" b="1">
                <a:solidFill>
                  <a:srgbClr val="8C5E2D"/>
                </a:solidFill>
                <a:latin typeface="Microsoft JhengHei"/>
                <a:ea typeface="Microsoft JhengHei"/>
                <a:cs typeface="Microsoft JhengHei"/>
              </a:rPr>
              <a:t>Stent seals the breach; it does NOT heal the vessel wall</a:t>
            </a:r>
          </a:p>
        </p:txBody>
      </p:sp>
      <p:sp>
        <p:nvSpPr>
          <p:cNvPr id="24" name="TextBox 23"/>
          <p:cNvSpPr txBox="1"/>
          <p:nvPr/>
        </p:nvSpPr>
        <p:spPr>
          <a:xfrm>
            <a:off x="774700" y="5645150"/>
            <a:ext cx="3238500" cy="158750"/>
          </a:xfrm>
          <a:prstGeom prst="rect">
            <a:avLst/>
          </a:prstGeom>
          <a:noFill/>
        </p:spPr>
        <p:txBody>
          <a:bodyPr wrap="none" lIns="0" tIns="0" rIns="0" bIns="0" anchor="t">
            <a:noAutofit/>
          </a:bodyPr>
          <a:lstStyle/>
          <a:p>
            <a:pPr algn="l">
              <a:lnSpc>
                <a:spcPts val="1190"/>
              </a:lnSpc>
            </a:pPr>
            <a:r>
              <a:rPr sz="850" b="1">
                <a:solidFill>
                  <a:srgbClr val="976E42"/>
                </a:solidFill>
                <a:latin typeface="Microsoft JhengHei"/>
                <a:ea typeface="Microsoft JhengHei"/>
                <a:cs typeface="Microsoft JhengHei"/>
              </a:rPr>
              <a:t>支架修補了破口，但並不能治癒血管壁本身的代謝病變</a:t>
            </a:r>
          </a:p>
        </p:txBody>
      </p:sp>
      <p:sp>
        <p:nvSpPr>
          <p:cNvPr id="25" name="Rounded Rectangle 24"/>
          <p:cNvSpPr/>
          <p:nvPr/>
        </p:nvSpPr>
        <p:spPr>
          <a:xfrm>
            <a:off x="6197600" y="960818"/>
            <a:ext cx="5511800" cy="5071682"/>
          </a:xfrm>
          <a:prstGeom prst="roundRect">
            <a:avLst>
              <a:gd name="adj" fmla="val 2504"/>
            </a:avLst>
          </a:prstGeom>
          <a:solidFill>
            <a:srgbClr val="A44A3F">
              <a:alpha val="8000"/>
            </a:srgbClr>
          </a:solidFill>
          <a:ln>
            <a:noFill/>
          </a:ln>
          <a:effectLst/>
        </p:spPr>
        <p:txBody>
          <a:bodyPr rtlCol="0" anchor="ctr"/>
          <a:lstStyle/>
          <a:p>
            <a:endParaRPr/>
          </a:p>
        </p:txBody>
      </p:sp>
      <p:sp>
        <p:nvSpPr>
          <p:cNvPr id="26" name="Rectangle 25"/>
          <p:cNvSpPr/>
          <p:nvPr/>
        </p:nvSpPr>
        <p:spPr>
          <a:xfrm>
            <a:off x="6197600" y="960818"/>
            <a:ext cx="5511800" cy="50800"/>
          </a:xfrm>
          <a:prstGeom prst="rect">
            <a:avLst/>
          </a:prstGeom>
          <a:solidFill>
            <a:srgbClr val="A44A3F"/>
          </a:solidFill>
          <a:ln>
            <a:noFill/>
          </a:ln>
          <a:effectLst/>
        </p:spPr>
        <p:txBody>
          <a:bodyPr rtlCol="0" anchor="ctr"/>
          <a:lstStyle/>
          <a:p>
            <a:endParaRPr/>
          </a:p>
        </p:txBody>
      </p:sp>
      <p:sp>
        <p:nvSpPr>
          <p:cNvPr id="27" name="Rectangle 26"/>
          <p:cNvSpPr/>
          <p:nvPr/>
        </p:nvSpPr>
        <p:spPr>
          <a:xfrm>
            <a:off x="11696700" y="960818"/>
            <a:ext cx="12700" cy="5071682"/>
          </a:xfrm>
          <a:prstGeom prst="rect">
            <a:avLst/>
          </a:prstGeom>
          <a:solidFill>
            <a:srgbClr val="E2DDD5"/>
          </a:solidFill>
          <a:ln>
            <a:noFill/>
          </a:ln>
          <a:effectLst/>
        </p:spPr>
        <p:txBody>
          <a:bodyPr rtlCol="0" anchor="ctr"/>
          <a:lstStyle/>
          <a:p>
            <a:endParaRPr/>
          </a:p>
        </p:txBody>
      </p:sp>
      <p:sp>
        <p:nvSpPr>
          <p:cNvPr id="28" name="Rectangle 27"/>
          <p:cNvSpPr/>
          <p:nvPr/>
        </p:nvSpPr>
        <p:spPr>
          <a:xfrm>
            <a:off x="6197600" y="6019800"/>
            <a:ext cx="5511800" cy="12700"/>
          </a:xfrm>
          <a:prstGeom prst="rect">
            <a:avLst/>
          </a:prstGeom>
          <a:solidFill>
            <a:srgbClr val="E2DDD5"/>
          </a:solidFill>
          <a:ln>
            <a:noFill/>
          </a:ln>
          <a:effectLst/>
        </p:spPr>
        <p:txBody>
          <a:bodyPr rtlCol="0" anchor="ctr"/>
          <a:lstStyle/>
          <a:p>
            <a:endParaRPr/>
          </a:p>
        </p:txBody>
      </p:sp>
      <p:sp>
        <p:nvSpPr>
          <p:cNvPr id="29" name="Rectangle 28"/>
          <p:cNvSpPr/>
          <p:nvPr/>
        </p:nvSpPr>
        <p:spPr>
          <a:xfrm>
            <a:off x="6197600" y="960818"/>
            <a:ext cx="12700" cy="5071682"/>
          </a:xfrm>
          <a:prstGeom prst="rect">
            <a:avLst/>
          </a:prstGeom>
          <a:solidFill>
            <a:srgbClr val="E2DDD5"/>
          </a:solidFill>
          <a:ln>
            <a:noFill/>
          </a:ln>
          <a:effectLst/>
        </p:spPr>
        <p:txBody>
          <a:bodyPr rtlCol="0" anchor="ctr"/>
          <a:lstStyle/>
          <a:p>
            <a:endParaRPr/>
          </a:p>
        </p:txBody>
      </p:sp>
      <p:sp>
        <p:nvSpPr>
          <p:cNvPr id="30" name="Rounded Rectangle 29"/>
          <p:cNvSpPr/>
          <p:nvPr/>
        </p:nvSpPr>
        <p:spPr>
          <a:xfrm>
            <a:off x="6375400" y="1151318"/>
            <a:ext cx="2183638" cy="209550"/>
          </a:xfrm>
          <a:prstGeom prst="roundRect">
            <a:avLst>
              <a:gd name="adj" fmla="val 50000"/>
            </a:avLst>
          </a:prstGeom>
          <a:solidFill>
            <a:srgbClr val="A44A3F">
              <a:alpha val="8000"/>
            </a:srgbClr>
          </a:solidFill>
          <a:ln>
            <a:noFill/>
          </a:ln>
          <a:effectLst/>
        </p:spPr>
        <p:txBody>
          <a:bodyPr rtlCol="0" anchor="ctr"/>
          <a:lstStyle/>
          <a:p>
            <a:endParaRPr/>
          </a:p>
        </p:txBody>
      </p:sp>
      <p:sp>
        <p:nvSpPr>
          <p:cNvPr id="31" name="TextBox 30"/>
          <p:cNvSpPr txBox="1"/>
          <p:nvPr/>
        </p:nvSpPr>
        <p:spPr>
          <a:xfrm>
            <a:off x="6464300" y="1176718"/>
            <a:ext cx="2507298" cy="158750"/>
          </a:xfrm>
          <a:prstGeom prst="rect">
            <a:avLst/>
          </a:prstGeom>
          <a:noFill/>
        </p:spPr>
        <p:txBody>
          <a:bodyPr wrap="none" lIns="0" tIns="0" rIns="0" bIns="0" anchor="t">
            <a:noAutofit/>
          </a:bodyPr>
          <a:lstStyle/>
          <a:p>
            <a:pPr algn="l">
              <a:lnSpc>
                <a:spcPts val="1190"/>
              </a:lnSpc>
            </a:pPr>
            <a:r>
              <a:rPr sz="850" b="1">
                <a:solidFill>
                  <a:srgbClr val="A44A3F"/>
                </a:solidFill>
                <a:latin typeface="Microsoft JhengHei"/>
                <a:ea typeface="Microsoft JhengHei"/>
                <a:cs typeface="Microsoft JhengHei"/>
              </a:rPr>
              <a:t>Pathology Mechanism ｜ 斑塊病理機轉</a:t>
            </a:r>
          </a:p>
        </p:txBody>
      </p:sp>
      <p:sp>
        <p:nvSpPr>
          <p:cNvPr id="32" name="TextBox 31"/>
          <p:cNvSpPr txBox="1"/>
          <p:nvPr/>
        </p:nvSpPr>
        <p:spPr>
          <a:xfrm>
            <a:off x="6375400" y="1386268"/>
            <a:ext cx="5268674" cy="279400"/>
          </a:xfrm>
          <a:prstGeom prst="rect">
            <a:avLst/>
          </a:prstGeom>
          <a:noFill/>
        </p:spPr>
        <p:txBody>
          <a:bodyPr wrap="none" lIns="0" tIns="0" rIns="0" bIns="0" anchor="t">
            <a:noAutofit/>
          </a:bodyPr>
          <a:lstStyle/>
          <a:p>
            <a:pPr algn="l">
              <a:lnSpc>
                <a:spcPts val="1880"/>
              </a:lnSpc>
            </a:pPr>
            <a:r>
              <a:rPr sz="1500" b="1">
                <a:solidFill>
                  <a:srgbClr val="A44A3F"/>
                </a:solidFill>
                <a:latin typeface="Microsoft JhengHei"/>
                <a:ea typeface="Microsoft JhengHei"/>
                <a:cs typeface="Microsoft JhengHei"/>
              </a:rPr>
              <a:t>Plaque Vulnerability Mechanism </a:t>
            </a:r>
            <a:r>
              <a:rPr sz="1200" b="1">
                <a:solidFill>
                  <a:srgbClr val="78716C"/>
                </a:solidFill>
                <a:latin typeface="Microsoft JhengHei"/>
                <a:ea typeface="Microsoft JhengHei"/>
                <a:cs typeface="Microsoft JhengHei"/>
              </a:rPr>
              <a:t>(破裂連鎖反應)</a:t>
            </a:r>
          </a:p>
        </p:txBody>
      </p:sp>
      <p:sp>
        <p:nvSpPr>
          <p:cNvPr id="33" name="Rounded Rectangle 32"/>
          <p:cNvSpPr/>
          <p:nvPr/>
        </p:nvSpPr>
        <p:spPr>
          <a:xfrm>
            <a:off x="6375400" y="1713294"/>
            <a:ext cx="1524000" cy="539750"/>
          </a:xfrm>
          <a:prstGeom prst="roundRect">
            <a:avLst>
              <a:gd name="adj" fmla="val 16470"/>
            </a:avLst>
          </a:prstGeom>
          <a:solidFill>
            <a:srgbClr val="FAF8F5"/>
          </a:solidFill>
          <a:ln w="12700">
            <a:solidFill>
              <a:srgbClr val="E2DDD5"/>
            </a:solidFill>
          </a:ln>
          <a:effectLst/>
        </p:spPr>
        <p:txBody>
          <a:bodyPr rtlCol="0" anchor="ctr"/>
          <a:lstStyle/>
          <a:p>
            <a:endParaRPr/>
          </a:p>
        </p:txBody>
      </p:sp>
      <p:sp>
        <p:nvSpPr>
          <p:cNvPr id="34" name="TextBox 33"/>
          <p:cNvSpPr txBox="1"/>
          <p:nvPr/>
        </p:nvSpPr>
        <p:spPr>
          <a:xfrm>
            <a:off x="6372709" y="1814894"/>
            <a:ext cx="1529318" cy="336550"/>
          </a:xfrm>
          <a:prstGeom prst="rect">
            <a:avLst/>
          </a:prstGeom>
          <a:noFill/>
        </p:spPr>
        <p:txBody>
          <a:bodyPr wrap="none" lIns="0" tIns="0" rIns="0" bIns="0" anchor="t">
            <a:noAutofit/>
          </a:bodyPr>
          <a:lstStyle/>
          <a:p>
            <a:pPr algn="ctr">
              <a:lnSpc>
                <a:spcPts val="931"/>
              </a:lnSpc>
            </a:pPr>
            <a:r>
              <a:rPr sz="833" b="1">
                <a:solidFill>
                  <a:srgbClr val="A44A3F"/>
                </a:solidFill>
                <a:latin typeface="Microsoft JhengHei"/>
                <a:ea typeface="Microsoft JhengHei"/>
                <a:cs typeface="Microsoft JhengHei"/>
              </a:rPr>
              <a:t>1. ApoB Infiltration</a:t>
            </a:r>
          </a:p>
          <a:p>
            <a:pPr algn="ctr">
              <a:lnSpc>
                <a:spcPts val="931"/>
              </a:lnSpc>
            </a:pPr>
            <a:r>
              <a:rPr sz="666" b="0">
                <a:solidFill>
                  <a:srgbClr val="1C1917"/>
                </a:solidFill>
                <a:latin typeface="Microsoft JhengHei"/>
                <a:ea typeface="Microsoft JhengHei"/>
                <a:cs typeface="Microsoft JhengHei"/>
              </a:rPr>
              <a:t> </a:t>
            </a:r>
          </a:p>
          <a:p>
            <a:pPr algn="ctr">
              <a:lnSpc>
                <a:spcPts val="931"/>
              </a:lnSpc>
            </a:pPr>
            <a:r>
              <a:rPr sz="666" b="0">
                <a:solidFill>
                  <a:srgbClr val="1C1917"/>
                </a:solidFill>
                <a:latin typeface="Microsoft JhengHei"/>
                <a:ea typeface="Microsoft JhengHei"/>
                <a:cs typeface="Microsoft JhengHei"/>
              </a:rPr>
              <a:t> </a:t>
            </a:r>
            <a:r>
              <a:rPr sz="666" b="0">
                <a:solidFill>
                  <a:srgbClr val="78716C"/>
                </a:solidFill>
                <a:latin typeface="Microsoft JhengHei"/>
                <a:ea typeface="Microsoft JhengHei"/>
                <a:cs typeface="Microsoft JhengHei"/>
              </a:rPr>
              <a:t>LDL 滲透血管內膜</a:t>
            </a:r>
          </a:p>
        </p:txBody>
      </p:sp>
      <p:sp>
        <p:nvSpPr>
          <p:cNvPr id="35" name="TextBox 34"/>
          <p:cNvSpPr txBox="1"/>
          <p:nvPr/>
        </p:nvSpPr>
        <p:spPr>
          <a:xfrm>
            <a:off x="7962900" y="1865694"/>
            <a:ext cx="254000" cy="234950"/>
          </a:xfrm>
          <a:prstGeom prst="rect">
            <a:avLst/>
          </a:prstGeom>
          <a:noFill/>
        </p:spPr>
        <p:txBody>
          <a:bodyPr wrap="none" lIns="0" tIns="0" rIns="0" bIns="0" anchor="t">
            <a:noAutofit/>
          </a:bodyPr>
          <a:lstStyle/>
          <a:p>
            <a:pPr algn="l">
              <a:lnSpc>
                <a:spcPts val="1820"/>
              </a:lnSpc>
            </a:pPr>
            <a:r>
              <a:rPr sz="1300" b="1">
                <a:solidFill>
                  <a:srgbClr val="D4A373"/>
                </a:solidFill>
                <a:latin typeface="Microsoft JhengHei"/>
                <a:ea typeface="Microsoft JhengHei"/>
                <a:cs typeface="Microsoft JhengHei"/>
              </a:rPr>
              <a:t>➔</a:t>
            </a:r>
          </a:p>
        </p:txBody>
      </p:sp>
      <p:sp>
        <p:nvSpPr>
          <p:cNvPr id="36" name="Rounded Rectangle 35"/>
          <p:cNvSpPr/>
          <p:nvPr/>
        </p:nvSpPr>
        <p:spPr>
          <a:xfrm>
            <a:off x="8191500" y="1713294"/>
            <a:ext cx="1524000" cy="539750"/>
          </a:xfrm>
          <a:prstGeom prst="roundRect">
            <a:avLst>
              <a:gd name="adj" fmla="val 16470"/>
            </a:avLst>
          </a:prstGeom>
          <a:solidFill>
            <a:srgbClr val="FAF8F5"/>
          </a:solidFill>
          <a:ln w="12700">
            <a:solidFill>
              <a:srgbClr val="E2DDD5"/>
            </a:solidFill>
          </a:ln>
          <a:effectLst/>
        </p:spPr>
        <p:txBody>
          <a:bodyPr rtlCol="0" anchor="ctr"/>
          <a:lstStyle/>
          <a:p>
            <a:endParaRPr/>
          </a:p>
        </p:txBody>
      </p:sp>
      <p:sp>
        <p:nvSpPr>
          <p:cNvPr id="37" name="TextBox 36"/>
          <p:cNvSpPr txBox="1"/>
          <p:nvPr/>
        </p:nvSpPr>
        <p:spPr>
          <a:xfrm>
            <a:off x="8426680" y="1814894"/>
            <a:ext cx="1053703" cy="336550"/>
          </a:xfrm>
          <a:prstGeom prst="rect">
            <a:avLst/>
          </a:prstGeom>
          <a:noFill/>
        </p:spPr>
        <p:txBody>
          <a:bodyPr wrap="none" lIns="0" tIns="0" rIns="0" bIns="0" anchor="t">
            <a:noAutofit/>
          </a:bodyPr>
          <a:lstStyle/>
          <a:p>
            <a:pPr algn="ctr">
              <a:lnSpc>
                <a:spcPts val="931"/>
              </a:lnSpc>
            </a:pPr>
            <a:r>
              <a:rPr sz="833" b="1">
                <a:solidFill>
                  <a:srgbClr val="1E2833"/>
                </a:solidFill>
                <a:latin typeface="Microsoft JhengHei"/>
                <a:ea typeface="Microsoft JhengHei"/>
                <a:cs typeface="Microsoft JhengHei"/>
              </a:rPr>
              <a:t>2. Foam Cells</a:t>
            </a:r>
          </a:p>
          <a:p>
            <a:pPr algn="ctr">
              <a:lnSpc>
                <a:spcPts val="931"/>
              </a:lnSpc>
            </a:pPr>
            <a:r>
              <a:rPr sz="666" b="0">
                <a:solidFill>
                  <a:srgbClr val="1C1917"/>
                </a:solidFill>
                <a:latin typeface="Microsoft JhengHei"/>
                <a:ea typeface="Microsoft JhengHei"/>
                <a:cs typeface="Microsoft JhengHei"/>
              </a:rPr>
              <a:t> </a:t>
            </a:r>
          </a:p>
          <a:p>
            <a:pPr algn="ctr">
              <a:lnSpc>
                <a:spcPts val="931"/>
              </a:lnSpc>
            </a:pPr>
            <a:r>
              <a:rPr sz="666" b="0">
                <a:solidFill>
                  <a:srgbClr val="1C1917"/>
                </a:solidFill>
                <a:latin typeface="Microsoft JhengHei"/>
                <a:ea typeface="Microsoft JhengHei"/>
                <a:cs typeface="Microsoft JhengHei"/>
              </a:rPr>
              <a:t> </a:t>
            </a:r>
            <a:r>
              <a:rPr sz="666" b="0">
                <a:solidFill>
                  <a:srgbClr val="78716C"/>
                </a:solidFill>
                <a:latin typeface="Microsoft JhengHei"/>
                <a:ea typeface="Microsoft JhengHei"/>
                <a:cs typeface="Microsoft JhengHei"/>
              </a:rPr>
              <a:t>巨噬細胞泡沫化</a:t>
            </a:r>
          </a:p>
        </p:txBody>
      </p:sp>
      <p:sp>
        <p:nvSpPr>
          <p:cNvPr id="38" name="TextBox 37"/>
          <p:cNvSpPr txBox="1"/>
          <p:nvPr/>
        </p:nvSpPr>
        <p:spPr>
          <a:xfrm>
            <a:off x="9779000" y="1865694"/>
            <a:ext cx="254000" cy="234950"/>
          </a:xfrm>
          <a:prstGeom prst="rect">
            <a:avLst/>
          </a:prstGeom>
          <a:noFill/>
        </p:spPr>
        <p:txBody>
          <a:bodyPr wrap="none" lIns="0" tIns="0" rIns="0" bIns="0" anchor="t">
            <a:noAutofit/>
          </a:bodyPr>
          <a:lstStyle/>
          <a:p>
            <a:pPr algn="l">
              <a:lnSpc>
                <a:spcPts val="1820"/>
              </a:lnSpc>
            </a:pPr>
            <a:r>
              <a:rPr sz="1300" b="1">
                <a:solidFill>
                  <a:srgbClr val="D4A373"/>
                </a:solidFill>
                <a:latin typeface="Microsoft JhengHei"/>
                <a:ea typeface="Microsoft JhengHei"/>
                <a:cs typeface="Microsoft JhengHei"/>
              </a:rPr>
              <a:t>➔</a:t>
            </a:r>
          </a:p>
        </p:txBody>
      </p:sp>
      <p:sp>
        <p:nvSpPr>
          <p:cNvPr id="39" name="Rounded Rectangle 38"/>
          <p:cNvSpPr/>
          <p:nvPr/>
        </p:nvSpPr>
        <p:spPr>
          <a:xfrm>
            <a:off x="10007600" y="1713294"/>
            <a:ext cx="1524000" cy="539750"/>
          </a:xfrm>
          <a:prstGeom prst="roundRect">
            <a:avLst>
              <a:gd name="adj" fmla="val 16470"/>
            </a:avLst>
          </a:prstGeom>
          <a:solidFill>
            <a:srgbClr val="FAF8F5"/>
          </a:solidFill>
          <a:ln w="12700">
            <a:solidFill>
              <a:srgbClr val="E2DDD5"/>
            </a:solidFill>
          </a:ln>
          <a:effectLst/>
        </p:spPr>
        <p:txBody>
          <a:bodyPr rtlCol="0" anchor="ctr"/>
          <a:lstStyle/>
          <a:p>
            <a:endParaRPr/>
          </a:p>
        </p:txBody>
      </p:sp>
      <p:sp>
        <p:nvSpPr>
          <p:cNvPr id="40" name="TextBox 39"/>
          <p:cNvSpPr txBox="1"/>
          <p:nvPr/>
        </p:nvSpPr>
        <p:spPr>
          <a:xfrm>
            <a:off x="10134116" y="1814894"/>
            <a:ext cx="1271032" cy="336550"/>
          </a:xfrm>
          <a:prstGeom prst="rect">
            <a:avLst/>
          </a:prstGeom>
          <a:noFill/>
        </p:spPr>
        <p:txBody>
          <a:bodyPr wrap="none" lIns="0" tIns="0" rIns="0" bIns="0" anchor="t">
            <a:noAutofit/>
          </a:bodyPr>
          <a:lstStyle/>
          <a:p>
            <a:pPr algn="ctr">
              <a:lnSpc>
                <a:spcPts val="931"/>
              </a:lnSpc>
            </a:pPr>
            <a:r>
              <a:rPr sz="833" b="1">
                <a:solidFill>
                  <a:srgbClr val="A44A3F"/>
                </a:solidFill>
                <a:latin typeface="Microsoft JhengHei"/>
                <a:ea typeface="Microsoft JhengHei"/>
                <a:cs typeface="Microsoft JhengHei"/>
              </a:rPr>
              <a:t>3. Necrotic Core</a:t>
            </a:r>
          </a:p>
          <a:p>
            <a:pPr algn="ctr">
              <a:lnSpc>
                <a:spcPts val="931"/>
              </a:lnSpc>
            </a:pPr>
            <a:r>
              <a:rPr sz="666" b="0">
                <a:solidFill>
                  <a:srgbClr val="1C1917"/>
                </a:solidFill>
                <a:latin typeface="Microsoft JhengHei"/>
                <a:ea typeface="Microsoft JhengHei"/>
                <a:cs typeface="Microsoft JhengHei"/>
              </a:rPr>
              <a:t> </a:t>
            </a:r>
          </a:p>
          <a:p>
            <a:pPr algn="ctr">
              <a:lnSpc>
                <a:spcPts val="931"/>
              </a:lnSpc>
            </a:pPr>
            <a:r>
              <a:rPr sz="666" b="0">
                <a:solidFill>
                  <a:srgbClr val="1C1917"/>
                </a:solidFill>
                <a:latin typeface="Microsoft JhengHei"/>
                <a:ea typeface="Microsoft JhengHei"/>
                <a:cs typeface="Microsoft JhengHei"/>
              </a:rPr>
              <a:t> </a:t>
            </a:r>
            <a:r>
              <a:rPr sz="666" b="0">
                <a:solidFill>
                  <a:srgbClr val="78716C"/>
                </a:solidFill>
                <a:latin typeface="Microsoft JhengHei"/>
                <a:ea typeface="Microsoft JhengHei"/>
                <a:cs typeface="Microsoft JhengHei"/>
              </a:rPr>
              <a:t>壞死核心薄帽斑塊</a:t>
            </a:r>
          </a:p>
        </p:txBody>
      </p:sp>
      <p:sp>
        <p:nvSpPr>
          <p:cNvPr id="41" name="TextBox 40"/>
          <p:cNvSpPr txBox="1"/>
          <p:nvPr/>
        </p:nvSpPr>
        <p:spPr>
          <a:xfrm>
            <a:off x="6540500" y="2310194"/>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PROSPECT Trial:</a:t>
            </a:r>
            <a:r>
              <a:rPr sz="1150" b="0">
                <a:solidFill>
                  <a:srgbClr val="44403C"/>
                </a:solidFill>
                <a:latin typeface="Microsoft JhengHei"/>
                <a:ea typeface="Microsoft JhengHei"/>
                <a:cs typeface="Microsoft JhengHei"/>
              </a:rPr>
              <a:t> 50% of recurrent events in 3 years occur at non-culprit sites.</a:t>
            </a:r>
          </a:p>
        </p:txBody>
      </p:sp>
      <p:sp>
        <p:nvSpPr>
          <p:cNvPr id="42" name="TextBox 41"/>
          <p:cNvSpPr txBox="1"/>
          <p:nvPr/>
        </p:nvSpPr>
        <p:spPr>
          <a:xfrm>
            <a:off x="6540500" y="2752725"/>
            <a:ext cx="3468688"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三年內半數復發心梗發生於非支架的脆弱斑塊部位。</a:t>
            </a:r>
          </a:p>
        </p:txBody>
      </p:sp>
      <p:sp>
        <p:nvSpPr>
          <p:cNvPr id="43" name="TextBox 42"/>
          <p:cNvSpPr txBox="1"/>
          <p:nvPr/>
        </p:nvSpPr>
        <p:spPr>
          <a:xfrm>
            <a:off x="6540500" y="2959418"/>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High Circulating LDL (173 mg/dL):</a:t>
            </a:r>
            <a:r>
              <a:rPr sz="1150" b="0">
                <a:solidFill>
                  <a:srgbClr val="44403C"/>
                </a:solidFill>
                <a:latin typeface="Microsoft JhengHei"/>
                <a:ea typeface="Microsoft JhengHei"/>
                <a:cs typeface="Microsoft JhengHei"/>
              </a:rPr>
              <a:t> Fuels continuous lipid core expansion.</a:t>
            </a:r>
          </a:p>
        </p:txBody>
      </p:sp>
      <p:sp>
        <p:nvSpPr>
          <p:cNvPr id="44" name="TextBox 43"/>
          <p:cNvSpPr txBox="1"/>
          <p:nvPr/>
        </p:nvSpPr>
        <p:spPr>
          <a:xfrm>
            <a:off x="6540500" y="3401886"/>
            <a:ext cx="3652996"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高濃度的 LDL 是推動全身斑塊持續擴大與破裂的燃料。</a:t>
            </a:r>
          </a:p>
        </p:txBody>
      </p:sp>
      <p:sp>
        <p:nvSpPr>
          <p:cNvPr id="45" name="Rounded Rectangle 44"/>
          <p:cNvSpPr/>
          <p:nvPr/>
        </p:nvSpPr>
        <p:spPr>
          <a:xfrm>
            <a:off x="6375400" y="5372100"/>
            <a:ext cx="5156200" cy="508000"/>
          </a:xfrm>
          <a:prstGeom prst="roundRect">
            <a:avLst>
              <a:gd name="adj" fmla="val 15000"/>
            </a:avLst>
          </a:prstGeom>
          <a:solidFill>
            <a:srgbClr val="A44A3F">
              <a:alpha val="8000"/>
            </a:srgbClr>
          </a:solidFill>
          <a:ln>
            <a:noFill/>
          </a:ln>
          <a:effectLst/>
        </p:spPr>
        <p:txBody>
          <a:bodyPr rtlCol="0" anchor="ctr"/>
          <a:lstStyle/>
          <a:p>
            <a:endParaRPr/>
          </a:p>
        </p:txBody>
      </p:sp>
      <p:sp>
        <p:nvSpPr>
          <p:cNvPr id="46" name="TextBox 45"/>
          <p:cNvSpPr txBox="1"/>
          <p:nvPr/>
        </p:nvSpPr>
        <p:spPr>
          <a:xfrm>
            <a:off x="6489700" y="5448300"/>
            <a:ext cx="4861322" cy="184150"/>
          </a:xfrm>
          <a:prstGeom prst="rect">
            <a:avLst/>
          </a:prstGeom>
          <a:noFill/>
        </p:spPr>
        <p:txBody>
          <a:bodyPr wrap="none" lIns="0" tIns="0" rIns="0" bIns="0" anchor="t">
            <a:noAutofit/>
          </a:bodyPr>
          <a:lstStyle/>
          <a:p>
            <a:pPr algn="l">
              <a:lnSpc>
                <a:spcPts val="1400"/>
              </a:lnSpc>
            </a:pPr>
            <a:r>
              <a:rPr sz="1000" b="1">
                <a:solidFill>
                  <a:srgbClr val="A44A3F"/>
                </a:solidFill>
                <a:latin typeface="Microsoft JhengHei"/>
                <a:ea typeface="Microsoft JhengHei"/>
                <a:cs typeface="Microsoft JhengHei"/>
              </a:rPr>
              <a:t>Targeting circulating LDL is essential to prevent re-infarction</a:t>
            </a:r>
          </a:p>
        </p:txBody>
      </p:sp>
      <p:sp>
        <p:nvSpPr>
          <p:cNvPr id="47" name="TextBox 46"/>
          <p:cNvSpPr txBox="1"/>
          <p:nvPr/>
        </p:nvSpPr>
        <p:spPr>
          <a:xfrm>
            <a:off x="6489700" y="5645150"/>
            <a:ext cx="3417252" cy="158750"/>
          </a:xfrm>
          <a:prstGeom prst="rect">
            <a:avLst/>
          </a:prstGeom>
          <a:noFill/>
        </p:spPr>
        <p:txBody>
          <a:bodyPr wrap="none" lIns="0" tIns="0" rIns="0" bIns="0" anchor="t">
            <a:noAutofit/>
          </a:bodyPr>
          <a:lstStyle/>
          <a:p>
            <a:pPr algn="l">
              <a:lnSpc>
                <a:spcPts val="1190"/>
              </a:lnSpc>
            </a:pPr>
            <a:r>
              <a:rPr sz="850" b="1">
                <a:solidFill>
                  <a:srgbClr val="AD5C52"/>
                </a:solidFill>
                <a:latin typeface="Microsoft JhengHei"/>
                <a:ea typeface="Microsoft JhengHei"/>
                <a:cs typeface="Microsoft JhengHei"/>
              </a:rPr>
              <a:t>強力降低全身性 LDL 是阻斷二次心梗破裂的唯一根本對策</a:t>
            </a:r>
          </a:p>
        </p:txBody>
      </p:sp>
      <p:sp>
        <p:nvSpPr>
          <p:cNvPr id="48" name="Rectangle 47"/>
          <p:cNvSpPr/>
          <p:nvPr/>
        </p:nvSpPr>
        <p:spPr>
          <a:xfrm>
            <a:off x="482600" y="6184900"/>
            <a:ext cx="11226800" cy="12700"/>
          </a:xfrm>
          <a:prstGeom prst="rect">
            <a:avLst/>
          </a:prstGeom>
          <a:solidFill>
            <a:srgbClr val="EFECE6"/>
          </a:solidFill>
          <a:ln>
            <a:noFill/>
          </a:ln>
          <a:effectLst/>
        </p:spPr>
        <p:txBody>
          <a:bodyPr rtlCol="0" anchor="ctr"/>
          <a:lstStyle/>
          <a:p>
            <a:endParaRPr/>
          </a:p>
        </p:txBody>
      </p:sp>
      <p:sp>
        <p:nvSpPr>
          <p:cNvPr id="49" name="TextBox 48"/>
          <p:cNvSpPr txBox="1"/>
          <p:nvPr/>
        </p:nvSpPr>
        <p:spPr>
          <a:xfrm>
            <a:off x="482600" y="6235700"/>
            <a:ext cx="8158004" cy="266700"/>
          </a:xfrm>
          <a:prstGeom prst="rect">
            <a:avLst/>
          </a:prstGeom>
          <a:noFill/>
        </p:spPr>
        <p:txBody>
          <a:bodyPr wrap="none" lIns="0" tIns="0" rIns="0" bIns="0" anchor="t">
            <a:noAutofit/>
          </a:bodyPr>
          <a:lstStyle/>
          <a:p>
            <a:pPr algn="l">
              <a:lnSpc>
                <a:spcPts val="1050"/>
              </a:lnSpc>
            </a:pPr>
            <a:r>
              <a:rPr sz="750" b="0">
                <a:solidFill>
                  <a:srgbClr val="78716C"/>
                </a:solidFill>
                <a:latin typeface="Microsoft JhengHei"/>
                <a:ea typeface="Microsoft JhengHei"/>
                <a:cs typeface="Microsoft JhengHei"/>
              </a:rPr>
              <a:t>1. Stone GW, et al. A Prospective Natural-History Study of Coronary Atherosclerosis (PROSPECT). N Engl J Med. 2011;364(3):226-235. PMID: 21247313.</a:t>
            </a:r>
          </a:p>
          <a:p>
            <a:pPr algn="l">
              <a:lnSpc>
                <a:spcPts val="1050"/>
              </a:lnSpc>
            </a:pPr>
            <a:r>
              <a:rPr sz="750" b="0">
                <a:solidFill>
                  <a:srgbClr val="78716C"/>
                </a:solidFill>
                <a:latin typeface="Microsoft JhengHei"/>
                <a:ea typeface="Microsoft JhengHei"/>
                <a:cs typeface="Microsoft JhengHei"/>
              </a:rPr>
              <a:t>2. Libby P. The Changing Landscape of Atherosclerosis. Nature. 2021;592(7855):524-533. PMID: 33883728.</a:t>
            </a:r>
          </a:p>
        </p:txBody>
      </p:sp>
      <p:sp>
        <p:nvSpPr>
          <p:cNvPr id="50" name="Rounded Rectangle 49"/>
          <p:cNvSpPr/>
          <p:nvPr/>
        </p:nvSpPr>
        <p:spPr>
          <a:xfrm>
            <a:off x="8915400" y="254000"/>
            <a:ext cx="555308" cy="254000"/>
          </a:xfrm>
          <a:prstGeom prst="roundRect">
            <a:avLst>
              <a:gd name="adj" fmla="val 50000"/>
            </a:avLst>
          </a:prstGeom>
          <a:solidFill>
            <a:srgbClr val="1E2833"/>
          </a:solidFill>
          <a:ln w="12700">
            <a:solidFill>
              <a:srgbClr val="1E2833"/>
            </a:solidFill>
          </a:ln>
          <a:effectLst/>
        </p:spPr>
        <p:txBody>
          <a:bodyPr rtlCol="0" anchor="ctr"/>
          <a:lstStyle/>
          <a:p>
            <a:endParaRPr/>
          </a:p>
        </p:txBody>
      </p:sp>
      <p:sp>
        <p:nvSpPr>
          <p:cNvPr id="51" name="TextBox 50"/>
          <p:cNvSpPr txBox="1"/>
          <p:nvPr/>
        </p:nvSpPr>
        <p:spPr>
          <a:xfrm>
            <a:off x="9017000" y="304800"/>
            <a:ext cx="441008" cy="152400"/>
          </a:xfrm>
          <a:prstGeom prst="rect">
            <a:avLst/>
          </a:prstGeom>
          <a:noFill/>
        </p:spPr>
        <p:txBody>
          <a:bodyPr wrap="none" lIns="0" tIns="0" rIns="0" bIns="0" anchor="t">
            <a:noAutofit/>
          </a:bodyPr>
          <a:lstStyle/>
          <a:p>
            <a:pPr algn="l">
              <a:lnSpc>
                <a:spcPts val="1120"/>
              </a:lnSpc>
            </a:pPr>
            <a:r>
              <a:rPr sz="800" b="1">
                <a:solidFill>
                  <a:srgbClr val="FFFFFF"/>
                </a:solidFill>
                <a:latin typeface="Microsoft JhengHei"/>
                <a:ea typeface="Microsoft JhengHei"/>
                <a:cs typeface="Microsoft JhengHei"/>
              </a:rPr>
              <a:t>1. Case</a:t>
            </a:r>
          </a:p>
        </p:txBody>
      </p:sp>
      <p:sp>
        <p:nvSpPr>
          <p:cNvPr id="52" name="Rounded Rectangle 51"/>
          <p:cNvSpPr/>
          <p:nvPr/>
        </p:nvSpPr>
        <p:spPr>
          <a:xfrm>
            <a:off x="9521508" y="254000"/>
            <a:ext cx="684022"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53" name="TextBox 52"/>
          <p:cNvSpPr txBox="1"/>
          <p:nvPr/>
        </p:nvSpPr>
        <p:spPr>
          <a:xfrm>
            <a:off x="9623108" y="304800"/>
            <a:ext cx="601028"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2. Targets</a:t>
            </a:r>
          </a:p>
        </p:txBody>
      </p:sp>
      <p:sp>
        <p:nvSpPr>
          <p:cNvPr id="54" name="Rounded Rectangle 53"/>
          <p:cNvSpPr/>
          <p:nvPr/>
        </p:nvSpPr>
        <p:spPr>
          <a:xfrm>
            <a:off x="10256330" y="254000"/>
            <a:ext cx="729932"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55" name="TextBox 54"/>
          <p:cNvSpPr txBox="1"/>
          <p:nvPr/>
        </p:nvSpPr>
        <p:spPr>
          <a:xfrm>
            <a:off x="10357930" y="304800"/>
            <a:ext cx="658416"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3. Therapy</a:t>
            </a:r>
          </a:p>
        </p:txBody>
      </p:sp>
      <p:sp>
        <p:nvSpPr>
          <p:cNvPr id="56" name="Rounded Rectangle 55"/>
          <p:cNvSpPr/>
          <p:nvPr/>
        </p:nvSpPr>
        <p:spPr>
          <a:xfrm>
            <a:off x="11037126" y="254000"/>
            <a:ext cx="757618"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57" name="TextBox 56"/>
          <p:cNvSpPr txBox="1"/>
          <p:nvPr/>
        </p:nvSpPr>
        <p:spPr>
          <a:xfrm>
            <a:off x="11138726" y="304800"/>
            <a:ext cx="693023"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4. Timeline</a:t>
            </a:r>
          </a:p>
        </p:txBody>
      </p:sp>
      <p:sp>
        <p:nvSpPr>
          <p:cNvPr id="58" name="Rectangle 57"/>
          <p:cNvSpPr/>
          <p:nvPr/>
        </p:nvSpPr>
        <p:spPr>
          <a:xfrm>
            <a:off x="0" y="6527800"/>
            <a:ext cx="12192000" cy="330200"/>
          </a:xfrm>
          <a:prstGeom prst="rect">
            <a:avLst/>
          </a:prstGeom>
          <a:solidFill>
            <a:srgbClr val="FFFFFF"/>
          </a:solidFill>
          <a:ln>
            <a:noFill/>
          </a:ln>
          <a:effectLst/>
        </p:spPr>
        <p:txBody>
          <a:bodyPr rtlCol="0" anchor="ctr"/>
          <a:lstStyle/>
          <a:p>
            <a:endParaRPr/>
          </a:p>
        </p:txBody>
      </p:sp>
      <p:sp>
        <p:nvSpPr>
          <p:cNvPr id="59" name="Rectangle 58"/>
          <p:cNvSpPr/>
          <p:nvPr/>
        </p:nvSpPr>
        <p:spPr>
          <a:xfrm>
            <a:off x="0" y="6527800"/>
            <a:ext cx="12192000" cy="12700"/>
          </a:xfrm>
          <a:prstGeom prst="rect">
            <a:avLst/>
          </a:prstGeom>
          <a:solidFill>
            <a:srgbClr val="EFECE6"/>
          </a:solidFill>
          <a:ln>
            <a:noFill/>
          </a:ln>
          <a:effectLst/>
        </p:spPr>
        <p:txBody>
          <a:bodyPr rtlCol="0" anchor="ctr"/>
          <a:lstStyle/>
          <a:p>
            <a:endParaRPr/>
          </a:p>
        </p:txBody>
      </p:sp>
      <p:sp>
        <p:nvSpPr>
          <p:cNvPr id="60" name="TextBox 59"/>
          <p:cNvSpPr txBox="1"/>
          <p:nvPr/>
        </p:nvSpPr>
        <p:spPr>
          <a:xfrm>
            <a:off x="482600" y="6613525"/>
            <a:ext cx="538162" cy="171450"/>
          </a:xfrm>
          <a:prstGeom prst="rect">
            <a:avLst/>
          </a:prstGeom>
          <a:noFill/>
        </p:spPr>
        <p:txBody>
          <a:bodyPr wrap="none" lIns="0" tIns="0" rIns="0" bIns="0" anchor="t">
            <a:noAutofit/>
          </a:bodyPr>
          <a:lstStyle/>
          <a:p>
            <a:pPr algn="l">
              <a:lnSpc>
                <a:spcPts val="1330"/>
              </a:lnSpc>
            </a:pPr>
            <a:r>
              <a:rPr sz="950" b="1">
                <a:solidFill>
                  <a:srgbClr val="1E2833"/>
                </a:solidFill>
                <a:latin typeface="Microsoft JhengHei"/>
                <a:ea typeface="Microsoft JhengHei"/>
                <a:cs typeface="Microsoft JhengHei"/>
              </a:rPr>
              <a:t>1. Case</a:t>
            </a:r>
          </a:p>
        </p:txBody>
      </p:sp>
      <p:sp>
        <p:nvSpPr>
          <p:cNvPr id="61" name="Rounded Rectangle 60"/>
          <p:cNvSpPr/>
          <p:nvPr/>
        </p:nvSpPr>
        <p:spPr>
          <a:xfrm>
            <a:off x="1052830" y="6680200"/>
            <a:ext cx="10121202" cy="38100"/>
          </a:xfrm>
          <a:prstGeom prst="roundRect">
            <a:avLst>
              <a:gd name="adj" fmla="val 50000"/>
            </a:avLst>
          </a:prstGeom>
          <a:solidFill>
            <a:srgbClr val="EFECE6"/>
          </a:solidFill>
          <a:ln>
            <a:noFill/>
          </a:ln>
          <a:effectLst/>
        </p:spPr>
        <p:txBody>
          <a:bodyPr rtlCol="0" anchor="ctr"/>
          <a:lstStyle/>
          <a:p>
            <a:endParaRPr/>
          </a:p>
        </p:txBody>
      </p:sp>
      <p:sp>
        <p:nvSpPr>
          <p:cNvPr id="62" name="Rectangle 61"/>
          <p:cNvSpPr/>
          <p:nvPr/>
        </p:nvSpPr>
        <p:spPr>
          <a:xfrm>
            <a:off x="1052830" y="6680200"/>
            <a:ext cx="3036316" cy="38100"/>
          </a:xfrm>
          <a:prstGeom prst="rect">
            <a:avLst/>
          </a:prstGeom>
          <a:solidFill>
            <a:srgbClr val="F3C84B"/>
          </a:solidFill>
          <a:ln>
            <a:noFill/>
          </a:ln>
          <a:effectLst/>
        </p:spPr>
        <p:txBody>
          <a:bodyPr rtlCol="0" anchor="ctr"/>
          <a:lstStyle/>
          <a:p>
            <a:endParaRPr/>
          </a:p>
        </p:txBody>
      </p:sp>
      <p:sp>
        <p:nvSpPr>
          <p:cNvPr id="63" name="TextBox 62"/>
          <p:cNvSpPr txBox="1"/>
          <p:nvPr/>
        </p:nvSpPr>
        <p:spPr>
          <a:xfrm>
            <a:off x="11313732" y="6613525"/>
            <a:ext cx="494586" cy="171450"/>
          </a:xfrm>
          <a:prstGeom prst="rect">
            <a:avLst/>
          </a:prstGeom>
          <a:noFill/>
        </p:spPr>
        <p:txBody>
          <a:bodyPr wrap="none" lIns="0" tIns="0" rIns="0" bIns="0" anchor="t">
            <a:noAutofit/>
          </a:bodyPr>
          <a:lstStyle/>
          <a:p>
            <a:pPr algn="l">
              <a:lnSpc>
                <a:spcPts val="1330"/>
              </a:lnSpc>
            </a:pPr>
            <a:r>
              <a:rPr sz="950" b="1">
                <a:solidFill>
                  <a:srgbClr val="44403C"/>
                </a:solidFill>
                <a:latin typeface="Microsoft JhengHei"/>
                <a:ea typeface="Microsoft JhengHei"/>
                <a:cs typeface="Microsoft JhengHei"/>
              </a:rPr>
              <a:t>03 / 10</a:t>
            </a:r>
          </a:p>
        </p:txBody>
      </p:sp>
      <p:sp>
        <p:nvSpPr>
          <p:cNvPr id="64" name="LINK_Rectangle 63">
            <a:hlinkClick r:id="rId3" action="ppaction://hlinksldjump"/>
          </p:cNvPr>
          <p:cNvSpPr/>
          <p:nvPr/>
        </p:nvSpPr>
        <p:spPr>
          <a:xfrm>
            <a:off x="8915400" y="254000"/>
            <a:ext cx="555327" cy="254000"/>
          </a:xfrm>
          <a:prstGeom prst="rect">
            <a:avLst/>
          </a:prstGeom>
          <a:solidFill>
            <a:srgbClr val="FFFFFF">
              <a:alpha val="0"/>
            </a:srgbClr>
          </a:solidFill>
          <a:ln>
            <a:noFill/>
          </a:ln>
          <a:effectLst/>
        </p:spPr>
        <p:txBody>
          <a:bodyPr rtlCol="0" anchor="ctr"/>
          <a:lstStyle/>
          <a:p>
            <a:pPr algn="ctr"/>
            <a:endParaRPr/>
          </a:p>
        </p:txBody>
      </p:sp>
      <p:sp>
        <p:nvSpPr>
          <p:cNvPr id="65" name="LINK_Rectangle 64">
            <a:hlinkClick r:id="rId4" action="ppaction://hlinksldjump"/>
          </p:cNvPr>
          <p:cNvSpPr/>
          <p:nvPr/>
        </p:nvSpPr>
        <p:spPr>
          <a:xfrm>
            <a:off x="9521527" y="254000"/>
            <a:ext cx="684014" cy="254000"/>
          </a:xfrm>
          <a:prstGeom prst="rect">
            <a:avLst/>
          </a:prstGeom>
          <a:solidFill>
            <a:srgbClr val="FFFFFF">
              <a:alpha val="0"/>
            </a:srgbClr>
          </a:solidFill>
          <a:ln>
            <a:noFill/>
          </a:ln>
          <a:effectLst/>
        </p:spPr>
        <p:txBody>
          <a:bodyPr rtlCol="0" anchor="ctr"/>
          <a:lstStyle/>
          <a:p>
            <a:pPr algn="ctr"/>
            <a:endParaRPr/>
          </a:p>
        </p:txBody>
      </p:sp>
      <p:sp>
        <p:nvSpPr>
          <p:cNvPr id="66" name="LINK_Rectangle 65">
            <a:hlinkClick r:id="rId5" action="ppaction://hlinksldjump"/>
          </p:cNvPr>
          <p:cNvSpPr/>
          <p:nvPr/>
        </p:nvSpPr>
        <p:spPr>
          <a:xfrm>
            <a:off x="10256341" y="254000"/>
            <a:ext cx="729952" cy="254000"/>
          </a:xfrm>
          <a:prstGeom prst="rect">
            <a:avLst/>
          </a:prstGeom>
          <a:solidFill>
            <a:srgbClr val="FFFFFF">
              <a:alpha val="0"/>
            </a:srgbClr>
          </a:solidFill>
          <a:ln>
            <a:noFill/>
          </a:ln>
          <a:effectLst/>
        </p:spPr>
        <p:txBody>
          <a:bodyPr rtlCol="0" anchor="ctr"/>
          <a:lstStyle/>
          <a:p>
            <a:pPr algn="ctr"/>
            <a:endParaRPr/>
          </a:p>
        </p:txBody>
      </p:sp>
      <p:sp>
        <p:nvSpPr>
          <p:cNvPr id="67" name="LINK_Rectangle 66">
            <a:hlinkClick r:id="rId6" action="ppaction://hlinksldjump"/>
          </p:cNvPr>
          <p:cNvSpPr/>
          <p:nvPr/>
        </p:nvSpPr>
        <p:spPr>
          <a:xfrm>
            <a:off x="11037094" y="254000"/>
            <a:ext cx="757634" cy="254000"/>
          </a:xfrm>
          <a:prstGeom prst="rect">
            <a:avLst/>
          </a:prstGeom>
          <a:solidFill>
            <a:srgbClr val="FFFFFF">
              <a:alpha val="0"/>
            </a:srgbClr>
          </a:solidFill>
          <a:ln>
            <a:noFill/>
          </a:ln>
          <a:effectLst/>
        </p:spPr>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482600" y="241300"/>
            <a:ext cx="7788910" cy="419100"/>
          </a:xfrm>
          <a:prstGeom prst="rect">
            <a:avLst/>
          </a:prstGeom>
          <a:noFill/>
        </p:spPr>
        <p:txBody>
          <a:bodyPr wrap="none" lIns="0" tIns="0" rIns="0" bIns="0" anchor="t">
            <a:noAutofit/>
          </a:bodyPr>
          <a:lstStyle/>
          <a:p>
            <a:pPr algn="l">
              <a:lnSpc>
                <a:spcPts val="2710"/>
              </a:lnSpc>
            </a:pPr>
            <a:r>
              <a:rPr sz="2300" b="1" spc="-23">
                <a:solidFill>
                  <a:srgbClr val="1C1917"/>
                </a:solidFill>
                <a:latin typeface="Microsoft JhengHei"/>
                <a:ea typeface="Microsoft JhengHei"/>
                <a:cs typeface="Microsoft JhengHei"/>
              </a:rPr>
              <a:t>2026 ACC/AHA Guideline: The Dual Target</a:t>
            </a:r>
          </a:p>
        </p:txBody>
      </p:sp>
      <p:sp>
        <p:nvSpPr>
          <p:cNvPr id="4" name="TextBox 3"/>
          <p:cNvSpPr txBox="1"/>
          <p:nvPr/>
        </p:nvSpPr>
        <p:spPr>
          <a:xfrm>
            <a:off x="482600" y="649414"/>
            <a:ext cx="8707914" cy="215900"/>
          </a:xfrm>
          <a:prstGeom prst="rect">
            <a:avLst/>
          </a:prstGeom>
          <a:noFill/>
        </p:spPr>
        <p:txBody>
          <a:bodyPr wrap="none" lIns="0" tIns="0" rIns="0" bIns="0" anchor="t">
            <a:noAutofit/>
          </a:bodyPr>
          <a:lstStyle/>
          <a:p>
            <a:pPr algn="l">
              <a:lnSpc>
                <a:spcPts val="1550"/>
              </a:lnSpc>
            </a:pPr>
            <a:r>
              <a:rPr sz="1150" b="1">
                <a:solidFill>
                  <a:srgbClr val="1E2833"/>
                </a:solidFill>
                <a:latin typeface="Microsoft JhengHei"/>
                <a:ea typeface="Microsoft JhengHei"/>
                <a:cs typeface="Microsoft JhengHei"/>
              </a:rPr>
              <a:t>2026 最新指引極高風險二級預防雙重門檻</a:t>
            </a:r>
            <a:r>
              <a:rPr sz="1150" b="0">
                <a:solidFill>
                  <a:srgbClr val="44403C"/>
                </a:solidFill>
                <a:latin typeface="Microsoft JhengHei"/>
                <a:ea typeface="Microsoft JhengHei"/>
                <a:cs typeface="Microsoft JhengHei"/>
              </a:rPr>
              <a:t> ｜ Dual Goals: ≥ 50% Reduction AND Absolute LDL &lt; 55 mg/dL</a:t>
            </a:r>
          </a:p>
        </p:txBody>
      </p:sp>
      <p:sp>
        <p:nvSpPr>
          <p:cNvPr id="5" name="Rounded Rectangle 4"/>
          <p:cNvSpPr/>
          <p:nvPr/>
        </p:nvSpPr>
        <p:spPr>
          <a:xfrm>
            <a:off x="482600" y="960818"/>
            <a:ext cx="5511800" cy="5071682"/>
          </a:xfrm>
          <a:prstGeom prst="roundRect">
            <a:avLst>
              <a:gd name="adj" fmla="val 2504"/>
            </a:avLst>
          </a:prstGeom>
          <a:solidFill>
            <a:srgbClr val="1E2833">
              <a:alpha val="8000"/>
            </a:srgbClr>
          </a:solidFill>
          <a:ln>
            <a:noFill/>
          </a:ln>
          <a:effectLst/>
        </p:spPr>
        <p:txBody>
          <a:bodyPr rtlCol="0" anchor="ctr"/>
          <a:lstStyle/>
          <a:p>
            <a:endParaRPr/>
          </a:p>
        </p:txBody>
      </p:sp>
      <p:sp>
        <p:nvSpPr>
          <p:cNvPr id="6" name="Rectangle 5"/>
          <p:cNvSpPr/>
          <p:nvPr/>
        </p:nvSpPr>
        <p:spPr>
          <a:xfrm>
            <a:off x="482600" y="960818"/>
            <a:ext cx="5511800" cy="50800"/>
          </a:xfrm>
          <a:prstGeom prst="rect">
            <a:avLst/>
          </a:prstGeom>
          <a:solidFill>
            <a:srgbClr val="1E2833"/>
          </a:solidFill>
          <a:ln>
            <a:noFill/>
          </a:ln>
          <a:effectLst/>
        </p:spPr>
        <p:txBody>
          <a:bodyPr rtlCol="0" anchor="ctr"/>
          <a:lstStyle/>
          <a:p>
            <a:endParaRPr/>
          </a:p>
        </p:txBody>
      </p:sp>
      <p:sp>
        <p:nvSpPr>
          <p:cNvPr id="7" name="Rectangle 6"/>
          <p:cNvSpPr/>
          <p:nvPr/>
        </p:nvSpPr>
        <p:spPr>
          <a:xfrm>
            <a:off x="5981700" y="960818"/>
            <a:ext cx="12700" cy="5071682"/>
          </a:xfrm>
          <a:prstGeom prst="rect">
            <a:avLst/>
          </a:prstGeom>
          <a:solidFill>
            <a:srgbClr val="E2DDD5"/>
          </a:solidFill>
          <a:ln>
            <a:noFill/>
          </a:ln>
          <a:effectLst/>
        </p:spPr>
        <p:txBody>
          <a:bodyPr rtlCol="0" anchor="ctr"/>
          <a:lstStyle/>
          <a:p>
            <a:endParaRPr/>
          </a:p>
        </p:txBody>
      </p:sp>
      <p:sp>
        <p:nvSpPr>
          <p:cNvPr id="8" name="Rectangle 7"/>
          <p:cNvSpPr/>
          <p:nvPr/>
        </p:nvSpPr>
        <p:spPr>
          <a:xfrm>
            <a:off x="482600" y="6019800"/>
            <a:ext cx="5511800" cy="12700"/>
          </a:xfrm>
          <a:prstGeom prst="rect">
            <a:avLst/>
          </a:prstGeom>
          <a:solidFill>
            <a:srgbClr val="E2DDD5"/>
          </a:solidFill>
          <a:ln>
            <a:noFill/>
          </a:ln>
          <a:effectLst/>
        </p:spPr>
        <p:txBody>
          <a:bodyPr rtlCol="0" anchor="ctr"/>
          <a:lstStyle/>
          <a:p>
            <a:endParaRPr/>
          </a:p>
        </p:txBody>
      </p:sp>
      <p:sp>
        <p:nvSpPr>
          <p:cNvPr id="9" name="Rectangle 8"/>
          <p:cNvSpPr/>
          <p:nvPr/>
        </p:nvSpPr>
        <p:spPr>
          <a:xfrm>
            <a:off x="482600" y="960818"/>
            <a:ext cx="12700" cy="5071682"/>
          </a:xfrm>
          <a:prstGeom prst="rect">
            <a:avLst/>
          </a:prstGeom>
          <a:solidFill>
            <a:srgbClr val="E2DDD5"/>
          </a:solidFill>
          <a:ln>
            <a:noFill/>
          </a:ln>
          <a:effectLst/>
        </p:spPr>
        <p:txBody>
          <a:bodyPr rtlCol="0" anchor="ctr"/>
          <a:lstStyle/>
          <a:p>
            <a:endParaRPr/>
          </a:p>
        </p:txBody>
      </p:sp>
      <p:sp>
        <p:nvSpPr>
          <p:cNvPr id="10" name="Rounded Rectangle 9"/>
          <p:cNvSpPr/>
          <p:nvPr/>
        </p:nvSpPr>
        <p:spPr>
          <a:xfrm>
            <a:off x="660400" y="1151318"/>
            <a:ext cx="2006981" cy="209550"/>
          </a:xfrm>
          <a:prstGeom prst="roundRect">
            <a:avLst>
              <a:gd name="adj" fmla="val 50000"/>
            </a:avLst>
          </a:prstGeom>
          <a:solidFill>
            <a:srgbClr val="1E2833">
              <a:alpha val="8000"/>
            </a:srgbClr>
          </a:solidFill>
          <a:ln>
            <a:noFill/>
          </a:ln>
          <a:effectLst/>
        </p:spPr>
        <p:txBody>
          <a:bodyPr rtlCol="0" anchor="ctr"/>
          <a:lstStyle/>
          <a:p>
            <a:endParaRPr/>
          </a:p>
        </p:txBody>
      </p:sp>
      <p:sp>
        <p:nvSpPr>
          <p:cNvPr id="11" name="TextBox 10"/>
          <p:cNvSpPr txBox="1"/>
          <p:nvPr/>
        </p:nvSpPr>
        <p:spPr>
          <a:xfrm>
            <a:off x="749300" y="1176718"/>
            <a:ext cx="2286476" cy="158750"/>
          </a:xfrm>
          <a:prstGeom prst="rect">
            <a:avLst/>
          </a:prstGeom>
          <a:noFill/>
        </p:spPr>
        <p:txBody>
          <a:bodyPr wrap="none" lIns="0" tIns="0" rIns="0" bIns="0" anchor="t">
            <a:noAutofit/>
          </a:bodyPr>
          <a:lstStyle/>
          <a:p>
            <a:pPr algn="l">
              <a:lnSpc>
                <a:spcPts val="1190"/>
              </a:lnSpc>
            </a:pPr>
            <a:r>
              <a:rPr sz="850" b="1">
                <a:solidFill>
                  <a:srgbClr val="1E2833"/>
                </a:solidFill>
                <a:latin typeface="Microsoft JhengHei"/>
                <a:ea typeface="Microsoft JhengHei"/>
                <a:cs typeface="Microsoft JhengHei"/>
              </a:rPr>
              <a:t>Guideline Mandate ｜ 指引強制標準</a:t>
            </a:r>
          </a:p>
        </p:txBody>
      </p:sp>
      <p:sp>
        <p:nvSpPr>
          <p:cNvPr id="12" name="TextBox 11"/>
          <p:cNvSpPr txBox="1"/>
          <p:nvPr/>
        </p:nvSpPr>
        <p:spPr>
          <a:xfrm>
            <a:off x="660400" y="1386268"/>
            <a:ext cx="4334986" cy="279400"/>
          </a:xfrm>
          <a:prstGeom prst="rect">
            <a:avLst/>
          </a:prstGeom>
          <a:noFill/>
        </p:spPr>
        <p:txBody>
          <a:bodyPr wrap="none" lIns="0" tIns="0" rIns="0" bIns="0" anchor="t">
            <a:noAutofit/>
          </a:bodyPr>
          <a:lstStyle/>
          <a:p>
            <a:pPr algn="l">
              <a:lnSpc>
                <a:spcPts val="1880"/>
              </a:lnSpc>
            </a:pPr>
            <a:r>
              <a:rPr sz="1500" b="1">
                <a:solidFill>
                  <a:srgbClr val="1E2833"/>
                </a:solidFill>
                <a:latin typeface="Microsoft JhengHei"/>
                <a:ea typeface="Microsoft JhengHei"/>
                <a:cs typeface="Microsoft JhengHei"/>
              </a:rPr>
              <a:t>The Dual Clinical Targets </a:t>
            </a:r>
            <a:r>
              <a:rPr sz="1200" b="1">
                <a:solidFill>
                  <a:srgbClr val="78716C"/>
                </a:solidFill>
                <a:latin typeface="Microsoft JhengHei"/>
                <a:ea typeface="Microsoft JhengHei"/>
                <a:cs typeface="Microsoft JhengHei"/>
              </a:rPr>
              <a:t>(雙重達標準則)</a:t>
            </a:r>
          </a:p>
        </p:txBody>
      </p:sp>
      <p:sp>
        <p:nvSpPr>
          <p:cNvPr id="13" name="Rounded Rectangle 12"/>
          <p:cNvSpPr/>
          <p:nvPr/>
        </p:nvSpPr>
        <p:spPr>
          <a:xfrm>
            <a:off x="660400" y="1713294"/>
            <a:ext cx="25273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14" name="TextBox 13"/>
          <p:cNvSpPr txBox="1"/>
          <p:nvPr/>
        </p:nvSpPr>
        <p:spPr>
          <a:xfrm>
            <a:off x="1188252" y="1719644"/>
            <a:ext cx="1471533" cy="501650"/>
          </a:xfrm>
          <a:prstGeom prst="rect">
            <a:avLst/>
          </a:prstGeom>
          <a:noFill/>
        </p:spPr>
        <p:txBody>
          <a:bodyPr wrap="none" lIns="0" tIns="0" rIns="0" bIns="0" anchor="t">
            <a:noAutofit/>
          </a:bodyPr>
          <a:lstStyle/>
          <a:p>
            <a:pPr algn="ctr">
              <a:lnSpc>
                <a:spcPts val="2840"/>
              </a:lnSpc>
            </a:pPr>
            <a:r>
              <a:rPr sz="2700" b="1">
                <a:solidFill>
                  <a:srgbClr val="1E2833"/>
                </a:solidFill>
                <a:latin typeface="Microsoft JhengHei"/>
                <a:ea typeface="Microsoft JhengHei"/>
                <a:cs typeface="Microsoft JhengHei"/>
              </a:rPr>
              <a:t>≥ 50%</a:t>
            </a:r>
          </a:p>
        </p:txBody>
      </p:sp>
      <p:sp>
        <p:nvSpPr>
          <p:cNvPr id="15" name="TextBox 14"/>
          <p:cNvSpPr txBox="1"/>
          <p:nvPr/>
        </p:nvSpPr>
        <p:spPr>
          <a:xfrm>
            <a:off x="1299853" y="2168525"/>
            <a:ext cx="1248331"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Relative Reduction</a:t>
            </a:r>
          </a:p>
        </p:txBody>
      </p:sp>
      <p:sp>
        <p:nvSpPr>
          <p:cNvPr id="16" name="TextBox 15"/>
          <p:cNvSpPr txBox="1"/>
          <p:nvPr/>
        </p:nvSpPr>
        <p:spPr>
          <a:xfrm>
            <a:off x="1507331" y="2327275"/>
            <a:ext cx="833438"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基準值相對降幅</a:t>
            </a:r>
          </a:p>
        </p:txBody>
      </p:sp>
      <p:sp>
        <p:nvSpPr>
          <p:cNvPr id="17" name="Rounded Rectangle 16"/>
          <p:cNvSpPr/>
          <p:nvPr/>
        </p:nvSpPr>
        <p:spPr>
          <a:xfrm>
            <a:off x="3289300" y="1713294"/>
            <a:ext cx="25273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18" name="TextBox 17"/>
          <p:cNvSpPr txBox="1"/>
          <p:nvPr/>
        </p:nvSpPr>
        <p:spPr>
          <a:xfrm>
            <a:off x="4112268" y="1719644"/>
            <a:ext cx="881301" cy="501650"/>
          </a:xfrm>
          <a:prstGeom prst="rect">
            <a:avLst/>
          </a:prstGeom>
          <a:noFill/>
        </p:spPr>
        <p:txBody>
          <a:bodyPr wrap="none" lIns="0" tIns="0" rIns="0" bIns="0" anchor="t">
            <a:noAutofit/>
          </a:bodyPr>
          <a:lstStyle/>
          <a:p>
            <a:pPr algn="ctr">
              <a:lnSpc>
                <a:spcPts val="2840"/>
              </a:lnSpc>
            </a:pPr>
            <a:r>
              <a:rPr sz="2700" b="1">
                <a:solidFill>
                  <a:srgbClr val="2D6A4F"/>
                </a:solidFill>
                <a:latin typeface="Microsoft JhengHei"/>
                <a:ea typeface="Microsoft JhengHei"/>
                <a:cs typeface="Microsoft JhengHei"/>
              </a:rPr>
              <a:t>&lt; 55</a:t>
            </a:r>
          </a:p>
        </p:txBody>
      </p:sp>
      <p:sp>
        <p:nvSpPr>
          <p:cNvPr id="19" name="TextBox 18"/>
          <p:cNvSpPr txBox="1"/>
          <p:nvPr/>
        </p:nvSpPr>
        <p:spPr>
          <a:xfrm>
            <a:off x="3921046" y="2168525"/>
            <a:ext cx="1263809"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Target LDL (mg/dL)</a:t>
            </a:r>
          </a:p>
        </p:txBody>
      </p:sp>
      <p:sp>
        <p:nvSpPr>
          <p:cNvPr id="20" name="TextBox 19"/>
          <p:cNvSpPr txBox="1"/>
          <p:nvPr/>
        </p:nvSpPr>
        <p:spPr>
          <a:xfrm>
            <a:off x="3840409" y="2327275"/>
            <a:ext cx="1425019"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絕對值目標 (&lt; 1.4 mmol/L)</a:t>
            </a:r>
          </a:p>
        </p:txBody>
      </p:sp>
      <p:sp>
        <p:nvSpPr>
          <p:cNvPr id="21" name="TextBox 20"/>
          <p:cNvSpPr txBox="1"/>
          <p:nvPr/>
        </p:nvSpPr>
        <p:spPr>
          <a:xfrm>
            <a:off x="825500" y="2625725"/>
            <a:ext cx="4624467" cy="215900"/>
          </a:xfrm>
          <a:prstGeom prst="rect">
            <a:avLst/>
          </a:prstGeom>
          <a:noFill/>
        </p:spPr>
        <p:txBody>
          <a:bodyPr wrap="non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Rule 1 (Relative):</a:t>
            </a:r>
            <a:r>
              <a:rPr sz="1150" b="0">
                <a:solidFill>
                  <a:srgbClr val="44403C"/>
                </a:solidFill>
                <a:latin typeface="Microsoft JhengHei"/>
                <a:ea typeface="Microsoft JhengHei"/>
                <a:cs typeface="Microsoft JhengHei"/>
              </a:rPr>
              <a:t> Lower baseline LDL by at least 50%.</a:t>
            </a:r>
          </a:p>
        </p:txBody>
      </p:sp>
      <p:sp>
        <p:nvSpPr>
          <p:cNvPr id="22" name="TextBox 21"/>
          <p:cNvSpPr txBox="1"/>
          <p:nvPr/>
        </p:nvSpPr>
        <p:spPr>
          <a:xfrm>
            <a:off x="825500" y="2856484"/>
            <a:ext cx="2904014"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第一準則：必須從基準數值降低至少 50%。</a:t>
            </a:r>
          </a:p>
        </p:txBody>
      </p:sp>
      <p:sp>
        <p:nvSpPr>
          <p:cNvPr id="23" name="TextBox 22"/>
          <p:cNvSpPr txBox="1"/>
          <p:nvPr/>
        </p:nvSpPr>
        <p:spPr>
          <a:xfrm>
            <a:off x="825500" y="3063176"/>
            <a:ext cx="5484812" cy="215900"/>
          </a:xfrm>
          <a:prstGeom prst="rect">
            <a:avLst/>
          </a:prstGeom>
          <a:noFill/>
        </p:spPr>
        <p:txBody>
          <a:bodyPr wrap="non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Rule 2 (Absolute):</a:t>
            </a:r>
            <a:r>
              <a:rPr sz="1150" b="0">
                <a:solidFill>
                  <a:srgbClr val="44403C"/>
                </a:solidFill>
                <a:latin typeface="Microsoft JhengHei"/>
                <a:ea typeface="Microsoft JhengHei"/>
                <a:cs typeface="Microsoft JhengHei"/>
              </a:rPr>
              <a:t> Reach absolute circulating LDL-C &lt; 55 mg/dL.</a:t>
            </a:r>
          </a:p>
        </p:txBody>
      </p:sp>
      <p:sp>
        <p:nvSpPr>
          <p:cNvPr id="24" name="TextBox 23"/>
          <p:cNvSpPr txBox="1"/>
          <p:nvPr/>
        </p:nvSpPr>
        <p:spPr>
          <a:xfrm>
            <a:off x="825500" y="3293936"/>
            <a:ext cx="3142853"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第二準則：絕對數值必須壓至 55 mg/dL 以下。</a:t>
            </a:r>
          </a:p>
        </p:txBody>
      </p:sp>
      <p:sp>
        <p:nvSpPr>
          <p:cNvPr id="25" name="TextBox 24"/>
          <p:cNvSpPr txBox="1"/>
          <p:nvPr/>
        </p:nvSpPr>
        <p:spPr>
          <a:xfrm>
            <a:off x="825500" y="3500628"/>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Very-High-Risk ASCVD:</a:t>
            </a:r>
            <a:r>
              <a:rPr sz="1150" b="0">
                <a:solidFill>
                  <a:srgbClr val="44403C"/>
                </a:solidFill>
                <a:latin typeface="Microsoft JhengHei"/>
                <a:ea typeface="Microsoft JhengHei"/>
                <a:cs typeface="Microsoft JhengHei"/>
              </a:rPr>
              <a:t> Post-STEMI patients require immediate dual compliance.</a:t>
            </a:r>
          </a:p>
        </p:txBody>
      </p:sp>
      <p:sp>
        <p:nvSpPr>
          <p:cNvPr id="26" name="TextBox 25"/>
          <p:cNvSpPr txBox="1"/>
          <p:nvPr/>
        </p:nvSpPr>
        <p:spPr>
          <a:xfrm>
            <a:off x="825500" y="3943160"/>
            <a:ext cx="3481943"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STEMI 患者屬於極高風險族群，必須兩者同時滿足。</a:t>
            </a:r>
          </a:p>
        </p:txBody>
      </p:sp>
      <p:sp>
        <p:nvSpPr>
          <p:cNvPr id="27" name="TextBox 26"/>
          <p:cNvSpPr txBox="1"/>
          <p:nvPr/>
        </p:nvSpPr>
        <p:spPr>
          <a:xfrm>
            <a:off x="774700" y="5448300"/>
            <a:ext cx="3638074" cy="184150"/>
          </a:xfrm>
          <a:prstGeom prst="rect">
            <a:avLst/>
          </a:prstGeom>
          <a:noFill/>
        </p:spPr>
        <p:txBody>
          <a:bodyPr wrap="none" lIns="0" tIns="0" rIns="0" bIns="0" anchor="t">
            <a:noAutofit/>
          </a:bodyPr>
          <a:lstStyle/>
          <a:p>
            <a:pPr algn="l">
              <a:lnSpc>
                <a:spcPts val="1400"/>
              </a:lnSpc>
            </a:pPr>
            <a:r>
              <a:rPr sz="1000" b="1">
                <a:solidFill>
                  <a:srgbClr val="1C1917"/>
                </a:solidFill>
                <a:latin typeface="Microsoft JhengHei"/>
                <a:ea typeface="Microsoft JhengHei"/>
                <a:cs typeface="Microsoft JhengHei"/>
              </a:rPr>
              <a:t>Both criteria must be fulfilled simultaneously</a:t>
            </a:r>
          </a:p>
        </p:txBody>
      </p:sp>
      <p:sp>
        <p:nvSpPr>
          <p:cNvPr id="28" name="TextBox 27"/>
          <p:cNvSpPr txBox="1"/>
          <p:nvPr/>
        </p:nvSpPr>
        <p:spPr>
          <a:xfrm>
            <a:off x="774700" y="5645150"/>
            <a:ext cx="3508375" cy="158750"/>
          </a:xfrm>
          <a:prstGeom prst="rect">
            <a:avLst/>
          </a:prstGeom>
          <a:noFill/>
        </p:spPr>
        <p:txBody>
          <a:bodyPr wrap="none" lIns="0" tIns="0" rIns="0" bIns="0" anchor="t">
            <a:noAutofit/>
          </a:bodyPr>
          <a:lstStyle/>
          <a:p>
            <a:pPr algn="l">
              <a:lnSpc>
                <a:spcPts val="1190"/>
              </a:lnSpc>
            </a:pPr>
            <a:r>
              <a:rPr sz="850" b="1">
                <a:solidFill>
                  <a:srgbClr val="322F2E"/>
                </a:solidFill>
                <a:latin typeface="Microsoft JhengHei"/>
                <a:ea typeface="Microsoft JhengHei"/>
                <a:cs typeface="Microsoft JhengHei"/>
              </a:rPr>
              <a:t>相對降幅與絕對數值缺一不可，是極高風險患者的標準防線</a:t>
            </a:r>
          </a:p>
        </p:txBody>
      </p:sp>
      <p:sp>
        <p:nvSpPr>
          <p:cNvPr id="29" name="Rounded Rectangle 28"/>
          <p:cNvSpPr/>
          <p:nvPr/>
        </p:nvSpPr>
        <p:spPr>
          <a:xfrm>
            <a:off x="6197600" y="960818"/>
            <a:ext cx="5511800" cy="5071682"/>
          </a:xfrm>
          <a:prstGeom prst="roundRect">
            <a:avLst>
              <a:gd name="adj" fmla="val 2504"/>
            </a:avLst>
          </a:prstGeom>
          <a:solidFill>
            <a:srgbClr val="2D6A4F">
              <a:alpha val="8000"/>
            </a:srgbClr>
          </a:solidFill>
          <a:ln>
            <a:noFill/>
          </a:ln>
          <a:effectLst/>
        </p:spPr>
        <p:txBody>
          <a:bodyPr rtlCol="0" anchor="ctr"/>
          <a:lstStyle/>
          <a:p>
            <a:endParaRPr/>
          </a:p>
        </p:txBody>
      </p:sp>
      <p:sp>
        <p:nvSpPr>
          <p:cNvPr id="30" name="Rectangle 29"/>
          <p:cNvSpPr/>
          <p:nvPr/>
        </p:nvSpPr>
        <p:spPr>
          <a:xfrm>
            <a:off x="6197600" y="960818"/>
            <a:ext cx="5511800" cy="50800"/>
          </a:xfrm>
          <a:prstGeom prst="rect">
            <a:avLst/>
          </a:prstGeom>
          <a:solidFill>
            <a:srgbClr val="2D6A4F"/>
          </a:solidFill>
          <a:ln>
            <a:noFill/>
          </a:ln>
          <a:effectLst/>
        </p:spPr>
        <p:txBody>
          <a:bodyPr rtlCol="0" anchor="ctr"/>
          <a:lstStyle/>
          <a:p>
            <a:endParaRPr/>
          </a:p>
        </p:txBody>
      </p:sp>
      <p:sp>
        <p:nvSpPr>
          <p:cNvPr id="31" name="Rectangle 30"/>
          <p:cNvSpPr/>
          <p:nvPr/>
        </p:nvSpPr>
        <p:spPr>
          <a:xfrm>
            <a:off x="11696700" y="960818"/>
            <a:ext cx="12700" cy="5071682"/>
          </a:xfrm>
          <a:prstGeom prst="rect">
            <a:avLst/>
          </a:prstGeom>
          <a:solidFill>
            <a:srgbClr val="E2DDD5"/>
          </a:solidFill>
          <a:ln>
            <a:noFill/>
          </a:ln>
          <a:effectLst/>
        </p:spPr>
        <p:txBody>
          <a:bodyPr rtlCol="0" anchor="ctr"/>
          <a:lstStyle/>
          <a:p>
            <a:endParaRPr/>
          </a:p>
        </p:txBody>
      </p:sp>
      <p:sp>
        <p:nvSpPr>
          <p:cNvPr id="32" name="Rectangle 31"/>
          <p:cNvSpPr/>
          <p:nvPr/>
        </p:nvSpPr>
        <p:spPr>
          <a:xfrm>
            <a:off x="6197600" y="6019800"/>
            <a:ext cx="5511800" cy="12700"/>
          </a:xfrm>
          <a:prstGeom prst="rect">
            <a:avLst/>
          </a:prstGeom>
          <a:solidFill>
            <a:srgbClr val="E2DDD5"/>
          </a:solidFill>
          <a:ln>
            <a:noFill/>
          </a:ln>
          <a:effectLst/>
        </p:spPr>
        <p:txBody>
          <a:bodyPr rtlCol="0" anchor="ctr"/>
          <a:lstStyle/>
          <a:p>
            <a:endParaRPr/>
          </a:p>
        </p:txBody>
      </p:sp>
      <p:sp>
        <p:nvSpPr>
          <p:cNvPr id="33" name="Rectangle 32"/>
          <p:cNvSpPr/>
          <p:nvPr/>
        </p:nvSpPr>
        <p:spPr>
          <a:xfrm>
            <a:off x="6197600" y="960818"/>
            <a:ext cx="12700" cy="5071682"/>
          </a:xfrm>
          <a:prstGeom prst="rect">
            <a:avLst/>
          </a:prstGeom>
          <a:solidFill>
            <a:srgbClr val="E2DDD5"/>
          </a:solidFill>
          <a:ln>
            <a:noFill/>
          </a:ln>
          <a:effectLst/>
        </p:spPr>
        <p:txBody>
          <a:bodyPr rtlCol="0" anchor="ctr"/>
          <a:lstStyle/>
          <a:p>
            <a:endParaRPr/>
          </a:p>
        </p:txBody>
      </p:sp>
      <p:sp>
        <p:nvSpPr>
          <p:cNvPr id="34" name="Rounded Rectangle 33"/>
          <p:cNvSpPr/>
          <p:nvPr/>
        </p:nvSpPr>
        <p:spPr>
          <a:xfrm>
            <a:off x="6375400" y="1151318"/>
            <a:ext cx="1903540" cy="209550"/>
          </a:xfrm>
          <a:prstGeom prst="roundRect">
            <a:avLst>
              <a:gd name="adj" fmla="val 50000"/>
            </a:avLst>
          </a:prstGeom>
          <a:solidFill>
            <a:srgbClr val="2D6A4F">
              <a:alpha val="8000"/>
            </a:srgbClr>
          </a:solidFill>
          <a:ln>
            <a:noFill/>
          </a:ln>
          <a:effectLst/>
        </p:spPr>
        <p:txBody>
          <a:bodyPr rtlCol="0" anchor="ctr"/>
          <a:lstStyle/>
          <a:p>
            <a:endParaRPr/>
          </a:p>
        </p:txBody>
      </p:sp>
      <p:sp>
        <p:nvSpPr>
          <p:cNvPr id="35" name="TextBox 34"/>
          <p:cNvSpPr txBox="1"/>
          <p:nvPr/>
        </p:nvSpPr>
        <p:spPr>
          <a:xfrm>
            <a:off x="6464300" y="1176718"/>
            <a:ext cx="2157174" cy="158750"/>
          </a:xfrm>
          <a:prstGeom prst="rect">
            <a:avLst/>
          </a:prstGeom>
          <a:noFill/>
        </p:spPr>
        <p:txBody>
          <a:bodyPr wrap="none" lIns="0" tIns="0" rIns="0" bIns="0" anchor="t">
            <a:noAutofit/>
          </a:bodyPr>
          <a:lstStyle/>
          <a:p>
            <a:pPr algn="l">
              <a:lnSpc>
                <a:spcPts val="1190"/>
              </a:lnSpc>
            </a:pPr>
            <a:r>
              <a:rPr sz="850" b="1">
                <a:solidFill>
                  <a:srgbClr val="2D6A4F"/>
                </a:solidFill>
                <a:latin typeface="Microsoft JhengHei"/>
                <a:ea typeface="Microsoft JhengHei"/>
                <a:cs typeface="Microsoft JhengHei"/>
              </a:rPr>
              <a:t>Clinical Evidence ｜ 斑塊逆轉實證</a:t>
            </a:r>
          </a:p>
        </p:txBody>
      </p:sp>
      <p:sp>
        <p:nvSpPr>
          <p:cNvPr id="36" name="TextBox 35"/>
          <p:cNvSpPr txBox="1"/>
          <p:nvPr/>
        </p:nvSpPr>
        <p:spPr>
          <a:xfrm>
            <a:off x="6375400" y="1386268"/>
            <a:ext cx="4674235" cy="279400"/>
          </a:xfrm>
          <a:prstGeom prst="rect">
            <a:avLst/>
          </a:prstGeom>
          <a:noFill/>
        </p:spPr>
        <p:txBody>
          <a:bodyPr wrap="none" lIns="0" tIns="0" rIns="0" bIns="0" anchor="t">
            <a:noAutofit/>
          </a:bodyPr>
          <a:lstStyle/>
          <a:p>
            <a:pPr algn="l">
              <a:lnSpc>
                <a:spcPts val="1880"/>
              </a:lnSpc>
            </a:pPr>
            <a:r>
              <a:rPr sz="1500" b="1">
                <a:solidFill>
                  <a:srgbClr val="2D6A4F"/>
                </a:solidFill>
                <a:latin typeface="Microsoft JhengHei"/>
                <a:ea typeface="Microsoft JhengHei"/>
                <a:cs typeface="Microsoft JhengHei"/>
              </a:rPr>
              <a:t>Why Target &lt; 55 mg/dL? </a:t>
            </a:r>
            <a:r>
              <a:rPr sz="1200" b="1">
                <a:solidFill>
                  <a:srgbClr val="78716C"/>
                </a:solidFill>
                <a:latin typeface="Microsoft JhengHei"/>
                <a:ea typeface="Microsoft JhengHei"/>
                <a:cs typeface="Microsoft JhengHei"/>
              </a:rPr>
              <a:t>(為何必須低於 55？)</a:t>
            </a:r>
          </a:p>
        </p:txBody>
      </p:sp>
      <p:sp>
        <p:nvSpPr>
          <p:cNvPr id="37" name="Rounded Rectangle 36"/>
          <p:cNvSpPr/>
          <p:nvPr/>
        </p:nvSpPr>
        <p:spPr>
          <a:xfrm>
            <a:off x="6375400" y="1713294"/>
            <a:ext cx="5156200" cy="611759"/>
          </a:xfrm>
          <a:prstGeom prst="roundRect">
            <a:avLst>
              <a:gd name="adj" fmla="val 14531"/>
            </a:avLst>
          </a:prstGeom>
          <a:solidFill>
            <a:srgbClr val="FAF8F5"/>
          </a:solidFill>
          <a:ln w="6350">
            <a:solidFill>
              <a:srgbClr val="E2DDD5"/>
            </a:solidFill>
          </a:ln>
          <a:effectLst/>
        </p:spPr>
        <p:txBody>
          <a:bodyPr rtlCol="0" anchor="ctr"/>
          <a:lstStyle/>
          <a:p>
            <a:endParaRPr/>
          </a:p>
        </p:txBody>
      </p:sp>
      <p:sp>
        <p:nvSpPr>
          <p:cNvPr id="38" name="TextBox 37"/>
          <p:cNvSpPr txBox="1"/>
          <p:nvPr/>
        </p:nvSpPr>
        <p:spPr>
          <a:xfrm>
            <a:off x="6496050" y="1802194"/>
            <a:ext cx="3960336" cy="222250"/>
          </a:xfrm>
          <a:prstGeom prst="rect">
            <a:avLst/>
          </a:prstGeom>
          <a:noFill/>
        </p:spPr>
        <p:txBody>
          <a:bodyPr wrap="none" lIns="0" tIns="0" rIns="0" bIns="0" anchor="t">
            <a:noAutofit/>
          </a:bodyPr>
          <a:lstStyle/>
          <a:p>
            <a:pPr algn="l">
              <a:lnSpc>
                <a:spcPts val="1739"/>
              </a:lnSpc>
            </a:pPr>
            <a:r>
              <a:rPr sz="1200" b="1">
                <a:solidFill>
                  <a:srgbClr val="2D6A4F"/>
                </a:solidFill>
                <a:latin typeface="Microsoft JhengHei"/>
                <a:ea typeface="Microsoft JhengHei"/>
                <a:cs typeface="Microsoft JhengHei"/>
              </a:rPr>
              <a:t>Plaque Regression Threshold: &lt; 55 mg/dL</a:t>
            </a:r>
          </a:p>
        </p:txBody>
      </p:sp>
      <p:sp>
        <p:nvSpPr>
          <p:cNvPr id="39" name="TextBox 38"/>
          <p:cNvSpPr txBox="1"/>
          <p:nvPr/>
        </p:nvSpPr>
        <p:spPr>
          <a:xfrm>
            <a:off x="6496050" y="2054924"/>
            <a:ext cx="4801711"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血管內超音波 (IVUS) 證實：只有降至 55 以下，斑塊體積才會實質縮小。</a:t>
            </a:r>
          </a:p>
        </p:txBody>
      </p:sp>
      <p:sp>
        <p:nvSpPr>
          <p:cNvPr id="40" name="TextBox 39"/>
          <p:cNvSpPr txBox="1"/>
          <p:nvPr/>
        </p:nvSpPr>
        <p:spPr>
          <a:xfrm>
            <a:off x="6540500" y="2382266"/>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Lower is Better:</a:t>
            </a:r>
            <a:r>
              <a:rPr sz="1150" b="0">
                <a:solidFill>
                  <a:srgbClr val="44403C"/>
                </a:solidFill>
                <a:latin typeface="Microsoft JhengHei"/>
                <a:ea typeface="Microsoft JhengHei"/>
                <a:cs typeface="Microsoft JhengHei"/>
              </a:rPr>
              <a:t> Every 38.7 mg/dL (1 mmol/L) drop cuts major vascular events by 22% (CTT).</a:t>
            </a:r>
          </a:p>
        </p:txBody>
      </p:sp>
      <p:sp>
        <p:nvSpPr>
          <p:cNvPr id="41" name="TextBox 40"/>
          <p:cNvSpPr txBox="1"/>
          <p:nvPr/>
        </p:nvSpPr>
        <p:spPr>
          <a:xfrm>
            <a:off x="6540500" y="2824734"/>
            <a:ext cx="3876516"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統合分析：每降 38.7 mg/dL，重大心血管事件減少 22%。</a:t>
            </a:r>
          </a:p>
        </p:txBody>
      </p:sp>
      <p:sp>
        <p:nvSpPr>
          <p:cNvPr id="42" name="TextBox 41"/>
          <p:cNvSpPr txBox="1"/>
          <p:nvPr/>
        </p:nvSpPr>
        <p:spPr>
          <a:xfrm>
            <a:off x="6540500" y="3031426"/>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Cap Thickening:</a:t>
            </a:r>
            <a:r>
              <a:rPr sz="1150" b="0">
                <a:solidFill>
                  <a:srgbClr val="44403C"/>
                </a:solidFill>
                <a:latin typeface="Microsoft JhengHei"/>
                <a:ea typeface="Microsoft JhengHei"/>
                <a:cs typeface="Microsoft JhengHei"/>
              </a:rPr>
              <a:t> Low LDL thickens fibrous caps, turning vulnerable lipid into stable scar tissue.</a:t>
            </a:r>
          </a:p>
        </p:txBody>
      </p:sp>
      <p:sp>
        <p:nvSpPr>
          <p:cNvPr id="43" name="TextBox 42"/>
          <p:cNvSpPr txBox="1"/>
          <p:nvPr/>
        </p:nvSpPr>
        <p:spPr>
          <a:xfrm>
            <a:off x="6540500" y="3473958"/>
            <a:ext cx="4222750"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深度降脂能顯著增厚纖維帽，將易碎斑塊轉化為穩定疤痕組織。</a:t>
            </a:r>
          </a:p>
        </p:txBody>
      </p:sp>
      <p:sp>
        <p:nvSpPr>
          <p:cNvPr id="44" name="Rounded Rectangle 43"/>
          <p:cNvSpPr/>
          <p:nvPr/>
        </p:nvSpPr>
        <p:spPr>
          <a:xfrm>
            <a:off x="6375400" y="5372100"/>
            <a:ext cx="5156200" cy="508000"/>
          </a:xfrm>
          <a:prstGeom prst="roundRect">
            <a:avLst>
              <a:gd name="adj" fmla="val 15000"/>
            </a:avLst>
          </a:prstGeom>
          <a:solidFill>
            <a:srgbClr val="2D6A4F">
              <a:alpha val="8000"/>
            </a:srgbClr>
          </a:solidFill>
          <a:ln>
            <a:noFill/>
          </a:ln>
          <a:effectLst/>
        </p:spPr>
        <p:txBody>
          <a:bodyPr rtlCol="0" anchor="ctr"/>
          <a:lstStyle/>
          <a:p>
            <a:endParaRPr/>
          </a:p>
        </p:txBody>
      </p:sp>
      <p:sp>
        <p:nvSpPr>
          <p:cNvPr id="45" name="TextBox 44"/>
          <p:cNvSpPr txBox="1"/>
          <p:nvPr/>
        </p:nvSpPr>
        <p:spPr>
          <a:xfrm>
            <a:off x="6489700" y="5448300"/>
            <a:ext cx="4043442" cy="184150"/>
          </a:xfrm>
          <a:prstGeom prst="rect">
            <a:avLst/>
          </a:prstGeom>
          <a:noFill/>
        </p:spPr>
        <p:txBody>
          <a:bodyPr wrap="none" lIns="0" tIns="0" rIns="0" bIns="0" anchor="t">
            <a:noAutofit/>
          </a:bodyPr>
          <a:lstStyle/>
          <a:p>
            <a:pPr algn="l">
              <a:lnSpc>
                <a:spcPts val="1400"/>
              </a:lnSpc>
            </a:pPr>
            <a:r>
              <a:rPr sz="1000" b="1">
                <a:solidFill>
                  <a:srgbClr val="2D6A4F"/>
                </a:solidFill>
                <a:latin typeface="Microsoft JhengHei"/>
                <a:ea typeface="Microsoft JhengHei"/>
                <a:cs typeface="Microsoft JhengHei"/>
              </a:rPr>
              <a:t>✓ Halts plaque growth and induces true regression</a:t>
            </a:r>
          </a:p>
        </p:txBody>
      </p:sp>
      <p:sp>
        <p:nvSpPr>
          <p:cNvPr id="46" name="TextBox 45"/>
          <p:cNvSpPr txBox="1"/>
          <p:nvPr/>
        </p:nvSpPr>
        <p:spPr>
          <a:xfrm>
            <a:off x="6489700" y="5645150"/>
            <a:ext cx="3238500" cy="158750"/>
          </a:xfrm>
          <a:prstGeom prst="rect">
            <a:avLst/>
          </a:prstGeom>
          <a:noFill/>
        </p:spPr>
        <p:txBody>
          <a:bodyPr wrap="none" lIns="0" tIns="0" rIns="0" bIns="0" anchor="t">
            <a:noAutofit/>
          </a:bodyPr>
          <a:lstStyle/>
          <a:p>
            <a:pPr algn="l">
              <a:lnSpc>
                <a:spcPts val="1190"/>
              </a:lnSpc>
            </a:pPr>
            <a:r>
              <a:rPr sz="850" b="1">
                <a:solidFill>
                  <a:srgbClr val="427860"/>
                </a:solidFill>
                <a:latin typeface="Microsoft JhengHei"/>
                <a:ea typeface="Microsoft JhengHei"/>
                <a:cs typeface="Microsoft JhengHei"/>
              </a:rPr>
              <a:t>有效終止動脈斑塊進展，實現臨床影像學上的真正逆轉</a:t>
            </a:r>
          </a:p>
        </p:txBody>
      </p:sp>
      <p:sp>
        <p:nvSpPr>
          <p:cNvPr id="47" name="Rectangle 46"/>
          <p:cNvSpPr/>
          <p:nvPr/>
        </p:nvSpPr>
        <p:spPr>
          <a:xfrm>
            <a:off x="482600" y="6184900"/>
            <a:ext cx="11226800" cy="12700"/>
          </a:xfrm>
          <a:prstGeom prst="rect">
            <a:avLst/>
          </a:prstGeom>
          <a:solidFill>
            <a:srgbClr val="EFECE6"/>
          </a:solidFill>
          <a:ln>
            <a:noFill/>
          </a:ln>
          <a:effectLst/>
        </p:spPr>
        <p:txBody>
          <a:bodyPr rtlCol="0" anchor="ctr"/>
          <a:lstStyle/>
          <a:p>
            <a:endParaRPr/>
          </a:p>
        </p:txBody>
      </p:sp>
      <p:sp>
        <p:nvSpPr>
          <p:cNvPr id="48" name="TextBox 47"/>
          <p:cNvSpPr txBox="1"/>
          <p:nvPr/>
        </p:nvSpPr>
        <p:spPr>
          <a:xfrm>
            <a:off x="482600" y="6235700"/>
            <a:ext cx="8613775" cy="266700"/>
          </a:xfrm>
          <a:prstGeom prst="rect">
            <a:avLst/>
          </a:prstGeom>
          <a:noFill/>
        </p:spPr>
        <p:txBody>
          <a:bodyPr wrap="none" lIns="0" tIns="0" rIns="0" bIns="0" anchor="t">
            <a:noAutofit/>
          </a:bodyPr>
          <a:lstStyle/>
          <a:p>
            <a:pPr algn="l">
              <a:lnSpc>
                <a:spcPts val="1050"/>
              </a:lnSpc>
            </a:pPr>
            <a:r>
              <a:rPr sz="750" b="0">
                <a:solidFill>
                  <a:srgbClr val="78716C"/>
                </a:solidFill>
                <a:latin typeface="Microsoft JhengHei"/>
                <a:ea typeface="Microsoft JhengHei"/>
                <a:cs typeface="Microsoft JhengHei"/>
              </a:rPr>
              <a:t>1. 2026 ACC/AHA Guideline on the Management of Blood Cholesterol. Circulation. 2026;153(4):e112-e198.</a:t>
            </a:r>
          </a:p>
          <a:p>
            <a:pPr algn="l">
              <a:lnSpc>
                <a:spcPts val="1050"/>
              </a:lnSpc>
            </a:pPr>
            <a:r>
              <a:rPr sz="750" b="0">
                <a:solidFill>
                  <a:srgbClr val="78716C"/>
                </a:solidFill>
                <a:latin typeface="Microsoft JhengHei"/>
                <a:ea typeface="Microsoft JhengHei"/>
                <a:cs typeface="Microsoft JhengHei"/>
              </a:rPr>
              <a:t>2. Baigent C, et al. Efficacy and Safety of More Intensive Lowering of LDL Cholesterol (CTT Collaboration). Lancet. 2010;376(9753):1670-1681. PMID: 21067804.</a:t>
            </a:r>
          </a:p>
        </p:txBody>
      </p:sp>
      <p:sp>
        <p:nvSpPr>
          <p:cNvPr id="49" name="Rounded Rectangle 48"/>
          <p:cNvSpPr/>
          <p:nvPr/>
        </p:nvSpPr>
        <p:spPr>
          <a:xfrm>
            <a:off x="8915400" y="254000"/>
            <a:ext cx="555308"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50" name="TextBox 49"/>
          <p:cNvSpPr txBox="1"/>
          <p:nvPr/>
        </p:nvSpPr>
        <p:spPr>
          <a:xfrm>
            <a:off x="9017000" y="304800"/>
            <a:ext cx="441008"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1. Case</a:t>
            </a:r>
          </a:p>
        </p:txBody>
      </p:sp>
      <p:sp>
        <p:nvSpPr>
          <p:cNvPr id="51" name="Rounded Rectangle 50"/>
          <p:cNvSpPr/>
          <p:nvPr/>
        </p:nvSpPr>
        <p:spPr>
          <a:xfrm>
            <a:off x="9521508" y="254000"/>
            <a:ext cx="684022" cy="254000"/>
          </a:xfrm>
          <a:prstGeom prst="roundRect">
            <a:avLst>
              <a:gd name="adj" fmla="val 50000"/>
            </a:avLst>
          </a:prstGeom>
          <a:solidFill>
            <a:srgbClr val="1E2833"/>
          </a:solidFill>
          <a:ln w="12700">
            <a:solidFill>
              <a:srgbClr val="1E2833"/>
            </a:solidFill>
          </a:ln>
          <a:effectLst/>
        </p:spPr>
        <p:txBody>
          <a:bodyPr rtlCol="0" anchor="ctr"/>
          <a:lstStyle/>
          <a:p>
            <a:endParaRPr/>
          </a:p>
        </p:txBody>
      </p:sp>
      <p:sp>
        <p:nvSpPr>
          <p:cNvPr id="52" name="TextBox 51"/>
          <p:cNvSpPr txBox="1"/>
          <p:nvPr/>
        </p:nvSpPr>
        <p:spPr>
          <a:xfrm>
            <a:off x="9623108" y="304800"/>
            <a:ext cx="601028" cy="152400"/>
          </a:xfrm>
          <a:prstGeom prst="rect">
            <a:avLst/>
          </a:prstGeom>
          <a:noFill/>
        </p:spPr>
        <p:txBody>
          <a:bodyPr wrap="none" lIns="0" tIns="0" rIns="0" bIns="0" anchor="t">
            <a:noAutofit/>
          </a:bodyPr>
          <a:lstStyle/>
          <a:p>
            <a:pPr algn="l">
              <a:lnSpc>
                <a:spcPts val="1120"/>
              </a:lnSpc>
            </a:pPr>
            <a:r>
              <a:rPr sz="800" b="1">
                <a:solidFill>
                  <a:srgbClr val="FFFFFF"/>
                </a:solidFill>
                <a:latin typeface="Microsoft JhengHei"/>
                <a:ea typeface="Microsoft JhengHei"/>
                <a:cs typeface="Microsoft JhengHei"/>
              </a:rPr>
              <a:t>2. Targets</a:t>
            </a:r>
          </a:p>
        </p:txBody>
      </p:sp>
      <p:sp>
        <p:nvSpPr>
          <p:cNvPr id="53" name="Rounded Rectangle 52"/>
          <p:cNvSpPr/>
          <p:nvPr/>
        </p:nvSpPr>
        <p:spPr>
          <a:xfrm>
            <a:off x="10256330" y="254000"/>
            <a:ext cx="729932"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54" name="TextBox 53"/>
          <p:cNvSpPr txBox="1"/>
          <p:nvPr/>
        </p:nvSpPr>
        <p:spPr>
          <a:xfrm>
            <a:off x="10357930" y="304800"/>
            <a:ext cx="658416"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3. Therapy</a:t>
            </a:r>
          </a:p>
        </p:txBody>
      </p:sp>
      <p:sp>
        <p:nvSpPr>
          <p:cNvPr id="55" name="Rounded Rectangle 54"/>
          <p:cNvSpPr/>
          <p:nvPr/>
        </p:nvSpPr>
        <p:spPr>
          <a:xfrm>
            <a:off x="11037126" y="254000"/>
            <a:ext cx="757618"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56" name="TextBox 55"/>
          <p:cNvSpPr txBox="1"/>
          <p:nvPr/>
        </p:nvSpPr>
        <p:spPr>
          <a:xfrm>
            <a:off x="11138726" y="304800"/>
            <a:ext cx="693023"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4. Timeline</a:t>
            </a:r>
          </a:p>
        </p:txBody>
      </p:sp>
      <p:sp>
        <p:nvSpPr>
          <p:cNvPr id="57" name="Rectangle 56"/>
          <p:cNvSpPr/>
          <p:nvPr/>
        </p:nvSpPr>
        <p:spPr>
          <a:xfrm>
            <a:off x="0" y="6527800"/>
            <a:ext cx="12192000" cy="330200"/>
          </a:xfrm>
          <a:prstGeom prst="rect">
            <a:avLst/>
          </a:prstGeom>
          <a:solidFill>
            <a:srgbClr val="FFFFFF"/>
          </a:solidFill>
          <a:ln>
            <a:noFill/>
          </a:ln>
          <a:effectLst/>
        </p:spPr>
        <p:txBody>
          <a:bodyPr rtlCol="0" anchor="ctr"/>
          <a:lstStyle/>
          <a:p>
            <a:endParaRPr/>
          </a:p>
        </p:txBody>
      </p:sp>
      <p:sp>
        <p:nvSpPr>
          <p:cNvPr id="58" name="Rectangle 57"/>
          <p:cNvSpPr/>
          <p:nvPr/>
        </p:nvSpPr>
        <p:spPr>
          <a:xfrm>
            <a:off x="0" y="6527800"/>
            <a:ext cx="12192000" cy="12700"/>
          </a:xfrm>
          <a:prstGeom prst="rect">
            <a:avLst/>
          </a:prstGeom>
          <a:solidFill>
            <a:srgbClr val="EFECE6"/>
          </a:solidFill>
          <a:ln>
            <a:noFill/>
          </a:ln>
          <a:effectLst/>
        </p:spPr>
        <p:txBody>
          <a:bodyPr rtlCol="0" anchor="ctr"/>
          <a:lstStyle/>
          <a:p>
            <a:endParaRPr/>
          </a:p>
        </p:txBody>
      </p:sp>
      <p:sp>
        <p:nvSpPr>
          <p:cNvPr id="59" name="TextBox 58"/>
          <p:cNvSpPr txBox="1"/>
          <p:nvPr/>
        </p:nvSpPr>
        <p:spPr>
          <a:xfrm>
            <a:off x="482600" y="6613525"/>
            <a:ext cx="739299" cy="171450"/>
          </a:xfrm>
          <a:prstGeom prst="rect">
            <a:avLst/>
          </a:prstGeom>
          <a:noFill/>
        </p:spPr>
        <p:txBody>
          <a:bodyPr wrap="none" lIns="0" tIns="0" rIns="0" bIns="0" anchor="t">
            <a:noAutofit/>
          </a:bodyPr>
          <a:lstStyle/>
          <a:p>
            <a:pPr algn="l">
              <a:lnSpc>
                <a:spcPts val="1330"/>
              </a:lnSpc>
            </a:pPr>
            <a:r>
              <a:rPr sz="950" b="1">
                <a:solidFill>
                  <a:srgbClr val="1E2833"/>
                </a:solidFill>
                <a:latin typeface="Microsoft JhengHei"/>
                <a:ea typeface="Microsoft JhengHei"/>
                <a:cs typeface="Microsoft JhengHei"/>
              </a:rPr>
              <a:t>2. Targets</a:t>
            </a:r>
          </a:p>
        </p:txBody>
      </p:sp>
      <p:sp>
        <p:nvSpPr>
          <p:cNvPr id="60" name="Rounded Rectangle 59"/>
          <p:cNvSpPr/>
          <p:nvPr/>
        </p:nvSpPr>
        <p:spPr>
          <a:xfrm>
            <a:off x="1213739" y="6680200"/>
            <a:ext cx="9960292" cy="38100"/>
          </a:xfrm>
          <a:prstGeom prst="roundRect">
            <a:avLst>
              <a:gd name="adj" fmla="val 50000"/>
            </a:avLst>
          </a:prstGeom>
          <a:solidFill>
            <a:srgbClr val="EFECE6"/>
          </a:solidFill>
          <a:ln>
            <a:noFill/>
          </a:ln>
          <a:effectLst/>
        </p:spPr>
        <p:txBody>
          <a:bodyPr rtlCol="0" anchor="ctr"/>
          <a:lstStyle/>
          <a:p>
            <a:endParaRPr/>
          </a:p>
        </p:txBody>
      </p:sp>
      <p:sp>
        <p:nvSpPr>
          <p:cNvPr id="61" name="Rectangle 60"/>
          <p:cNvSpPr/>
          <p:nvPr/>
        </p:nvSpPr>
        <p:spPr>
          <a:xfrm>
            <a:off x="1213739" y="6680200"/>
            <a:ext cx="3984054" cy="38100"/>
          </a:xfrm>
          <a:prstGeom prst="rect">
            <a:avLst/>
          </a:prstGeom>
          <a:solidFill>
            <a:srgbClr val="F3C84B"/>
          </a:solidFill>
          <a:ln>
            <a:noFill/>
          </a:ln>
          <a:effectLst/>
        </p:spPr>
        <p:txBody>
          <a:bodyPr rtlCol="0" anchor="ctr"/>
          <a:lstStyle/>
          <a:p>
            <a:endParaRPr/>
          </a:p>
        </p:txBody>
      </p:sp>
      <p:sp>
        <p:nvSpPr>
          <p:cNvPr id="62" name="TextBox 61"/>
          <p:cNvSpPr txBox="1"/>
          <p:nvPr/>
        </p:nvSpPr>
        <p:spPr>
          <a:xfrm>
            <a:off x="11313732" y="6613525"/>
            <a:ext cx="494586" cy="171450"/>
          </a:xfrm>
          <a:prstGeom prst="rect">
            <a:avLst/>
          </a:prstGeom>
          <a:noFill/>
        </p:spPr>
        <p:txBody>
          <a:bodyPr wrap="none" lIns="0" tIns="0" rIns="0" bIns="0" anchor="t">
            <a:noAutofit/>
          </a:bodyPr>
          <a:lstStyle/>
          <a:p>
            <a:pPr algn="l">
              <a:lnSpc>
                <a:spcPts val="1330"/>
              </a:lnSpc>
            </a:pPr>
            <a:r>
              <a:rPr sz="950" b="1">
                <a:solidFill>
                  <a:srgbClr val="44403C"/>
                </a:solidFill>
                <a:latin typeface="Microsoft JhengHei"/>
                <a:ea typeface="Microsoft JhengHei"/>
                <a:cs typeface="Microsoft JhengHei"/>
              </a:rPr>
              <a:t>04 / 10</a:t>
            </a:r>
          </a:p>
        </p:txBody>
      </p:sp>
      <p:sp>
        <p:nvSpPr>
          <p:cNvPr id="63" name="LINK_Rectangle 62">
            <a:hlinkClick r:id="rId3" action="ppaction://hlinksldjump"/>
          </p:cNvPr>
          <p:cNvSpPr/>
          <p:nvPr/>
        </p:nvSpPr>
        <p:spPr>
          <a:xfrm>
            <a:off x="8915400" y="254000"/>
            <a:ext cx="555327" cy="254000"/>
          </a:xfrm>
          <a:prstGeom prst="rect">
            <a:avLst/>
          </a:prstGeom>
          <a:solidFill>
            <a:srgbClr val="FFFFFF">
              <a:alpha val="0"/>
            </a:srgbClr>
          </a:solidFill>
          <a:ln>
            <a:noFill/>
          </a:ln>
          <a:effectLst/>
        </p:spPr>
        <p:txBody>
          <a:bodyPr rtlCol="0" anchor="ctr"/>
          <a:lstStyle/>
          <a:p>
            <a:pPr algn="ctr"/>
            <a:endParaRPr/>
          </a:p>
        </p:txBody>
      </p:sp>
      <p:sp>
        <p:nvSpPr>
          <p:cNvPr id="64" name="LINK_Rectangle 63">
            <a:hlinkClick r:id="rId4" action="ppaction://hlinksldjump"/>
          </p:cNvPr>
          <p:cNvSpPr/>
          <p:nvPr/>
        </p:nvSpPr>
        <p:spPr>
          <a:xfrm>
            <a:off x="10256341" y="254000"/>
            <a:ext cx="729952" cy="254000"/>
          </a:xfrm>
          <a:prstGeom prst="rect">
            <a:avLst/>
          </a:prstGeom>
          <a:solidFill>
            <a:srgbClr val="FFFFFF">
              <a:alpha val="0"/>
            </a:srgbClr>
          </a:solidFill>
          <a:ln>
            <a:noFill/>
          </a:ln>
          <a:effectLst/>
        </p:spPr>
        <p:txBody>
          <a:bodyPr rtlCol="0" anchor="ctr"/>
          <a:lstStyle/>
          <a:p>
            <a:pPr algn="ctr"/>
            <a:endParaRPr/>
          </a:p>
        </p:txBody>
      </p:sp>
      <p:sp>
        <p:nvSpPr>
          <p:cNvPr id="65" name="LINK_Rectangle 64">
            <a:hlinkClick r:id="rId5" action="ppaction://hlinksldjump"/>
          </p:cNvPr>
          <p:cNvSpPr/>
          <p:nvPr/>
        </p:nvSpPr>
        <p:spPr>
          <a:xfrm>
            <a:off x="11037094" y="254000"/>
            <a:ext cx="757634" cy="254000"/>
          </a:xfrm>
          <a:prstGeom prst="rect">
            <a:avLst/>
          </a:prstGeom>
          <a:solidFill>
            <a:srgbClr val="FFFFFF">
              <a:alpha val="0"/>
            </a:srgbClr>
          </a:solidFill>
          <a:ln>
            <a:noFill/>
          </a:ln>
          <a:effectLst/>
        </p:spPr>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482600" y="241300"/>
            <a:ext cx="9907746" cy="393700"/>
          </a:xfrm>
          <a:prstGeom prst="rect">
            <a:avLst/>
          </a:prstGeom>
          <a:noFill/>
        </p:spPr>
        <p:txBody>
          <a:bodyPr wrap="none" lIns="0" tIns="0" rIns="0" bIns="0" anchor="t">
            <a:noAutofit/>
          </a:bodyPr>
          <a:lstStyle/>
          <a:p>
            <a:pPr algn="l">
              <a:lnSpc>
                <a:spcPts val="2550"/>
              </a:lnSpc>
            </a:pPr>
            <a:r>
              <a:rPr sz="2160" b="1" spc="-22">
                <a:solidFill>
                  <a:srgbClr val="1C1917"/>
                </a:solidFill>
                <a:latin typeface="Microsoft JhengHei"/>
                <a:ea typeface="Microsoft JhengHei"/>
                <a:cs typeface="Microsoft JhengHei"/>
              </a:rPr>
              <a:t>Non-Pharmacological Therapy: The Lifestyle Foundation</a:t>
            </a:r>
          </a:p>
        </p:txBody>
      </p:sp>
      <p:sp>
        <p:nvSpPr>
          <p:cNvPr id="4" name="TextBox 3"/>
          <p:cNvSpPr txBox="1"/>
          <p:nvPr/>
        </p:nvSpPr>
        <p:spPr>
          <a:xfrm>
            <a:off x="482600" y="628777"/>
            <a:ext cx="8089424" cy="215900"/>
          </a:xfrm>
          <a:prstGeom prst="rect">
            <a:avLst/>
          </a:prstGeom>
          <a:noFill/>
        </p:spPr>
        <p:txBody>
          <a:bodyPr wrap="none" lIns="0" tIns="0" rIns="0" bIns="0" anchor="t">
            <a:noAutofit/>
          </a:bodyPr>
          <a:lstStyle/>
          <a:p>
            <a:pPr algn="l">
              <a:lnSpc>
                <a:spcPts val="1550"/>
              </a:lnSpc>
            </a:pPr>
            <a:r>
              <a:rPr sz="1150" b="1">
                <a:solidFill>
                  <a:srgbClr val="1E2833"/>
                </a:solidFill>
                <a:latin typeface="Microsoft JhengHei"/>
                <a:ea typeface="Microsoft JhengHei"/>
                <a:cs typeface="Microsoft JhengHei"/>
              </a:rPr>
              <a:t>非藥物治療：高血脂與心血管照護的堅實基石</a:t>
            </a:r>
            <a:r>
              <a:rPr sz="1150" b="0">
                <a:solidFill>
                  <a:srgbClr val="44403C"/>
                </a:solidFill>
                <a:latin typeface="Microsoft JhengHei"/>
                <a:ea typeface="Microsoft JhengHei"/>
                <a:cs typeface="Microsoft JhengHei"/>
              </a:rPr>
              <a:t> ｜ Evidence-Based Diet, Exercise, and Rehabilitation</a:t>
            </a:r>
          </a:p>
        </p:txBody>
      </p:sp>
      <p:sp>
        <p:nvSpPr>
          <p:cNvPr id="5" name="Rounded Rectangle 4"/>
          <p:cNvSpPr/>
          <p:nvPr/>
        </p:nvSpPr>
        <p:spPr>
          <a:xfrm>
            <a:off x="482600" y="940181"/>
            <a:ext cx="5511800" cy="5092319"/>
          </a:xfrm>
          <a:prstGeom prst="roundRect">
            <a:avLst>
              <a:gd name="adj" fmla="val 2493"/>
            </a:avLst>
          </a:prstGeom>
          <a:solidFill>
            <a:srgbClr val="FFFFFF"/>
          </a:solidFill>
          <a:ln>
            <a:noFill/>
          </a:ln>
          <a:effectLst/>
        </p:spPr>
        <p:txBody>
          <a:bodyPr rtlCol="0" anchor="ctr"/>
          <a:lstStyle/>
          <a:p>
            <a:endParaRPr/>
          </a:p>
        </p:txBody>
      </p:sp>
      <p:sp>
        <p:nvSpPr>
          <p:cNvPr id="6" name="Rectangle 5"/>
          <p:cNvSpPr/>
          <p:nvPr/>
        </p:nvSpPr>
        <p:spPr>
          <a:xfrm>
            <a:off x="482600" y="940181"/>
            <a:ext cx="5511800" cy="50800"/>
          </a:xfrm>
          <a:prstGeom prst="rect">
            <a:avLst/>
          </a:prstGeom>
          <a:solidFill>
            <a:srgbClr val="D4A373"/>
          </a:solidFill>
          <a:ln>
            <a:noFill/>
          </a:ln>
          <a:effectLst/>
        </p:spPr>
        <p:txBody>
          <a:bodyPr rtlCol="0" anchor="ctr"/>
          <a:lstStyle/>
          <a:p>
            <a:endParaRPr/>
          </a:p>
        </p:txBody>
      </p:sp>
      <p:sp>
        <p:nvSpPr>
          <p:cNvPr id="7" name="Rectangle 6"/>
          <p:cNvSpPr/>
          <p:nvPr/>
        </p:nvSpPr>
        <p:spPr>
          <a:xfrm>
            <a:off x="5981700" y="940181"/>
            <a:ext cx="12700" cy="5092319"/>
          </a:xfrm>
          <a:prstGeom prst="rect">
            <a:avLst/>
          </a:prstGeom>
          <a:solidFill>
            <a:srgbClr val="E2DDD5"/>
          </a:solidFill>
          <a:ln>
            <a:noFill/>
          </a:ln>
          <a:effectLst/>
        </p:spPr>
        <p:txBody>
          <a:bodyPr rtlCol="0" anchor="ctr"/>
          <a:lstStyle/>
          <a:p>
            <a:endParaRPr/>
          </a:p>
        </p:txBody>
      </p:sp>
      <p:sp>
        <p:nvSpPr>
          <p:cNvPr id="8" name="Rectangle 7"/>
          <p:cNvSpPr/>
          <p:nvPr/>
        </p:nvSpPr>
        <p:spPr>
          <a:xfrm>
            <a:off x="482600" y="6019800"/>
            <a:ext cx="5511800" cy="12700"/>
          </a:xfrm>
          <a:prstGeom prst="rect">
            <a:avLst/>
          </a:prstGeom>
          <a:solidFill>
            <a:srgbClr val="E2DDD5"/>
          </a:solidFill>
          <a:ln>
            <a:noFill/>
          </a:ln>
          <a:effectLst/>
        </p:spPr>
        <p:txBody>
          <a:bodyPr rtlCol="0" anchor="ctr"/>
          <a:lstStyle/>
          <a:p>
            <a:endParaRPr/>
          </a:p>
        </p:txBody>
      </p:sp>
      <p:sp>
        <p:nvSpPr>
          <p:cNvPr id="9" name="Rectangle 8"/>
          <p:cNvSpPr/>
          <p:nvPr/>
        </p:nvSpPr>
        <p:spPr>
          <a:xfrm>
            <a:off x="482600" y="940181"/>
            <a:ext cx="12700" cy="5092319"/>
          </a:xfrm>
          <a:prstGeom prst="rect">
            <a:avLst/>
          </a:prstGeom>
          <a:solidFill>
            <a:srgbClr val="E2DDD5"/>
          </a:solidFill>
          <a:ln>
            <a:noFill/>
          </a:ln>
          <a:effectLst/>
        </p:spPr>
        <p:txBody>
          <a:bodyPr rtlCol="0" anchor="ctr"/>
          <a:lstStyle/>
          <a:p>
            <a:endParaRPr/>
          </a:p>
        </p:txBody>
      </p:sp>
      <p:sp>
        <p:nvSpPr>
          <p:cNvPr id="10" name="Rounded Rectangle 9"/>
          <p:cNvSpPr/>
          <p:nvPr/>
        </p:nvSpPr>
        <p:spPr>
          <a:xfrm>
            <a:off x="660400" y="1130681"/>
            <a:ext cx="2076450" cy="209550"/>
          </a:xfrm>
          <a:prstGeom prst="roundRect">
            <a:avLst>
              <a:gd name="adj" fmla="val 50000"/>
            </a:avLst>
          </a:prstGeom>
          <a:solidFill>
            <a:srgbClr val="D4A373">
              <a:alpha val="12000"/>
            </a:srgbClr>
          </a:solidFill>
          <a:ln>
            <a:noFill/>
          </a:ln>
          <a:effectLst/>
        </p:spPr>
        <p:txBody>
          <a:bodyPr rtlCol="0" anchor="ctr"/>
          <a:lstStyle/>
          <a:p>
            <a:endParaRPr/>
          </a:p>
        </p:txBody>
      </p:sp>
      <p:sp>
        <p:nvSpPr>
          <p:cNvPr id="11" name="TextBox 10"/>
          <p:cNvSpPr txBox="1"/>
          <p:nvPr/>
        </p:nvSpPr>
        <p:spPr>
          <a:xfrm>
            <a:off x="749300" y="1156081"/>
            <a:ext cx="2373312" cy="158750"/>
          </a:xfrm>
          <a:prstGeom prst="rect">
            <a:avLst/>
          </a:prstGeom>
          <a:noFill/>
        </p:spPr>
        <p:txBody>
          <a:bodyPr wrap="none" lIns="0" tIns="0" rIns="0" bIns="0" anchor="t">
            <a:noAutofit/>
          </a:bodyPr>
          <a:lstStyle/>
          <a:p>
            <a:pPr algn="l">
              <a:lnSpc>
                <a:spcPts val="1190"/>
              </a:lnSpc>
            </a:pPr>
            <a:r>
              <a:rPr sz="850" b="1">
                <a:solidFill>
                  <a:srgbClr val="D4A373"/>
                </a:solidFill>
                <a:latin typeface="Microsoft JhengHei"/>
                <a:ea typeface="Microsoft JhengHei"/>
                <a:cs typeface="Microsoft JhengHei"/>
              </a:rPr>
              <a:t>Nutritional Strategy ｜ 降脂營養策略</a:t>
            </a:r>
          </a:p>
        </p:txBody>
      </p:sp>
      <p:sp>
        <p:nvSpPr>
          <p:cNvPr id="12" name="TextBox 11"/>
          <p:cNvSpPr txBox="1"/>
          <p:nvPr/>
        </p:nvSpPr>
        <p:spPr>
          <a:xfrm>
            <a:off x="660400" y="1365631"/>
            <a:ext cx="4182110" cy="279400"/>
          </a:xfrm>
          <a:prstGeom prst="rect">
            <a:avLst/>
          </a:prstGeom>
          <a:noFill/>
        </p:spPr>
        <p:txBody>
          <a:bodyPr wrap="none" lIns="0" tIns="0" rIns="0" bIns="0" anchor="t">
            <a:noAutofit/>
          </a:bodyPr>
          <a:lstStyle/>
          <a:p>
            <a:pPr algn="l">
              <a:lnSpc>
                <a:spcPts val="1880"/>
              </a:lnSpc>
            </a:pPr>
            <a:r>
              <a:rPr sz="1500" b="1">
                <a:solidFill>
                  <a:srgbClr val="8C5E2D"/>
                </a:solidFill>
                <a:latin typeface="Microsoft JhengHei"/>
                <a:ea typeface="Microsoft JhengHei"/>
                <a:cs typeface="Microsoft JhengHei"/>
              </a:rPr>
              <a:t>1. Dietary Modulation </a:t>
            </a:r>
            <a:r>
              <a:rPr sz="1200" b="1">
                <a:solidFill>
                  <a:srgbClr val="78716C"/>
                </a:solidFill>
                <a:latin typeface="Microsoft JhengHei"/>
                <a:ea typeface="Microsoft JhengHei"/>
                <a:cs typeface="Microsoft JhengHei"/>
              </a:rPr>
              <a:t>(高血脂飲食處方)</a:t>
            </a:r>
          </a:p>
        </p:txBody>
      </p:sp>
      <p:sp>
        <p:nvSpPr>
          <p:cNvPr id="13" name="TextBox 12"/>
          <p:cNvSpPr txBox="1"/>
          <p:nvPr/>
        </p:nvSpPr>
        <p:spPr>
          <a:xfrm>
            <a:off x="825500" y="1686306"/>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Mediterranean Dietary Pattern:</a:t>
            </a:r>
            <a:r>
              <a:rPr sz="1150" b="0">
                <a:solidFill>
                  <a:srgbClr val="44403C"/>
                </a:solidFill>
                <a:latin typeface="Microsoft JhengHei"/>
                <a:ea typeface="Microsoft JhengHei"/>
                <a:cs typeface="Microsoft JhengHei"/>
              </a:rPr>
              <a:t> Emphasize EVOO, nuts, vegetables, and legumes (PREDIMED: 30% MACE drop).</a:t>
            </a:r>
          </a:p>
        </p:txBody>
      </p:sp>
      <p:sp>
        <p:nvSpPr>
          <p:cNvPr id="14" name="TextBox 13"/>
          <p:cNvSpPr txBox="1"/>
          <p:nvPr/>
        </p:nvSpPr>
        <p:spPr>
          <a:xfrm>
            <a:off x="825500" y="2128838"/>
            <a:ext cx="4596686"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地中海飲食：特級初榨橄欖油、堅果與豆類，減少 30% 心血管事件。</a:t>
            </a:r>
          </a:p>
        </p:txBody>
      </p:sp>
      <p:sp>
        <p:nvSpPr>
          <p:cNvPr id="15" name="TextBox 14"/>
          <p:cNvSpPr txBox="1"/>
          <p:nvPr/>
        </p:nvSpPr>
        <p:spPr>
          <a:xfrm>
            <a:off x="825500" y="2335530"/>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Saturated &amp; Trans Fats:</a:t>
            </a:r>
            <a:r>
              <a:rPr sz="1150" b="0">
                <a:solidFill>
                  <a:srgbClr val="44403C"/>
                </a:solidFill>
                <a:latin typeface="Microsoft JhengHei"/>
                <a:ea typeface="Microsoft JhengHei"/>
                <a:cs typeface="Microsoft JhengHei"/>
              </a:rPr>
              <a:t> Saturated fat &lt; 7% daily calories; eliminate trans fats.</a:t>
            </a:r>
          </a:p>
        </p:txBody>
      </p:sp>
      <p:sp>
        <p:nvSpPr>
          <p:cNvPr id="16" name="TextBox 15"/>
          <p:cNvSpPr txBox="1"/>
          <p:nvPr/>
        </p:nvSpPr>
        <p:spPr>
          <a:xfrm>
            <a:off x="825500" y="2777998"/>
            <a:ext cx="4211320"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飽和脂肪嚴格限制於每日總熱量 7% 以下，徹底杜絕反式脂肪。</a:t>
            </a:r>
          </a:p>
        </p:txBody>
      </p:sp>
      <p:sp>
        <p:nvSpPr>
          <p:cNvPr id="17" name="TextBox 16"/>
          <p:cNvSpPr txBox="1"/>
          <p:nvPr/>
        </p:nvSpPr>
        <p:spPr>
          <a:xfrm>
            <a:off x="825500" y="2984690"/>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Viscous Soluble Fiber:</a:t>
            </a:r>
            <a:r>
              <a:rPr sz="1150" b="0">
                <a:solidFill>
                  <a:srgbClr val="44403C"/>
                </a:solidFill>
                <a:latin typeface="Microsoft JhengHei"/>
                <a:ea typeface="Microsoft JhengHei"/>
                <a:cs typeface="Microsoft JhengHei"/>
              </a:rPr>
              <a:t> 10–25 g/day from oats and psyllium binds intestinal bile acids.</a:t>
            </a:r>
          </a:p>
        </p:txBody>
      </p:sp>
      <p:sp>
        <p:nvSpPr>
          <p:cNvPr id="18" name="TextBox 17"/>
          <p:cNvSpPr txBox="1"/>
          <p:nvPr/>
        </p:nvSpPr>
        <p:spPr>
          <a:xfrm>
            <a:off x="825500" y="3427222"/>
            <a:ext cx="5662771"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每日 10–25 克水溶性膳食纖維（燕麥、洋車前子），促進膽鹽排出（降 5–10% LDL）。</a:t>
            </a:r>
          </a:p>
        </p:txBody>
      </p:sp>
      <p:sp>
        <p:nvSpPr>
          <p:cNvPr id="19" name="TextBox 18"/>
          <p:cNvSpPr txBox="1"/>
          <p:nvPr/>
        </p:nvSpPr>
        <p:spPr>
          <a:xfrm>
            <a:off x="825500" y="3633914"/>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Plant Stanols / Sterols:</a:t>
            </a:r>
            <a:r>
              <a:rPr sz="1150" b="0">
                <a:solidFill>
                  <a:srgbClr val="44403C"/>
                </a:solidFill>
                <a:latin typeface="Microsoft JhengHei"/>
                <a:ea typeface="Microsoft JhengHei"/>
                <a:cs typeface="Microsoft JhengHei"/>
              </a:rPr>
              <a:t> 2 g/day competitively displaces cholesterol absorption.</a:t>
            </a:r>
          </a:p>
        </p:txBody>
      </p:sp>
      <p:sp>
        <p:nvSpPr>
          <p:cNvPr id="20" name="TextBox 19"/>
          <p:cNvSpPr txBox="1"/>
          <p:nvPr/>
        </p:nvSpPr>
        <p:spPr>
          <a:xfrm>
            <a:off x="825500" y="4076383"/>
            <a:ext cx="4501277"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每日 2 克植物固醇，競爭性抑制小腸膽固醇吸收（降 8–12% LDL）。</a:t>
            </a:r>
          </a:p>
        </p:txBody>
      </p:sp>
      <p:sp>
        <p:nvSpPr>
          <p:cNvPr id="21" name="Rounded Rectangle 20"/>
          <p:cNvSpPr/>
          <p:nvPr/>
        </p:nvSpPr>
        <p:spPr>
          <a:xfrm>
            <a:off x="660400" y="5372100"/>
            <a:ext cx="5156200" cy="508000"/>
          </a:xfrm>
          <a:prstGeom prst="roundRect">
            <a:avLst>
              <a:gd name="adj" fmla="val 15000"/>
            </a:avLst>
          </a:prstGeom>
          <a:solidFill>
            <a:srgbClr val="D4A373">
              <a:alpha val="12000"/>
            </a:srgbClr>
          </a:solidFill>
          <a:ln>
            <a:noFill/>
          </a:ln>
          <a:effectLst/>
        </p:spPr>
        <p:txBody>
          <a:bodyPr rtlCol="0" anchor="ctr"/>
          <a:lstStyle/>
          <a:p>
            <a:endParaRPr/>
          </a:p>
        </p:txBody>
      </p:sp>
      <p:sp>
        <p:nvSpPr>
          <p:cNvPr id="22" name="TextBox 21"/>
          <p:cNvSpPr txBox="1"/>
          <p:nvPr/>
        </p:nvSpPr>
        <p:spPr>
          <a:xfrm>
            <a:off x="774700" y="5448300"/>
            <a:ext cx="6150689" cy="184150"/>
          </a:xfrm>
          <a:prstGeom prst="rect">
            <a:avLst/>
          </a:prstGeom>
          <a:noFill/>
        </p:spPr>
        <p:txBody>
          <a:bodyPr wrap="none" lIns="0" tIns="0" rIns="0" bIns="0" anchor="t">
            <a:noAutofit/>
          </a:bodyPr>
          <a:lstStyle/>
          <a:p>
            <a:pPr algn="l">
              <a:lnSpc>
                <a:spcPts val="1400"/>
              </a:lnSpc>
            </a:pPr>
            <a:r>
              <a:rPr sz="1000" b="1">
                <a:solidFill>
                  <a:srgbClr val="8C5E2D"/>
                </a:solidFill>
                <a:latin typeface="Microsoft JhengHei"/>
                <a:ea typeface="Microsoft JhengHei"/>
                <a:cs typeface="Microsoft JhengHei"/>
              </a:rPr>
              <a:t>Dietary synergy lowers LDL by 10%–15% and improves vascular endothelium</a:t>
            </a:r>
          </a:p>
        </p:txBody>
      </p:sp>
      <p:sp>
        <p:nvSpPr>
          <p:cNvPr id="23" name="TextBox 22"/>
          <p:cNvSpPr txBox="1"/>
          <p:nvPr/>
        </p:nvSpPr>
        <p:spPr>
          <a:xfrm>
            <a:off x="774700" y="5645150"/>
            <a:ext cx="4086463" cy="158750"/>
          </a:xfrm>
          <a:prstGeom prst="rect">
            <a:avLst/>
          </a:prstGeom>
          <a:noFill/>
        </p:spPr>
        <p:txBody>
          <a:bodyPr wrap="none" lIns="0" tIns="0" rIns="0" bIns="0" anchor="t">
            <a:noAutofit/>
          </a:bodyPr>
          <a:lstStyle/>
          <a:p>
            <a:pPr algn="l">
              <a:lnSpc>
                <a:spcPts val="1190"/>
              </a:lnSpc>
            </a:pPr>
            <a:r>
              <a:rPr sz="850" b="1">
                <a:solidFill>
                  <a:srgbClr val="976E42"/>
                </a:solidFill>
                <a:latin typeface="Microsoft JhengHei"/>
                <a:ea typeface="Microsoft JhengHei"/>
                <a:cs typeface="Microsoft JhengHei"/>
              </a:rPr>
              <a:t>綜合飲食介入可降低約 10%–15% 膽固醇，並大幅修復血管內皮機能</a:t>
            </a:r>
          </a:p>
        </p:txBody>
      </p:sp>
      <p:sp>
        <p:nvSpPr>
          <p:cNvPr id="24" name="Rounded Rectangle 23"/>
          <p:cNvSpPr/>
          <p:nvPr/>
        </p:nvSpPr>
        <p:spPr>
          <a:xfrm>
            <a:off x="6197600" y="940181"/>
            <a:ext cx="5511800" cy="5092319"/>
          </a:xfrm>
          <a:prstGeom prst="roundRect">
            <a:avLst>
              <a:gd name="adj" fmla="val 2493"/>
            </a:avLst>
          </a:prstGeom>
          <a:solidFill>
            <a:srgbClr val="2D6A4F">
              <a:alpha val="8000"/>
            </a:srgbClr>
          </a:solidFill>
          <a:ln>
            <a:noFill/>
          </a:ln>
          <a:effectLst/>
        </p:spPr>
        <p:txBody>
          <a:bodyPr rtlCol="0" anchor="ctr"/>
          <a:lstStyle/>
          <a:p>
            <a:endParaRPr/>
          </a:p>
        </p:txBody>
      </p:sp>
      <p:sp>
        <p:nvSpPr>
          <p:cNvPr id="25" name="Rectangle 24"/>
          <p:cNvSpPr/>
          <p:nvPr/>
        </p:nvSpPr>
        <p:spPr>
          <a:xfrm>
            <a:off x="6197600" y="940181"/>
            <a:ext cx="5511800" cy="50800"/>
          </a:xfrm>
          <a:prstGeom prst="rect">
            <a:avLst/>
          </a:prstGeom>
          <a:solidFill>
            <a:srgbClr val="2D6A4F"/>
          </a:solidFill>
          <a:ln>
            <a:noFill/>
          </a:ln>
          <a:effectLst/>
        </p:spPr>
        <p:txBody>
          <a:bodyPr rtlCol="0" anchor="ctr"/>
          <a:lstStyle/>
          <a:p>
            <a:endParaRPr/>
          </a:p>
        </p:txBody>
      </p:sp>
      <p:sp>
        <p:nvSpPr>
          <p:cNvPr id="26" name="Rectangle 25"/>
          <p:cNvSpPr/>
          <p:nvPr/>
        </p:nvSpPr>
        <p:spPr>
          <a:xfrm>
            <a:off x="11696700" y="940181"/>
            <a:ext cx="12700" cy="5092319"/>
          </a:xfrm>
          <a:prstGeom prst="rect">
            <a:avLst/>
          </a:prstGeom>
          <a:solidFill>
            <a:srgbClr val="E2DDD5"/>
          </a:solidFill>
          <a:ln>
            <a:noFill/>
          </a:ln>
          <a:effectLst/>
        </p:spPr>
        <p:txBody>
          <a:bodyPr rtlCol="0" anchor="ctr"/>
          <a:lstStyle/>
          <a:p>
            <a:endParaRPr/>
          </a:p>
        </p:txBody>
      </p:sp>
      <p:sp>
        <p:nvSpPr>
          <p:cNvPr id="27" name="Rectangle 26"/>
          <p:cNvSpPr/>
          <p:nvPr/>
        </p:nvSpPr>
        <p:spPr>
          <a:xfrm>
            <a:off x="6197600" y="6019800"/>
            <a:ext cx="5511800" cy="12700"/>
          </a:xfrm>
          <a:prstGeom prst="rect">
            <a:avLst/>
          </a:prstGeom>
          <a:solidFill>
            <a:srgbClr val="E2DDD5"/>
          </a:solidFill>
          <a:ln>
            <a:noFill/>
          </a:ln>
          <a:effectLst/>
        </p:spPr>
        <p:txBody>
          <a:bodyPr rtlCol="0" anchor="ctr"/>
          <a:lstStyle/>
          <a:p>
            <a:endParaRPr/>
          </a:p>
        </p:txBody>
      </p:sp>
      <p:sp>
        <p:nvSpPr>
          <p:cNvPr id="28" name="Rectangle 27"/>
          <p:cNvSpPr/>
          <p:nvPr/>
        </p:nvSpPr>
        <p:spPr>
          <a:xfrm>
            <a:off x="6197600" y="940181"/>
            <a:ext cx="12700" cy="5092319"/>
          </a:xfrm>
          <a:prstGeom prst="rect">
            <a:avLst/>
          </a:prstGeom>
          <a:solidFill>
            <a:srgbClr val="E2DDD5"/>
          </a:solidFill>
          <a:ln>
            <a:noFill/>
          </a:ln>
          <a:effectLst/>
        </p:spPr>
        <p:txBody>
          <a:bodyPr rtlCol="0" anchor="ctr"/>
          <a:lstStyle/>
          <a:p>
            <a:endParaRPr/>
          </a:p>
        </p:txBody>
      </p:sp>
      <p:sp>
        <p:nvSpPr>
          <p:cNvPr id="29" name="Rounded Rectangle 28"/>
          <p:cNvSpPr/>
          <p:nvPr/>
        </p:nvSpPr>
        <p:spPr>
          <a:xfrm>
            <a:off x="6375400" y="1130681"/>
            <a:ext cx="1871662" cy="209550"/>
          </a:xfrm>
          <a:prstGeom prst="roundRect">
            <a:avLst>
              <a:gd name="adj" fmla="val 50000"/>
            </a:avLst>
          </a:prstGeom>
          <a:solidFill>
            <a:srgbClr val="2D6A4F">
              <a:alpha val="8000"/>
            </a:srgbClr>
          </a:solidFill>
          <a:ln>
            <a:noFill/>
          </a:ln>
          <a:effectLst/>
        </p:spPr>
        <p:txBody>
          <a:bodyPr rtlCol="0" anchor="ctr"/>
          <a:lstStyle/>
          <a:p>
            <a:endParaRPr/>
          </a:p>
        </p:txBody>
      </p:sp>
      <p:sp>
        <p:nvSpPr>
          <p:cNvPr id="30" name="TextBox 29"/>
          <p:cNvSpPr txBox="1"/>
          <p:nvPr/>
        </p:nvSpPr>
        <p:spPr>
          <a:xfrm>
            <a:off x="6464300" y="1156081"/>
            <a:ext cx="2117328" cy="158750"/>
          </a:xfrm>
          <a:prstGeom prst="rect">
            <a:avLst/>
          </a:prstGeom>
          <a:noFill/>
        </p:spPr>
        <p:txBody>
          <a:bodyPr wrap="none" lIns="0" tIns="0" rIns="0" bIns="0" anchor="t">
            <a:noAutofit/>
          </a:bodyPr>
          <a:lstStyle/>
          <a:p>
            <a:pPr algn="l">
              <a:lnSpc>
                <a:spcPts val="1190"/>
              </a:lnSpc>
            </a:pPr>
            <a:r>
              <a:rPr sz="850" b="1">
                <a:solidFill>
                  <a:srgbClr val="2D6A4F"/>
                </a:solidFill>
                <a:latin typeface="Microsoft JhengHei"/>
                <a:ea typeface="Microsoft JhengHei"/>
                <a:cs typeface="Microsoft JhengHei"/>
              </a:rPr>
              <a:t>Rehabilitation ｜ 復健與行為介入</a:t>
            </a:r>
          </a:p>
        </p:txBody>
      </p:sp>
      <p:sp>
        <p:nvSpPr>
          <p:cNvPr id="31" name="TextBox 30"/>
          <p:cNvSpPr txBox="1"/>
          <p:nvPr/>
        </p:nvSpPr>
        <p:spPr>
          <a:xfrm>
            <a:off x="6375400" y="1365631"/>
            <a:ext cx="4924742" cy="279400"/>
          </a:xfrm>
          <a:prstGeom prst="rect">
            <a:avLst/>
          </a:prstGeom>
          <a:noFill/>
        </p:spPr>
        <p:txBody>
          <a:bodyPr wrap="none" lIns="0" tIns="0" rIns="0" bIns="0" anchor="t">
            <a:noAutofit/>
          </a:bodyPr>
          <a:lstStyle/>
          <a:p>
            <a:pPr algn="l">
              <a:lnSpc>
                <a:spcPts val="1880"/>
              </a:lnSpc>
            </a:pPr>
            <a:r>
              <a:rPr sz="1500" b="1">
                <a:solidFill>
                  <a:srgbClr val="2D6A4F"/>
                </a:solidFill>
                <a:latin typeface="Microsoft JhengHei"/>
                <a:ea typeface="Microsoft JhengHei"/>
                <a:cs typeface="Microsoft JhengHei"/>
              </a:rPr>
              <a:t>2. Cardiac Rehab &amp; Lifestyle </a:t>
            </a:r>
            <a:r>
              <a:rPr sz="1200" b="1">
                <a:solidFill>
                  <a:srgbClr val="78716C"/>
                </a:solidFill>
                <a:latin typeface="Microsoft JhengHei"/>
                <a:ea typeface="Microsoft JhengHei"/>
                <a:cs typeface="Microsoft JhengHei"/>
              </a:rPr>
              <a:t>(心臟復健與習慣)</a:t>
            </a:r>
          </a:p>
        </p:txBody>
      </p:sp>
      <p:sp>
        <p:nvSpPr>
          <p:cNvPr id="32" name="TextBox 31"/>
          <p:cNvSpPr txBox="1"/>
          <p:nvPr/>
        </p:nvSpPr>
        <p:spPr>
          <a:xfrm>
            <a:off x="6540500" y="1686306"/>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Phase I to II Cardiac Rehab:</a:t>
            </a:r>
            <a:r>
              <a:rPr sz="1150" b="0">
                <a:solidFill>
                  <a:srgbClr val="44403C"/>
                </a:solidFill>
                <a:latin typeface="Microsoft JhengHei"/>
                <a:ea typeface="Microsoft JhengHei"/>
                <a:cs typeface="Microsoft JhengHei"/>
              </a:rPr>
              <a:t> Exercise training reduces post-MI mortality by 26%.</a:t>
            </a:r>
          </a:p>
        </p:txBody>
      </p:sp>
      <p:sp>
        <p:nvSpPr>
          <p:cNvPr id="33" name="TextBox 32"/>
          <p:cNvSpPr txBox="1"/>
          <p:nvPr/>
        </p:nvSpPr>
        <p:spPr>
          <a:xfrm>
            <a:off x="6540500" y="2128838"/>
            <a:ext cx="4144248"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一期住院至二期門診心臟復健：運動訓練降低 26% 總死亡率。</a:t>
            </a:r>
          </a:p>
        </p:txBody>
      </p:sp>
      <p:sp>
        <p:nvSpPr>
          <p:cNvPr id="34" name="TextBox 33"/>
          <p:cNvSpPr txBox="1"/>
          <p:nvPr/>
        </p:nvSpPr>
        <p:spPr>
          <a:xfrm>
            <a:off x="6540500" y="2335530"/>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Aerobic Activity:</a:t>
            </a:r>
            <a:r>
              <a:rPr sz="1150" b="0">
                <a:solidFill>
                  <a:srgbClr val="44403C"/>
                </a:solidFill>
                <a:latin typeface="Microsoft JhengHei"/>
                <a:ea typeface="Microsoft JhengHei"/>
                <a:cs typeface="Microsoft JhengHei"/>
              </a:rPr>
              <a:t> ≥ 150 min/week moderate exercise raises HDL and lowers TG.</a:t>
            </a:r>
          </a:p>
        </p:txBody>
      </p:sp>
      <p:sp>
        <p:nvSpPr>
          <p:cNvPr id="35" name="TextBox 34"/>
          <p:cNvSpPr txBox="1"/>
          <p:nvPr/>
        </p:nvSpPr>
        <p:spPr>
          <a:xfrm>
            <a:off x="6540500" y="2777998"/>
            <a:ext cx="4787424"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每週 ≥ 150 分鐘中強度有氧運動，提高保護性 HDL 並降低三酸甘油酯。</a:t>
            </a:r>
          </a:p>
        </p:txBody>
      </p:sp>
      <p:sp>
        <p:nvSpPr>
          <p:cNvPr id="36" name="TextBox 35"/>
          <p:cNvSpPr txBox="1"/>
          <p:nvPr/>
        </p:nvSpPr>
        <p:spPr>
          <a:xfrm>
            <a:off x="6540500" y="2984690"/>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Complete Smoking Cessation:</a:t>
            </a:r>
            <a:r>
              <a:rPr sz="1150" b="0">
                <a:solidFill>
                  <a:srgbClr val="44403C"/>
                </a:solidFill>
                <a:latin typeface="Microsoft JhengHei"/>
                <a:ea typeface="Microsoft JhengHei"/>
                <a:cs typeface="Microsoft JhengHei"/>
              </a:rPr>
              <a:t> Halves recurrent infarction risk within 1 year.</a:t>
            </a:r>
          </a:p>
        </p:txBody>
      </p:sp>
      <p:sp>
        <p:nvSpPr>
          <p:cNvPr id="37" name="TextBox 36"/>
          <p:cNvSpPr txBox="1"/>
          <p:nvPr/>
        </p:nvSpPr>
        <p:spPr>
          <a:xfrm>
            <a:off x="6540500" y="3427222"/>
            <a:ext cx="4222750"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徹底戒菸：終止內皮氧化壓力，一年內再發心梗風險直接減半。</a:t>
            </a:r>
          </a:p>
        </p:txBody>
      </p:sp>
      <p:sp>
        <p:nvSpPr>
          <p:cNvPr id="38" name="TextBox 37"/>
          <p:cNvSpPr txBox="1"/>
          <p:nvPr/>
        </p:nvSpPr>
        <p:spPr>
          <a:xfrm>
            <a:off x="6540500" y="3633914"/>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Metabolic Control:</a:t>
            </a:r>
            <a:r>
              <a:rPr sz="1150" b="0">
                <a:solidFill>
                  <a:srgbClr val="44403C"/>
                </a:solidFill>
                <a:latin typeface="Microsoft JhengHei"/>
                <a:ea typeface="Microsoft JhengHei"/>
                <a:cs typeface="Microsoft JhengHei"/>
              </a:rPr>
              <a:t> BMI &lt; 24 kg/m² to reduce insulin resistance and vascular inflammation.</a:t>
            </a:r>
          </a:p>
        </p:txBody>
      </p:sp>
      <p:sp>
        <p:nvSpPr>
          <p:cNvPr id="39" name="TextBox 38"/>
          <p:cNvSpPr txBox="1"/>
          <p:nvPr/>
        </p:nvSpPr>
        <p:spPr>
          <a:xfrm>
            <a:off x="6540500" y="4076383"/>
            <a:ext cx="4388564"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體重控制：維持 BMI &lt; 24，減輕胰島素阻抗與全身血管慢性發炎。</a:t>
            </a:r>
          </a:p>
        </p:txBody>
      </p:sp>
      <p:sp>
        <p:nvSpPr>
          <p:cNvPr id="40" name="Rounded Rectangle 39"/>
          <p:cNvSpPr/>
          <p:nvPr/>
        </p:nvSpPr>
        <p:spPr>
          <a:xfrm>
            <a:off x="6375400" y="5372100"/>
            <a:ext cx="5156200" cy="508000"/>
          </a:xfrm>
          <a:prstGeom prst="roundRect">
            <a:avLst>
              <a:gd name="adj" fmla="val 15000"/>
            </a:avLst>
          </a:prstGeom>
          <a:solidFill>
            <a:srgbClr val="2D6A4F">
              <a:alpha val="8000"/>
            </a:srgbClr>
          </a:solidFill>
          <a:ln>
            <a:noFill/>
          </a:ln>
          <a:effectLst/>
        </p:spPr>
        <p:txBody>
          <a:bodyPr rtlCol="0" anchor="ctr"/>
          <a:lstStyle/>
          <a:p>
            <a:endParaRPr/>
          </a:p>
        </p:txBody>
      </p:sp>
      <p:sp>
        <p:nvSpPr>
          <p:cNvPr id="41" name="TextBox 40"/>
          <p:cNvSpPr txBox="1"/>
          <p:nvPr/>
        </p:nvSpPr>
        <p:spPr>
          <a:xfrm>
            <a:off x="6489700" y="5448300"/>
            <a:ext cx="5490924" cy="184150"/>
          </a:xfrm>
          <a:prstGeom prst="rect">
            <a:avLst/>
          </a:prstGeom>
          <a:noFill/>
        </p:spPr>
        <p:txBody>
          <a:bodyPr wrap="none" lIns="0" tIns="0" rIns="0" bIns="0" anchor="t">
            <a:noAutofit/>
          </a:bodyPr>
          <a:lstStyle/>
          <a:p>
            <a:pPr algn="l">
              <a:lnSpc>
                <a:spcPts val="1400"/>
              </a:lnSpc>
            </a:pPr>
            <a:r>
              <a:rPr sz="1000" b="1">
                <a:solidFill>
                  <a:srgbClr val="2D6A4F"/>
                </a:solidFill>
                <a:latin typeface="Microsoft JhengHei"/>
                <a:ea typeface="Microsoft JhengHei"/>
                <a:cs typeface="Microsoft JhengHei"/>
              </a:rPr>
              <a:t>✓ Foundational for life, but diet alone cannot bridge a 118 mg/dL gap</a:t>
            </a:r>
          </a:p>
        </p:txBody>
      </p:sp>
      <p:sp>
        <p:nvSpPr>
          <p:cNvPr id="42" name="TextBox 41"/>
          <p:cNvSpPr txBox="1"/>
          <p:nvPr/>
        </p:nvSpPr>
        <p:spPr>
          <a:xfrm>
            <a:off x="6489700" y="5645150"/>
            <a:ext cx="4942126" cy="158750"/>
          </a:xfrm>
          <a:prstGeom prst="rect">
            <a:avLst/>
          </a:prstGeom>
          <a:noFill/>
        </p:spPr>
        <p:txBody>
          <a:bodyPr wrap="none" lIns="0" tIns="0" rIns="0" bIns="0" anchor="t">
            <a:noAutofit/>
          </a:bodyPr>
          <a:lstStyle/>
          <a:p>
            <a:pPr algn="l">
              <a:lnSpc>
                <a:spcPts val="1190"/>
              </a:lnSpc>
            </a:pPr>
            <a:r>
              <a:rPr sz="850" b="1">
                <a:solidFill>
                  <a:srgbClr val="427860"/>
                </a:solidFill>
                <a:latin typeface="Microsoft JhengHei"/>
                <a:ea typeface="Microsoft JhengHei"/>
                <a:cs typeface="Microsoft JhengHei"/>
              </a:rPr>
              <a:t>生活型態是終生健康基石，但單靠飲食運動無法跨越洪先生 118 mg/dL 的治療缺口</a:t>
            </a:r>
          </a:p>
        </p:txBody>
      </p:sp>
      <p:sp>
        <p:nvSpPr>
          <p:cNvPr id="43" name="Rectangle 42"/>
          <p:cNvSpPr/>
          <p:nvPr/>
        </p:nvSpPr>
        <p:spPr>
          <a:xfrm>
            <a:off x="482600" y="6184900"/>
            <a:ext cx="11226800" cy="12700"/>
          </a:xfrm>
          <a:prstGeom prst="rect">
            <a:avLst/>
          </a:prstGeom>
          <a:solidFill>
            <a:srgbClr val="EFECE6"/>
          </a:solidFill>
          <a:ln>
            <a:noFill/>
          </a:ln>
          <a:effectLst/>
        </p:spPr>
        <p:txBody>
          <a:bodyPr rtlCol="0" anchor="ctr"/>
          <a:lstStyle/>
          <a:p>
            <a:endParaRPr/>
          </a:p>
        </p:txBody>
      </p:sp>
      <p:sp>
        <p:nvSpPr>
          <p:cNvPr id="44" name="TextBox 43"/>
          <p:cNvSpPr txBox="1"/>
          <p:nvPr/>
        </p:nvSpPr>
        <p:spPr>
          <a:xfrm>
            <a:off x="482600" y="6235700"/>
            <a:ext cx="8788956" cy="266700"/>
          </a:xfrm>
          <a:prstGeom prst="rect">
            <a:avLst/>
          </a:prstGeom>
          <a:noFill/>
        </p:spPr>
        <p:txBody>
          <a:bodyPr wrap="none" lIns="0" tIns="0" rIns="0" bIns="0" anchor="t">
            <a:noAutofit/>
          </a:bodyPr>
          <a:lstStyle/>
          <a:p>
            <a:pPr algn="l">
              <a:lnSpc>
                <a:spcPts val="1050"/>
              </a:lnSpc>
            </a:pPr>
            <a:r>
              <a:rPr sz="750" b="0">
                <a:solidFill>
                  <a:srgbClr val="78716C"/>
                </a:solidFill>
                <a:latin typeface="Microsoft JhengHei"/>
                <a:ea typeface="Microsoft JhengHei"/>
                <a:cs typeface="Microsoft JhengHei"/>
              </a:rPr>
              <a:t>1. Estruch R, et al. Primary Prevention of Cardiovascular Disease with a Mediterranean Diet (PREDIMED). N Engl J Med. 2018;378(25):e34. PMID: 29897866.</a:t>
            </a:r>
          </a:p>
          <a:p>
            <a:pPr algn="l">
              <a:lnSpc>
                <a:spcPts val="1050"/>
              </a:lnSpc>
            </a:pPr>
            <a:r>
              <a:rPr sz="750" b="0">
                <a:solidFill>
                  <a:srgbClr val="78716C"/>
                </a:solidFill>
                <a:latin typeface="Microsoft JhengHei"/>
                <a:ea typeface="Microsoft JhengHei"/>
                <a:cs typeface="Microsoft JhengHei"/>
              </a:rPr>
              <a:t>2. Ambrosetti M, et al. Secondary Prevention through Comprehensive Cardiovascular Rehabilitation. Eur J Prev Cardiol. 2021;27(18):1999-2021. PMID: 33647395.</a:t>
            </a:r>
          </a:p>
        </p:txBody>
      </p:sp>
      <p:sp>
        <p:nvSpPr>
          <p:cNvPr id="45" name="Rounded Rectangle 44"/>
          <p:cNvSpPr/>
          <p:nvPr/>
        </p:nvSpPr>
        <p:spPr>
          <a:xfrm>
            <a:off x="8915400" y="254000"/>
            <a:ext cx="555308"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46" name="TextBox 45"/>
          <p:cNvSpPr txBox="1"/>
          <p:nvPr/>
        </p:nvSpPr>
        <p:spPr>
          <a:xfrm>
            <a:off x="9017000" y="304800"/>
            <a:ext cx="441008"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1. Case</a:t>
            </a:r>
          </a:p>
        </p:txBody>
      </p:sp>
      <p:sp>
        <p:nvSpPr>
          <p:cNvPr id="47" name="Rounded Rectangle 46"/>
          <p:cNvSpPr/>
          <p:nvPr/>
        </p:nvSpPr>
        <p:spPr>
          <a:xfrm>
            <a:off x="9521508" y="254000"/>
            <a:ext cx="684022" cy="254000"/>
          </a:xfrm>
          <a:prstGeom prst="roundRect">
            <a:avLst>
              <a:gd name="adj" fmla="val 50000"/>
            </a:avLst>
          </a:prstGeom>
          <a:solidFill>
            <a:srgbClr val="1E2833"/>
          </a:solidFill>
          <a:ln w="12700">
            <a:solidFill>
              <a:srgbClr val="1E2833"/>
            </a:solidFill>
          </a:ln>
          <a:effectLst/>
        </p:spPr>
        <p:txBody>
          <a:bodyPr rtlCol="0" anchor="ctr"/>
          <a:lstStyle/>
          <a:p>
            <a:endParaRPr/>
          </a:p>
        </p:txBody>
      </p:sp>
      <p:sp>
        <p:nvSpPr>
          <p:cNvPr id="48" name="TextBox 47"/>
          <p:cNvSpPr txBox="1"/>
          <p:nvPr/>
        </p:nvSpPr>
        <p:spPr>
          <a:xfrm>
            <a:off x="9623108" y="304800"/>
            <a:ext cx="601028" cy="152400"/>
          </a:xfrm>
          <a:prstGeom prst="rect">
            <a:avLst/>
          </a:prstGeom>
          <a:noFill/>
        </p:spPr>
        <p:txBody>
          <a:bodyPr wrap="none" lIns="0" tIns="0" rIns="0" bIns="0" anchor="t">
            <a:noAutofit/>
          </a:bodyPr>
          <a:lstStyle/>
          <a:p>
            <a:pPr algn="l">
              <a:lnSpc>
                <a:spcPts val="1120"/>
              </a:lnSpc>
            </a:pPr>
            <a:r>
              <a:rPr sz="800" b="1">
                <a:solidFill>
                  <a:srgbClr val="FFFFFF"/>
                </a:solidFill>
                <a:latin typeface="Microsoft JhengHei"/>
                <a:ea typeface="Microsoft JhengHei"/>
                <a:cs typeface="Microsoft JhengHei"/>
              </a:rPr>
              <a:t>2. Targets</a:t>
            </a:r>
          </a:p>
        </p:txBody>
      </p:sp>
      <p:sp>
        <p:nvSpPr>
          <p:cNvPr id="49" name="Rounded Rectangle 48"/>
          <p:cNvSpPr/>
          <p:nvPr/>
        </p:nvSpPr>
        <p:spPr>
          <a:xfrm>
            <a:off x="10256330" y="254000"/>
            <a:ext cx="729932"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50" name="TextBox 49"/>
          <p:cNvSpPr txBox="1"/>
          <p:nvPr/>
        </p:nvSpPr>
        <p:spPr>
          <a:xfrm>
            <a:off x="10357930" y="304800"/>
            <a:ext cx="658416"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3. Therapy</a:t>
            </a:r>
          </a:p>
        </p:txBody>
      </p:sp>
      <p:sp>
        <p:nvSpPr>
          <p:cNvPr id="51" name="Rounded Rectangle 50"/>
          <p:cNvSpPr/>
          <p:nvPr/>
        </p:nvSpPr>
        <p:spPr>
          <a:xfrm>
            <a:off x="11037126" y="254000"/>
            <a:ext cx="757618"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52" name="TextBox 51"/>
          <p:cNvSpPr txBox="1"/>
          <p:nvPr/>
        </p:nvSpPr>
        <p:spPr>
          <a:xfrm>
            <a:off x="11138726" y="304800"/>
            <a:ext cx="693023"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4. Timeline</a:t>
            </a:r>
          </a:p>
        </p:txBody>
      </p:sp>
      <p:sp>
        <p:nvSpPr>
          <p:cNvPr id="53" name="Rectangle 52"/>
          <p:cNvSpPr/>
          <p:nvPr/>
        </p:nvSpPr>
        <p:spPr>
          <a:xfrm>
            <a:off x="0" y="6527800"/>
            <a:ext cx="12192000" cy="330200"/>
          </a:xfrm>
          <a:prstGeom prst="rect">
            <a:avLst/>
          </a:prstGeom>
          <a:solidFill>
            <a:srgbClr val="FFFFFF"/>
          </a:solidFill>
          <a:ln>
            <a:noFill/>
          </a:ln>
          <a:effectLst/>
        </p:spPr>
        <p:txBody>
          <a:bodyPr rtlCol="0" anchor="ctr"/>
          <a:lstStyle/>
          <a:p>
            <a:endParaRPr/>
          </a:p>
        </p:txBody>
      </p:sp>
      <p:sp>
        <p:nvSpPr>
          <p:cNvPr id="54" name="Rectangle 53"/>
          <p:cNvSpPr/>
          <p:nvPr/>
        </p:nvSpPr>
        <p:spPr>
          <a:xfrm>
            <a:off x="0" y="6527800"/>
            <a:ext cx="12192000" cy="12700"/>
          </a:xfrm>
          <a:prstGeom prst="rect">
            <a:avLst/>
          </a:prstGeom>
          <a:solidFill>
            <a:srgbClr val="EFECE6"/>
          </a:solidFill>
          <a:ln>
            <a:noFill/>
          </a:ln>
          <a:effectLst/>
        </p:spPr>
        <p:txBody>
          <a:bodyPr rtlCol="0" anchor="ctr"/>
          <a:lstStyle/>
          <a:p>
            <a:endParaRPr/>
          </a:p>
        </p:txBody>
      </p:sp>
      <p:sp>
        <p:nvSpPr>
          <p:cNvPr id="55" name="TextBox 54"/>
          <p:cNvSpPr txBox="1"/>
          <p:nvPr/>
        </p:nvSpPr>
        <p:spPr>
          <a:xfrm>
            <a:off x="482600" y="6613525"/>
            <a:ext cx="739299" cy="171450"/>
          </a:xfrm>
          <a:prstGeom prst="rect">
            <a:avLst/>
          </a:prstGeom>
          <a:noFill/>
        </p:spPr>
        <p:txBody>
          <a:bodyPr wrap="none" lIns="0" tIns="0" rIns="0" bIns="0" anchor="t">
            <a:noAutofit/>
          </a:bodyPr>
          <a:lstStyle/>
          <a:p>
            <a:pPr algn="l">
              <a:lnSpc>
                <a:spcPts val="1330"/>
              </a:lnSpc>
            </a:pPr>
            <a:r>
              <a:rPr sz="950" b="1">
                <a:solidFill>
                  <a:srgbClr val="1E2833"/>
                </a:solidFill>
                <a:latin typeface="Microsoft JhengHei"/>
                <a:ea typeface="Microsoft JhengHei"/>
                <a:cs typeface="Microsoft JhengHei"/>
              </a:rPr>
              <a:t>2. Targets</a:t>
            </a:r>
          </a:p>
        </p:txBody>
      </p:sp>
      <p:sp>
        <p:nvSpPr>
          <p:cNvPr id="56" name="Rounded Rectangle 55"/>
          <p:cNvSpPr/>
          <p:nvPr/>
        </p:nvSpPr>
        <p:spPr>
          <a:xfrm>
            <a:off x="1213739" y="6680200"/>
            <a:ext cx="9960292" cy="38100"/>
          </a:xfrm>
          <a:prstGeom prst="roundRect">
            <a:avLst>
              <a:gd name="adj" fmla="val 50000"/>
            </a:avLst>
          </a:prstGeom>
          <a:solidFill>
            <a:srgbClr val="EFECE6"/>
          </a:solidFill>
          <a:ln>
            <a:noFill/>
          </a:ln>
          <a:effectLst/>
        </p:spPr>
        <p:txBody>
          <a:bodyPr rtlCol="0" anchor="ctr"/>
          <a:lstStyle/>
          <a:p>
            <a:endParaRPr/>
          </a:p>
        </p:txBody>
      </p:sp>
      <p:sp>
        <p:nvSpPr>
          <p:cNvPr id="57" name="Rectangle 56"/>
          <p:cNvSpPr/>
          <p:nvPr/>
        </p:nvSpPr>
        <p:spPr>
          <a:xfrm>
            <a:off x="1213739" y="6680200"/>
            <a:ext cx="4980114" cy="38100"/>
          </a:xfrm>
          <a:prstGeom prst="rect">
            <a:avLst/>
          </a:prstGeom>
          <a:solidFill>
            <a:srgbClr val="F3C84B"/>
          </a:solidFill>
          <a:ln>
            <a:noFill/>
          </a:ln>
          <a:effectLst/>
        </p:spPr>
        <p:txBody>
          <a:bodyPr rtlCol="0" anchor="ctr"/>
          <a:lstStyle/>
          <a:p>
            <a:endParaRPr/>
          </a:p>
        </p:txBody>
      </p:sp>
      <p:sp>
        <p:nvSpPr>
          <p:cNvPr id="58" name="TextBox 57"/>
          <p:cNvSpPr txBox="1"/>
          <p:nvPr/>
        </p:nvSpPr>
        <p:spPr>
          <a:xfrm>
            <a:off x="11313732" y="6613525"/>
            <a:ext cx="494586" cy="171450"/>
          </a:xfrm>
          <a:prstGeom prst="rect">
            <a:avLst/>
          </a:prstGeom>
          <a:noFill/>
        </p:spPr>
        <p:txBody>
          <a:bodyPr wrap="none" lIns="0" tIns="0" rIns="0" bIns="0" anchor="t">
            <a:noAutofit/>
          </a:bodyPr>
          <a:lstStyle/>
          <a:p>
            <a:pPr algn="l">
              <a:lnSpc>
                <a:spcPts val="1330"/>
              </a:lnSpc>
            </a:pPr>
            <a:r>
              <a:rPr sz="950" b="1">
                <a:solidFill>
                  <a:srgbClr val="44403C"/>
                </a:solidFill>
                <a:latin typeface="Microsoft JhengHei"/>
                <a:ea typeface="Microsoft JhengHei"/>
                <a:cs typeface="Microsoft JhengHei"/>
              </a:rPr>
              <a:t>05 / 10</a:t>
            </a:r>
          </a:p>
        </p:txBody>
      </p:sp>
      <p:sp>
        <p:nvSpPr>
          <p:cNvPr id="59" name="LINK_Rectangle 58">
            <a:hlinkClick r:id="rId3" action="ppaction://hlinksldjump"/>
          </p:cNvPr>
          <p:cNvSpPr/>
          <p:nvPr/>
        </p:nvSpPr>
        <p:spPr>
          <a:xfrm>
            <a:off x="8915400" y="254000"/>
            <a:ext cx="555327" cy="254000"/>
          </a:xfrm>
          <a:prstGeom prst="rect">
            <a:avLst/>
          </a:prstGeom>
          <a:solidFill>
            <a:srgbClr val="FFFFFF">
              <a:alpha val="0"/>
            </a:srgbClr>
          </a:solidFill>
          <a:ln>
            <a:noFill/>
          </a:ln>
          <a:effectLst/>
        </p:spPr>
        <p:txBody>
          <a:bodyPr rtlCol="0" anchor="ctr"/>
          <a:lstStyle/>
          <a:p>
            <a:pPr algn="ctr"/>
            <a:endParaRPr/>
          </a:p>
        </p:txBody>
      </p:sp>
      <p:sp>
        <p:nvSpPr>
          <p:cNvPr id="60" name="LINK_Rectangle 59">
            <a:hlinkClick r:id="rId4" action="ppaction://hlinksldjump"/>
          </p:cNvPr>
          <p:cNvSpPr/>
          <p:nvPr/>
        </p:nvSpPr>
        <p:spPr>
          <a:xfrm>
            <a:off x="9521527" y="254000"/>
            <a:ext cx="684014" cy="254000"/>
          </a:xfrm>
          <a:prstGeom prst="rect">
            <a:avLst/>
          </a:prstGeom>
          <a:solidFill>
            <a:srgbClr val="FFFFFF">
              <a:alpha val="0"/>
            </a:srgbClr>
          </a:solidFill>
          <a:ln>
            <a:noFill/>
          </a:ln>
          <a:effectLst/>
        </p:spPr>
        <p:txBody>
          <a:bodyPr rtlCol="0" anchor="ctr"/>
          <a:lstStyle/>
          <a:p>
            <a:pPr algn="ctr"/>
            <a:endParaRPr/>
          </a:p>
        </p:txBody>
      </p:sp>
      <p:sp>
        <p:nvSpPr>
          <p:cNvPr id="61" name="LINK_Rectangle 60">
            <a:hlinkClick r:id="rId5" action="ppaction://hlinksldjump"/>
          </p:cNvPr>
          <p:cNvSpPr/>
          <p:nvPr/>
        </p:nvSpPr>
        <p:spPr>
          <a:xfrm>
            <a:off x="10256341" y="254000"/>
            <a:ext cx="729952" cy="254000"/>
          </a:xfrm>
          <a:prstGeom prst="rect">
            <a:avLst/>
          </a:prstGeom>
          <a:solidFill>
            <a:srgbClr val="FFFFFF">
              <a:alpha val="0"/>
            </a:srgbClr>
          </a:solidFill>
          <a:ln>
            <a:noFill/>
          </a:ln>
          <a:effectLst/>
        </p:spPr>
        <p:txBody>
          <a:bodyPr rtlCol="0" anchor="ctr"/>
          <a:lstStyle/>
          <a:p>
            <a:pPr algn="ctr"/>
            <a:endParaRPr/>
          </a:p>
        </p:txBody>
      </p:sp>
      <p:sp>
        <p:nvSpPr>
          <p:cNvPr id="62" name="LINK_Rectangle 61">
            <a:hlinkClick r:id="rId6" action="ppaction://hlinksldjump"/>
          </p:cNvPr>
          <p:cNvSpPr/>
          <p:nvPr/>
        </p:nvSpPr>
        <p:spPr>
          <a:xfrm>
            <a:off x="11037094" y="254000"/>
            <a:ext cx="757634" cy="254000"/>
          </a:xfrm>
          <a:prstGeom prst="rect">
            <a:avLst/>
          </a:prstGeom>
          <a:solidFill>
            <a:srgbClr val="FFFFFF">
              <a:alpha val="0"/>
            </a:srgbClr>
          </a:solidFill>
          <a:ln>
            <a:noFill/>
          </a:ln>
          <a:effectLst/>
        </p:spPr>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482600" y="241300"/>
            <a:ext cx="9387840" cy="419100"/>
          </a:xfrm>
          <a:prstGeom prst="rect">
            <a:avLst/>
          </a:prstGeom>
          <a:noFill/>
        </p:spPr>
        <p:txBody>
          <a:bodyPr wrap="none" lIns="0" tIns="0" rIns="0" bIns="0" anchor="t">
            <a:noAutofit/>
          </a:bodyPr>
          <a:lstStyle/>
          <a:p>
            <a:pPr algn="l">
              <a:lnSpc>
                <a:spcPts val="2710"/>
              </a:lnSpc>
            </a:pPr>
            <a:r>
              <a:rPr sz="2300" b="1" spc="-23">
                <a:solidFill>
                  <a:srgbClr val="1C1917"/>
                </a:solidFill>
                <a:latin typeface="Microsoft JhengHei"/>
                <a:ea typeface="Microsoft JhengHei"/>
                <a:cs typeface="Microsoft JhengHei"/>
              </a:rPr>
              <a:t>The Math: Why Statin Monotherapy Fails Mr. Hong</a:t>
            </a:r>
          </a:p>
        </p:txBody>
      </p:sp>
      <p:sp>
        <p:nvSpPr>
          <p:cNvPr id="4" name="TextBox 3"/>
          <p:cNvSpPr txBox="1"/>
          <p:nvPr/>
        </p:nvSpPr>
        <p:spPr>
          <a:xfrm>
            <a:off x="482600" y="649414"/>
            <a:ext cx="8609489" cy="215900"/>
          </a:xfrm>
          <a:prstGeom prst="rect">
            <a:avLst/>
          </a:prstGeom>
          <a:noFill/>
        </p:spPr>
        <p:txBody>
          <a:bodyPr wrap="none" lIns="0" tIns="0" rIns="0" bIns="0" anchor="t">
            <a:noAutofit/>
          </a:bodyPr>
          <a:lstStyle/>
          <a:p>
            <a:pPr algn="l">
              <a:lnSpc>
                <a:spcPts val="1550"/>
              </a:lnSpc>
            </a:pPr>
            <a:r>
              <a:rPr sz="1150" b="1">
                <a:solidFill>
                  <a:srgbClr val="1E2833"/>
                </a:solidFill>
                <a:latin typeface="Microsoft JhengHei"/>
                <a:ea typeface="Microsoft JhengHei"/>
                <a:cs typeface="Microsoft JhengHei"/>
              </a:rPr>
              <a:t>臨床實算：高強度單藥治療為何必然留下 31.5 mg/dL 殘存缺口</a:t>
            </a:r>
            <a:r>
              <a:rPr sz="1150" b="0">
                <a:solidFill>
                  <a:srgbClr val="44403C"/>
                </a:solidFill>
                <a:latin typeface="Microsoft JhengHei"/>
                <a:ea typeface="Microsoft JhengHei"/>
                <a:cs typeface="Microsoft JhengHei"/>
              </a:rPr>
              <a:t> ｜ Calculating Statin Power vs. Real Need</a:t>
            </a:r>
          </a:p>
        </p:txBody>
      </p:sp>
      <p:sp>
        <p:nvSpPr>
          <p:cNvPr id="5" name="Rounded Rectangle 4"/>
          <p:cNvSpPr/>
          <p:nvPr/>
        </p:nvSpPr>
        <p:spPr>
          <a:xfrm>
            <a:off x="482600" y="960818"/>
            <a:ext cx="5511800" cy="5071682"/>
          </a:xfrm>
          <a:prstGeom prst="roundRect">
            <a:avLst>
              <a:gd name="adj" fmla="val 2504"/>
            </a:avLst>
          </a:prstGeom>
          <a:solidFill>
            <a:srgbClr val="A44A3F">
              <a:alpha val="8000"/>
            </a:srgbClr>
          </a:solidFill>
          <a:ln>
            <a:noFill/>
          </a:ln>
          <a:effectLst/>
        </p:spPr>
        <p:txBody>
          <a:bodyPr rtlCol="0" anchor="ctr"/>
          <a:lstStyle/>
          <a:p>
            <a:endParaRPr/>
          </a:p>
        </p:txBody>
      </p:sp>
      <p:sp>
        <p:nvSpPr>
          <p:cNvPr id="6" name="Rectangle 5"/>
          <p:cNvSpPr/>
          <p:nvPr/>
        </p:nvSpPr>
        <p:spPr>
          <a:xfrm>
            <a:off x="482600" y="960818"/>
            <a:ext cx="5511800" cy="50800"/>
          </a:xfrm>
          <a:prstGeom prst="rect">
            <a:avLst/>
          </a:prstGeom>
          <a:solidFill>
            <a:srgbClr val="A44A3F"/>
          </a:solidFill>
          <a:ln>
            <a:noFill/>
          </a:ln>
          <a:effectLst/>
        </p:spPr>
        <p:txBody>
          <a:bodyPr rtlCol="0" anchor="ctr"/>
          <a:lstStyle/>
          <a:p>
            <a:endParaRPr/>
          </a:p>
        </p:txBody>
      </p:sp>
      <p:sp>
        <p:nvSpPr>
          <p:cNvPr id="7" name="Rectangle 6"/>
          <p:cNvSpPr/>
          <p:nvPr/>
        </p:nvSpPr>
        <p:spPr>
          <a:xfrm>
            <a:off x="5981700" y="960818"/>
            <a:ext cx="12700" cy="5071682"/>
          </a:xfrm>
          <a:prstGeom prst="rect">
            <a:avLst/>
          </a:prstGeom>
          <a:solidFill>
            <a:srgbClr val="E2DDD5"/>
          </a:solidFill>
          <a:ln>
            <a:noFill/>
          </a:ln>
          <a:effectLst/>
        </p:spPr>
        <p:txBody>
          <a:bodyPr rtlCol="0" anchor="ctr"/>
          <a:lstStyle/>
          <a:p>
            <a:endParaRPr/>
          </a:p>
        </p:txBody>
      </p:sp>
      <p:sp>
        <p:nvSpPr>
          <p:cNvPr id="8" name="Rectangle 7"/>
          <p:cNvSpPr/>
          <p:nvPr/>
        </p:nvSpPr>
        <p:spPr>
          <a:xfrm>
            <a:off x="482600" y="6019800"/>
            <a:ext cx="5511800" cy="12700"/>
          </a:xfrm>
          <a:prstGeom prst="rect">
            <a:avLst/>
          </a:prstGeom>
          <a:solidFill>
            <a:srgbClr val="E2DDD5"/>
          </a:solidFill>
          <a:ln>
            <a:noFill/>
          </a:ln>
          <a:effectLst/>
        </p:spPr>
        <p:txBody>
          <a:bodyPr rtlCol="0" anchor="ctr"/>
          <a:lstStyle/>
          <a:p>
            <a:endParaRPr/>
          </a:p>
        </p:txBody>
      </p:sp>
      <p:sp>
        <p:nvSpPr>
          <p:cNvPr id="9" name="Rectangle 8"/>
          <p:cNvSpPr/>
          <p:nvPr/>
        </p:nvSpPr>
        <p:spPr>
          <a:xfrm>
            <a:off x="482600" y="960818"/>
            <a:ext cx="12700" cy="5071682"/>
          </a:xfrm>
          <a:prstGeom prst="rect">
            <a:avLst/>
          </a:prstGeom>
          <a:solidFill>
            <a:srgbClr val="E2DDD5"/>
          </a:solidFill>
          <a:ln>
            <a:noFill/>
          </a:ln>
          <a:effectLst/>
        </p:spPr>
        <p:txBody>
          <a:bodyPr rtlCol="0" anchor="ctr"/>
          <a:lstStyle/>
          <a:p>
            <a:endParaRPr/>
          </a:p>
        </p:txBody>
      </p:sp>
      <p:sp>
        <p:nvSpPr>
          <p:cNvPr id="10" name="Rounded Rectangle 9"/>
          <p:cNvSpPr/>
          <p:nvPr/>
        </p:nvSpPr>
        <p:spPr>
          <a:xfrm>
            <a:off x="660400" y="1151318"/>
            <a:ext cx="1619060" cy="209550"/>
          </a:xfrm>
          <a:prstGeom prst="roundRect">
            <a:avLst>
              <a:gd name="adj" fmla="val 50000"/>
            </a:avLst>
          </a:prstGeom>
          <a:solidFill>
            <a:srgbClr val="A44A3F">
              <a:alpha val="8000"/>
            </a:srgbClr>
          </a:solidFill>
          <a:ln>
            <a:noFill/>
          </a:ln>
          <a:effectLst/>
        </p:spPr>
        <p:txBody>
          <a:bodyPr rtlCol="0" anchor="ctr"/>
          <a:lstStyle/>
          <a:p>
            <a:endParaRPr/>
          </a:p>
        </p:txBody>
      </p:sp>
      <p:sp>
        <p:nvSpPr>
          <p:cNvPr id="11" name="TextBox 10"/>
          <p:cNvSpPr txBox="1"/>
          <p:nvPr/>
        </p:nvSpPr>
        <p:spPr>
          <a:xfrm>
            <a:off x="749300" y="1176718"/>
            <a:ext cx="1801574" cy="158750"/>
          </a:xfrm>
          <a:prstGeom prst="rect">
            <a:avLst/>
          </a:prstGeom>
          <a:noFill/>
        </p:spPr>
        <p:txBody>
          <a:bodyPr wrap="none" lIns="0" tIns="0" rIns="0" bIns="0" anchor="t">
            <a:noAutofit/>
          </a:bodyPr>
          <a:lstStyle/>
          <a:p>
            <a:pPr algn="l">
              <a:lnSpc>
                <a:spcPts val="1190"/>
              </a:lnSpc>
            </a:pPr>
            <a:r>
              <a:rPr sz="850" b="1">
                <a:solidFill>
                  <a:srgbClr val="A44A3F"/>
                </a:solidFill>
                <a:latin typeface="Microsoft JhengHei"/>
                <a:ea typeface="Microsoft JhengHei"/>
                <a:cs typeface="Microsoft JhengHei"/>
              </a:rPr>
              <a:t>Step 1 Math ｜ 單藥極限計算</a:t>
            </a:r>
          </a:p>
        </p:txBody>
      </p:sp>
      <p:sp>
        <p:nvSpPr>
          <p:cNvPr id="12" name="TextBox 11"/>
          <p:cNvSpPr txBox="1"/>
          <p:nvPr/>
        </p:nvSpPr>
        <p:spPr>
          <a:xfrm>
            <a:off x="660400" y="1386268"/>
            <a:ext cx="5050631" cy="279400"/>
          </a:xfrm>
          <a:prstGeom prst="rect">
            <a:avLst/>
          </a:prstGeom>
          <a:noFill/>
        </p:spPr>
        <p:txBody>
          <a:bodyPr wrap="none" lIns="0" tIns="0" rIns="0" bIns="0" anchor="t">
            <a:noAutofit/>
          </a:bodyPr>
          <a:lstStyle/>
          <a:p>
            <a:pPr algn="l">
              <a:lnSpc>
                <a:spcPts val="1880"/>
              </a:lnSpc>
            </a:pPr>
            <a:r>
              <a:rPr sz="1500" b="1">
                <a:solidFill>
                  <a:srgbClr val="A44A3F"/>
                </a:solidFill>
                <a:latin typeface="Microsoft JhengHei"/>
                <a:ea typeface="Microsoft JhengHei"/>
                <a:cs typeface="Microsoft JhengHei"/>
              </a:rPr>
              <a:t>High-Intensity Statin Alone </a:t>
            </a:r>
            <a:r>
              <a:rPr sz="1200" b="1">
                <a:solidFill>
                  <a:srgbClr val="78716C"/>
                </a:solidFill>
                <a:latin typeface="Microsoft JhengHei"/>
                <a:ea typeface="Microsoft JhengHei"/>
                <a:cs typeface="Microsoft JhengHei"/>
              </a:rPr>
              <a:t>(單用高強度 Statin)</a:t>
            </a:r>
          </a:p>
        </p:txBody>
      </p:sp>
      <p:sp>
        <p:nvSpPr>
          <p:cNvPr id="13" name="Rounded Rectangle 12"/>
          <p:cNvSpPr/>
          <p:nvPr/>
        </p:nvSpPr>
        <p:spPr>
          <a:xfrm>
            <a:off x="660400" y="1713294"/>
            <a:ext cx="16510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14" name="TextBox 13"/>
          <p:cNvSpPr txBox="1"/>
          <p:nvPr/>
        </p:nvSpPr>
        <p:spPr>
          <a:xfrm>
            <a:off x="1094272" y="1719644"/>
            <a:ext cx="783193" cy="501650"/>
          </a:xfrm>
          <a:prstGeom prst="rect">
            <a:avLst/>
          </a:prstGeom>
          <a:noFill/>
        </p:spPr>
        <p:txBody>
          <a:bodyPr wrap="none" lIns="0" tIns="0" rIns="0" bIns="0" anchor="t">
            <a:noAutofit/>
          </a:bodyPr>
          <a:lstStyle/>
          <a:p>
            <a:pPr algn="ctr">
              <a:lnSpc>
                <a:spcPts val="2840"/>
              </a:lnSpc>
            </a:pPr>
            <a:r>
              <a:rPr sz="2700" b="1">
                <a:solidFill>
                  <a:srgbClr val="A44A3F"/>
                </a:solidFill>
                <a:latin typeface="Microsoft JhengHei"/>
                <a:ea typeface="Microsoft JhengHei"/>
                <a:cs typeface="Microsoft JhengHei"/>
              </a:rPr>
              <a:t>173</a:t>
            </a:r>
          </a:p>
        </p:txBody>
      </p:sp>
      <p:sp>
        <p:nvSpPr>
          <p:cNvPr id="15" name="TextBox 14"/>
          <p:cNvSpPr txBox="1"/>
          <p:nvPr/>
        </p:nvSpPr>
        <p:spPr>
          <a:xfrm>
            <a:off x="1061720" y="2168525"/>
            <a:ext cx="848360"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Baseline LDL</a:t>
            </a:r>
          </a:p>
        </p:txBody>
      </p:sp>
      <p:sp>
        <p:nvSpPr>
          <p:cNvPr id="16" name="TextBox 15"/>
          <p:cNvSpPr txBox="1"/>
          <p:nvPr/>
        </p:nvSpPr>
        <p:spPr>
          <a:xfrm>
            <a:off x="1071642" y="2327275"/>
            <a:ext cx="828516"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基準值 (mg/dL)</a:t>
            </a:r>
          </a:p>
        </p:txBody>
      </p:sp>
      <p:sp>
        <p:nvSpPr>
          <p:cNvPr id="17" name="Rounded Rectangle 16"/>
          <p:cNvSpPr/>
          <p:nvPr/>
        </p:nvSpPr>
        <p:spPr>
          <a:xfrm>
            <a:off x="2413000" y="1713294"/>
            <a:ext cx="16510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18" name="TextBox 17"/>
          <p:cNvSpPr txBox="1"/>
          <p:nvPr/>
        </p:nvSpPr>
        <p:spPr>
          <a:xfrm>
            <a:off x="2634869" y="1719644"/>
            <a:ext cx="1207135" cy="501650"/>
          </a:xfrm>
          <a:prstGeom prst="rect">
            <a:avLst/>
          </a:prstGeom>
          <a:noFill/>
        </p:spPr>
        <p:txBody>
          <a:bodyPr wrap="none" lIns="0" tIns="0" rIns="0" bIns="0" anchor="t">
            <a:noAutofit/>
          </a:bodyPr>
          <a:lstStyle/>
          <a:p>
            <a:pPr algn="ctr">
              <a:lnSpc>
                <a:spcPts val="2840"/>
              </a:lnSpc>
            </a:pPr>
            <a:r>
              <a:rPr sz="2700" b="1">
                <a:solidFill>
                  <a:srgbClr val="1E2833"/>
                </a:solidFill>
                <a:latin typeface="Microsoft JhengHei"/>
                <a:ea typeface="Microsoft JhengHei"/>
                <a:cs typeface="Microsoft JhengHei"/>
              </a:rPr>
              <a:t>- 50%</a:t>
            </a:r>
          </a:p>
        </p:txBody>
      </p:sp>
      <p:sp>
        <p:nvSpPr>
          <p:cNvPr id="19" name="TextBox 18"/>
          <p:cNvSpPr txBox="1"/>
          <p:nvPr/>
        </p:nvSpPr>
        <p:spPr>
          <a:xfrm>
            <a:off x="2665897" y="2168525"/>
            <a:ext cx="1145143"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Max Statin Power</a:t>
            </a:r>
          </a:p>
        </p:txBody>
      </p:sp>
      <p:sp>
        <p:nvSpPr>
          <p:cNvPr id="20" name="TextBox 19"/>
          <p:cNvSpPr txBox="1"/>
          <p:nvPr/>
        </p:nvSpPr>
        <p:spPr>
          <a:xfrm>
            <a:off x="2751939" y="2327275"/>
            <a:ext cx="973058"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高強度 Statin 極限</a:t>
            </a:r>
          </a:p>
        </p:txBody>
      </p:sp>
      <p:sp>
        <p:nvSpPr>
          <p:cNvPr id="21" name="Rounded Rectangle 20"/>
          <p:cNvSpPr/>
          <p:nvPr/>
        </p:nvSpPr>
        <p:spPr>
          <a:xfrm>
            <a:off x="4165600" y="1713294"/>
            <a:ext cx="16510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22" name="TextBox 21"/>
          <p:cNvSpPr txBox="1"/>
          <p:nvPr/>
        </p:nvSpPr>
        <p:spPr>
          <a:xfrm>
            <a:off x="4524288" y="1719644"/>
            <a:ext cx="933688" cy="501650"/>
          </a:xfrm>
          <a:prstGeom prst="rect">
            <a:avLst/>
          </a:prstGeom>
          <a:noFill/>
        </p:spPr>
        <p:txBody>
          <a:bodyPr wrap="none" lIns="0" tIns="0" rIns="0" bIns="0" anchor="t">
            <a:noAutofit/>
          </a:bodyPr>
          <a:lstStyle/>
          <a:p>
            <a:pPr algn="ctr">
              <a:lnSpc>
                <a:spcPts val="2840"/>
              </a:lnSpc>
            </a:pPr>
            <a:r>
              <a:rPr sz="2700" b="1">
                <a:solidFill>
                  <a:srgbClr val="A44A3F"/>
                </a:solidFill>
                <a:latin typeface="Microsoft JhengHei"/>
                <a:ea typeface="Microsoft JhengHei"/>
                <a:cs typeface="Microsoft JhengHei"/>
              </a:rPr>
              <a:t>86.5</a:t>
            </a:r>
          </a:p>
        </p:txBody>
      </p:sp>
      <p:sp>
        <p:nvSpPr>
          <p:cNvPr id="23" name="TextBox 22"/>
          <p:cNvSpPr txBox="1"/>
          <p:nvPr/>
        </p:nvSpPr>
        <p:spPr>
          <a:xfrm>
            <a:off x="4499467" y="2168525"/>
            <a:ext cx="983139"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Achieved Level</a:t>
            </a:r>
          </a:p>
        </p:txBody>
      </p:sp>
      <p:sp>
        <p:nvSpPr>
          <p:cNvPr id="24" name="TextBox 23"/>
          <p:cNvSpPr txBox="1"/>
          <p:nvPr/>
        </p:nvSpPr>
        <p:spPr>
          <a:xfrm>
            <a:off x="4633912" y="2327275"/>
            <a:ext cx="714375"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預期達成數值</a:t>
            </a:r>
          </a:p>
        </p:txBody>
      </p:sp>
      <p:sp>
        <p:nvSpPr>
          <p:cNvPr id="25" name="TextBox 24"/>
          <p:cNvSpPr txBox="1"/>
          <p:nvPr/>
        </p:nvSpPr>
        <p:spPr>
          <a:xfrm>
            <a:off x="825500" y="2625725"/>
            <a:ext cx="5232559" cy="215900"/>
          </a:xfrm>
          <a:prstGeom prst="rect">
            <a:avLst/>
          </a:prstGeom>
          <a:noFill/>
        </p:spPr>
        <p:txBody>
          <a:bodyPr wrap="non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Prescription:</a:t>
            </a:r>
            <a:r>
              <a:rPr sz="1150" b="0">
                <a:solidFill>
                  <a:srgbClr val="44403C"/>
                </a:solidFill>
                <a:latin typeface="Microsoft JhengHei"/>
                <a:ea typeface="Microsoft JhengHei"/>
                <a:cs typeface="Microsoft JhengHei"/>
              </a:rPr>
              <a:t> Atorvastatin 80 mg or Rosuvastatin 40 mg daily.</a:t>
            </a:r>
          </a:p>
        </p:txBody>
      </p:sp>
      <p:sp>
        <p:nvSpPr>
          <p:cNvPr id="26" name="TextBox 25"/>
          <p:cNvSpPr txBox="1"/>
          <p:nvPr/>
        </p:nvSpPr>
        <p:spPr>
          <a:xfrm>
            <a:off x="825500" y="2856484"/>
            <a:ext cx="4057412"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標準處方：每日 Atorvastatin 80mg 或 Rosuvastatin 40mg。</a:t>
            </a:r>
          </a:p>
        </p:txBody>
      </p:sp>
      <p:sp>
        <p:nvSpPr>
          <p:cNvPr id="27" name="TextBox 26"/>
          <p:cNvSpPr txBox="1"/>
          <p:nvPr/>
        </p:nvSpPr>
        <p:spPr>
          <a:xfrm>
            <a:off x="825500" y="3063176"/>
            <a:ext cx="5117306" cy="215900"/>
          </a:xfrm>
          <a:prstGeom prst="rect">
            <a:avLst/>
          </a:prstGeom>
          <a:noFill/>
        </p:spPr>
        <p:txBody>
          <a:bodyPr wrap="non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Expected Drop:</a:t>
            </a:r>
            <a:r>
              <a:rPr sz="1150" b="0">
                <a:solidFill>
                  <a:srgbClr val="44403C"/>
                </a:solidFill>
                <a:latin typeface="Microsoft JhengHei"/>
                <a:ea typeface="Microsoft JhengHei"/>
                <a:cs typeface="Microsoft JhengHei"/>
              </a:rPr>
              <a:t> Average 50% reduction in circulating LDL-C.</a:t>
            </a:r>
          </a:p>
        </p:txBody>
      </p:sp>
      <p:sp>
        <p:nvSpPr>
          <p:cNvPr id="28" name="TextBox 27"/>
          <p:cNvSpPr txBox="1"/>
          <p:nvPr/>
        </p:nvSpPr>
        <p:spPr>
          <a:xfrm>
            <a:off x="825500" y="3293936"/>
            <a:ext cx="2937748"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預期降幅：平均降低約 50% 低密度膽固醇。</a:t>
            </a:r>
          </a:p>
        </p:txBody>
      </p:sp>
      <p:sp>
        <p:nvSpPr>
          <p:cNvPr id="29" name="TextBox 28"/>
          <p:cNvSpPr txBox="1"/>
          <p:nvPr/>
        </p:nvSpPr>
        <p:spPr>
          <a:xfrm>
            <a:off x="825500" y="3500628"/>
            <a:ext cx="3702844" cy="215900"/>
          </a:xfrm>
          <a:prstGeom prst="rect">
            <a:avLst/>
          </a:prstGeom>
          <a:noFill/>
        </p:spPr>
        <p:txBody>
          <a:bodyPr wrap="non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Resulting Level:</a:t>
            </a:r>
            <a:r>
              <a:rPr sz="1150" b="0">
                <a:solidFill>
                  <a:srgbClr val="44403C"/>
                </a:solidFill>
                <a:latin typeface="Microsoft JhengHei"/>
                <a:ea typeface="Microsoft JhengHei"/>
                <a:cs typeface="Microsoft JhengHei"/>
              </a:rPr>
              <a:t> 173 × 0.50 = </a:t>
            </a:r>
            <a:r>
              <a:rPr sz="1150" b="1">
                <a:solidFill>
                  <a:srgbClr val="44403C"/>
                </a:solidFill>
                <a:latin typeface="Microsoft JhengHei"/>
                <a:ea typeface="Microsoft JhengHei"/>
                <a:cs typeface="Microsoft JhengHei"/>
              </a:rPr>
              <a:t>86.5 mg/dL</a:t>
            </a:r>
            <a:r>
              <a:rPr sz="1150" b="0">
                <a:solidFill>
                  <a:srgbClr val="44403C"/>
                </a:solidFill>
                <a:latin typeface="Microsoft JhengHei"/>
                <a:ea typeface="Microsoft JhengHei"/>
                <a:cs typeface="Microsoft JhengHei"/>
              </a:rPr>
              <a:t>.</a:t>
            </a:r>
          </a:p>
        </p:txBody>
      </p:sp>
      <p:sp>
        <p:nvSpPr>
          <p:cNvPr id="30" name="TextBox 29"/>
          <p:cNvSpPr txBox="1"/>
          <p:nvPr/>
        </p:nvSpPr>
        <p:spPr>
          <a:xfrm>
            <a:off x="825500" y="3731450"/>
            <a:ext cx="2329894"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預期數值：依然高達 86.5 mg/dL。</a:t>
            </a:r>
          </a:p>
        </p:txBody>
      </p:sp>
      <p:sp>
        <p:nvSpPr>
          <p:cNvPr id="31" name="Rounded Rectangle 30"/>
          <p:cNvSpPr/>
          <p:nvPr/>
        </p:nvSpPr>
        <p:spPr>
          <a:xfrm>
            <a:off x="660400" y="5372100"/>
            <a:ext cx="5156200" cy="508000"/>
          </a:xfrm>
          <a:prstGeom prst="roundRect">
            <a:avLst>
              <a:gd name="adj" fmla="val 15000"/>
            </a:avLst>
          </a:prstGeom>
          <a:solidFill>
            <a:srgbClr val="A44A3F">
              <a:alpha val="8000"/>
            </a:srgbClr>
          </a:solidFill>
          <a:ln>
            <a:noFill/>
          </a:ln>
          <a:effectLst/>
        </p:spPr>
        <p:txBody>
          <a:bodyPr rtlCol="0" anchor="ctr"/>
          <a:lstStyle/>
          <a:p>
            <a:endParaRPr/>
          </a:p>
        </p:txBody>
      </p:sp>
      <p:sp>
        <p:nvSpPr>
          <p:cNvPr id="32" name="TextBox 31"/>
          <p:cNvSpPr txBox="1"/>
          <p:nvPr/>
        </p:nvSpPr>
        <p:spPr>
          <a:xfrm>
            <a:off x="774700" y="5448300"/>
            <a:ext cx="4738529" cy="184150"/>
          </a:xfrm>
          <a:prstGeom prst="rect">
            <a:avLst/>
          </a:prstGeom>
          <a:noFill/>
        </p:spPr>
        <p:txBody>
          <a:bodyPr wrap="none" lIns="0" tIns="0" rIns="0" bIns="0" anchor="t">
            <a:noAutofit/>
          </a:bodyPr>
          <a:lstStyle/>
          <a:p>
            <a:pPr algn="l">
              <a:lnSpc>
                <a:spcPts val="1400"/>
              </a:lnSpc>
            </a:pPr>
            <a:r>
              <a:rPr sz="1000" b="1">
                <a:solidFill>
                  <a:srgbClr val="A44A3F"/>
                </a:solidFill>
                <a:latin typeface="Microsoft JhengHei"/>
                <a:ea typeface="Microsoft JhengHei"/>
                <a:cs typeface="Microsoft JhengHei"/>
              </a:rPr>
              <a:t>Statin achieves Rule 1 (-50%), but FAILS Rule 2 (&lt; 55 mg/dL)</a:t>
            </a:r>
          </a:p>
        </p:txBody>
      </p:sp>
      <p:sp>
        <p:nvSpPr>
          <p:cNvPr id="33" name="TextBox 32"/>
          <p:cNvSpPr txBox="1"/>
          <p:nvPr/>
        </p:nvSpPr>
        <p:spPr>
          <a:xfrm>
            <a:off x="774700" y="5645150"/>
            <a:ext cx="3863419" cy="158750"/>
          </a:xfrm>
          <a:prstGeom prst="rect">
            <a:avLst/>
          </a:prstGeom>
          <a:noFill/>
        </p:spPr>
        <p:txBody>
          <a:bodyPr wrap="none" lIns="0" tIns="0" rIns="0" bIns="0" anchor="t">
            <a:noAutofit/>
          </a:bodyPr>
          <a:lstStyle/>
          <a:p>
            <a:pPr algn="l">
              <a:lnSpc>
                <a:spcPts val="1190"/>
              </a:lnSpc>
            </a:pPr>
            <a:r>
              <a:rPr sz="850" b="1">
                <a:solidFill>
                  <a:srgbClr val="AD5C52"/>
                </a:solidFill>
                <a:latin typeface="Microsoft JhengHei"/>
                <a:ea typeface="Microsoft JhengHei"/>
                <a:cs typeface="Microsoft JhengHei"/>
              </a:rPr>
              <a:t>成功達到 50% 降幅標準，但完全無法達到 55 mg/dL 的絕對目標</a:t>
            </a:r>
          </a:p>
        </p:txBody>
      </p:sp>
      <p:sp>
        <p:nvSpPr>
          <p:cNvPr id="34" name="Rounded Rectangle 33"/>
          <p:cNvSpPr/>
          <p:nvPr/>
        </p:nvSpPr>
        <p:spPr>
          <a:xfrm>
            <a:off x="6197600" y="960818"/>
            <a:ext cx="5511800" cy="5071682"/>
          </a:xfrm>
          <a:prstGeom prst="roundRect">
            <a:avLst>
              <a:gd name="adj" fmla="val 2504"/>
            </a:avLst>
          </a:prstGeom>
          <a:solidFill>
            <a:srgbClr val="1E2833">
              <a:alpha val="8000"/>
            </a:srgbClr>
          </a:solidFill>
          <a:ln>
            <a:noFill/>
          </a:ln>
          <a:effectLst/>
        </p:spPr>
        <p:txBody>
          <a:bodyPr rtlCol="0" anchor="ctr"/>
          <a:lstStyle/>
          <a:p>
            <a:endParaRPr/>
          </a:p>
        </p:txBody>
      </p:sp>
      <p:sp>
        <p:nvSpPr>
          <p:cNvPr id="35" name="Rectangle 34"/>
          <p:cNvSpPr/>
          <p:nvPr/>
        </p:nvSpPr>
        <p:spPr>
          <a:xfrm>
            <a:off x="6197600" y="960818"/>
            <a:ext cx="5511800" cy="50800"/>
          </a:xfrm>
          <a:prstGeom prst="rect">
            <a:avLst/>
          </a:prstGeom>
          <a:solidFill>
            <a:srgbClr val="1E2833"/>
          </a:solidFill>
          <a:ln>
            <a:noFill/>
          </a:ln>
          <a:effectLst/>
        </p:spPr>
        <p:txBody>
          <a:bodyPr rtlCol="0" anchor="ctr"/>
          <a:lstStyle/>
          <a:p>
            <a:endParaRPr/>
          </a:p>
        </p:txBody>
      </p:sp>
      <p:sp>
        <p:nvSpPr>
          <p:cNvPr id="36" name="Rectangle 35"/>
          <p:cNvSpPr/>
          <p:nvPr/>
        </p:nvSpPr>
        <p:spPr>
          <a:xfrm>
            <a:off x="11696700" y="960818"/>
            <a:ext cx="12700" cy="5071682"/>
          </a:xfrm>
          <a:prstGeom prst="rect">
            <a:avLst/>
          </a:prstGeom>
          <a:solidFill>
            <a:srgbClr val="E2DDD5"/>
          </a:solidFill>
          <a:ln>
            <a:noFill/>
          </a:ln>
          <a:effectLst/>
        </p:spPr>
        <p:txBody>
          <a:bodyPr rtlCol="0" anchor="ctr"/>
          <a:lstStyle/>
          <a:p>
            <a:endParaRPr/>
          </a:p>
        </p:txBody>
      </p:sp>
      <p:sp>
        <p:nvSpPr>
          <p:cNvPr id="37" name="Rectangle 36"/>
          <p:cNvSpPr/>
          <p:nvPr/>
        </p:nvSpPr>
        <p:spPr>
          <a:xfrm>
            <a:off x="6197600" y="6019800"/>
            <a:ext cx="5511800" cy="12700"/>
          </a:xfrm>
          <a:prstGeom prst="rect">
            <a:avLst/>
          </a:prstGeom>
          <a:solidFill>
            <a:srgbClr val="E2DDD5"/>
          </a:solidFill>
          <a:ln>
            <a:noFill/>
          </a:ln>
          <a:effectLst/>
        </p:spPr>
        <p:txBody>
          <a:bodyPr rtlCol="0" anchor="ctr"/>
          <a:lstStyle/>
          <a:p>
            <a:endParaRPr/>
          </a:p>
        </p:txBody>
      </p:sp>
      <p:sp>
        <p:nvSpPr>
          <p:cNvPr id="38" name="Rectangle 37"/>
          <p:cNvSpPr/>
          <p:nvPr/>
        </p:nvSpPr>
        <p:spPr>
          <a:xfrm>
            <a:off x="6197600" y="960818"/>
            <a:ext cx="12700" cy="5071682"/>
          </a:xfrm>
          <a:prstGeom prst="rect">
            <a:avLst/>
          </a:prstGeom>
          <a:solidFill>
            <a:srgbClr val="E2DDD5"/>
          </a:solidFill>
          <a:ln>
            <a:noFill/>
          </a:ln>
          <a:effectLst/>
        </p:spPr>
        <p:txBody>
          <a:bodyPr rtlCol="0" anchor="ctr"/>
          <a:lstStyle/>
          <a:p>
            <a:endParaRPr/>
          </a:p>
        </p:txBody>
      </p:sp>
      <p:sp>
        <p:nvSpPr>
          <p:cNvPr id="39" name="Rounded Rectangle 38"/>
          <p:cNvSpPr/>
          <p:nvPr/>
        </p:nvSpPr>
        <p:spPr>
          <a:xfrm>
            <a:off x="6375400" y="1151318"/>
            <a:ext cx="1713484" cy="209550"/>
          </a:xfrm>
          <a:prstGeom prst="roundRect">
            <a:avLst>
              <a:gd name="adj" fmla="val 50000"/>
            </a:avLst>
          </a:prstGeom>
          <a:solidFill>
            <a:srgbClr val="1E2833">
              <a:alpha val="8000"/>
            </a:srgbClr>
          </a:solidFill>
          <a:ln>
            <a:noFill/>
          </a:ln>
          <a:effectLst/>
        </p:spPr>
        <p:txBody>
          <a:bodyPr rtlCol="0" anchor="ctr"/>
          <a:lstStyle/>
          <a:p>
            <a:endParaRPr/>
          </a:p>
        </p:txBody>
      </p:sp>
      <p:sp>
        <p:nvSpPr>
          <p:cNvPr id="40" name="TextBox 39"/>
          <p:cNvSpPr txBox="1"/>
          <p:nvPr/>
        </p:nvSpPr>
        <p:spPr>
          <a:xfrm>
            <a:off x="6464300" y="1176718"/>
            <a:ext cx="1919605" cy="158750"/>
          </a:xfrm>
          <a:prstGeom prst="rect">
            <a:avLst/>
          </a:prstGeom>
          <a:noFill/>
        </p:spPr>
        <p:txBody>
          <a:bodyPr wrap="none" lIns="0" tIns="0" rIns="0" bIns="0" anchor="t">
            <a:noAutofit/>
          </a:bodyPr>
          <a:lstStyle/>
          <a:p>
            <a:pPr algn="l">
              <a:lnSpc>
                <a:spcPts val="1190"/>
              </a:lnSpc>
            </a:pPr>
            <a:r>
              <a:rPr sz="850" b="1">
                <a:solidFill>
                  <a:srgbClr val="1E2833"/>
                </a:solidFill>
                <a:latin typeface="Microsoft JhengHei"/>
                <a:ea typeface="Microsoft JhengHei"/>
                <a:cs typeface="Microsoft JhengHei"/>
              </a:rPr>
              <a:t>Residual Risk ｜ 殘存缺口風險</a:t>
            </a:r>
          </a:p>
        </p:txBody>
      </p:sp>
      <p:sp>
        <p:nvSpPr>
          <p:cNvPr id="41" name="TextBox 40"/>
          <p:cNvSpPr txBox="1"/>
          <p:nvPr/>
        </p:nvSpPr>
        <p:spPr>
          <a:xfrm>
            <a:off x="6375400" y="1386268"/>
            <a:ext cx="5349399" cy="279400"/>
          </a:xfrm>
          <a:prstGeom prst="rect">
            <a:avLst/>
          </a:prstGeom>
          <a:noFill/>
        </p:spPr>
        <p:txBody>
          <a:bodyPr wrap="none" lIns="0" tIns="0" rIns="0" bIns="0" anchor="t">
            <a:noAutofit/>
          </a:bodyPr>
          <a:lstStyle/>
          <a:p>
            <a:pPr algn="l">
              <a:lnSpc>
                <a:spcPts val="1880"/>
              </a:lnSpc>
            </a:pPr>
            <a:r>
              <a:rPr sz="1500" b="1">
                <a:solidFill>
                  <a:srgbClr val="1E2833"/>
                </a:solidFill>
                <a:latin typeface="Microsoft JhengHei"/>
                <a:ea typeface="Microsoft JhengHei"/>
                <a:cs typeface="Microsoft JhengHei"/>
              </a:rPr>
              <a:t>The 31.5 mg/dL Residual Gap </a:t>
            </a:r>
            <a:r>
              <a:rPr sz="1200" b="1">
                <a:solidFill>
                  <a:srgbClr val="78716C"/>
                </a:solidFill>
                <a:latin typeface="Microsoft JhengHei"/>
                <a:ea typeface="Microsoft JhengHei"/>
                <a:cs typeface="Microsoft JhengHei"/>
              </a:rPr>
              <a:t>(未達標的 31.5 缺口)</a:t>
            </a:r>
          </a:p>
        </p:txBody>
      </p:sp>
      <p:sp>
        <p:nvSpPr>
          <p:cNvPr id="42" name="Rounded Rectangle 41"/>
          <p:cNvSpPr/>
          <p:nvPr/>
        </p:nvSpPr>
        <p:spPr>
          <a:xfrm>
            <a:off x="6375400" y="1713294"/>
            <a:ext cx="16510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43" name="TextBox 42"/>
          <p:cNvSpPr txBox="1"/>
          <p:nvPr/>
        </p:nvSpPr>
        <p:spPr>
          <a:xfrm>
            <a:off x="6734088" y="1719644"/>
            <a:ext cx="933688" cy="501650"/>
          </a:xfrm>
          <a:prstGeom prst="rect">
            <a:avLst/>
          </a:prstGeom>
          <a:noFill/>
        </p:spPr>
        <p:txBody>
          <a:bodyPr wrap="none" lIns="0" tIns="0" rIns="0" bIns="0" anchor="t">
            <a:noAutofit/>
          </a:bodyPr>
          <a:lstStyle/>
          <a:p>
            <a:pPr algn="ctr">
              <a:lnSpc>
                <a:spcPts val="2840"/>
              </a:lnSpc>
            </a:pPr>
            <a:r>
              <a:rPr sz="2700" b="1">
                <a:solidFill>
                  <a:srgbClr val="A44A3F"/>
                </a:solidFill>
                <a:latin typeface="Microsoft JhengHei"/>
                <a:ea typeface="Microsoft JhengHei"/>
                <a:cs typeface="Microsoft JhengHei"/>
              </a:rPr>
              <a:t>86.5</a:t>
            </a:r>
          </a:p>
        </p:txBody>
      </p:sp>
      <p:sp>
        <p:nvSpPr>
          <p:cNvPr id="44" name="TextBox 43"/>
          <p:cNvSpPr txBox="1"/>
          <p:nvPr/>
        </p:nvSpPr>
        <p:spPr>
          <a:xfrm>
            <a:off x="6814582" y="2168525"/>
            <a:ext cx="772636"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Statin Level</a:t>
            </a:r>
          </a:p>
        </p:txBody>
      </p:sp>
      <p:sp>
        <p:nvSpPr>
          <p:cNvPr id="45" name="TextBox 44"/>
          <p:cNvSpPr txBox="1"/>
          <p:nvPr/>
        </p:nvSpPr>
        <p:spPr>
          <a:xfrm>
            <a:off x="6962775" y="2327275"/>
            <a:ext cx="476250"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單藥達成</a:t>
            </a:r>
          </a:p>
        </p:txBody>
      </p:sp>
      <p:sp>
        <p:nvSpPr>
          <p:cNvPr id="46" name="Rounded Rectangle 45"/>
          <p:cNvSpPr/>
          <p:nvPr/>
        </p:nvSpPr>
        <p:spPr>
          <a:xfrm>
            <a:off x="8128000" y="1713294"/>
            <a:ext cx="16510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47" name="TextBox 46"/>
          <p:cNvSpPr txBox="1"/>
          <p:nvPr/>
        </p:nvSpPr>
        <p:spPr>
          <a:xfrm>
            <a:off x="8512818" y="1719644"/>
            <a:ext cx="881301" cy="501650"/>
          </a:xfrm>
          <a:prstGeom prst="rect">
            <a:avLst/>
          </a:prstGeom>
          <a:noFill/>
        </p:spPr>
        <p:txBody>
          <a:bodyPr wrap="none" lIns="0" tIns="0" rIns="0" bIns="0" anchor="t">
            <a:noAutofit/>
          </a:bodyPr>
          <a:lstStyle/>
          <a:p>
            <a:pPr algn="ctr">
              <a:lnSpc>
                <a:spcPts val="2840"/>
              </a:lnSpc>
            </a:pPr>
            <a:r>
              <a:rPr sz="2700" b="1">
                <a:solidFill>
                  <a:srgbClr val="2D6A4F"/>
                </a:solidFill>
                <a:latin typeface="Microsoft JhengHei"/>
                <a:ea typeface="Microsoft JhengHei"/>
                <a:cs typeface="Microsoft JhengHei"/>
              </a:rPr>
              <a:t>&lt; 55</a:t>
            </a:r>
          </a:p>
        </p:txBody>
      </p:sp>
      <p:sp>
        <p:nvSpPr>
          <p:cNvPr id="48" name="TextBox 47"/>
          <p:cNvSpPr txBox="1"/>
          <p:nvPr/>
        </p:nvSpPr>
        <p:spPr>
          <a:xfrm>
            <a:off x="8553537" y="2168525"/>
            <a:ext cx="799862"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Target Level</a:t>
            </a:r>
          </a:p>
        </p:txBody>
      </p:sp>
      <p:sp>
        <p:nvSpPr>
          <p:cNvPr id="49" name="TextBox 48"/>
          <p:cNvSpPr txBox="1"/>
          <p:nvPr/>
        </p:nvSpPr>
        <p:spPr>
          <a:xfrm>
            <a:off x="8715375" y="2327275"/>
            <a:ext cx="476250"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指引門檻</a:t>
            </a:r>
          </a:p>
        </p:txBody>
      </p:sp>
      <p:sp>
        <p:nvSpPr>
          <p:cNvPr id="50" name="Rounded Rectangle 49"/>
          <p:cNvSpPr/>
          <p:nvPr/>
        </p:nvSpPr>
        <p:spPr>
          <a:xfrm>
            <a:off x="9880600" y="1713294"/>
            <a:ext cx="16510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51" name="TextBox 50"/>
          <p:cNvSpPr txBox="1"/>
          <p:nvPr/>
        </p:nvSpPr>
        <p:spPr>
          <a:xfrm>
            <a:off x="10059670" y="1719644"/>
            <a:ext cx="1292860" cy="501650"/>
          </a:xfrm>
          <a:prstGeom prst="rect">
            <a:avLst/>
          </a:prstGeom>
          <a:noFill/>
        </p:spPr>
        <p:txBody>
          <a:bodyPr wrap="none" lIns="0" tIns="0" rIns="0" bIns="0" anchor="t">
            <a:noAutofit/>
          </a:bodyPr>
          <a:lstStyle/>
          <a:p>
            <a:pPr algn="ctr">
              <a:lnSpc>
                <a:spcPts val="2840"/>
              </a:lnSpc>
            </a:pPr>
            <a:r>
              <a:rPr sz="2700" b="1">
                <a:solidFill>
                  <a:srgbClr val="A44A3F"/>
                </a:solidFill>
                <a:latin typeface="Microsoft JhengHei"/>
                <a:ea typeface="Microsoft JhengHei"/>
                <a:cs typeface="Microsoft JhengHei"/>
              </a:rPr>
              <a:t>+ 31.5</a:t>
            </a:r>
          </a:p>
        </p:txBody>
      </p:sp>
      <p:sp>
        <p:nvSpPr>
          <p:cNvPr id="52" name="TextBox 51"/>
          <p:cNvSpPr txBox="1"/>
          <p:nvPr/>
        </p:nvSpPr>
        <p:spPr>
          <a:xfrm>
            <a:off x="10273522" y="2168525"/>
            <a:ext cx="865029"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Residual Gap</a:t>
            </a:r>
          </a:p>
        </p:txBody>
      </p:sp>
      <p:sp>
        <p:nvSpPr>
          <p:cNvPr id="53" name="TextBox 52"/>
          <p:cNvSpPr txBox="1"/>
          <p:nvPr/>
        </p:nvSpPr>
        <p:spPr>
          <a:xfrm>
            <a:off x="10467975" y="2327275"/>
            <a:ext cx="476250"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殘存差距</a:t>
            </a:r>
          </a:p>
        </p:txBody>
      </p:sp>
      <p:sp>
        <p:nvSpPr>
          <p:cNvPr id="54" name="TextBox 53"/>
          <p:cNvSpPr txBox="1"/>
          <p:nvPr/>
        </p:nvSpPr>
        <p:spPr>
          <a:xfrm>
            <a:off x="6540500" y="2625725"/>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The "Rule of Six":</a:t>
            </a:r>
            <a:r>
              <a:rPr sz="1150" b="0">
                <a:solidFill>
                  <a:srgbClr val="44403C"/>
                </a:solidFill>
                <a:latin typeface="Microsoft JhengHei"/>
                <a:ea typeface="Microsoft JhengHei"/>
                <a:cs typeface="Microsoft JhengHei"/>
              </a:rPr>
              <a:t> Doubling statin dose yields only an extra 6% drop while doubling myopathy risks.</a:t>
            </a:r>
          </a:p>
        </p:txBody>
      </p:sp>
      <p:sp>
        <p:nvSpPr>
          <p:cNvPr id="55" name="TextBox 54"/>
          <p:cNvSpPr txBox="1"/>
          <p:nvPr/>
        </p:nvSpPr>
        <p:spPr>
          <a:xfrm>
            <a:off x="6540500" y="3068256"/>
            <a:ext cx="4923869"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Statin 六法則：劑量加倍僅多降 6%，肌肉痠痛與肝功能異常風險卻倍增。</a:t>
            </a:r>
          </a:p>
        </p:txBody>
      </p:sp>
      <p:sp>
        <p:nvSpPr>
          <p:cNvPr id="56" name="TextBox 55"/>
          <p:cNvSpPr txBox="1"/>
          <p:nvPr/>
        </p:nvSpPr>
        <p:spPr>
          <a:xfrm>
            <a:off x="6540500" y="3274886"/>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Clinical Reality:</a:t>
            </a:r>
            <a:r>
              <a:rPr sz="1150" b="0">
                <a:solidFill>
                  <a:srgbClr val="44403C"/>
                </a:solidFill>
                <a:latin typeface="Microsoft JhengHei"/>
                <a:ea typeface="Microsoft JhengHei"/>
                <a:cs typeface="Microsoft JhengHei"/>
              </a:rPr>
              <a:t> Waiting 3 months on monotherapy needlessly delays goal achievement during the highest-risk window.</a:t>
            </a:r>
          </a:p>
        </p:txBody>
      </p:sp>
      <p:sp>
        <p:nvSpPr>
          <p:cNvPr id="57" name="TextBox 56"/>
          <p:cNvSpPr txBox="1"/>
          <p:nvPr/>
        </p:nvSpPr>
        <p:spPr>
          <a:xfrm>
            <a:off x="6540500" y="3717417"/>
            <a:ext cx="4826476"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單藥等待 3 個月只會讓患者在最危險的心梗早期暴露於高膽固醇風險中。</a:t>
            </a:r>
          </a:p>
        </p:txBody>
      </p:sp>
      <p:sp>
        <p:nvSpPr>
          <p:cNvPr id="58" name="Rounded Rectangle 57"/>
          <p:cNvSpPr/>
          <p:nvPr/>
        </p:nvSpPr>
        <p:spPr>
          <a:xfrm>
            <a:off x="6375400" y="5372100"/>
            <a:ext cx="5156200" cy="508000"/>
          </a:xfrm>
          <a:prstGeom prst="roundRect">
            <a:avLst>
              <a:gd name="adj" fmla="val 15000"/>
            </a:avLst>
          </a:prstGeom>
          <a:solidFill>
            <a:srgbClr val="D4A373">
              <a:alpha val="12000"/>
            </a:srgbClr>
          </a:solidFill>
          <a:ln>
            <a:noFill/>
          </a:ln>
          <a:effectLst/>
        </p:spPr>
        <p:txBody>
          <a:bodyPr rtlCol="0" anchor="ctr"/>
          <a:lstStyle/>
          <a:p>
            <a:endParaRPr/>
          </a:p>
        </p:txBody>
      </p:sp>
      <p:sp>
        <p:nvSpPr>
          <p:cNvPr id="59" name="TextBox 58"/>
          <p:cNvSpPr txBox="1"/>
          <p:nvPr/>
        </p:nvSpPr>
        <p:spPr>
          <a:xfrm>
            <a:off x="6489700" y="5448300"/>
            <a:ext cx="4592320" cy="184150"/>
          </a:xfrm>
          <a:prstGeom prst="rect">
            <a:avLst/>
          </a:prstGeom>
          <a:noFill/>
        </p:spPr>
        <p:txBody>
          <a:bodyPr wrap="none" lIns="0" tIns="0" rIns="0" bIns="0" anchor="t">
            <a:noAutofit/>
          </a:bodyPr>
          <a:lstStyle/>
          <a:p>
            <a:pPr algn="l">
              <a:lnSpc>
                <a:spcPts val="1400"/>
              </a:lnSpc>
            </a:pPr>
            <a:r>
              <a:rPr sz="1000" b="1">
                <a:solidFill>
                  <a:srgbClr val="8C5E2D"/>
                </a:solidFill>
                <a:latin typeface="Microsoft JhengHei"/>
                <a:ea typeface="Microsoft JhengHei"/>
                <a:cs typeface="Microsoft JhengHei"/>
              </a:rPr>
              <a:t>We must combine a second biological mechanism upfront</a:t>
            </a:r>
          </a:p>
        </p:txBody>
      </p:sp>
      <p:sp>
        <p:nvSpPr>
          <p:cNvPr id="60" name="TextBox 59"/>
          <p:cNvSpPr txBox="1"/>
          <p:nvPr/>
        </p:nvSpPr>
        <p:spPr>
          <a:xfrm>
            <a:off x="6489700" y="5645150"/>
            <a:ext cx="3771424" cy="158750"/>
          </a:xfrm>
          <a:prstGeom prst="rect">
            <a:avLst/>
          </a:prstGeom>
          <a:noFill/>
        </p:spPr>
        <p:txBody>
          <a:bodyPr wrap="none" lIns="0" tIns="0" rIns="0" bIns="0" anchor="t">
            <a:noAutofit/>
          </a:bodyPr>
          <a:lstStyle/>
          <a:p>
            <a:pPr algn="l">
              <a:lnSpc>
                <a:spcPts val="1190"/>
              </a:lnSpc>
            </a:pPr>
            <a:r>
              <a:rPr sz="850" b="1">
                <a:solidFill>
                  <a:srgbClr val="976E42"/>
                </a:solidFill>
                <a:latin typeface="Microsoft JhengHei"/>
                <a:ea typeface="Microsoft JhengHei"/>
                <a:cs typeface="Microsoft JhengHei"/>
              </a:rPr>
              <a:t>必須及早結合第二種生理機轉，方能安全跨越 31.5 mg/dL 缺口</a:t>
            </a:r>
          </a:p>
        </p:txBody>
      </p:sp>
      <p:sp>
        <p:nvSpPr>
          <p:cNvPr id="61" name="Rectangle 60"/>
          <p:cNvSpPr/>
          <p:nvPr/>
        </p:nvSpPr>
        <p:spPr>
          <a:xfrm>
            <a:off x="482600" y="6184900"/>
            <a:ext cx="11226800" cy="12700"/>
          </a:xfrm>
          <a:prstGeom prst="rect">
            <a:avLst/>
          </a:prstGeom>
          <a:solidFill>
            <a:srgbClr val="EFECE6"/>
          </a:solidFill>
          <a:ln>
            <a:noFill/>
          </a:ln>
          <a:effectLst/>
        </p:spPr>
        <p:txBody>
          <a:bodyPr rtlCol="0" anchor="ctr"/>
          <a:lstStyle/>
          <a:p>
            <a:endParaRPr/>
          </a:p>
        </p:txBody>
      </p:sp>
      <p:sp>
        <p:nvSpPr>
          <p:cNvPr id="62" name="TextBox 61"/>
          <p:cNvSpPr txBox="1"/>
          <p:nvPr/>
        </p:nvSpPr>
        <p:spPr>
          <a:xfrm>
            <a:off x="482600" y="6235700"/>
            <a:ext cx="8686086" cy="266700"/>
          </a:xfrm>
          <a:prstGeom prst="rect">
            <a:avLst/>
          </a:prstGeom>
          <a:noFill/>
        </p:spPr>
        <p:txBody>
          <a:bodyPr wrap="none" lIns="0" tIns="0" rIns="0" bIns="0" anchor="t">
            <a:noAutofit/>
          </a:bodyPr>
          <a:lstStyle/>
          <a:p>
            <a:pPr algn="l">
              <a:lnSpc>
                <a:spcPts val="1050"/>
              </a:lnSpc>
            </a:pPr>
            <a:r>
              <a:rPr sz="750" b="0">
                <a:solidFill>
                  <a:srgbClr val="78716C"/>
                </a:solidFill>
                <a:latin typeface="Microsoft JhengHei"/>
                <a:ea typeface="Microsoft JhengHei"/>
                <a:cs typeface="Microsoft JhengHei"/>
              </a:rPr>
              <a:t>1. Cannon CP, et al. Ezetimibe Added to Statin Therapy after Acute Coronary Syndromes (IMPROVE-IT). N Engl J Med. 2015;372(25):2387-2397. PMID: 26039521.</a:t>
            </a:r>
          </a:p>
          <a:p>
            <a:pPr algn="l">
              <a:lnSpc>
                <a:spcPts val="1050"/>
              </a:lnSpc>
            </a:pPr>
            <a:r>
              <a:rPr sz="750" b="0">
                <a:solidFill>
                  <a:srgbClr val="78716C"/>
                </a:solidFill>
                <a:latin typeface="Microsoft JhengHei"/>
                <a:ea typeface="Microsoft JhengHei"/>
                <a:cs typeface="Microsoft JhengHei"/>
              </a:rPr>
              <a:t>2. Maron DJ, et al. High-Dose Atorvastatin vs Moderate-Dose Statin in Post-ACS Patients. JAMA. 2020;324(12):1180-1191.</a:t>
            </a:r>
          </a:p>
        </p:txBody>
      </p:sp>
      <p:sp>
        <p:nvSpPr>
          <p:cNvPr id="63" name="Rounded Rectangle 62"/>
          <p:cNvSpPr/>
          <p:nvPr/>
        </p:nvSpPr>
        <p:spPr>
          <a:xfrm>
            <a:off x="8915400" y="254000"/>
            <a:ext cx="555308"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64" name="TextBox 63"/>
          <p:cNvSpPr txBox="1"/>
          <p:nvPr/>
        </p:nvSpPr>
        <p:spPr>
          <a:xfrm>
            <a:off x="9017000" y="304800"/>
            <a:ext cx="441008"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1. Case</a:t>
            </a:r>
          </a:p>
        </p:txBody>
      </p:sp>
      <p:sp>
        <p:nvSpPr>
          <p:cNvPr id="65" name="Rounded Rectangle 64"/>
          <p:cNvSpPr/>
          <p:nvPr/>
        </p:nvSpPr>
        <p:spPr>
          <a:xfrm>
            <a:off x="9521508" y="254000"/>
            <a:ext cx="684022"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66" name="TextBox 65"/>
          <p:cNvSpPr txBox="1"/>
          <p:nvPr/>
        </p:nvSpPr>
        <p:spPr>
          <a:xfrm>
            <a:off x="9623108" y="304800"/>
            <a:ext cx="601028"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2. Targets</a:t>
            </a:r>
          </a:p>
        </p:txBody>
      </p:sp>
      <p:sp>
        <p:nvSpPr>
          <p:cNvPr id="67" name="Rounded Rectangle 66"/>
          <p:cNvSpPr/>
          <p:nvPr/>
        </p:nvSpPr>
        <p:spPr>
          <a:xfrm>
            <a:off x="10256330" y="254000"/>
            <a:ext cx="729932" cy="254000"/>
          </a:xfrm>
          <a:prstGeom prst="roundRect">
            <a:avLst>
              <a:gd name="adj" fmla="val 50000"/>
            </a:avLst>
          </a:prstGeom>
          <a:solidFill>
            <a:srgbClr val="1E2833"/>
          </a:solidFill>
          <a:ln w="12700">
            <a:solidFill>
              <a:srgbClr val="1E2833"/>
            </a:solidFill>
          </a:ln>
          <a:effectLst/>
        </p:spPr>
        <p:txBody>
          <a:bodyPr rtlCol="0" anchor="ctr"/>
          <a:lstStyle/>
          <a:p>
            <a:endParaRPr/>
          </a:p>
        </p:txBody>
      </p:sp>
      <p:sp>
        <p:nvSpPr>
          <p:cNvPr id="68" name="TextBox 67"/>
          <p:cNvSpPr txBox="1"/>
          <p:nvPr/>
        </p:nvSpPr>
        <p:spPr>
          <a:xfrm>
            <a:off x="10357930" y="304800"/>
            <a:ext cx="658416" cy="152400"/>
          </a:xfrm>
          <a:prstGeom prst="rect">
            <a:avLst/>
          </a:prstGeom>
          <a:noFill/>
        </p:spPr>
        <p:txBody>
          <a:bodyPr wrap="none" lIns="0" tIns="0" rIns="0" bIns="0" anchor="t">
            <a:noAutofit/>
          </a:bodyPr>
          <a:lstStyle/>
          <a:p>
            <a:pPr algn="l">
              <a:lnSpc>
                <a:spcPts val="1120"/>
              </a:lnSpc>
            </a:pPr>
            <a:r>
              <a:rPr sz="800" b="1">
                <a:solidFill>
                  <a:srgbClr val="FFFFFF"/>
                </a:solidFill>
                <a:latin typeface="Microsoft JhengHei"/>
                <a:ea typeface="Microsoft JhengHei"/>
                <a:cs typeface="Microsoft JhengHei"/>
              </a:rPr>
              <a:t>3. Therapy</a:t>
            </a:r>
          </a:p>
        </p:txBody>
      </p:sp>
      <p:sp>
        <p:nvSpPr>
          <p:cNvPr id="69" name="Rounded Rectangle 68"/>
          <p:cNvSpPr/>
          <p:nvPr/>
        </p:nvSpPr>
        <p:spPr>
          <a:xfrm>
            <a:off x="11037126" y="254000"/>
            <a:ext cx="757618"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70" name="TextBox 69"/>
          <p:cNvSpPr txBox="1"/>
          <p:nvPr/>
        </p:nvSpPr>
        <p:spPr>
          <a:xfrm>
            <a:off x="11138726" y="304800"/>
            <a:ext cx="693023"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4. Timeline</a:t>
            </a:r>
          </a:p>
        </p:txBody>
      </p:sp>
      <p:sp>
        <p:nvSpPr>
          <p:cNvPr id="71" name="Rectangle 70"/>
          <p:cNvSpPr/>
          <p:nvPr/>
        </p:nvSpPr>
        <p:spPr>
          <a:xfrm>
            <a:off x="0" y="6527800"/>
            <a:ext cx="12192000" cy="330200"/>
          </a:xfrm>
          <a:prstGeom prst="rect">
            <a:avLst/>
          </a:prstGeom>
          <a:solidFill>
            <a:srgbClr val="FFFFFF"/>
          </a:solidFill>
          <a:ln>
            <a:noFill/>
          </a:ln>
          <a:effectLst/>
        </p:spPr>
        <p:txBody>
          <a:bodyPr rtlCol="0" anchor="ctr"/>
          <a:lstStyle/>
          <a:p>
            <a:endParaRPr/>
          </a:p>
        </p:txBody>
      </p:sp>
      <p:sp>
        <p:nvSpPr>
          <p:cNvPr id="72" name="Rectangle 71"/>
          <p:cNvSpPr/>
          <p:nvPr/>
        </p:nvSpPr>
        <p:spPr>
          <a:xfrm>
            <a:off x="0" y="6527800"/>
            <a:ext cx="12192000" cy="12700"/>
          </a:xfrm>
          <a:prstGeom prst="rect">
            <a:avLst/>
          </a:prstGeom>
          <a:solidFill>
            <a:srgbClr val="EFECE6"/>
          </a:solidFill>
          <a:ln>
            <a:noFill/>
          </a:ln>
          <a:effectLst/>
        </p:spPr>
        <p:txBody>
          <a:bodyPr rtlCol="0" anchor="ctr"/>
          <a:lstStyle/>
          <a:p>
            <a:endParaRPr/>
          </a:p>
        </p:txBody>
      </p:sp>
      <p:sp>
        <p:nvSpPr>
          <p:cNvPr id="73" name="TextBox 72"/>
          <p:cNvSpPr txBox="1"/>
          <p:nvPr/>
        </p:nvSpPr>
        <p:spPr>
          <a:xfrm>
            <a:off x="482600" y="6613525"/>
            <a:ext cx="808038" cy="171450"/>
          </a:xfrm>
          <a:prstGeom prst="rect">
            <a:avLst/>
          </a:prstGeom>
          <a:noFill/>
        </p:spPr>
        <p:txBody>
          <a:bodyPr wrap="none" lIns="0" tIns="0" rIns="0" bIns="0" anchor="t">
            <a:noAutofit/>
          </a:bodyPr>
          <a:lstStyle/>
          <a:p>
            <a:pPr algn="l">
              <a:lnSpc>
                <a:spcPts val="1330"/>
              </a:lnSpc>
            </a:pPr>
            <a:r>
              <a:rPr sz="950" b="1">
                <a:solidFill>
                  <a:srgbClr val="1E2833"/>
                </a:solidFill>
                <a:latin typeface="Microsoft JhengHei"/>
                <a:ea typeface="Microsoft JhengHei"/>
                <a:cs typeface="Microsoft JhengHei"/>
              </a:rPr>
              <a:t>3. Therapy</a:t>
            </a:r>
          </a:p>
        </p:txBody>
      </p:sp>
      <p:sp>
        <p:nvSpPr>
          <p:cNvPr id="74" name="Rounded Rectangle 73"/>
          <p:cNvSpPr/>
          <p:nvPr/>
        </p:nvSpPr>
        <p:spPr>
          <a:xfrm>
            <a:off x="1268730" y="6680200"/>
            <a:ext cx="9905302" cy="38100"/>
          </a:xfrm>
          <a:prstGeom prst="roundRect">
            <a:avLst>
              <a:gd name="adj" fmla="val 50000"/>
            </a:avLst>
          </a:prstGeom>
          <a:solidFill>
            <a:srgbClr val="EFECE6"/>
          </a:solidFill>
          <a:ln>
            <a:noFill/>
          </a:ln>
          <a:effectLst/>
        </p:spPr>
        <p:txBody>
          <a:bodyPr rtlCol="0" anchor="ctr"/>
          <a:lstStyle/>
          <a:p>
            <a:endParaRPr/>
          </a:p>
        </p:txBody>
      </p:sp>
      <p:sp>
        <p:nvSpPr>
          <p:cNvPr id="75" name="Rectangle 74"/>
          <p:cNvSpPr/>
          <p:nvPr/>
        </p:nvSpPr>
        <p:spPr>
          <a:xfrm>
            <a:off x="1268730" y="6680200"/>
            <a:ext cx="5943092" cy="38100"/>
          </a:xfrm>
          <a:prstGeom prst="rect">
            <a:avLst/>
          </a:prstGeom>
          <a:solidFill>
            <a:srgbClr val="F3C84B"/>
          </a:solidFill>
          <a:ln>
            <a:noFill/>
          </a:ln>
          <a:effectLst/>
        </p:spPr>
        <p:txBody>
          <a:bodyPr rtlCol="0" anchor="ctr"/>
          <a:lstStyle/>
          <a:p>
            <a:endParaRPr/>
          </a:p>
        </p:txBody>
      </p:sp>
      <p:sp>
        <p:nvSpPr>
          <p:cNvPr id="76" name="TextBox 75"/>
          <p:cNvSpPr txBox="1"/>
          <p:nvPr/>
        </p:nvSpPr>
        <p:spPr>
          <a:xfrm>
            <a:off x="11313732" y="6613525"/>
            <a:ext cx="494586" cy="171450"/>
          </a:xfrm>
          <a:prstGeom prst="rect">
            <a:avLst/>
          </a:prstGeom>
          <a:noFill/>
        </p:spPr>
        <p:txBody>
          <a:bodyPr wrap="none" lIns="0" tIns="0" rIns="0" bIns="0" anchor="t">
            <a:noAutofit/>
          </a:bodyPr>
          <a:lstStyle/>
          <a:p>
            <a:pPr algn="l">
              <a:lnSpc>
                <a:spcPts val="1330"/>
              </a:lnSpc>
            </a:pPr>
            <a:r>
              <a:rPr sz="950" b="1">
                <a:solidFill>
                  <a:srgbClr val="44403C"/>
                </a:solidFill>
                <a:latin typeface="Microsoft JhengHei"/>
                <a:ea typeface="Microsoft JhengHei"/>
                <a:cs typeface="Microsoft JhengHei"/>
              </a:rPr>
              <a:t>06 / 10</a:t>
            </a:r>
          </a:p>
        </p:txBody>
      </p:sp>
      <p:sp>
        <p:nvSpPr>
          <p:cNvPr id="77" name="LINK_Rectangle 76">
            <a:hlinkClick r:id="rId3" action="ppaction://hlinksldjump"/>
          </p:cNvPr>
          <p:cNvSpPr/>
          <p:nvPr/>
        </p:nvSpPr>
        <p:spPr>
          <a:xfrm>
            <a:off x="8915400" y="254000"/>
            <a:ext cx="555327" cy="254000"/>
          </a:xfrm>
          <a:prstGeom prst="rect">
            <a:avLst/>
          </a:prstGeom>
          <a:solidFill>
            <a:srgbClr val="FFFFFF">
              <a:alpha val="0"/>
            </a:srgbClr>
          </a:solidFill>
          <a:ln>
            <a:noFill/>
          </a:ln>
          <a:effectLst/>
        </p:spPr>
        <p:txBody>
          <a:bodyPr rtlCol="0" anchor="ctr"/>
          <a:lstStyle/>
          <a:p>
            <a:pPr algn="ctr"/>
            <a:endParaRPr/>
          </a:p>
        </p:txBody>
      </p:sp>
      <p:sp>
        <p:nvSpPr>
          <p:cNvPr id="78" name="LINK_Rectangle 77">
            <a:hlinkClick r:id="rId4" action="ppaction://hlinksldjump"/>
          </p:cNvPr>
          <p:cNvSpPr/>
          <p:nvPr/>
        </p:nvSpPr>
        <p:spPr>
          <a:xfrm>
            <a:off x="9521527" y="254000"/>
            <a:ext cx="684014" cy="254000"/>
          </a:xfrm>
          <a:prstGeom prst="rect">
            <a:avLst/>
          </a:prstGeom>
          <a:solidFill>
            <a:srgbClr val="FFFFFF">
              <a:alpha val="0"/>
            </a:srgbClr>
          </a:solidFill>
          <a:ln>
            <a:noFill/>
          </a:ln>
          <a:effectLst/>
        </p:spPr>
        <p:txBody>
          <a:bodyPr rtlCol="0" anchor="ctr"/>
          <a:lstStyle/>
          <a:p>
            <a:pPr algn="ctr"/>
            <a:endParaRPr/>
          </a:p>
        </p:txBody>
      </p:sp>
      <p:sp>
        <p:nvSpPr>
          <p:cNvPr id="79" name="LINK_Rectangle 78">
            <a:hlinkClick r:id="rId5" action="ppaction://hlinksldjump"/>
          </p:cNvPr>
          <p:cNvSpPr/>
          <p:nvPr/>
        </p:nvSpPr>
        <p:spPr>
          <a:xfrm>
            <a:off x="11037094" y="254000"/>
            <a:ext cx="757634" cy="254000"/>
          </a:xfrm>
          <a:prstGeom prst="rect">
            <a:avLst/>
          </a:prstGeom>
          <a:solidFill>
            <a:srgbClr val="FFFFFF">
              <a:alpha val="0"/>
            </a:srgbClr>
          </a:solidFill>
          <a:ln>
            <a:noFill/>
          </a:ln>
          <a:effectLst/>
        </p:spPr>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482600" y="241300"/>
            <a:ext cx="8355965" cy="419100"/>
          </a:xfrm>
          <a:prstGeom prst="rect">
            <a:avLst/>
          </a:prstGeom>
          <a:noFill/>
        </p:spPr>
        <p:txBody>
          <a:bodyPr wrap="none" lIns="0" tIns="0" rIns="0" bIns="0" anchor="t">
            <a:noAutofit/>
          </a:bodyPr>
          <a:lstStyle/>
          <a:p>
            <a:pPr algn="l">
              <a:lnSpc>
                <a:spcPts val="2710"/>
              </a:lnSpc>
            </a:pPr>
            <a:r>
              <a:rPr sz="2300" b="1" spc="-23">
                <a:solidFill>
                  <a:srgbClr val="1C1917"/>
                </a:solidFill>
                <a:latin typeface="Microsoft JhengHei"/>
                <a:ea typeface="Microsoft JhengHei"/>
                <a:cs typeface="Microsoft JhengHei"/>
              </a:rPr>
              <a:t>The Solution: Combine Statin with Ezetimibe</a:t>
            </a:r>
          </a:p>
        </p:txBody>
      </p:sp>
      <p:sp>
        <p:nvSpPr>
          <p:cNvPr id="4" name="TextBox 3"/>
          <p:cNvSpPr txBox="1"/>
          <p:nvPr/>
        </p:nvSpPr>
        <p:spPr>
          <a:xfrm>
            <a:off x="482600" y="649414"/>
            <a:ext cx="7933928" cy="215900"/>
          </a:xfrm>
          <a:prstGeom prst="rect">
            <a:avLst/>
          </a:prstGeom>
          <a:noFill/>
        </p:spPr>
        <p:txBody>
          <a:bodyPr wrap="none" lIns="0" tIns="0" rIns="0" bIns="0" anchor="t">
            <a:noAutofit/>
          </a:bodyPr>
          <a:lstStyle/>
          <a:p>
            <a:pPr algn="l">
              <a:lnSpc>
                <a:spcPts val="1550"/>
              </a:lnSpc>
            </a:pPr>
            <a:r>
              <a:rPr sz="1150" b="1">
                <a:solidFill>
                  <a:srgbClr val="1E2833"/>
                </a:solidFill>
                <a:latin typeface="Microsoft JhengHei"/>
                <a:ea typeface="Microsoft JhengHei"/>
                <a:cs typeface="Microsoft JhengHei"/>
              </a:rPr>
              <a:t>雙管齊下：同時阻斷肝臟製造與腸道吸收</a:t>
            </a:r>
            <a:r>
              <a:rPr sz="1150" b="0">
                <a:solidFill>
                  <a:srgbClr val="44403C"/>
                </a:solidFill>
                <a:latin typeface="Microsoft JhengHei"/>
                <a:ea typeface="Microsoft JhengHei"/>
                <a:cs typeface="Microsoft JhengHei"/>
              </a:rPr>
              <a:t> ｜ Dual-Pathway Synergy Achieves 65% LDL Reduction</a:t>
            </a:r>
          </a:p>
        </p:txBody>
      </p:sp>
      <p:sp>
        <p:nvSpPr>
          <p:cNvPr id="5" name="Rounded Rectangle 4"/>
          <p:cNvSpPr/>
          <p:nvPr/>
        </p:nvSpPr>
        <p:spPr>
          <a:xfrm>
            <a:off x="482600" y="960818"/>
            <a:ext cx="5511800" cy="5071682"/>
          </a:xfrm>
          <a:prstGeom prst="roundRect">
            <a:avLst>
              <a:gd name="adj" fmla="val 2504"/>
            </a:avLst>
          </a:prstGeom>
          <a:solidFill>
            <a:srgbClr val="2D6A4F">
              <a:alpha val="8000"/>
            </a:srgbClr>
          </a:solidFill>
          <a:ln>
            <a:noFill/>
          </a:ln>
          <a:effectLst/>
        </p:spPr>
        <p:txBody>
          <a:bodyPr rtlCol="0" anchor="ctr"/>
          <a:lstStyle/>
          <a:p>
            <a:endParaRPr/>
          </a:p>
        </p:txBody>
      </p:sp>
      <p:sp>
        <p:nvSpPr>
          <p:cNvPr id="6" name="Rectangle 5"/>
          <p:cNvSpPr/>
          <p:nvPr/>
        </p:nvSpPr>
        <p:spPr>
          <a:xfrm>
            <a:off x="482600" y="960818"/>
            <a:ext cx="5511800" cy="50800"/>
          </a:xfrm>
          <a:prstGeom prst="rect">
            <a:avLst/>
          </a:prstGeom>
          <a:solidFill>
            <a:srgbClr val="2D6A4F"/>
          </a:solidFill>
          <a:ln>
            <a:noFill/>
          </a:ln>
          <a:effectLst/>
        </p:spPr>
        <p:txBody>
          <a:bodyPr rtlCol="0" anchor="ctr"/>
          <a:lstStyle/>
          <a:p>
            <a:endParaRPr/>
          </a:p>
        </p:txBody>
      </p:sp>
      <p:sp>
        <p:nvSpPr>
          <p:cNvPr id="7" name="Rectangle 6"/>
          <p:cNvSpPr/>
          <p:nvPr/>
        </p:nvSpPr>
        <p:spPr>
          <a:xfrm>
            <a:off x="5981700" y="960818"/>
            <a:ext cx="12700" cy="5071682"/>
          </a:xfrm>
          <a:prstGeom prst="rect">
            <a:avLst/>
          </a:prstGeom>
          <a:solidFill>
            <a:srgbClr val="E2DDD5"/>
          </a:solidFill>
          <a:ln>
            <a:noFill/>
          </a:ln>
          <a:effectLst/>
        </p:spPr>
        <p:txBody>
          <a:bodyPr rtlCol="0" anchor="ctr"/>
          <a:lstStyle/>
          <a:p>
            <a:endParaRPr/>
          </a:p>
        </p:txBody>
      </p:sp>
      <p:sp>
        <p:nvSpPr>
          <p:cNvPr id="8" name="Rectangle 7"/>
          <p:cNvSpPr/>
          <p:nvPr/>
        </p:nvSpPr>
        <p:spPr>
          <a:xfrm>
            <a:off x="482600" y="6019800"/>
            <a:ext cx="5511800" cy="12700"/>
          </a:xfrm>
          <a:prstGeom prst="rect">
            <a:avLst/>
          </a:prstGeom>
          <a:solidFill>
            <a:srgbClr val="E2DDD5"/>
          </a:solidFill>
          <a:ln>
            <a:noFill/>
          </a:ln>
          <a:effectLst/>
        </p:spPr>
        <p:txBody>
          <a:bodyPr rtlCol="0" anchor="ctr"/>
          <a:lstStyle/>
          <a:p>
            <a:endParaRPr/>
          </a:p>
        </p:txBody>
      </p:sp>
      <p:sp>
        <p:nvSpPr>
          <p:cNvPr id="9" name="Rectangle 8"/>
          <p:cNvSpPr/>
          <p:nvPr/>
        </p:nvSpPr>
        <p:spPr>
          <a:xfrm>
            <a:off x="482600" y="960818"/>
            <a:ext cx="12700" cy="5071682"/>
          </a:xfrm>
          <a:prstGeom prst="rect">
            <a:avLst/>
          </a:prstGeom>
          <a:solidFill>
            <a:srgbClr val="E2DDD5"/>
          </a:solidFill>
          <a:ln>
            <a:noFill/>
          </a:ln>
          <a:effectLst/>
        </p:spPr>
        <p:txBody>
          <a:bodyPr rtlCol="0" anchor="ctr"/>
          <a:lstStyle/>
          <a:p>
            <a:endParaRPr/>
          </a:p>
        </p:txBody>
      </p:sp>
      <p:sp>
        <p:nvSpPr>
          <p:cNvPr id="10" name="Rounded Rectangle 9"/>
          <p:cNvSpPr/>
          <p:nvPr/>
        </p:nvSpPr>
        <p:spPr>
          <a:xfrm>
            <a:off x="660400" y="1151318"/>
            <a:ext cx="1888426" cy="209550"/>
          </a:xfrm>
          <a:prstGeom prst="roundRect">
            <a:avLst>
              <a:gd name="adj" fmla="val 50000"/>
            </a:avLst>
          </a:prstGeom>
          <a:solidFill>
            <a:srgbClr val="2D6A4F">
              <a:alpha val="8000"/>
            </a:srgbClr>
          </a:solidFill>
          <a:ln>
            <a:noFill/>
          </a:ln>
          <a:effectLst/>
        </p:spPr>
        <p:txBody>
          <a:bodyPr rtlCol="0" anchor="ctr"/>
          <a:lstStyle/>
          <a:p>
            <a:endParaRPr/>
          </a:p>
        </p:txBody>
      </p:sp>
      <p:sp>
        <p:nvSpPr>
          <p:cNvPr id="11" name="TextBox 10"/>
          <p:cNvSpPr txBox="1"/>
          <p:nvPr/>
        </p:nvSpPr>
        <p:spPr>
          <a:xfrm>
            <a:off x="749300" y="1176718"/>
            <a:ext cx="2138283" cy="158750"/>
          </a:xfrm>
          <a:prstGeom prst="rect">
            <a:avLst/>
          </a:prstGeom>
          <a:noFill/>
        </p:spPr>
        <p:txBody>
          <a:bodyPr wrap="none" lIns="0" tIns="0" rIns="0" bIns="0" anchor="t">
            <a:noAutofit/>
          </a:bodyPr>
          <a:lstStyle/>
          <a:p>
            <a:pPr algn="l">
              <a:lnSpc>
                <a:spcPts val="1190"/>
              </a:lnSpc>
            </a:pPr>
            <a:r>
              <a:rPr sz="850" b="1">
                <a:solidFill>
                  <a:srgbClr val="2D6A4F"/>
                </a:solidFill>
                <a:latin typeface="Microsoft JhengHei"/>
                <a:ea typeface="Microsoft JhengHei"/>
                <a:cs typeface="Microsoft JhengHei"/>
              </a:rPr>
              <a:t>Dual Biology ｜ 雙重生理解剖機轉</a:t>
            </a:r>
          </a:p>
        </p:txBody>
      </p:sp>
      <p:sp>
        <p:nvSpPr>
          <p:cNvPr id="12" name="TextBox 11"/>
          <p:cNvSpPr txBox="1"/>
          <p:nvPr/>
        </p:nvSpPr>
        <p:spPr>
          <a:xfrm>
            <a:off x="660400" y="1386268"/>
            <a:ext cx="4388564" cy="279400"/>
          </a:xfrm>
          <a:prstGeom prst="rect">
            <a:avLst/>
          </a:prstGeom>
          <a:noFill/>
        </p:spPr>
        <p:txBody>
          <a:bodyPr wrap="none" lIns="0" tIns="0" rIns="0" bIns="0" anchor="t">
            <a:noAutofit/>
          </a:bodyPr>
          <a:lstStyle/>
          <a:p>
            <a:pPr algn="l">
              <a:lnSpc>
                <a:spcPts val="1880"/>
              </a:lnSpc>
            </a:pPr>
            <a:r>
              <a:rPr sz="1500" b="1">
                <a:solidFill>
                  <a:srgbClr val="2D6A4F"/>
                </a:solidFill>
                <a:latin typeface="Microsoft JhengHei"/>
                <a:ea typeface="Microsoft JhengHei"/>
                <a:cs typeface="Microsoft JhengHei"/>
              </a:rPr>
              <a:t>Mechanism: Liver + Gut </a:t>
            </a:r>
            <a:r>
              <a:rPr sz="1200" b="1">
                <a:solidFill>
                  <a:srgbClr val="78716C"/>
                </a:solidFill>
                <a:latin typeface="Microsoft JhengHei"/>
                <a:ea typeface="Microsoft JhengHei"/>
                <a:cs typeface="Microsoft JhengHei"/>
              </a:rPr>
              <a:t>(肝臟與腸道協同)</a:t>
            </a:r>
          </a:p>
        </p:txBody>
      </p:sp>
      <p:sp>
        <p:nvSpPr>
          <p:cNvPr id="13" name="Rounded Rectangle 12"/>
          <p:cNvSpPr/>
          <p:nvPr/>
        </p:nvSpPr>
        <p:spPr>
          <a:xfrm>
            <a:off x="660400" y="1713294"/>
            <a:ext cx="2456561" cy="717550"/>
          </a:xfrm>
          <a:prstGeom prst="roundRect">
            <a:avLst>
              <a:gd name="adj" fmla="val 12389"/>
            </a:avLst>
          </a:prstGeom>
          <a:solidFill>
            <a:srgbClr val="FAF8F5"/>
          </a:solidFill>
          <a:ln>
            <a:noFill/>
          </a:ln>
          <a:effectLst/>
        </p:spPr>
        <p:txBody>
          <a:bodyPr rtlCol="0" anchor="ctr"/>
          <a:lstStyle/>
          <a:p>
            <a:endParaRPr/>
          </a:p>
        </p:txBody>
      </p:sp>
      <p:sp>
        <p:nvSpPr>
          <p:cNvPr id="14" name="Rectangle 13"/>
          <p:cNvSpPr/>
          <p:nvPr/>
        </p:nvSpPr>
        <p:spPr>
          <a:xfrm>
            <a:off x="660400" y="1713294"/>
            <a:ext cx="2456561" cy="12700"/>
          </a:xfrm>
          <a:prstGeom prst="rect">
            <a:avLst/>
          </a:prstGeom>
          <a:solidFill>
            <a:srgbClr val="E2DDD5"/>
          </a:solidFill>
          <a:ln>
            <a:noFill/>
          </a:ln>
          <a:effectLst/>
        </p:spPr>
        <p:txBody>
          <a:bodyPr rtlCol="0" anchor="ctr"/>
          <a:lstStyle/>
          <a:p>
            <a:endParaRPr/>
          </a:p>
        </p:txBody>
      </p:sp>
      <p:sp>
        <p:nvSpPr>
          <p:cNvPr id="15" name="Rectangle 14"/>
          <p:cNvSpPr/>
          <p:nvPr/>
        </p:nvSpPr>
        <p:spPr>
          <a:xfrm>
            <a:off x="3104261" y="1713294"/>
            <a:ext cx="12700" cy="717550"/>
          </a:xfrm>
          <a:prstGeom prst="rect">
            <a:avLst/>
          </a:prstGeom>
          <a:solidFill>
            <a:srgbClr val="E2DDD5"/>
          </a:solidFill>
          <a:ln>
            <a:noFill/>
          </a:ln>
          <a:effectLst/>
        </p:spPr>
        <p:txBody>
          <a:bodyPr rtlCol="0" anchor="ctr"/>
          <a:lstStyle/>
          <a:p>
            <a:endParaRPr/>
          </a:p>
        </p:txBody>
      </p:sp>
      <p:sp>
        <p:nvSpPr>
          <p:cNvPr id="16" name="Rectangle 15"/>
          <p:cNvSpPr/>
          <p:nvPr/>
        </p:nvSpPr>
        <p:spPr>
          <a:xfrm>
            <a:off x="660400" y="2418144"/>
            <a:ext cx="2456561" cy="12700"/>
          </a:xfrm>
          <a:prstGeom prst="rect">
            <a:avLst/>
          </a:prstGeom>
          <a:solidFill>
            <a:srgbClr val="E2DDD5"/>
          </a:solidFill>
          <a:ln>
            <a:noFill/>
          </a:ln>
          <a:effectLst/>
        </p:spPr>
        <p:txBody>
          <a:bodyPr rtlCol="0" anchor="ctr"/>
          <a:lstStyle/>
          <a:p>
            <a:endParaRPr/>
          </a:p>
        </p:txBody>
      </p:sp>
      <p:sp>
        <p:nvSpPr>
          <p:cNvPr id="17" name="Rectangle 16"/>
          <p:cNvSpPr/>
          <p:nvPr/>
        </p:nvSpPr>
        <p:spPr>
          <a:xfrm>
            <a:off x="660400" y="1713294"/>
            <a:ext cx="38100" cy="717550"/>
          </a:xfrm>
          <a:prstGeom prst="rect">
            <a:avLst/>
          </a:prstGeom>
          <a:solidFill>
            <a:srgbClr val="1E2833"/>
          </a:solidFill>
          <a:ln>
            <a:noFill/>
          </a:ln>
          <a:effectLst/>
        </p:spPr>
        <p:txBody>
          <a:bodyPr rtlCol="0" anchor="ctr"/>
          <a:lstStyle/>
          <a:p>
            <a:endParaRPr/>
          </a:p>
        </p:txBody>
      </p:sp>
      <p:sp>
        <p:nvSpPr>
          <p:cNvPr id="18" name="TextBox 17"/>
          <p:cNvSpPr txBox="1"/>
          <p:nvPr/>
        </p:nvSpPr>
        <p:spPr>
          <a:xfrm>
            <a:off x="1009460" y="1814894"/>
            <a:ext cx="1783715" cy="514350"/>
          </a:xfrm>
          <a:prstGeom prst="rect">
            <a:avLst/>
          </a:prstGeom>
          <a:noFill/>
        </p:spPr>
        <p:txBody>
          <a:bodyPr wrap="none" lIns="0" tIns="0" rIns="0" bIns="0" anchor="t">
            <a:noAutofit/>
          </a:bodyPr>
          <a:lstStyle/>
          <a:p>
            <a:pPr algn="ctr">
              <a:lnSpc>
                <a:spcPts val="876"/>
              </a:lnSpc>
            </a:pPr>
            <a:r>
              <a:rPr sz="784" b="1">
                <a:solidFill>
                  <a:srgbClr val="1E2833"/>
                </a:solidFill>
                <a:latin typeface="Microsoft JhengHei"/>
                <a:ea typeface="Microsoft JhengHei"/>
                <a:cs typeface="Microsoft JhengHei"/>
              </a:rPr>
              <a:t>1. Statin (Liver 肝臟)</a:t>
            </a:r>
          </a:p>
          <a:p>
            <a:pPr algn="ctr">
              <a:lnSpc>
                <a:spcPts val="876"/>
              </a:lnSpc>
            </a:pPr>
            <a:r>
              <a:rPr sz="627" b="0">
                <a:solidFill>
                  <a:srgbClr val="1C1917"/>
                </a:solidFill>
                <a:latin typeface="Microsoft JhengHei"/>
                <a:ea typeface="Microsoft JhengHei"/>
                <a:cs typeface="Microsoft JhengHei"/>
              </a:rPr>
              <a:t> </a:t>
            </a:r>
          </a:p>
          <a:p>
            <a:pPr algn="ctr">
              <a:lnSpc>
                <a:spcPts val="876"/>
              </a:lnSpc>
            </a:pPr>
            <a:r>
              <a:rPr sz="627" b="0">
                <a:solidFill>
                  <a:srgbClr val="1C1917"/>
                </a:solidFill>
                <a:latin typeface="Microsoft JhengHei"/>
                <a:ea typeface="Microsoft JhengHei"/>
                <a:cs typeface="Microsoft JhengHei"/>
              </a:rPr>
              <a:t> </a:t>
            </a:r>
            <a:r>
              <a:rPr sz="665" b="0">
                <a:solidFill>
                  <a:srgbClr val="44403C"/>
                </a:solidFill>
                <a:latin typeface="Microsoft JhengHei"/>
                <a:ea typeface="Microsoft JhengHei"/>
                <a:cs typeface="Microsoft JhengHei"/>
              </a:rPr>
              <a:t>Inhibits HMG-CoA Reductase</a:t>
            </a:r>
          </a:p>
          <a:p>
            <a:pPr algn="ctr">
              <a:lnSpc>
                <a:spcPts val="876"/>
              </a:lnSpc>
            </a:pPr>
            <a:r>
              <a:rPr sz="627" b="0">
                <a:solidFill>
                  <a:srgbClr val="1C1917"/>
                </a:solidFill>
                <a:latin typeface="Microsoft JhengHei"/>
                <a:ea typeface="Microsoft JhengHei"/>
                <a:cs typeface="Microsoft JhengHei"/>
              </a:rPr>
              <a:t> </a:t>
            </a:r>
          </a:p>
          <a:p>
            <a:pPr algn="ctr">
              <a:lnSpc>
                <a:spcPts val="876"/>
              </a:lnSpc>
            </a:pPr>
            <a:r>
              <a:rPr sz="627" b="0">
                <a:solidFill>
                  <a:srgbClr val="1C1917"/>
                </a:solidFill>
                <a:latin typeface="Microsoft JhengHei"/>
                <a:ea typeface="Microsoft JhengHei"/>
                <a:cs typeface="Microsoft JhengHei"/>
              </a:rPr>
              <a:t> </a:t>
            </a:r>
            <a:r>
              <a:rPr sz="745" b="1">
                <a:solidFill>
                  <a:srgbClr val="1E2833"/>
                </a:solidFill>
                <a:latin typeface="Microsoft JhengHei"/>
                <a:ea typeface="Microsoft JhengHei"/>
                <a:cs typeface="Microsoft JhengHei"/>
              </a:rPr>
              <a:t>- 50% 抑制合成</a:t>
            </a:r>
          </a:p>
        </p:txBody>
      </p:sp>
      <p:sp>
        <p:nvSpPr>
          <p:cNvPr id="19" name="TextBox 18"/>
          <p:cNvSpPr txBox="1"/>
          <p:nvPr/>
        </p:nvSpPr>
        <p:spPr>
          <a:xfrm>
            <a:off x="3180461" y="1932368"/>
            <a:ext cx="204978" cy="279400"/>
          </a:xfrm>
          <a:prstGeom prst="rect">
            <a:avLst/>
          </a:prstGeom>
          <a:noFill/>
        </p:spPr>
        <p:txBody>
          <a:bodyPr wrap="none" lIns="0" tIns="0" rIns="0" bIns="0" anchor="t">
            <a:noAutofit/>
          </a:bodyPr>
          <a:lstStyle/>
          <a:p>
            <a:pPr algn="l">
              <a:lnSpc>
                <a:spcPts val="2100"/>
              </a:lnSpc>
            </a:pPr>
            <a:r>
              <a:rPr sz="1500" b="1">
                <a:solidFill>
                  <a:srgbClr val="2D6A4F"/>
                </a:solidFill>
                <a:latin typeface="Microsoft JhengHei"/>
                <a:ea typeface="Microsoft JhengHei"/>
                <a:cs typeface="Microsoft JhengHei"/>
              </a:rPr>
              <a:t>+</a:t>
            </a:r>
          </a:p>
        </p:txBody>
      </p:sp>
      <p:sp>
        <p:nvSpPr>
          <p:cNvPr id="20" name="Rounded Rectangle 19"/>
          <p:cNvSpPr/>
          <p:nvPr/>
        </p:nvSpPr>
        <p:spPr>
          <a:xfrm>
            <a:off x="3360039" y="1713294"/>
            <a:ext cx="2456561" cy="717550"/>
          </a:xfrm>
          <a:prstGeom prst="roundRect">
            <a:avLst>
              <a:gd name="adj" fmla="val 12389"/>
            </a:avLst>
          </a:prstGeom>
          <a:solidFill>
            <a:srgbClr val="FAF8F5"/>
          </a:solidFill>
          <a:ln>
            <a:noFill/>
          </a:ln>
          <a:effectLst/>
        </p:spPr>
        <p:txBody>
          <a:bodyPr rtlCol="0" anchor="ctr"/>
          <a:lstStyle/>
          <a:p>
            <a:endParaRPr/>
          </a:p>
        </p:txBody>
      </p:sp>
      <p:sp>
        <p:nvSpPr>
          <p:cNvPr id="21" name="Rectangle 20"/>
          <p:cNvSpPr/>
          <p:nvPr/>
        </p:nvSpPr>
        <p:spPr>
          <a:xfrm>
            <a:off x="3360039" y="1713294"/>
            <a:ext cx="2456561" cy="12700"/>
          </a:xfrm>
          <a:prstGeom prst="rect">
            <a:avLst/>
          </a:prstGeom>
          <a:solidFill>
            <a:srgbClr val="E2DDD5"/>
          </a:solidFill>
          <a:ln>
            <a:noFill/>
          </a:ln>
          <a:effectLst/>
        </p:spPr>
        <p:txBody>
          <a:bodyPr rtlCol="0" anchor="ctr"/>
          <a:lstStyle/>
          <a:p>
            <a:endParaRPr/>
          </a:p>
        </p:txBody>
      </p:sp>
      <p:sp>
        <p:nvSpPr>
          <p:cNvPr id="22" name="Rectangle 21"/>
          <p:cNvSpPr/>
          <p:nvPr/>
        </p:nvSpPr>
        <p:spPr>
          <a:xfrm>
            <a:off x="5803900" y="1713294"/>
            <a:ext cx="12700" cy="717550"/>
          </a:xfrm>
          <a:prstGeom prst="rect">
            <a:avLst/>
          </a:prstGeom>
          <a:solidFill>
            <a:srgbClr val="E2DDD5"/>
          </a:solidFill>
          <a:ln>
            <a:noFill/>
          </a:ln>
          <a:effectLst/>
        </p:spPr>
        <p:txBody>
          <a:bodyPr rtlCol="0" anchor="ctr"/>
          <a:lstStyle/>
          <a:p>
            <a:endParaRPr/>
          </a:p>
        </p:txBody>
      </p:sp>
      <p:sp>
        <p:nvSpPr>
          <p:cNvPr id="23" name="Rectangle 22"/>
          <p:cNvSpPr/>
          <p:nvPr/>
        </p:nvSpPr>
        <p:spPr>
          <a:xfrm>
            <a:off x="3360039" y="2418144"/>
            <a:ext cx="2456561" cy="12700"/>
          </a:xfrm>
          <a:prstGeom prst="rect">
            <a:avLst/>
          </a:prstGeom>
          <a:solidFill>
            <a:srgbClr val="E2DDD5"/>
          </a:solidFill>
          <a:ln>
            <a:noFill/>
          </a:ln>
          <a:effectLst/>
        </p:spPr>
        <p:txBody>
          <a:bodyPr rtlCol="0" anchor="ctr"/>
          <a:lstStyle/>
          <a:p>
            <a:endParaRPr/>
          </a:p>
        </p:txBody>
      </p:sp>
      <p:sp>
        <p:nvSpPr>
          <p:cNvPr id="24" name="Rectangle 23"/>
          <p:cNvSpPr/>
          <p:nvPr/>
        </p:nvSpPr>
        <p:spPr>
          <a:xfrm>
            <a:off x="3360039" y="1713294"/>
            <a:ext cx="38100" cy="717550"/>
          </a:xfrm>
          <a:prstGeom prst="rect">
            <a:avLst/>
          </a:prstGeom>
          <a:solidFill>
            <a:srgbClr val="2D6A4F"/>
          </a:solidFill>
          <a:ln>
            <a:noFill/>
          </a:ln>
          <a:effectLst/>
        </p:spPr>
        <p:txBody>
          <a:bodyPr rtlCol="0" anchor="ctr"/>
          <a:lstStyle/>
          <a:p>
            <a:endParaRPr/>
          </a:p>
        </p:txBody>
      </p:sp>
      <p:sp>
        <p:nvSpPr>
          <p:cNvPr id="25" name="TextBox 24"/>
          <p:cNvSpPr txBox="1"/>
          <p:nvPr/>
        </p:nvSpPr>
        <p:spPr>
          <a:xfrm>
            <a:off x="3702034" y="1814894"/>
            <a:ext cx="1797844" cy="514350"/>
          </a:xfrm>
          <a:prstGeom prst="rect">
            <a:avLst/>
          </a:prstGeom>
          <a:noFill/>
        </p:spPr>
        <p:txBody>
          <a:bodyPr wrap="none" lIns="0" tIns="0" rIns="0" bIns="0" anchor="t">
            <a:noAutofit/>
          </a:bodyPr>
          <a:lstStyle/>
          <a:p>
            <a:pPr algn="ctr">
              <a:lnSpc>
                <a:spcPts val="876"/>
              </a:lnSpc>
            </a:pPr>
            <a:r>
              <a:rPr sz="784" b="1">
                <a:solidFill>
                  <a:srgbClr val="2D6A4F"/>
                </a:solidFill>
                <a:latin typeface="Microsoft JhengHei"/>
                <a:ea typeface="Microsoft JhengHei"/>
                <a:cs typeface="Microsoft JhengHei"/>
              </a:rPr>
              <a:t>2. Ezetimibe (Gut 腸道)</a:t>
            </a:r>
          </a:p>
          <a:p>
            <a:pPr algn="ctr">
              <a:lnSpc>
                <a:spcPts val="876"/>
              </a:lnSpc>
            </a:pPr>
            <a:r>
              <a:rPr sz="627" b="0">
                <a:solidFill>
                  <a:srgbClr val="1C1917"/>
                </a:solidFill>
                <a:latin typeface="Microsoft JhengHei"/>
                <a:ea typeface="Microsoft JhengHei"/>
                <a:cs typeface="Microsoft JhengHei"/>
              </a:rPr>
              <a:t> </a:t>
            </a:r>
          </a:p>
          <a:p>
            <a:pPr algn="ctr">
              <a:lnSpc>
                <a:spcPts val="876"/>
              </a:lnSpc>
            </a:pPr>
            <a:r>
              <a:rPr sz="627" b="0">
                <a:solidFill>
                  <a:srgbClr val="1C1917"/>
                </a:solidFill>
                <a:latin typeface="Microsoft JhengHei"/>
                <a:ea typeface="Microsoft JhengHei"/>
                <a:cs typeface="Microsoft JhengHei"/>
              </a:rPr>
              <a:t> </a:t>
            </a:r>
            <a:r>
              <a:rPr sz="665" b="0">
                <a:solidFill>
                  <a:srgbClr val="44403C"/>
                </a:solidFill>
                <a:latin typeface="Microsoft JhengHei"/>
                <a:ea typeface="Microsoft JhengHei"/>
                <a:cs typeface="Microsoft JhengHei"/>
              </a:rPr>
              <a:t>Blocks NPC1L1 Transporter</a:t>
            </a:r>
          </a:p>
          <a:p>
            <a:pPr algn="ctr">
              <a:lnSpc>
                <a:spcPts val="876"/>
              </a:lnSpc>
            </a:pPr>
            <a:r>
              <a:rPr sz="627" b="0">
                <a:solidFill>
                  <a:srgbClr val="1C1917"/>
                </a:solidFill>
                <a:latin typeface="Microsoft JhengHei"/>
                <a:ea typeface="Microsoft JhengHei"/>
                <a:cs typeface="Microsoft JhengHei"/>
              </a:rPr>
              <a:t> </a:t>
            </a:r>
          </a:p>
          <a:p>
            <a:pPr algn="ctr">
              <a:lnSpc>
                <a:spcPts val="876"/>
              </a:lnSpc>
            </a:pPr>
            <a:r>
              <a:rPr sz="627" b="0">
                <a:solidFill>
                  <a:srgbClr val="1C1917"/>
                </a:solidFill>
                <a:latin typeface="Microsoft JhengHei"/>
                <a:ea typeface="Microsoft JhengHei"/>
                <a:cs typeface="Microsoft JhengHei"/>
              </a:rPr>
              <a:t> </a:t>
            </a:r>
            <a:r>
              <a:rPr sz="745" b="1">
                <a:solidFill>
                  <a:srgbClr val="2D6A4F"/>
                </a:solidFill>
                <a:latin typeface="Microsoft JhengHei"/>
                <a:ea typeface="Microsoft JhengHei"/>
                <a:cs typeface="Microsoft JhengHei"/>
              </a:rPr>
              <a:t>- 15% 阻斷吸收</a:t>
            </a:r>
          </a:p>
        </p:txBody>
      </p:sp>
      <p:sp>
        <p:nvSpPr>
          <p:cNvPr id="26" name="TextBox 25"/>
          <p:cNvSpPr txBox="1"/>
          <p:nvPr/>
        </p:nvSpPr>
        <p:spPr>
          <a:xfrm>
            <a:off x="825500" y="2487994"/>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Compensatory Block:</a:t>
            </a:r>
            <a:r>
              <a:rPr sz="1150" b="0">
                <a:solidFill>
                  <a:srgbClr val="44403C"/>
                </a:solidFill>
                <a:latin typeface="Microsoft JhengHei"/>
                <a:ea typeface="Microsoft JhengHei"/>
                <a:cs typeface="Microsoft JhengHei"/>
              </a:rPr>
              <a:t> Statins trigger intestinal upregulation of cholesterol absorption; ezetimibe blocks this escape pathway.</a:t>
            </a:r>
          </a:p>
        </p:txBody>
      </p:sp>
      <p:sp>
        <p:nvSpPr>
          <p:cNvPr id="27" name="TextBox 26"/>
          <p:cNvSpPr txBox="1"/>
          <p:nvPr/>
        </p:nvSpPr>
        <p:spPr>
          <a:xfrm>
            <a:off x="825500" y="2930525"/>
            <a:ext cx="6151166"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機轉互補：Statin 會促使腸道代償性吸收膽固醇，Ezetimibe 正好精準封鎖此代償逃逸途徑。</a:t>
            </a:r>
          </a:p>
        </p:txBody>
      </p:sp>
      <p:sp>
        <p:nvSpPr>
          <p:cNvPr id="28" name="TextBox 27"/>
          <p:cNvSpPr txBox="1"/>
          <p:nvPr/>
        </p:nvSpPr>
        <p:spPr>
          <a:xfrm>
            <a:off x="825500" y="3137218"/>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Synergistic Drop:</a:t>
            </a:r>
            <a:r>
              <a:rPr sz="1150" b="0">
                <a:solidFill>
                  <a:srgbClr val="44403C"/>
                </a:solidFill>
                <a:latin typeface="Microsoft JhengHei"/>
                <a:ea typeface="Microsoft JhengHei"/>
                <a:cs typeface="Microsoft JhengHei"/>
              </a:rPr>
              <a:t> Combined oral therapy provides a </a:t>
            </a:r>
            <a:r>
              <a:rPr sz="1150" b="1">
                <a:solidFill>
                  <a:srgbClr val="44403C"/>
                </a:solidFill>
                <a:latin typeface="Microsoft JhengHei"/>
                <a:ea typeface="Microsoft JhengHei"/>
                <a:cs typeface="Microsoft JhengHei"/>
              </a:rPr>
              <a:t>65% total LDL reduction</a:t>
            </a:r>
            <a:r>
              <a:rPr sz="1150" b="0">
                <a:solidFill>
                  <a:srgbClr val="44403C"/>
                </a:solidFill>
                <a:latin typeface="Microsoft JhengHei"/>
                <a:ea typeface="Microsoft JhengHei"/>
                <a:cs typeface="Microsoft JhengHei"/>
              </a:rPr>
              <a:t> (173 → 60.5 mg/dL).</a:t>
            </a:r>
          </a:p>
        </p:txBody>
      </p:sp>
      <p:sp>
        <p:nvSpPr>
          <p:cNvPr id="29" name="TextBox 28"/>
          <p:cNvSpPr txBox="1"/>
          <p:nvPr/>
        </p:nvSpPr>
        <p:spPr>
          <a:xfrm>
            <a:off x="825500" y="3579686"/>
            <a:ext cx="4815205"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協同綜效：口服雙藥提供高達 65% 的總降幅，使數值降至 60.5 mg/dL。</a:t>
            </a:r>
          </a:p>
        </p:txBody>
      </p:sp>
      <p:sp>
        <p:nvSpPr>
          <p:cNvPr id="30" name="Rounded Rectangle 29"/>
          <p:cNvSpPr/>
          <p:nvPr/>
        </p:nvSpPr>
        <p:spPr>
          <a:xfrm>
            <a:off x="660400" y="5372100"/>
            <a:ext cx="5156200" cy="508000"/>
          </a:xfrm>
          <a:prstGeom prst="roundRect">
            <a:avLst>
              <a:gd name="adj" fmla="val 15000"/>
            </a:avLst>
          </a:prstGeom>
          <a:solidFill>
            <a:srgbClr val="2D6A4F">
              <a:alpha val="8000"/>
            </a:srgbClr>
          </a:solidFill>
          <a:ln>
            <a:noFill/>
          </a:ln>
          <a:effectLst/>
        </p:spPr>
        <p:txBody>
          <a:bodyPr rtlCol="0" anchor="ctr"/>
          <a:lstStyle/>
          <a:p>
            <a:endParaRPr/>
          </a:p>
        </p:txBody>
      </p:sp>
      <p:sp>
        <p:nvSpPr>
          <p:cNvPr id="31" name="TextBox 30"/>
          <p:cNvSpPr txBox="1"/>
          <p:nvPr/>
        </p:nvSpPr>
        <p:spPr>
          <a:xfrm>
            <a:off x="774700" y="5448300"/>
            <a:ext cx="5158026" cy="184150"/>
          </a:xfrm>
          <a:prstGeom prst="rect">
            <a:avLst/>
          </a:prstGeom>
          <a:noFill/>
        </p:spPr>
        <p:txBody>
          <a:bodyPr wrap="none" lIns="0" tIns="0" rIns="0" bIns="0" anchor="t">
            <a:noAutofit/>
          </a:bodyPr>
          <a:lstStyle/>
          <a:p>
            <a:pPr algn="l">
              <a:lnSpc>
                <a:spcPts val="1400"/>
              </a:lnSpc>
            </a:pPr>
            <a:r>
              <a:rPr sz="1000" b="1">
                <a:solidFill>
                  <a:srgbClr val="2D6A4F"/>
                </a:solidFill>
                <a:latin typeface="Microsoft JhengHei"/>
                <a:ea typeface="Microsoft JhengHei"/>
                <a:cs typeface="Microsoft JhengHei"/>
              </a:rPr>
              <a:t>✓ Two complementary mechanisms with exceptional tolerability</a:t>
            </a:r>
          </a:p>
        </p:txBody>
      </p:sp>
      <p:sp>
        <p:nvSpPr>
          <p:cNvPr id="32" name="TextBox 31"/>
          <p:cNvSpPr txBox="1"/>
          <p:nvPr/>
        </p:nvSpPr>
        <p:spPr>
          <a:xfrm>
            <a:off x="774700" y="5645150"/>
            <a:ext cx="3643312" cy="158750"/>
          </a:xfrm>
          <a:prstGeom prst="rect">
            <a:avLst/>
          </a:prstGeom>
          <a:noFill/>
        </p:spPr>
        <p:txBody>
          <a:bodyPr wrap="none" lIns="0" tIns="0" rIns="0" bIns="0" anchor="t">
            <a:noAutofit/>
          </a:bodyPr>
          <a:lstStyle/>
          <a:p>
            <a:pPr algn="l">
              <a:lnSpc>
                <a:spcPts val="1190"/>
              </a:lnSpc>
            </a:pPr>
            <a:r>
              <a:rPr sz="850" b="1">
                <a:solidFill>
                  <a:srgbClr val="427860"/>
                </a:solidFill>
                <a:latin typeface="Microsoft JhengHei"/>
                <a:ea typeface="Microsoft JhengHei"/>
                <a:cs typeface="Microsoft JhengHei"/>
              </a:rPr>
              <a:t>兩種互補生理機轉協同作用，且耐受性極佳、不增加肝肌負擔</a:t>
            </a:r>
          </a:p>
        </p:txBody>
      </p:sp>
      <p:sp>
        <p:nvSpPr>
          <p:cNvPr id="33" name="Rounded Rectangle 32"/>
          <p:cNvSpPr/>
          <p:nvPr/>
        </p:nvSpPr>
        <p:spPr>
          <a:xfrm>
            <a:off x="6197600" y="960818"/>
            <a:ext cx="5511800" cy="5071682"/>
          </a:xfrm>
          <a:prstGeom prst="roundRect">
            <a:avLst>
              <a:gd name="adj" fmla="val 2504"/>
            </a:avLst>
          </a:prstGeom>
          <a:solidFill>
            <a:srgbClr val="1E2833">
              <a:alpha val="8000"/>
            </a:srgbClr>
          </a:solidFill>
          <a:ln>
            <a:noFill/>
          </a:ln>
          <a:effectLst/>
        </p:spPr>
        <p:txBody>
          <a:bodyPr rtlCol="0" anchor="ctr"/>
          <a:lstStyle/>
          <a:p>
            <a:endParaRPr/>
          </a:p>
        </p:txBody>
      </p:sp>
      <p:sp>
        <p:nvSpPr>
          <p:cNvPr id="34" name="Rectangle 33"/>
          <p:cNvSpPr/>
          <p:nvPr/>
        </p:nvSpPr>
        <p:spPr>
          <a:xfrm>
            <a:off x="6197600" y="960818"/>
            <a:ext cx="5511800" cy="50800"/>
          </a:xfrm>
          <a:prstGeom prst="rect">
            <a:avLst/>
          </a:prstGeom>
          <a:solidFill>
            <a:srgbClr val="1E2833"/>
          </a:solidFill>
          <a:ln>
            <a:noFill/>
          </a:ln>
          <a:effectLst/>
        </p:spPr>
        <p:txBody>
          <a:bodyPr rtlCol="0" anchor="ctr"/>
          <a:lstStyle/>
          <a:p>
            <a:endParaRPr/>
          </a:p>
        </p:txBody>
      </p:sp>
      <p:sp>
        <p:nvSpPr>
          <p:cNvPr id="35" name="Rectangle 34"/>
          <p:cNvSpPr/>
          <p:nvPr/>
        </p:nvSpPr>
        <p:spPr>
          <a:xfrm>
            <a:off x="11696700" y="960818"/>
            <a:ext cx="12700" cy="5071682"/>
          </a:xfrm>
          <a:prstGeom prst="rect">
            <a:avLst/>
          </a:prstGeom>
          <a:solidFill>
            <a:srgbClr val="E2DDD5"/>
          </a:solidFill>
          <a:ln>
            <a:noFill/>
          </a:ln>
          <a:effectLst/>
        </p:spPr>
        <p:txBody>
          <a:bodyPr rtlCol="0" anchor="ctr"/>
          <a:lstStyle/>
          <a:p>
            <a:endParaRPr/>
          </a:p>
        </p:txBody>
      </p:sp>
      <p:sp>
        <p:nvSpPr>
          <p:cNvPr id="36" name="Rectangle 35"/>
          <p:cNvSpPr/>
          <p:nvPr/>
        </p:nvSpPr>
        <p:spPr>
          <a:xfrm>
            <a:off x="6197600" y="6019800"/>
            <a:ext cx="5511800" cy="12700"/>
          </a:xfrm>
          <a:prstGeom prst="rect">
            <a:avLst/>
          </a:prstGeom>
          <a:solidFill>
            <a:srgbClr val="E2DDD5"/>
          </a:solidFill>
          <a:ln>
            <a:noFill/>
          </a:ln>
          <a:effectLst/>
        </p:spPr>
        <p:txBody>
          <a:bodyPr rtlCol="0" anchor="ctr"/>
          <a:lstStyle/>
          <a:p>
            <a:endParaRPr/>
          </a:p>
        </p:txBody>
      </p:sp>
      <p:sp>
        <p:nvSpPr>
          <p:cNvPr id="37" name="Rectangle 36"/>
          <p:cNvSpPr/>
          <p:nvPr/>
        </p:nvSpPr>
        <p:spPr>
          <a:xfrm>
            <a:off x="6197600" y="960818"/>
            <a:ext cx="12700" cy="5071682"/>
          </a:xfrm>
          <a:prstGeom prst="rect">
            <a:avLst/>
          </a:prstGeom>
          <a:solidFill>
            <a:srgbClr val="E2DDD5"/>
          </a:solidFill>
          <a:ln>
            <a:noFill/>
          </a:ln>
          <a:effectLst/>
        </p:spPr>
        <p:txBody>
          <a:bodyPr rtlCol="0" anchor="ctr"/>
          <a:lstStyle/>
          <a:p>
            <a:endParaRPr/>
          </a:p>
        </p:txBody>
      </p:sp>
      <p:sp>
        <p:nvSpPr>
          <p:cNvPr id="38" name="Rounded Rectangle 37"/>
          <p:cNvSpPr/>
          <p:nvPr/>
        </p:nvSpPr>
        <p:spPr>
          <a:xfrm>
            <a:off x="6375400" y="1151318"/>
            <a:ext cx="1963356" cy="209550"/>
          </a:xfrm>
          <a:prstGeom prst="roundRect">
            <a:avLst>
              <a:gd name="adj" fmla="val 50000"/>
            </a:avLst>
          </a:prstGeom>
          <a:solidFill>
            <a:srgbClr val="1E2833">
              <a:alpha val="8000"/>
            </a:srgbClr>
          </a:solidFill>
          <a:ln>
            <a:noFill/>
          </a:ln>
          <a:effectLst/>
        </p:spPr>
        <p:txBody>
          <a:bodyPr rtlCol="0" anchor="ctr"/>
          <a:lstStyle/>
          <a:p>
            <a:endParaRPr/>
          </a:p>
        </p:txBody>
      </p:sp>
      <p:sp>
        <p:nvSpPr>
          <p:cNvPr id="39" name="TextBox 38"/>
          <p:cNvSpPr txBox="1"/>
          <p:nvPr/>
        </p:nvSpPr>
        <p:spPr>
          <a:xfrm>
            <a:off x="6464300" y="1176718"/>
            <a:ext cx="2231946" cy="158750"/>
          </a:xfrm>
          <a:prstGeom prst="rect">
            <a:avLst/>
          </a:prstGeom>
          <a:noFill/>
        </p:spPr>
        <p:txBody>
          <a:bodyPr wrap="none" lIns="0" tIns="0" rIns="0" bIns="0" anchor="t">
            <a:noAutofit/>
          </a:bodyPr>
          <a:lstStyle/>
          <a:p>
            <a:pPr algn="l">
              <a:lnSpc>
                <a:spcPts val="1190"/>
              </a:lnSpc>
            </a:pPr>
            <a:r>
              <a:rPr sz="850" b="1">
                <a:solidFill>
                  <a:srgbClr val="1E2833"/>
                </a:solidFill>
                <a:latin typeface="Microsoft JhengHei"/>
                <a:ea typeface="Microsoft JhengHei"/>
                <a:cs typeface="Microsoft JhengHei"/>
              </a:rPr>
              <a:t>Trial Evidence ｜ 大型臨床試驗實證</a:t>
            </a:r>
          </a:p>
        </p:txBody>
      </p:sp>
      <p:sp>
        <p:nvSpPr>
          <p:cNvPr id="40" name="TextBox 39"/>
          <p:cNvSpPr txBox="1"/>
          <p:nvPr/>
        </p:nvSpPr>
        <p:spPr>
          <a:xfrm>
            <a:off x="6375400" y="1386268"/>
            <a:ext cx="4799092" cy="279400"/>
          </a:xfrm>
          <a:prstGeom prst="rect">
            <a:avLst/>
          </a:prstGeom>
          <a:noFill/>
        </p:spPr>
        <p:txBody>
          <a:bodyPr wrap="none" lIns="0" tIns="0" rIns="0" bIns="0" anchor="t">
            <a:noAutofit/>
          </a:bodyPr>
          <a:lstStyle/>
          <a:p>
            <a:pPr algn="l">
              <a:lnSpc>
                <a:spcPts val="1880"/>
              </a:lnSpc>
            </a:pPr>
            <a:r>
              <a:rPr sz="1500" b="1">
                <a:solidFill>
                  <a:srgbClr val="1E2833"/>
                </a:solidFill>
                <a:latin typeface="Microsoft JhengHei"/>
                <a:ea typeface="Microsoft JhengHei"/>
                <a:cs typeface="Microsoft JhengHei"/>
              </a:rPr>
              <a:t>Ez-PAVE &amp; IMPROVE-IT Proof </a:t>
            </a:r>
            <a:r>
              <a:rPr sz="1200" b="1">
                <a:solidFill>
                  <a:srgbClr val="78716C"/>
                </a:solidFill>
                <a:latin typeface="Microsoft JhengHei"/>
                <a:ea typeface="Microsoft JhengHei"/>
                <a:cs typeface="Microsoft JhengHei"/>
              </a:rPr>
              <a:t>(實證達標倍增)</a:t>
            </a:r>
          </a:p>
        </p:txBody>
      </p:sp>
      <p:sp>
        <p:nvSpPr>
          <p:cNvPr id="41" name="Rounded Rectangle 40"/>
          <p:cNvSpPr/>
          <p:nvPr/>
        </p:nvSpPr>
        <p:spPr>
          <a:xfrm>
            <a:off x="6375400" y="1713294"/>
            <a:ext cx="25273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42" name="TextBox 41"/>
          <p:cNvSpPr txBox="1"/>
          <p:nvPr/>
        </p:nvSpPr>
        <p:spPr>
          <a:xfrm>
            <a:off x="7035419" y="1719644"/>
            <a:ext cx="1207135" cy="501650"/>
          </a:xfrm>
          <a:prstGeom prst="rect">
            <a:avLst/>
          </a:prstGeom>
          <a:noFill/>
        </p:spPr>
        <p:txBody>
          <a:bodyPr wrap="none" lIns="0" tIns="0" rIns="0" bIns="0" anchor="t">
            <a:noAutofit/>
          </a:bodyPr>
          <a:lstStyle/>
          <a:p>
            <a:pPr algn="ctr">
              <a:lnSpc>
                <a:spcPts val="2840"/>
              </a:lnSpc>
            </a:pPr>
            <a:r>
              <a:rPr sz="2700" b="1">
                <a:solidFill>
                  <a:srgbClr val="2D6A4F"/>
                </a:solidFill>
                <a:latin typeface="Microsoft JhengHei"/>
                <a:ea typeface="Microsoft JhengHei"/>
                <a:cs typeface="Microsoft JhengHei"/>
              </a:rPr>
              <a:t>- 65%</a:t>
            </a:r>
          </a:p>
        </p:txBody>
      </p:sp>
      <p:sp>
        <p:nvSpPr>
          <p:cNvPr id="43" name="TextBox 42"/>
          <p:cNvSpPr txBox="1"/>
          <p:nvPr/>
        </p:nvSpPr>
        <p:spPr>
          <a:xfrm>
            <a:off x="7120168" y="2168525"/>
            <a:ext cx="1037828"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Combined Drop</a:t>
            </a:r>
          </a:p>
        </p:txBody>
      </p:sp>
      <p:sp>
        <p:nvSpPr>
          <p:cNvPr id="44" name="TextBox 43"/>
          <p:cNvSpPr txBox="1"/>
          <p:nvPr/>
        </p:nvSpPr>
        <p:spPr>
          <a:xfrm>
            <a:off x="7222331" y="2327275"/>
            <a:ext cx="833438"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口服雙藥總降幅</a:t>
            </a:r>
          </a:p>
        </p:txBody>
      </p:sp>
      <p:sp>
        <p:nvSpPr>
          <p:cNvPr id="45" name="Rounded Rectangle 44"/>
          <p:cNvSpPr/>
          <p:nvPr/>
        </p:nvSpPr>
        <p:spPr>
          <a:xfrm>
            <a:off x="9004300" y="1713294"/>
            <a:ext cx="25273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46" name="TextBox 45"/>
          <p:cNvSpPr txBox="1"/>
          <p:nvPr/>
        </p:nvSpPr>
        <p:spPr>
          <a:xfrm>
            <a:off x="9801138" y="1719644"/>
            <a:ext cx="933688" cy="501650"/>
          </a:xfrm>
          <a:prstGeom prst="rect">
            <a:avLst/>
          </a:prstGeom>
          <a:noFill/>
        </p:spPr>
        <p:txBody>
          <a:bodyPr wrap="none" lIns="0" tIns="0" rIns="0" bIns="0" anchor="t">
            <a:noAutofit/>
          </a:bodyPr>
          <a:lstStyle/>
          <a:p>
            <a:pPr algn="ctr">
              <a:lnSpc>
                <a:spcPts val="2840"/>
              </a:lnSpc>
            </a:pPr>
            <a:r>
              <a:rPr sz="2700" b="1">
                <a:solidFill>
                  <a:srgbClr val="2D6A4F"/>
                </a:solidFill>
                <a:latin typeface="Microsoft JhengHei"/>
                <a:ea typeface="Microsoft JhengHei"/>
                <a:cs typeface="Microsoft JhengHei"/>
              </a:rPr>
              <a:t>60.5</a:t>
            </a:r>
          </a:p>
        </p:txBody>
      </p:sp>
      <p:sp>
        <p:nvSpPr>
          <p:cNvPr id="47" name="TextBox 46"/>
          <p:cNvSpPr txBox="1"/>
          <p:nvPr/>
        </p:nvSpPr>
        <p:spPr>
          <a:xfrm>
            <a:off x="9806226" y="2168525"/>
            <a:ext cx="923449"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Predicted LDL</a:t>
            </a:r>
          </a:p>
        </p:txBody>
      </p:sp>
      <p:sp>
        <p:nvSpPr>
          <p:cNvPr id="48" name="TextBox 47"/>
          <p:cNvSpPr txBox="1"/>
          <p:nvPr/>
        </p:nvSpPr>
        <p:spPr>
          <a:xfrm>
            <a:off x="9910762" y="2327275"/>
            <a:ext cx="714375"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預期可達數值</a:t>
            </a:r>
          </a:p>
        </p:txBody>
      </p:sp>
      <p:sp>
        <p:nvSpPr>
          <p:cNvPr id="49" name="TextBox 48"/>
          <p:cNvSpPr txBox="1"/>
          <p:nvPr/>
        </p:nvSpPr>
        <p:spPr>
          <a:xfrm>
            <a:off x="6540500" y="2625725"/>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IMPROVE-IT Trial:</a:t>
            </a:r>
            <a:r>
              <a:rPr sz="1150" b="0">
                <a:solidFill>
                  <a:srgbClr val="44403C"/>
                </a:solidFill>
                <a:latin typeface="Microsoft JhengHei"/>
                <a:ea typeface="Microsoft JhengHei"/>
                <a:cs typeface="Microsoft JhengHei"/>
              </a:rPr>
              <a:t> Adding ezetimibe to statin significantly reduced CV death, MI, and stroke post-ACS.</a:t>
            </a:r>
          </a:p>
        </p:txBody>
      </p:sp>
      <p:sp>
        <p:nvSpPr>
          <p:cNvPr id="50" name="TextBox 49"/>
          <p:cNvSpPr txBox="1"/>
          <p:nvPr/>
        </p:nvSpPr>
        <p:spPr>
          <a:xfrm>
            <a:off x="6540500" y="3068256"/>
            <a:ext cx="5096113"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IMPROVE-IT 試驗：加用 Ezetimibe 顯著降低心血管死亡、再發心梗與中風。</a:t>
            </a:r>
          </a:p>
        </p:txBody>
      </p:sp>
      <p:sp>
        <p:nvSpPr>
          <p:cNvPr id="51" name="TextBox 50"/>
          <p:cNvSpPr txBox="1"/>
          <p:nvPr/>
        </p:nvSpPr>
        <p:spPr>
          <a:xfrm>
            <a:off x="6540500" y="3274886"/>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Ez-PAVE Trial (2026):</a:t>
            </a:r>
            <a:r>
              <a:rPr sz="1150" b="0">
                <a:solidFill>
                  <a:srgbClr val="44403C"/>
                </a:solidFill>
                <a:latin typeface="Microsoft JhengHei"/>
                <a:ea typeface="Microsoft JhengHei"/>
                <a:cs typeface="Microsoft JhengHei"/>
              </a:rPr>
              <a:t> Upfront fixed-dose combination in acute STEMI doubled goal attainment (&lt; 55 mg/dL) at 4 weeks.</a:t>
            </a:r>
          </a:p>
        </p:txBody>
      </p:sp>
      <p:sp>
        <p:nvSpPr>
          <p:cNvPr id="52" name="TextBox 51"/>
          <p:cNvSpPr txBox="1"/>
          <p:nvPr/>
        </p:nvSpPr>
        <p:spPr>
          <a:xfrm>
            <a:off x="6540500" y="3717417"/>
            <a:ext cx="5651500"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Ez-PAVE 試驗 (2026)：急性心梗患者出院前及早給予單碇複方雙藥，4 週達標率倍增。</a:t>
            </a:r>
          </a:p>
        </p:txBody>
      </p:sp>
      <p:sp>
        <p:nvSpPr>
          <p:cNvPr id="53" name="TextBox 52"/>
          <p:cNvSpPr txBox="1"/>
          <p:nvPr/>
        </p:nvSpPr>
        <p:spPr>
          <a:xfrm>
            <a:off x="6489700" y="5448300"/>
            <a:ext cx="5298678" cy="184150"/>
          </a:xfrm>
          <a:prstGeom prst="rect">
            <a:avLst/>
          </a:prstGeom>
          <a:noFill/>
        </p:spPr>
        <p:txBody>
          <a:bodyPr wrap="none" lIns="0" tIns="0" rIns="0" bIns="0" anchor="t">
            <a:noAutofit/>
          </a:bodyPr>
          <a:lstStyle/>
          <a:p>
            <a:pPr algn="l">
              <a:lnSpc>
                <a:spcPts val="1400"/>
              </a:lnSpc>
            </a:pPr>
            <a:r>
              <a:rPr sz="1000" b="1">
                <a:solidFill>
                  <a:srgbClr val="1C1917"/>
                </a:solidFill>
                <a:latin typeface="Microsoft JhengHei"/>
                <a:ea typeface="Microsoft JhengHei"/>
                <a:cs typeface="Microsoft JhengHei"/>
              </a:rPr>
              <a:t>Recommendation: Start Dual Therapy UPFRONT prior to discharge</a:t>
            </a:r>
          </a:p>
        </p:txBody>
      </p:sp>
      <p:sp>
        <p:nvSpPr>
          <p:cNvPr id="54" name="TextBox 53"/>
          <p:cNvSpPr txBox="1"/>
          <p:nvPr/>
        </p:nvSpPr>
        <p:spPr>
          <a:xfrm>
            <a:off x="6489700" y="5645150"/>
            <a:ext cx="3373438" cy="158750"/>
          </a:xfrm>
          <a:prstGeom prst="rect">
            <a:avLst/>
          </a:prstGeom>
          <a:noFill/>
        </p:spPr>
        <p:txBody>
          <a:bodyPr wrap="none" lIns="0" tIns="0" rIns="0" bIns="0" anchor="t">
            <a:noAutofit/>
          </a:bodyPr>
          <a:lstStyle/>
          <a:p>
            <a:pPr algn="l">
              <a:lnSpc>
                <a:spcPts val="1190"/>
              </a:lnSpc>
            </a:pPr>
            <a:r>
              <a:rPr sz="850" b="1">
                <a:solidFill>
                  <a:srgbClr val="322F2E"/>
                </a:solidFill>
                <a:latin typeface="Microsoft JhengHei"/>
                <a:ea typeface="Microsoft JhengHei"/>
                <a:cs typeface="Microsoft JhengHei"/>
              </a:rPr>
              <a:t>臨床強烈建議：在患者出院前即刻給予口服雙藥合併治療</a:t>
            </a:r>
          </a:p>
        </p:txBody>
      </p:sp>
      <p:sp>
        <p:nvSpPr>
          <p:cNvPr id="55" name="Rectangle 54"/>
          <p:cNvSpPr/>
          <p:nvPr/>
        </p:nvSpPr>
        <p:spPr>
          <a:xfrm>
            <a:off x="482600" y="6184900"/>
            <a:ext cx="11226800" cy="12700"/>
          </a:xfrm>
          <a:prstGeom prst="rect">
            <a:avLst/>
          </a:prstGeom>
          <a:solidFill>
            <a:srgbClr val="EFECE6"/>
          </a:solidFill>
          <a:ln>
            <a:noFill/>
          </a:ln>
          <a:effectLst/>
        </p:spPr>
        <p:txBody>
          <a:bodyPr rtlCol="0" anchor="ctr"/>
          <a:lstStyle/>
          <a:p>
            <a:endParaRPr/>
          </a:p>
        </p:txBody>
      </p:sp>
      <p:sp>
        <p:nvSpPr>
          <p:cNvPr id="56" name="TextBox 55"/>
          <p:cNvSpPr txBox="1"/>
          <p:nvPr/>
        </p:nvSpPr>
        <p:spPr>
          <a:xfrm>
            <a:off x="482600" y="6235700"/>
            <a:ext cx="8686086" cy="266700"/>
          </a:xfrm>
          <a:prstGeom prst="rect">
            <a:avLst/>
          </a:prstGeom>
          <a:noFill/>
        </p:spPr>
        <p:txBody>
          <a:bodyPr wrap="none" lIns="0" tIns="0" rIns="0" bIns="0" anchor="t">
            <a:noAutofit/>
          </a:bodyPr>
          <a:lstStyle/>
          <a:p>
            <a:pPr algn="l">
              <a:lnSpc>
                <a:spcPts val="1050"/>
              </a:lnSpc>
            </a:pPr>
            <a:r>
              <a:rPr sz="750" b="0">
                <a:solidFill>
                  <a:srgbClr val="78716C"/>
                </a:solidFill>
                <a:latin typeface="Microsoft JhengHei"/>
                <a:ea typeface="Microsoft JhengHei"/>
                <a:cs typeface="Microsoft JhengHei"/>
              </a:rPr>
              <a:t>1. Cannon CP, et al. Ezetimibe Added to Statin Therapy after Acute Coronary Syndromes (IMPROVE-IT). N Engl J Med. 2015;372(25):2387-2397. PMID: 26039521.</a:t>
            </a:r>
          </a:p>
          <a:p>
            <a:pPr algn="l">
              <a:lnSpc>
                <a:spcPts val="1050"/>
              </a:lnSpc>
            </a:pPr>
            <a:r>
              <a:rPr sz="750" b="0">
                <a:solidFill>
                  <a:srgbClr val="78716C"/>
                </a:solidFill>
                <a:latin typeface="Microsoft JhengHei"/>
                <a:ea typeface="Microsoft JhengHei"/>
                <a:cs typeface="Microsoft JhengHei"/>
              </a:rPr>
              <a:t>2. Kim BK, et al. Upfront Statin Plus Ezetimibe Combination in Acute Myocardial Infarction (Ez-PAVE). J Am Coll Cardiol. 2026;87(3):312-324.</a:t>
            </a:r>
          </a:p>
        </p:txBody>
      </p:sp>
      <p:sp>
        <p:nvSpPr>
          <p:cNvPr id="57" name="Rounded Rectangle 56"/>
          <p:cNvSpPr/>
          <p:nvPr/>
        </p:nvSpPr>
        <p:spPr>
          <a:xfrm>
            <a:off x="8915400" y="254000"/>
            <a:ext cx="555308"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58" name="TextBox 57"/>
          <p:cNvSpPr txBox="1"/>
          <p:nvPr/>
        </p:nvSpPr>
        <p:spPr>
          <a:xfrm>
            <a:off x="9017000" y="304800"/>
            <a:ext cx="441008"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1. Case</a:t>
            </a:r>
          </a:p>
        </p:txBody>
      </p:sp>
      <p:sp>
        <p:nvSpPr>
          <p:cNvPr id="59" name="Rounded Rectangle 58"/>
          <p:cNvSpPr/>
          <p:nvPr/>
        </p:nvSpPr>
        <p:spPr>
          <a:xfrm>
            <a:off x="9521508" y="254000"/>
            <a:ext cx="684022"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60" name="TextBox 59"/>
          <p:cNvSpPr txBox="1"/>
          <p:nvPr/>
        </p:nvSpPr>
        <p:spPr>
          <a:xfrm>
            <a:off x="9623108" y="304800"/>
            <a:ext cx="601028"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2. Targets</a:t>
            </a:r>
          </a:p>
        </p:txBody>
      </p:sp>
      <p:sp>
        <p:nvSpPr>
          <p:cNvPr id="61" name="Rounded Rectangle 60"/>
          <p:cNvSpPr/>
          <p:nvPr/>
        </p:nvSpPr>
        <p:spPr>
          <a:xfrm>
            <a:off x="10256330" y="254000"/>
            <a:ext cx="729932" cy="254000"/>
          </a:xfrm>
          <a:prstGeom prst="roundRect">
            <a:avLst>
              <a:gd name="adj" fmla="val 50000"/>
            </a:avLst>
          </a:prstGeom>
          <a:solidFill>
            <a:srgbClr val="1E2833"/>
          </a:solidFill>
          <a:ln w="12700">
            <a:solidFill>
              <a:srgbClr val="1E2833"/>
            </a:solidFill>
          </a:ln>
          <a:effectLst/>
        </p:spPr>
        <p:txBody>
          <a:bodyPr rtlCol="0" anchor="ctr"/>
          <a:lstStyle/>
          <a:p>
            <a:endParaRPr/>
          </a:p>
        </p:txBody>
      </p:sp>
      <p:sp>
        <p:nvSpPr>
          <p:cNvPr id="62" name="TextBox 61"/>
          <p:cNvSpPr txBox="1"/>
          <p:nvPr/>
        </p:nvSpPr>
        <p:spPr>
          <a:xfrm>
            <a:off x="10357930" y="304800"/>
            <a:ext cx="658416" cy="152400"/>
          </a:xfrm>
          <a:prstGeom prst="rect">
            <a:avLst/>
          </a:prstGeom>
          <a:noFill/>
        </p:spPr>
        <p:txBody>
          <a:bodyPr wrap="none" lIns="0" tIns="0" rIns="0" bIns="0" anchor="t">
            <a:noAutofit/>
          </a:bodyPr>
          <a:lstStyle/>
          <a:p>
            <a:pPr algn="l">
              <a:lnSpc>
                <a:spcPts val="1120"/>
              </a:lnSpc>
            </a:pPr>
            <a:r>
              <a:rPr sz="800" b="1">
                <a:solidFill>
                  <a:srgbClr val="FFFFFF"/>
                </a:solidFill>
                <a:latin typeface="Microsoft JhengHei"/>
                <a:ea typeface="Microsoft JhengHei"/>
                <a:cs typeface="Microsoft JhengHei"/>
              </a:rPr>
              <a:t>3. Therapy</a:t>
            </a:r>
          </a:p>
        </p:txBody>
      </p:sp>
      <p:sp>
        <p:nvSpPr>
          <p:cNvPr id="63" name="Rounded Rectangle 62"/>
          <p:cNvSpPr/>
          <p:nvPr/>
        </p:nvSpPr>
        <p:spPr>
          <a:xfrm>
            <a:off x="11037126" y="254000"/>
            <a:ext cx="757618"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64" name="TextBox 63"/>
          <p:cNvSpPr txBox="1"/>
          <p:nvPr/>
        </p:nvSpPr>
        <p:spPr>
          <a:xfrm>
            <a:off x="11138726" y="304800"/>
            <a:ext cx="693023"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4. Timeline</a:t>
            </a:r>
          </a:p>
        </p:txBody>
      </p:sp>
      <p:sp>
        <p:nvSpPr>
          <p:cNvPr id="65" name="Rectangle 64"/>
          <p:cNvSpPr/>
          <p:nvPr/>
        </p:nvSpPr>
        <p:spPr>
          <a:xfrm>
            <a:off x="0" y="6527800"/>
            <a:ext cx="12192000" cy="330200"/>
          </a:xfrm>
          <a:prstGeom prst="rect">
            <a:avLst/>
          </a:prstGeom>
          <a:solidFill>
            <a:srgbClr val="FFFFFF"/>
          </a:solidFill>
          <a:ln>
            <a:noFill/>
          </a:ln>
          <a:effectLst/>
        </p:spPr>
        <p:txBody>
          <a:bodyPr rtlCol="0" anchor="ctr"/>
          <a:lstStyle/>
          <a:p>
            <a:endParaRPr/>
          </a:p>
        </p:txBody>
      </p:sp>
      <p:sp>
        <p:nvSpPr>
          <p:cNvPr id="66" name="Rectangle 65"/>
          <p:cNvSpPr/>
          <p:nvPr/>
        </p:nvSpPr>
        <p:spPr>
          <a:xfrm>
            <a:off x="0" y="6527800"/>
            <a:ext cx="12192000" cy="12700"/>
          </a:xfrm>
          <a:prstGeom prst="rect">
            <a:avLst/>
          </a:prstGeom>
          <a:solidFill>
            <a:srgbClr val="EFECE6"/>
          </a:solidFill>
          <a:ln>
            <a:noFill/>
          </a:ln>
          <a:effectLst/>
        </p:spPr>
        <p:txBody>
          <a:bodyPr rtlCol="0" anchor="ctr"/>
          <a:lstStyle/>
          <a:p>
            <a:endParaRPr/>
          </a:p>
        </p:txBody>
      </p:sp>
      <p:sp>
        <p:nvSpPr>
          <p:cNvPr id="67" name="TextBox 66"/>
          <p:cNvSpPr txBox="1"/>
          <p:nvPr/>
        </p:nvSpPr>
        <p:spPr>
          <a:xfrm>
            <a:off x="482600" y="6613525"/>
            <a:ext cx="808038" cy="171450"/>
          </a:xfrm>
          <a:prstGeom prst="rect">
            <a:avLst/>
          </a:prstGeom>
          <a:noFill/>
        </p:spPr>
        <p:txBody>
          <a:bodyPr wrap="none" lIns="0" tIns="0" rIns="0" bIns="0" anchor="t">
            <a:noAutofit/>
          </a:bodyPr>
          <a:lstStyle/>
          <a:p>
            <a:pPr algn="l">
              <a:lnSpc>
                <a:spcPts val="1330"/>
              </a:lnSpc>
            </a:pPr>
            <a:r>
              <a:rPr sz="950" b="1">
                <a:solidFill>
                  <a:srgbClr val="1E2833"/>
                </a:solidFill>
                <a:latin typeface="Microsoft JhengHei"/>
                <a:ea typeface="Microsoft JhengHei"/>
                <a:cs typeface="Microsoft JhengHei"/>
              </a:rPr>
              <a:t>3. Therapy</a:t>
            </a:r>
          </a:p>
        </p:txBody>
      </p:sp>
      <p:sp>
        <p:nvSpPr>
          <p:cNvPr id="68" name="Rounded Rectangle 67"/>
          <p:cNvSpPr/>
          <p:nvPr/>
        </p:nvSpPr>
        <p:spPr>
          <a:xfrm>
            <a:off x="1268730" y="6680200"/>
            <a:ext cx="9905302" cy="38100"/>
          </a:xfrm>
          <a:prstGeom prst="roundRect">
            <a:avLst>
              <a:gd name="adj" fmla="val 50000"/>
            </a:avLst>
          </a:prstGeom>
          <a:solidFill>
            <a:srgbClr val="EFECE6"/>
          </a:solidFill>
          <a:ln>
            <a:noFill/>
          </a:ln>
          <a:effectLst/>
        </p:spPr>
        <p:txBody>
          <a:bodyPr rtlCol="0" anchor="ctr"/>
          <a:lstStyle/>
          <a:p>
            <a:endParaRPr/>
          </a:p>
        </p:txBody>
      </p:sp>
      <p:sp>
        <p:nvSpPr>
          <p:cNvPr id="69" name="Rectangle 68"/>
          <p:cNvSpPr/>
          <p:nvPr/>
        </p:nvSpPr>
        <p:spPr>
          <a:xfrm>
            <a:off x="1268730" y="6680200"/>
            <a:ext cx="6933692" cy="38100"/>
          </a:xfrm>
          <a:prstGeom prst="rect">
            <a:avLst/>
          </a:prstGeom>
          <a:solidFill>
            <a:srgbClr val="F3C84B"/>
          </a:solidFill>
          <a:ln>
            <a:noFill/>
          </a:ln>
          <a:effectLst/>
        </p:spPr>
        <p:txBody>
          <a:bodyPr rtlCol="0" anchor="ctr"/>
          <a:lstStyle/>
          <a:p>
            <a:endParaRPr/>
          </a:p>
        </p:txBody>
      </p:sp>
      <p:sp>
        <p:nvSpPr>
          <p:cNvPr id="70" name="TextBox 69"/>
          <p:cNvSpPr txBox="1"/>
          <p:nvPr/>
        </p:nvSpPr>
        <p:spPr>
          <a:xfrm>
            <a:off x="11313732" y="6613525"/>
            <a:ext cx="494586" cy="171450"/>
          </a:xfrm>
          <a:prstGeom prst="rect">
            <a:avLst/>
          </a:prstGeom>
          <a:noFill/>
        </p:spPr>
        <p:txBody>
          <a:bodyPr wrap="none" lIns="0" tIns="0" rIns="0" bIns="0" anchor="t">
            <a:noAutofit/>
          </a:bodyPr>
          <a:lstStyle/>
          <a:p>
            <a:pPr algn="l">
              <a:lnSpc>
                <a:spcPts val="1330"/>
              </a:lnSpc>
            </a:pPr>
            <a:r>
              <a:rPr sz="950" b="1">
                <a:solidFill>
                  <a:srgbClr val="44403C"/>
                </a:solidFill>
                <a:latin typeface="Microsoft JhengHei"/>
                <a:ea typeface="Microsoft JhengHei"/>
                <a:cs typeface="Microsoft JhengHei"/>
              </a:rPr>
              <a:t>07 / 10</a:t>
            </a:r>
          </a:p>
        </p:txBody>
      </p:sp>
      <p:sp>
        <p:nvSpPr>
          <p:cNvPr id="71" name="LINK_Rectangle 70">
            <a:hlinkClick r:id="rId3" action="ppaction://hlinksldjump"/>
          </p:cNvPr>
          <p:cNvSpPr/>
          <p:nvPr/>
        </p:nvSpPr>
        <p:spPr>
          <a:xfrm>
            <a:off x="8915400" y="254000"/>
            <a:ext cx="555327" cy="254000"/>
          </a:xfrm>
          <a:prstGeom prst="rect">
            <a:avLst/>
          </a:prstGeom>
          <a:solidFill>
            <a:srgbClr val="FFFFFF">
              <a:alpha val="0"/>
            </a:srgbClr>
          </a:solidFill>
          <a:ln>
            <a:noFill/>
          </a:ln>
          <a:effectLst/>
        </p:spPr>
        <p:txBody>
          <a:bodyPr rtlCol="0" anchor="ctr"/>
          <a:lstStyle/>
          <a:p>
            <a:pPr algn="ctr"/>
            <a:endParaRPr/>
          </a:p>
        </p:txBody>
      </p:sp>
      <p:sp>
        <p:nvSpPr>
          <p:cNvPr id="72" name="LINK_Rectangle 71">
            <a:hlinkClick r:id="rId4" action="ppaction://hlinksldjump"/>
          </p:cNvPr>
          <p:cNvSpPr/>
          <p:nvPr/>
        </p:nvSpPr>
        <p:spPr>
          <a:xfrm>
            <a:off x="9521527" y="254000"/>
            <a:ext cx="684014" cy="254000"/>
          </a:xfrm>
          <a:prstGeom prst="rect">
            <a:avLst/>
          </a:prstGeom>
          <a:solidFill>
            <a:srgbClr val="FFFFFF">
              <a:alpha val="0"/>
            </a:srgbClr>
          </a:solidFill>
          <a:ln>
            <a:noFill/>
          </a:ln>
          <a:effectLst/>
        </p:spPr>
        <p:txBody>
          <a:bodyPr rtlCol="0" anchor="ctr"/>
          <a:lstStyle/>
          <a:p>
            <a:pPr algn="ctr"/>
            <a:endParaRPr/>
          </a:p>
        </p:txBody>
      </p:sp>
      <p:sp>
        <p:nvSpPr>
          <p:cNvPr id="73" name="LINK_Rectangle 72">
            <a:hlinkClick r:id="rId5" action="ppaction://hlinksldjump"/>
          </p:cNvPr>
          <p:cNvSpPr/>
          <p:nvPr/>
        </p:nvSpPr>
        <p:spPr>
          <a:xfrm>
            <a:off x="10256341" y="254000"/>
            <a:ext cx="729952" cy="254000"/>
          </a:xfrm>
          <a:prstGeom prst="rect">
            <a:avLst/>
          </a:prstGeom>
          <a:solidFill>
            <a:srgbClr val="FFFFFF">
              <a:alpha val="0"/>
            </a:srgbClr>
          </a:solidFill>
          <a:ln>
            <a:noFill/>
          </a:ln>
          <a:effectLst/>
        </p:spPr>
        <p:txBody>
          <a:bodyPr rtlCol="0" anchor="ctr"/>
          <a:lstStyle/>
          <a:p>
            <a:pPr algn="ctr"/>
            <a:endParaRPr/>
          </a:p>
        </p:txBody>
      </p:sp>
      <p:sp>
        <p:nvSpPr>
          <p:cNvPr id="74" name="LINK_Rectangle 73">
            <a:hlinkClick r:id="rId6" action="ppaction://hlinksldjump"/>
          </p:cNvPr>
          <p:cNvSpPr/>
          <p:nvPr/>
        </p:nvSpPr>
        <p:spPr>
          <a:xfrm>
            <a:off x="11037094" y="254000"/>
            <a:ext cx="757634" cy="254000"/>
          </a:xfrm>
          <a:prstGeom prst="rect">
            <a:avLst/>
          </a:prstGeom>
          <a:solidFill>
            <a:srgbClr val="FFFFFF">
              <a:alpha val="0"/>
            </a:srgbClr>
          </a:solidFill>
          <a:ln>
            <a:noFill/>
          </a:ln>
          <a:effectLst/>
        </p:spPr>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482600" y="241300"/>
            <a:ext cx="9930051" cy="419100"/>
          </a:xfrm>
          <a:prstGeom prst="rect">
            <a:avLst/>
          </a:prstGeom>
          <a:noFill/>
        </p:spPr>
        <p:txBody>
          <a:bodyPr wrap="none" lIns="0" tIns="0" rIns="0" bIns="0" anchor="t">
            <a:noAutofit/>
          </a:bodyPr>
          <a:lstStyle/>
          <a:p>
            <a:pPr algn="l">
              <a:lnSpc>
                <a:spcPts val="2710"/>
              </a:lnSpc>
            </a:pPr>
            <a:r>
              <a:rPr sz="2300" b="1" spc="-23">
                <a:solidFill>
                  <a:srgbClr val="1C1917"/>
                </a:solidFill>
                <a:latin typeface="Microsoft JhengHei"/>
                <a:ea typeface="Microsoft JhengHei"/>
                <a:cs typeface="Microsoft JhengHei"/>
              </a:rPr>
              <a:t>Beyond Dual Therapy: When to Add PCSK9 Inhibitors</a:t>
            </a:r>
          </a:p>
        </p:txBody>
      </p:sp>
      <p:sp>
        <p:nvSpPr>
          <p:cNvPr id="4" name="TextBox 3"/>
          <p:cNvSpPr txBox="1"/>
          <p:nvPr/>
        </p:nvSpPr>
        <p:spPr>
          <a:xfrm>
            <a:off x="482600" y="649414"/>
            <a:ext cx="8785463" cy="215900"/>
          </a:xfrm>
          <a:prstGeom prst="rect">
            <a:avLst/>
          </a:prstGeom>
          <a:noFill/>
        </p:spPr>
        <p:txBody>
          <a:bodyPr wrap="none" lIns="0" tIns="0" rIns="0" bIns="0" anchor="t">
            <a:noAutofit/>
          </a:bodyPr>
          <a:lstStyle/>
          <a:p>
            <a:pPr algn="l">
              <a:lnSpc>
                <a:spcPts val="1550"/>
              </a:lnSpc>
            </a:pPr>
            <a:r>
              <a:rPr sz="1150" b="1">
                <a:solidFill>
                  <a:srgbClr val="1E2833"/>
                </a:solidFill>
                <a:latin typeface="Microsoft JhengHei"/>
                <a:ea typeface="Microsoft JhengHei"/>
                <a:cs typeface="Microsoft JhengHei"/>
              </a:rPr>
              <a:t>第三線強效武器：注射型單株抗體阻斷受體分解</a:t>
            </a:r>
            <a:r>
              <a:rPr sz="1150" b="0">
                <a:solidFill>
                  <a:srgbClr val="44403C"/>
                </a:solidFill>
                <a:latin typeface="Microsoft JhengHei"/>
                <a:ea typeface="Microsoft JhengHei"/>
                <a:cs typeface="Microsoft JhengHei"/>
              </a:rPr>
              <a:t> ｜ Monoclonal Antibodies Preserve Hepatic LDL Receptors</a:t>
            </a:r>
          </a:p>
        </p:txBody>
      </p:sp>
      <p:sp>
        <p:nvSpPr>
          <p:cNvPr id="5" name="Rounded Rectangle 4"/>
          <p:cNvSpPr/>
          <p:nvPr/>
        </p:nvSpPr>
        <p:spPr>
          <a:xfrm>
            <a:off x="482600" y="960818"/>
            <a:ext cx="5511800" cy="5071682"/>
          </a:xfrm>
          <a:prstGeom prst="roundRect">
            <a:avLst>
              <a:gd name="adj" fmla="val 2504"/>
            </a:avLst>
          </a:prstGeom>
          <a:solidFill>
            <a:srgbClr val="A44A3F">
              <a:alpha val="8000"/>
            </a:srgbClr>
          </a:solidFill>
          <a:ln>
            <a:noFill/>
          </a:ln>
          <a:effectLst/>
        </p:spPr>
        <p:txBody>
          <a:bodyPr rtlCol="0" anchor="ctr"/>
          <a:lstStyle/>
          <a:p>
            <a:endParaRPr/>
          </a:p>
        </p:txBody>
      </p:sp>
      <p:sp>
        <p:nvSpPr>
          <p:cNvPr id="6" name="Rectangle 5"/>
          <p:cNvSpPr/>
          <p:nvPr/>
        </p:nvSpPr>
        <p:spPr>
          <a:xfrm>
            <a:off x="482600" y="960818"/>
            <a:ext cx="5511800" cy="50800"/>
          </a:xfrm>
          <a:prstGeom prst="rect">
            <a:avLst/>
          </a:prstGeom>
          <a:solidFill>
            <a:srgbClr val="A44A3F"/>
          </a:solidFill>
          <a:ln>
            <a:noFill/>
          </a:ln>
          <a:effectLst/>
        </p:spPr>
        <p:txBody>
          <a:bodyPr rtlCol="0" anchor="ctr"/>
          <a:lstStyle/>
          <a:p>
            <a:endParaRPr/>
          </a:p>
        </p:txBody>
      </p:sp>
      <p:sp>
        <p:nvSpPr>
          <p:cNvPr id="7" name="Rectangle 6"/>
          <p:cNvSpPr/>
          <p:nvPr/>
        </p:nvSpPr>
        <p:spPr>
          <a:xfrm>
            <a:off x="5981700" y="960818"/>
            <a:ext cx="12700" cy="5071682"/>
          </a:xfrm>
          <a:prstGeom prst="rect">
            <a:avLst/>
          </a:prstGeom>
          <a:solidFill>
            <a:srgbClr val="E2DDD5"/>
          </a:solidFill>
          <a:ln>
            <a:noFill/>
          </a:ln>
          <a:effectLst/>
        </p:spPr>
        <p:txBody>
          <a:bodyPr rtlCol="0" anchor="ctr"/>
          <a:lstStyle/>
          <a:p>
            <a:endParaRPr/>
          </a:p>
        </p:txBody>
      </p:sp>
      <p:sp>
        <p:nvSpPr>
          <p:cNvPr id="8" name="Rectangle 7"/>
          <p:cNvSpPr/>
          <p:nvPr/>
        </p:nvSpPr>
        <p:spPr>
          <a:xfrm>
            <a:off x="482600" y="6019800"/>
            <a:ext cx="5511800" cy="12700"/>
          </a:xfrm>
          <a:prstGeom prst="rect">
            <a:avLst/>
          </a:prstGeom>
          <a:solidFill>
            <a:srgbClr val="E2DDD5"/>
          </a:solidFill>
          <a:ln>
            <a:noFill/>
          </a:ln>
          <a:effectLst/>
        </p:spPr>
        <p:txBody>
          <a:bodyPr rtlCol="0" anchor="ctr"/>
          <a:lstStyle/>
          <a:p>
            <a:endParaRPr/>
          </a:p>
        </p:txBody>
      </p:sp>
      <p:sp>
        <p:nvSpPr>
          <p:cNvPr id="9" name="Rectangle 8"/>
          <p:cNvSpPr/>
          <p:nvPr/>
        </p:nvSpPr>
        <p:spPr>
          <a:xfrm>
            <a:off x="482600" y="960818"/>
            <a:ext cx="12700" cy="5071682"/>
          </a:xfrm>
          <a:prstGeom prst="rect">
            <a:avLst/>
          </a:prstGeom>
          <a:solidFill>
            <a:srgbClr val="E2DDD5"/>
          </a:solidFill>
          <a:ln>
            <a:noFill/>
          </a:ln>
          <a:effectLst/>
        </p:spPr>
        <p:txBody>
          <a:bodyPr rtlCol="0" anchor="ctr"/>
          <a:lstStyle/>
          <a:p>
            <a:endParaRPr/>
          </a:p>
        </p:txBody>
      </p:sp>
      <p:sp>
        <p:nvSpPr>
          <p:cNvPr id="10" name="Rounded Rectangle 9"/>
          <p:cNvSpPr/>
          <p:nvPr/>
        </p:nvSpPr>
        <p:spPr>
          <a:xfrm>
            <a:off x="660400" y="1151318"/>
            <a:ext cx="2125154" cy="209550"/>
          </a:xfrm>
          <a:prstGeom prst="roundRect">
            <a:avLst>
              <a:gd name="adj" fmla="val 50000"/>
            </a:avLst>
          </a:prstGeom>
          <a:solidFill>
            <a:srgbClr val="A44A3F">
              <a:alpha val="8000"/>
            </a:srgbClr>
          </a:solidFill>
          <a:ln>
            <a:noFill/>
          </a:ln>
          <a:effectLst/>
        </p:spPr>
        <p:txBody>
          <a:bodyPr rtlCol="0" anchor="ctr"/>
          <a:lstStyle/>
          <a:p>
            <a:endParaRPr/>
          </a:p>
        </p:txBody>
      </p:sp>
      <p:sp>
        <p:nvSpPr>
          <p:cNvPr id="11" name="TextBox 10"/>
          <p:cNvSpPr txBox="1"/>
          <p:nvPr/>
        </p:nvSpPr>
        <p:spPr>
          <a:xfrm>
            <a:off x="749300" y="1176718"/>
            <a:ext cx="2434193" cy="158750"/>
          </a:xfrm>
          <a:prstGeom prst="rect">
            <a:avLst/>
          </a:prstGeom>
          <a:noFill/>
        </p:spPr>
        <p:txBody>
          <a:bodyPr wrap="none" lIns="0" tIns="0" rIns="0" bIns="0" anchor="t">
            <a:noAutofit/>
          </a:bodyPr>
          <a:lstStyle/>
          <a:p>
            <a:pPr algn="l">
              <a:lnSpc>
                <a:spcPts val="1190"/>
              </a:lnSpc>
            </a:pPr>
            <a:r>
              <a:rPr sz="850" b="1">
                <a:solidFill>
                  <a:srgbClr val="A44A3F"/>
                </a:solidFill>
                <a:latin typeface="Microsoft JhengHei"/>
                <a:ea typeface="Microsoft JhengHei"/>
                <a:cs typeface="Microsoft JhengHei"/>
              </a:rPr>
              <a:t>Receptor Biology ｜ 受體回收生理機轉</a:t>
            </a:r>
          </a:p>
        </p:txBody>
      </p:sp>
      <p:sp>
        <p:nvSpPr>
          <p:cNvPr id="12" name="TextBox 11"/>
          <p:cNvSpPr txBox="1"/>
          <p:nvPr/>
        </p:nvSpPr>
        <p:spPr>
          <a:xfrm>
            <a:off x="660400" y="1386268"/>
            <a:ext cx="5606097" cy="279400"/>
          </a:xfrm>
          <a:prstGeom prst="rect">
            <a:avLst/>
          </a:prstGeom>
          <a:noFill/>
        </p:spPr>
        <p:txBody>
          <a:bodyPr wrap="none" lIns="0" tIns="0" rIns="0" bIns="0" anchor="t">
            <a:noAutofit/>
          </a:bodyPr>
          <a:lstStyle/>
          <a:p>
            <a:pPr algn="l">
              <a:lnSpc>
                <a:spcPts val="1880"/>
              </a:lnSpc>
            </a:pPr>
            <a:r>
              <a:rPr sz="1500" b="1">
                <a:solidFill>
                  <a:srgbClr val="A44A3F"/>
                </a:solidFill>
                <a:latin typeface="Microsoft JhengHei"/>
                <a:ea typeface="Microsoft JhengHei"/>
                <a:cs typeface="Microsoft JhengHei"/>
              </a:rPr>
              <a:t>The Receptor Recycling Mechanism </a:t>
            </a:r>
            <a:r>
              <a:rPr sz="1200" b="1">
                <a:solidFill>
                  <a:srgbClr val="78716C"/>
                </a:solidFill>
                <a:latin typeface="Microsoft JhengHei"/>
                <a:ea typeface="Microsoft JhengHei"/>
                <a:cs typeface="Microsoft JhengHei"/>
              </a:rPr>
              <a:t>(受體循環清除)</a:t>
            </a:r>
          </a:p>
        </p:txBody>
      </p:sp>
      <p:sp>
        <p:nvSpPr>
          <p:cNvPr id="13" name="Rounded Rectangle 12"/>
          <p:cNvSpPr/>
          <p:nvPr/>
        </p:nvSpPr>
        <p:spPr>
          <a:xfrm>
            <a:off x="660400" y="1713294"/>
            <a:ext cx="1524000" cy="527050"/>
          </a:xfrm>
          <a:prstGeom prst="roundRect">
            <a:avLst>
              <a:gd name="adj" fmla="val 16867"/>
            </a:avLst>
          </a:prstGeom>
          <a:solidFill>
            <a:srgbClr val="FAF8F5"/>
          </a:solidFill>
          <a:ln w="12700">
            <a:solidFill>
              <a:srgbClr val="E2DDD5"/>
            </a:solidFill>
          </a:ln>
          <a:effectLst/>
        </p:spPr>
        <p:txBody>
          <a:bodyPr rtlCol="0" anchor="ctr"/>
          <a:lstStyle/>
          <a:p>
            <a:endParaRPr/>
          </a:p>
        </p:txBody>
      </p:sp>
      <p:sp>
        <p:nvSpPr>
          <p:cNvPr id="14" name="TextBox 13"/>
          <p:cNvSpPr txBox="1"/>
          <p:nvPr/>
        </p:nvSpPr>
        <p:spPr>
          <a:xfrm>
            <a:off x="772787" y="1814894"/>
            <a:ext cx="1299289" cy="317500"/>
          </a:xfrm>
          <a:prstGeom prst="rect">
            <a:avLst/>
          </a:prstGeom>
          <a:noFill/>
        </p:spPr>
        <p:txBody>
          <a:bodyPr wrap="none" lIns="0" tIns="0" rIns="0" bIns="0" anchor="t">
            <a:noAutofit/>
          </a:bodyPr>
          <a:lstStyle/>
          <a:p>
            <a:pPr algn="ctr">
              <a:lnSpc>
                <a:spcPts val="931"/>
              </a:lnSpc>
            </a:pPr>
            <a:r>
              <a:rPr sz="792" b="1">
                <a:solidFill>
                  <a:srgbClr val="A44A3F"/>
                </a:solidFill>
                <a:latin typeface="Microsoft JhengHei"/>
                <a:ea typeface="Microsoft JhengHei"/>
                <a:cs typeface="Microsoft JhengHei"/>
              </a:rPr>
              <a:t>1. PCSK9 Binding</a:t>
            </a:r>
          </a:p>
          <a:p>
            <a:pPr algn="ctr">
              <a:lnSpc>
                <a:spcPts val="931"/>
              </a:lnSpc>
            </a:pPr>
            <a:r>
              <a:rPr sz="666" b="0">
                <a:solidFill>
                  <a:srgbClr val="1C1917"/>
                </a:solidFill>
                <a:latin typeface="Microsoft JhengHei"/>
                <a:ea typeface="Microsoft JhengHei"/>
                <a:cs typeface="Microsoft JhengHei"/>
              </a:rPr>
              <a:t> </a:t>
            </a:r>
          </a:p>
          <a:p>
            <a:pPr algn="ctr">
              <a:lnSpc>
                <a:spcPts val="931"/>
              </a:lnSpc>
            </a:pPr>
            <a:r>
              <a:rPr sz="666" b="0">
                <a:solidFill>
                  <a:srgbClr val="1C1917"/>
                </a:solidFill>
                <a:latin typeface="Microsoft JhengHei"/>
                <a:ea typeface="Microsoft JhengHei"/>
                <a:cs typeface="Microsoft JhengHei"/>
              </a:rPr>
              <a:t> </a:t>
            </a:r>
            <a:r>
              <a:rPr sz="625" b="0">
                <a:solidFill>
                  <a:srgbClr val="78716C"/>
                </a:solidFill>
                <a:latin typeface="Microsoft JhengHei"/>
                <a:ea typeface="Microsoft JhengHei"/>
                <a:cs typeface="Microsoft JhengHei"/>
              </a:rPr>
              <a:t>結合肝臟 LDLR</a:t>
            </a:r>
          </a:p>
        </p:txBody>
      </p:sp>
      <p:sp>
        <p:nvSpPr>
          <p:cNvPr id="15" name="TextBox 14"/>
          <p:cNvSpPr txBox="1"/>
          <p:nvPr/>
        </p:nvSpPr>
        <p:spPr>
          <a:xfrm>
            <a:off x="2247900" y="1859344"/>
            <a:ext cx="254000" cy="234950"/>
          </a:xfrm>
          <a:prstGeom prst="rect">
            <a:avLst/>
          </a:prstGeom>
          <a:noFill/>
        </p:spPr>
        <p:txBody>
          <a:bodyPr wrap="none" lIns="0" tIns="0" rIns="0" bIns="0" anchor="t">
            <a:noAutofit/>
          </a:bodyPr>
          <a:lstStyle/>
          <a:p>
            <a:pPr algn="l">
              <a:lnSpc>
                <a:spcPts val="1820"/>
              </a:lnSpc>
            </a:pPr>
            <a:r>
              <a:rPr sz="1300" b="1">
                <a:solidFill>
                  <a:srgbClr val="D4A373"/>
                </a:solidFill>
                <a:latin typeface="Microsoft JhengHei"/>
                <a:ea typeface="Microsoft JhengHei"/>
                <a:cs typeface="Microsoft JhengHei"/>
              </a:rPr>
              <a:t>➔</a:t>
            </a:r>
          </a:p>
        </p:txBody>
      </p:sp>
      <p:sp>
        <p:nvSpPr>
          <p:cNvPr id="16" name="Rounded Rectangle 15"/>
          <p:cNvSpPr/>
          <p:nvPr/>
        </p:nvSpPr>
        <p:spPr>
          <a:xfrm>
            <a:off x="2476500" y="1713294"/>
            <a:ext cx="1524000" cy="527050"/>
          </a:xfrm>
          <a:prstGeom prst="roundRect">
            <a:avLst>
              <a:gd name="adj" fmla="val 16867"/>
            </a:avLst>
          </a:prstGeom>
          <a:solidFill>
            <a:srgbClr val="FAF8F5"/>
          </a:solidFill>
          <a:ln w="12700">
            <a:solidFill>
              <a:srgbClr val="E2DDD5"/>
            </a:solidFill>
          </a:ln>
          <a:effectLst/>
        </p:spPr>
        <p:txBody>
          <a:bodyPr rtlCol="0" anchor="ctr"/>
          <a:lstStyle/>
          <a:p>
            <a:endParaRPr/>
          </a:p>
        </p:txBody>
      </p:sp>
      <p:sp>
        <p:nvSpPr>
          <p:cNvPr id="17" name="TextBox 16"/>
          <p:cNvSpPr txBox="1"/>
          <p:nvPr/>
        </p:nvSpPr>
        <p:spPr>
          <a:xfrm>
            <a:off x="2437836" y="1814894"/>
            <a:ext cx="1601391" cy="317500"/>
          </a:xfrm>
          <a:prstGeom prst="rect">
            <a:avLst/>
          </a:prstGeom>
          <a:noFill/>
        </p:spPr>
        <p:txBody>
          <a:bodyPr wrap="none" lIns="0" tIns="0" rIns="0" bIns="0" anchor="t">
            <a:noAutofit/>
          </a:bodyPr>
          <a:lstStyle/>
          <a:p>
            <a:pPr algn="ctr">
              <a:lnSpc>
                <a:spcPts val="931"/>
              </a:lnSpc>
            </a:pPr>
            <a:r>
              <a:rPr sz="792" b="1">
                <a:solidFill>
                  <a:srgbClr val="A44A3F"/>
                </a:solidFill>
                <a:latin typeface="Microsoft JhengHei"/>
                <a:ea typeface="Microsoft JhengHei"/>
                <a:cs typeface="Microsoft JhengHei"/>
              </a:rPr>
              <a:t>2. Lysosome Degrade</a:t>
            </a:r>
          </a:p>
          <a:p>
            <a:pPr algn="ctr">
              <a:lnSpc>
                <a:spcPts val="931"/>
              </a:lnSpc>
            </a:pPr>
            <a:r>
              <a:rPr sz="666" b="0">
                <a:solidFill>
                  <a:srgbClr val="1C1917"/>
                </a:solidFill>
                <a:latin typeface="Microsoft JhengHei"/>
                <a:ea typeface="Microsoft JhengHei"/>
                <a:cs typeface="Microsoft JhengHei"/>
              </a:rPr>
              <a:t> </a:t>
            </a:r>
          </a:p>
          <a:p>
            <a:pPr algn="ctr">
              <a:lnSpc>
                <a:spcPts val="931"/>
              </a:lnSpc>
            </a:pPr>
            <a:r>
              <a:rPr sz="666" b="0">
                <a:solidFill>
                  <a:srgbClr val="1C1917"/>
                </a:solidFill>
                <a:latin typeface="Microsoft JhengHei"/>
                <a:ea typeface="Microsoft JhengHei"/>
                <a:cs typeface="Microsoft JhengHei"/>
              </a:rPr>
              <a:t> </a:t>
            </a:r>
            <a:r>
              <a:rPr sz="625" b="0">
                <a:solidFill>
                  <a:srgbClr val="78716C"/>
                </a:solidFill>
                <a:latin typeface="Microsoft JhengHei"/>
                <a:ea typeface="Microsoft JhengHei"/>
                <a:cs typeface="Microsoft JhengHei"/>
              </a:rPr>
              <a:t>受體遭溶酶體破壞</a:t>
            </a:r>
          </a:p>
        </p:txBody>
      </p:sp>
      <p:sp>
        <p:nvSpPr>
          <p:cNvPr id="18" name="TextBox 17"/>
          <p:cNvSpPr txBox="1"/>
          <p:nvPr/>
        </p:nvSpPr>
        <p:spPr>
          <a:xfrm>
            <a:off x="4064000" y="1859344"/>
            <a:ext cx="254000" cy="234950"/>
          </a:xfrm>
          <a:prstGeom prst="rect">
            <a:avLst/>
          </a:prstGeom>
          <a:noFill/>
        </p:spPr>
        <p:txBody>
          <a:bodyPr wrap="none" lIns="0" tIns="0" rIns="0" bIns="0" anchor="t">
            <a:noAutofit/>
          </a:bodyPr>
          <a:lstStyle/>
          <a:p>
            <a:pPr algn="l">
              <a:lnSpc>
                <a:spcPts val="1820"/>
              </a:lnSpc>
            </a:pPr>
            <a:r>
              <a:rPr sz="1300" b="1">
                <a:solidFill>
                  <a:srgbClr val="D4A373"/>
                </a:solidFill>
                <a:latin typeface="Microsoft JhengHei"/>
                <a:ea typeface="Microsoft JhengHei"/>
                <a:cs typeface="Microsoft JhengHei"/>
              </a:rPr>
              <a:t>➔</a:t>
            </a:r>
          </a:p>
        </p:txBody>
      </p:sp>
      <p:sp>
        <p:nvSpPr>
          <p:cNvPr id="19" name="Rounded Rectangle 18"/>
          <p:cNvSpPr/>
          <p:nvPr/>
        </p:nvSpPr>
        <p:spPr>
          <a:xfrm>
            <a:off x="4292600" y="1713294"/>
            <a:ext cx="1524000" cy="527050"/>
          </a:xfrm>
          <a:prstGeom prst="roundRect">
            <a:avLst>
              <a:gd name="adj" fmla="val 16867"/>
            </a:avLst>
          </a:prstGeom>
          <a:solidFill>
            <a:srgbClr val="FAF8F5"/>
          </a:solidFill>
          <a:ln w="12700">
            <a:solidFill>
              <a:srgbClr val="E2DDD5"/>
            </a:solidFill>
          </a:ln>
          <a:effectLst/>
        </p:spPr>
        <p:txBody>
          <a:bodyPr rtlCol="0" anchor="ctr"/>
          <a:lstStyle/>
          <a:p>
            <a:endParaRPr/>
          </a:p>
        </p:txBody>
      </p:sp>
      <p:sp>
        <p:nvSpPr>
          <p:cNvPr id="20" name="TextBox 19"/>
          <p:cNvSpPr txBox="1"/>
          <p:nvPr/>
        </p:nvSpPr>
        <p:spPr>
          <a:xfrm>
            <a:off x="4341352" y="1814894"/>
            <a:ext cx="1426369" cy="317500"/>
          </a:xfrm>
          <a:prstGeom prst="rect">
            <a:avLst/>
          </a:prstGeom>
          <a:noFill/>
        </p:spPr>
        <p:txBody>
          <a:bodyPr wrap="none" lIns="0" tIns="0" rIns="0" bIns="0" anchor="t">
            <a:noAutofit/>
          </a:bodyPr>
          <a:lstStyle/>
          <a:p>
            <a:pPr algn="ctr">
              <a:lnSpc>
                <a:spcPts val="931"/>
              </a:lnSpc>
            </a:pPr>
            <a:r>
              <a:rPr sz="792" b="1">
                <a:solidFill>
                  <a:srgbClr val="2D6A4F"/>
                </a:solidFill>
                <a:latin typeface="Microsoft JhengHei"/>
                <a:ea typeface="Microsoft JhengHei"/>
                <a:cs typeface="Microsoft JhengHei"/>
              </a:rPr>
              <a:t>3. Anti-PCSK9 mAb</a:t>
            </a:r>
          </a:p>
          <a:p>
            <a:pPr algn="ctr">
              <a:lnSpc>
                <a:spcPts val="931"/>
              </a:lnSpc>
            </a:pPr>
            <a:r>
              <a:rPr sz="666" b="0">
                <a:solidFill>
                  <a:srgbClr val="1C1917"/>
                </a:solidFill>
                <a:latin typeface="Microsoft JhengHei"/>
                <a:ea typeface="Microsoft JhengHei"/>
                <a:cs typeface="Microsoft JhengHei"/>
              </a:rPr>
              <a:t> </a:t>
            </a:r>
          </a:p>
          <a:p>
            <a:pPr algn="ctr">
              <a:lnSpc>
                <a:spcPts val="931"/>
              </a:lnSpc>
            </a:pPr>
            <a:r>
              <a:rPr sz="666" b="0">
                <a:solidFill>
                  <a:srgbClr val="1C1917"/>
                </a:solidFill>
                <a:latin typeface="Microsoft JhengHei"/>
                <a:ea typeface="Microsoft JhengHei"/>
                <a:cs typeface="Microsoft JhengHei"/>
              </a:rPr>
              <a:t> </a:t>
            </a:r>
            <a:r>
              <a:rPr sz="625" b="0">
                <a:solidFill>
                  <a:srgbClr val="78716C"/>
                </a:solidFill>
                <a:latin typeface="Microsoft JhengHei"/>
                <a:ea typeface="Microsoft JhengHei"/>
                <a:cs typeface="Microsoft JhengHei"/>
              </a:rPr>
              <a:t>受體回收逾 150 次</a:t>
            </a:r>
          </a:p>
        </p:txBody>
      </p:sp>
      <p:sp>
        <p:nvSpPr>
          <p:cNvPr id="21" name="TextBox 20"/>
          <p:cNvSpPr txBox="1"/>
          <p:nvPr/>
        </p:nvSpPr>
        <p:spPr>
          <a:xfrm>
            <a:off x="825500" y="2297494"/>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Biological Function:</a:t>
            </a:r>
            <a:r>
              <a:rPr sz="1150" b="0">
                <a:solidFill>
                  <a:srgbClr val="44403C"/>
                </a:solidFill>
                <a:latin typeface="Microsoft JhengHei"/>
                <a:ea typeface="Microsoft JhengHei"/>
                <a:cs typeface="Microsoft JhengHei"/>
              </a:rPr>
              <a:t> PCSK9 targets LDL receptors for lysosomal destruction in hepatocytes.</a:t>
            </a:r>
          </a:p>
        </p:txBody>
      </p:sp>
      <p:sp>
        <p:nvSpPr>
          <p:cNvPr id="22" name="TextBox 21"/>
          <p:cNvSpPr txBox="1"/>
          <p:nvPr/>
        </p:nvSpPr>
        <p:spPr>
          <a:xfrm>
            <a:off x="825500" y="2740025"/>
            <a:ext cx="5016500"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病理功能：PCSK9 蛋白會引導低密度受體進入溶酶體降解，降低清除效率。</a:t>
            </a:r>
          </a:p>
        </p:txBody>
      </p:sp>
      <p:sp>
        <p:nvSpPr>
          <p:cNvPr id="23" name="TextBox 22"/>
          <p:cNvSpPr txBox="1"/>
          <p:nvPr/>
        </p:nvSpPr>
        <p:spPr>
          <a:xfrm>
            <a:off x="825500" y="2946718"/>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Monoclonal Antibodies:</a:t>
            </a:r>
            <a:r>
              <a:rPr sz="1150" b="0">
                <a:solidFill>
                  <a:srgbClr val="44403C"/>
                </a:solidFill>
                <a:latin typeface="Microsoft JhengHei"/>
                <a:ea typeface="Microsoft JhengHei"/>
                <a:cs typeface="Microsoft JhengHei"/>
              </a:rPr>
              <a:t> Evolocumab or Alirocumab binds PCSK9, preserving surface LDL receptors to rapidly extract LDL from blood.</a:t>
            </a:r>
          </a:p>
        </p:txBody>
      </p:sp>
      <p:sp>
        <p:nvSpPr>
          <p:cNvPr id="24" name="TextBox 23"/>
          <p:cNvSpPr txBox="1"/>
          <p:nvPr/>
        </p:nvSpPr>
        <p:spPr>
          <a:xfrm>
            <a:off x="825500" y="3389186"/>
            <a:ext cx="5636895"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單株抗體中和 PCSK9，使受體存活並循環回收逾 150 次，快速吞噬血液中的膽固醇。</a:t>
            </a:r>
          </a:p>
        </p:txBody>
      </p:sp>
      <p:sp>
        <p:nvSpPr>
          <p:cNvPr id="25" name="Rounded Rectangle 24"/>
          <p:cNvSpPr/>
          <p:nvPr/>
        </p:nvSpPr>
        <p:spPr>
          <a:xfrm>
            <a:off x="660400" y="5372100"/>
            <a:ext cx="5156200" cy="508000"/>
          </a:xfrm>
          <a:prstGeom prst="roundRect">
            <a:avLst>
              <a:gd name="adj" fmla="val 15000"/>
            </a:avLst>
          </a:prstGeom>
          <a:solidFill>
            <a:srgbClr val="2D6A4F">
              <a:alpha val="8000"/>
            </a:srgbClr>
          </a:solidFill>
          <a:ln>
            <a:noFill/>
          </a:ln>
          <a:effectLst/>
        </p:spPr>
        <p:txBody>
          <a:bodyPr rtlCol="0" anchor="ctr"/>
          <a:lstStyle/>
          <a:p>
            <a:endParaRPr/>
          </a:p>
        </p:txBody>
      </p:sp>
      <p:sp>
        <p:nvSpPr>
          <p:cNvPr id="26" name="TextBox 25"/>
          <p:cNvSpPr txBox="1"/>
          <p:nvPr/>
        </p:nvSpPr>
        <p:spPr>
          <a:xfrm>
            <a:off x="774700" y="5448300"/>
            <a:ext cx="5422900" cy="184150"/>
          </a:xfrm>
          <a:prstGeom prst="rect">
            <a:avLst/>
          </a:prstGeom>
          <a:noFill/>
        </p:spPr>
        <p:txBody>
          <a:bodyPr wrap="none" lIns="0" tIns="0" rIns="0" bIns="0" anchor="t">
            <a:noAutofit/>
          </a:bodyPr>
          <a:lstStyle/>
          <a:p>
            <a:pPr algn="l">
              <a:lnSpc>
                <a:spcPts val="1400"/>
              </a:lnSpc>
            </a:pPr>
            <a:r>
              <a:rPr sz="1000" b="1">
                <a:solidFill>
                  <a:srgbClr val="2D6A4F"/>
                </a:solidFill>
                <a:latin typeface="Microsoft JhengHei"/>
                <a:ea typeface="Microsoft JhengHei"/>
                <a:cs typeface="Microsoft JhengHei"/>
              </a:rPr>
              <a:t>✓ Multiplies hepatic surface LDL receptors to clear blood cholesterol</a:t>
            </a:r>
          </a:p>
        </p:txBody>
      </p:sp>
      <p:sp>
        <p:nvSpPr>
          <p:cNvPr id="27" name="TextBox 26"/>
          <p:cNvSpPr txBox="1"/>
          <p:nvPr/>
        </p:nvSpPr>
        <p:spPr>
          <a:xfrm>
            <a:off x="774700" y="5645150"/>
            <a:ext cx="3822065" cy="158750"/>
          </a:xfrm>
          <a:prstGeom prst="rect">
            <a:avLst/>
          </a:prstGeom>
          <a:noFill/>
        </p:spPr>
        <p:txBody>
          <a:bodyPr wrap="none" lIns="0" tIns="0" rIns="0" bIns="0" anchor="t">
            <a:noAutofit/>
          </a:bodyPr>
          <a:lstStyle/>
          <a:p>
            <a:pPr algn="l">
              <a:lnSpc>
                <a:spcPts val="1190"/>
              </a:lnSpc>
            </a:pPr>
            <a:r>
              <a:rPr sz="850" b="1">
                <a:solidFill>
                  <a:srgbClr val="427860"/>
                </a:solidFill>
                <a:latin typeface="Microsoft JhengHei"/>
                <a:ea typeface="Microsoft JhengHei"/>
                <a:cs typeface="Microsoft JhengHei"/>
              </a:rPr>
              <a:t>使肝臟表面功能性 LDL 受體倍增數倍，達成極速血液膽固醇清除</a:t>
            </a:r>
          </a:p>
        </p:txBody>
      </p:sp>
      <p:sp>
        <p:nvSpPr>
          <p:cNvPr id="28" name="Rounded Rectangle 27"/>
          <p:cNvSpPr/>
          <p:nvPr/>
        </p:nvSpPr>
        <p:spPr>
          <a:xfrm>
            <a:off x="6197600" y="960818"/>
            <a:ext cx="5511800" cy="5071682"/>
          </a:xfrm>
          <a:prstGeom prst="roundRect">
            <a:avLst>
              <a:gd name="adj" fmla="val 2504"/>
            </a:avLst>
          </a:prstGeom>
          <a:solidFill>
            <a:srgbClr val="1E2833">
              <a:alpha val="8000"/>
            </a:srgbClr>
          </a:solidFill>
          <a:ln>
            <a:noFill/>
          </a:ln>
          <a:effectLst/>
        </p:spPr>
        <p:txBody>
          <a:bodyPr rtlCol="0" anchor="ctr"/>
          <a:lstStyle/>
          <a:p>
            <a:endParaRPr/>
          </a:p>
        </p:txBody>
      </p:sp>
      <p:sp>
        <p:nvSpPr>
          <p:cNvPr id="29" name="Rectangle 28"/>
          <p:cNvSpPr/>
          <p:nvPr/>
        </p:nvSpPr>
        <p:spPr>
          <a:xfrm>
            <a:off x="6197600" y="960818"/>
            <a:ext cx="5511800" cy="50800"/>
          </a:xfrm>
          <a:prstGeom prst="rect">
            <a:avLst/>
          </a:prstGeom>
          <a:solidFill>
            <a:srgbClr val="1E2833"/>
          </a:solidFill>
          <a:ln>
            <a:noFill/>
          </a:ln>
          <a:effectLst/>
        </p:spPr>
        <p:txBody>
          <a:bodyPr rtlCol="0" anchor="ctr"/>
          <a:lstStyle/>
          <a:p>
            <a:endParaRPr/>
          </a:p>
        </p:txBody>
      </p:sp>
      <p:sp>
        <p:nvSpPr>
          <p:cNvPr id="30" name="Rectangle 29"/>
          <p:cNvSpPr/>
          <p:nvPr/>
        </p:nvSpPr>
        <p:spPr>
          <a:xfrm>
            <a:off x="11696700" y="960818"/>
            <a:ext cx="12700" cy="5071682"/>
          </a:xfrm>
          <a:prstGeom prst="rect">
            <a:avLst/>
          </a:prstGeom>
          <a:solidFill>
            <a:srgbClr val="E2DDD5"/>
          </a:solidFill>
          <a:ln>
            <a:noFill/>
          </a:ln>
          <a:effectLst/>
        </p:spPr>
        <p:txBody>
          <a:bodyPr rtlCol="0" anchor="ctr"/>
          <a:lstStyle/>
          <a:p>
            <a:endParaRPr/>
          </a:p>
        </p:txBody>
      </p:sp>
      <p:sp>
        <p:nvSpPr>
          <p:cNvPr id="31" name="Rectangle 30"/>
          <p:cNvSpPr/>
          <p:nvPr/>
        </p:nvSpPr>
        <p:spPr>
          <a:xfrm>
            <a:off x="6197600" y="6019800"/>
            <a:ext cx="5511800" cy="12700"/>
          </a:xfrm>
          <a:prstGeom prst="rect">
            <a:avLst/>
          </a:prstGeom>
          <a:solidFill>
            <a:srgbClr val="E2DDD5"/>
          </a:solidFill>
          <a:ln>
            <a:noFill/>
          </a:ln>
          <a:effectLst/>
        </p:spPr>
        <p:txBody>
          <a:bodyPr rtlCol="0" anchor="ctr"/>
          <a:lstStyle/>
          <a:p>
            <a:endParaRPr/>
          </a:p>
        </p:txBody>
      </p:sp>
      <p:sp>
        <p:nvSpPr>
          <p:cNvPr id="32" name="Rectangle 31"/>
          <p:cNvSpPr/>
          <p:nvPr/>
        </p:nvSpPr>
        <p:spPr>
          <a:xfrm>
            <a:off x="6197600" y="960818"/>
            <a:ext cx="12700" cy="5071682"/>
          </a:xfrm>
          <a:prstGeom prst="rect">
            <a:avLst/>
          </a:prstGeom>
          <a:solidFill>
            <a:srgbClr val="E2DDD5"/>
          </a:solidFill>
          <a:ln>
            <a:noFill/>
          </a:ln>
          <a:effectLst/>
        </p:spPr>
        <p:txBody>
          <a:bodyPr rtlCol="0" anchor="ctr"/>
          <a:lstStyle/>
          <a:p>
            <a:endParaRPr/>
          </a:p>
        </p:txBody>
      </p:sp>
      <p:sp>
        <p:nvSpPr>
          <p:cNvPr id="33" name="Rounded Rectangle 32"/>
          <p:cNvSpPr/>
          <p:nvPr/>
        </p:nvSpPr>
        <p:spPr>
          <a:xfrm>
            <a:off x="6375400" y="1151318"/>
            <a:ext cx="1752219" cy="209550"/>
          </a:xfrm>
          <a:prstGeom prst="roundRect">
            <a:avLst>
              <a:gd name="adj" fmla="val 50000"/>
            </a:avLst>
          </a:prstGeom>
          <a:solidFill>
            <a:srgbClr val="1E2833">
              <a:alpha val="8000"/>
            </a:srgbClr>
          </a:solidFill>
          <a:ln>
            <a:noFill/>
          </a:ln>
          <a:effectLst/>
        </p:spPr>
        <p:txBody>
          <a:bodyPr rtlCol="0" anchor="ctr"/>
          <a:lstStyle/>
          <a:p>
            <a:endParaRPr/>
          </a:p>
        </p:txBody>
      </p:sp>
      <p:sp>
        <p:nvSpPr>
          <p:cNvPr id="34" name="TextBox 33"/>
          <p:cNvSpPr txBox="1"/>
          <p:nvPr/>
        </p:nvSpPr>
        <p:spPr>
          <a:xfrm>
            <a:off x="6464300" y="1176718"/>
            <a:ext cx="1968024" cy="158750"/>
          </a:xfrm>
          <a:prstGeom prst="rect">
            <a:avLst/>
          </a:prstGeom>
          <a:noFill/>
        </p:spPr>
        <p:txBody>
          <a:bodyPr wrap="none" lIns="0" tIns="0" rIns="0" bIns="0" anchor="t">
            <a:noAutofit/>
          </a:bodyPr>
          <a:lstStyle/>
          <a:p>
            <a:pPr algn="l">
              <a:lnSpc>
                <a:spcPts val="1190"/>
              </a:lnSpc>
            </a:pPr>
            <a:r>
              <a:rPr sz="850" b="1">
                <a:solidFill>
                  <a:srgbClr val="1E2833"/>
                </a:solidFill>
                <a:latin typeface="Microsoft JhengHei"/>
                <a:ea typeface="Microsoft JhengHei"/>
                <a:cs typeface="Microsoft JhengHei"/>
              </a:rPr>
              <a:t>Outcome Data ｜ 預後臨床數據</a:t>
            </a:r>
          </a:p>
        </p:txBody>
      </p:sp>
      <p:sp>
        <p:nvSpPr>
          <p:cNvPr id="35" name="TextBox 34"/>
          <p:cNvSpPr txBox="1"/>
          <p:nvPr/>
        </p:nvSpPr>
        <p:spPr>
          <a:xfrm>
            <a:off x="6375400" y="1386268"/>
            <a:ext cx="4570651" cy="279400"/>
          </a:xfrm>
          <a:prstGeom prst="rect">
            <a:avLst/>
          </a:prstGeom>
          <a:noFill/>
        </p:spPr>
        <p:txBody>
          <a:bodyPr wrap="none" lIns="0" tIns="0" rIns="0" bIns="0" anchor="t">
            <a:noAutofit/>
          </a:bodyPr>
          <a:lstStyle/>
          <a:p>
            <a:pPr algn="l">
              <a:lnSpc>
                <a:spcPts val="1880"/>
              </a:lnSpc>
            </a:pPr>
            <a:r>
              <a:rPr sz="1500" b="1">
                <a:solidFill>
                  <a:srgbClr val="1E2833"/>
                </a:solidFill>
                <a:latin typeface="Microsoft JhengHei"/>
                <a:ea typeface="Microsoft JhengHei"/>
                <a:cs typeface="Microsoft JhengHei"/>
              </a:rPr>
              <a:t>FOURIER &amp; ODYSSEY Trials </a:t>
            </a:r>
            <a:r>
              <a:rPr sz="1200" b="1">
                <a:solidFill>
                  <a:srgbClr val="78716C"/>
                </a:solidFill>
                <a:latin typeface="Microsoft JhengHei"/>
                <a:ea typeface="Microsoft JhengHei"/>
                <a:cs typeface="Microsoft JhengHei"/>
              </a:rPr>
              <a:t>(極致降脂實證)</a:t>
            </a:r>
          </a:p>
        </p:txBody>
      </p:sp>
      <p:sp>
        <p:nvSpPr>
          <p:cNvPr id="36" name="Rounded Rectangle 35"/>
          <p:cNvSpPr/>
          <p:nvPr/>
        </p:nvSpPr>
        <p:spPr>
          <a:xfrm>
            <a:off x="6375400" y="1713294"/>
            <a:ext cx="25273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37" name="TextBox 36"/>
          <p:cNvSpPr txBox="1"/>
          <p:nvPr/>
        </p:nvSpPr>
        <p:spPr>
          <a:xfrm>
            <a:off x="7035419" y="1719644"/>
            <a:ext cx="1207135" cy="501650"/>
          </a:xfrm>
          <a:prstGeom prst="rect">
            <a:avLst/>
          </a:prstGeom>
          <a:noFill/>
        </p:spPr>
        <p:txBody>
          <a:bodyPr wrap="none" lIns="0" tIns="0" rIns="0" bIns="0" anchor="t">
            <a:noAutofit/>
          </a:bodyPr>
          <a:lstStyle/>
          <a:p>
            <a:pPr algn="ctr">
              <a:lnSpc>
                <a:spcPts val="2840"/>
              </a:lnSpc>
            </a:pPr>
            <a:r>
              <a:rPr sz="2700" b="1">
                <a:solidFill>
                  <a:srgbClr val="2D6A4F"/>
                </a:solidFill>
                <a:latin typeface="Microsoft JhengHei"/>
                <a:ea typeface="Microsoft JhengHei"/>
                <a:cs typeface="Microsoft JhengHei"/>
              </a:rPr>
              <a:t>- 60%</a:t>
            </a:r>
          </a:p>
        </p:txBody>
      </p:sp>
      <p:sp>
        <p:nvSpPr>
          <p:cNvPr id="38" name="TextBox 37"/>
          <p:cNvSpPr txBox="1"/>
          <p:nvPr/>
        </p:nvSpPr>
        <p:spPr>
          <a:xfrm>
            <a:off x="7130177" y="2168525"/>
            <a:ext cx="1017746"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Added to Statin</a:t>
            </a:r>
          </a:p>
        </p:txBody>
      </p:sp>
      <p:sp>
        <p:nvSpPr>
          <p:cNvPr id="39" name="TextBox 38"/>
          <p:cNvSpPr txBox="1"/>
          <p:nvPr/>
        </p:nvSpPr>
        <p:spPr>
          <a:xfrm>
            <a:off x="7103269" y="2327275"/>
            <a:ext cx="1071562"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口服基礎上額外再降</a:t>
            </a:r>
          </a:p>
        </p:txBody>
      </p:sp>
      <p:sp>
        <p:nvSpPr>
          <p:cNvPr id="40" name="Rounded Rectangle 39"/>
          <p:cNvSpPr/>
          <p:nvPr/>
        </p:nvSpPr>
        <p:spPr>
          <a:xfrm>
            <a:off x="9004300" y="1713294"/>
            <a:ext cx="2527300" cy="829882"/>
          </a:xfrm>
          <a:prstGeom prst="roundRect">
            <a:avLst>
              <a:gd name="adj" fmla="val 10712"/>
            </a:avLst>
          </a:prstGeom>
          <a:solidFill>
            <a:srgbClr val="FAF8F5"/>
          </a:solidFill>
          <a:ln w="6350">
            <a:solidFill>
              <a:srgbClr val="E2DDD5"/>
            </a:solidFill>
          </a:ln>
          <a:effectLst/>
        </p:spPr>
        <p:txBody>
          <a:bodyPr rtlCol="0" anchor="ctr"/>
          <a:lstStyle/>
          <a:p>
            <a:endParaRPr/>
          </a:p>
        </p:txBody>
      </p:sp>
      <p:sp>
        <p:nvSpPr>
          <p:cNvPr id="41" name="TextBox 40"/>
          <p:cNvSpPr txBox="1"/>
          <p:nvPr/>
        </p:nvSpPr>
        <p:spPr>
          <a:xfrm>
            <a:off x="9827268" y="1719644"/>
            <a:ext cx="881301" cy="501650"/>
          </a:xfrm>
          <a:prstGeom prst="rect">
            <a:avLst/>
          </a:prstGeom>
          <a:noFill/>
        </p:spPr>
        <p:txBody>
          <a:bodyPr wrap="none" lIns="0" tIns="0" rIns="0" bIns="0" anchor="t">
            <a:noAutofit/>
          </a:bodyPr>
          <a:lstStyle/>
          <a:p>
            <a:pPr algn="ctr">
              <a:lnSpc>
                <a:spcPts val="2840"/>
              </a:lnSpc>
            </a:pPr>
            <a:r>
              <a:rPr sz="2700" b="1">
                <a:solidFill>
                  <a:srgbClr val="2D6A4F"/>
                </a:solidFill>
                <a:latin typeface="Microsoft JhengHei"/>
                <a:ea typeface="Microsoft JhengHei"/>
                <a:cs typeface="Microsoft JhengHei"/>
              </a:rPr>
              <a:t>&lt; 30</a:t>
            </a:r>
          </a:p>
        </p:txBody>
      </p:sp>
      <p:sp>
        <p:nvSpPr>
          <p:cNvPr id="42" name="TextBox 41"/>
          <p:cNvSpPr txBox="1"/>
          <p:nvPr/>
        </p:nvSpPr>
        <p:spPr>
          <a:xfrm>
            <a:off x="9764562" y="2168525"/>
            <a:ext cx="1006713" cy="158750"/>
          </a:xfrm>
          <a:prstGeom prst="rect">
            <a:avLst/>
          </a:prstGeom>
          <a:noFill/>
        </p:spPr>
        <p:txBody>
          <a:bodyPr wrap="none" lIns="0" tIns="0" rIns="0" bIns="0" anchor="t">
            <a:noAutofit/>
          </a:bodyPr>
          <a:lstStyle/>
          <a:p>
            <a:pPr algn="ctr">
              <a:lnSpc>
                <a:spcPts val="1190"/>
              </a:lnSpc>
            </a:pPr>
            <a:r>
              <a:rPr sz="850" b="1">
                <a:solidFill>
                  <a:srgbClr val="78716C"/>
                </a:solidFill>
                <a:latin typeface="Microsoft JhengHei"/>
                <a:ea typeface="Microsoft JhengHei"/>
                <a:cs typeface="Microsoft JhengHei"/>
              </a:rPr>
              <a:t>Achievable LDL</a:t>
            </a:r>
          </a:p>
        </p:txBody>
      </p:sp>
      <p:sp>
        <p:nvSpPr>
          <p:cNvPr id="43" name="TextBox 42"/>
          <p:cNvSpPr txBox="1"/>
          <p:nvPr/>
        </p:nvSpPr>
        <p:spPr>
          <a:xfrm>
            <a:off x="9791700" y="2327275"/>
            <a:ext cx="952500" cy="133350"/>
          </a:xfrm>
          <a:prstGeom prst="rect">
            <a:avLst/>
          </a:prstGeom>
          <a:noFill/>
        </p:spPr>
        <p:txBody>
          <a:bodyPr wrap="none" lIns="0" tIns="0" rIns="0" bIns="0" anchor="t">
            <a:noAutofit/>
          </a:bodyPr>
          <a:lstStyle/>
          <a:p>
            <a:pPr algn="ctr">
              <a:lnSpc>
                <a:spcPts val="1050"/>
              </a:lnSpc>
            </a:pPr>
            <a:r>
              <a:rPr sz="750" b="0">
                <a:solidFill>
                  <a:srgbClr val="44403C"/>
                </a:solidFill>
                <a:latin typeface="Microsoft JhengHei"/>
                <a:ea typeface="Microsoft JhengHei"/>
                <a:cs typeface="Microsoft JhengHei"/>
              </a:rPr>
              <a:t>可達成之理想數值</a:t>
            </a:r>
          </a:p>
        </p:txBody>
      </p:sp>
      <p:sp>
        <p:nvSpPr>
          <p:cNvPr id="44" name="TextBox 43"/>
          <p:cNvSpPr txBox="1"/>
          <p:nvPr/>
        </p:nvSpPr>
        <p:spPr>
          <a:xfrm>
            <a:off x="6540500" y="2625725"/>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Clinical Power:</a:t>
            </a:r>
            <a:r>
              <a:rPr sz="1150" b="0">
                <a:solidFill>
                  <a:srgbClr val="44403C"/>
                </a:solidFill>
                <a:latin typeface="Microsoft JhengHei"/>
                <a:ea typeface="Microsoft JhengHei"/>
                <a:cs typeface="Microsoft JhengHei"/>
              </a:rPr>
              <a:t> Adding PCSK9i lowers LDL by an extra 50%–60% (total reduction up to 85%).</a:t>
            </a:r>
          </a:p>
        </p:txBody>
      </p:sp>
      <p:sp>
        <p:nvSpPr>
          <p:cNvPr id="45" name="TextBox 44"/>
          <p:cNvSpPr txBox="1"/>
          <p:nvPr/>
        </p:nvSpPr>
        <p:spPr>
          <a:xfrm>
            <a:off x="6540500" y="3068256"/>
            <a:ext cx="4536043"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降脂威力：在口服雙藥基礎上再降 50%–60%，整體降幅高達 85%。</a:t>
            </a:r>
          </a:p>
        </p:txBody>
      </p:sp>
      <p:sp>
        <p:nvSpPr>
          <p:cNvPr id="46" name="TextBox 45"/>
          <p:cNvSpPr txBox="1"/>
          <p:nvPr/>
        </p:nvSpPr>
        <p:spPr>
          <a:xfrm>
            <a:off x="6540500" y="3274886"/>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Cardiovascular Benefit:</a:t>
            </a:r>
            <a:r>
              <a:rPr sz="1150" b="0">
                <a:solidFill>
                  <a:srgbClr val="44403C"/>
                </a:solidFill>
                <a:latin typeface="Microsoft JhengHei"/>
                <a:ea typeface="Microsoft JhengHei"/>
                <a:cs typeface="Microsoft JhengHei"/>
              </a:rPr>
              <a:t> 15% relative risk reduction in major cardiovascular events; significant plaque regression.</a:t>
            </a:r>
          </a:p>
        </p:txBody>
      </p:sp>
      <p:sp>
        <p:nvSpPr>
          <p:cNvPr id="47" name="TextBox 46"/>
          <p:cNvSpPr txBox="1"/>
          <p:nvPr/>
        </p:nvSpPr>
        <p:spPr>
          <a:xfrm>
            <a:off x="6540500" y="3717417"/>
            <a:ext cx="4596686"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臨床獲益：減少 15% 重大心血管事件，顯著縮小冠狀動脈斑塊體積。</a:t>
            </a:r>
          </a:p>
        </p:txBody>
      </p:sp>
      <p:sp>
        <p:nvSpPr>
          <p:cNvPr id="48" name="TextBox 47"/>
          <p:cNvSpPr txBox="1"/>
          <p:nvPr/>
        </p:nvSpPr>
        <p:spPr>
          <a:xfrm>
            <a:off x="6540500" y="3924110"/>
            <a:ext cx="4991100"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Mr. Hong's Trigger:</a:t>
            </a:r>
            <a:r>
              <a:rPr sz="1150" b="0">
                <a:solidFill>
                  <a:srgbClr val="44403C"/>
                </a:solidFill>
                <a:latin typeface="Microsoft JhengHei"/>
                <a:ea typeface="Microsoft JhengHei"/>
                <a:cs typeface="Microsoft JhengHei"/>
              </a:rPr>
              <a:t> If 4–6 week follow-up LDL remains ≥ 55 mg/dL, add PCSK9i immediately.</a:t>
            </a:r>
          </a:p>
        </p:txBody>
      </p:sp>
      <p:sp>
        <p:nvSpPr>
          <p:cNvPr id="49" name="TextBox 48"/>
          <p:cNvSpPr txBox="1"/>
          <p:nvPr/>
        </p:nvSpPr>
        <p:spPr>
          <a:xfrm>
            <a:off x="6540500" y="4366641"/>
            <a:ext cx="5224621"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觸發條件：若 4–6 週回診抽血 LDL 仍 ≥ 55 mg/dL，立即加用 PCSK9 抑制劑。</a:t>
            </a:r>
          </a:p>
        </p:txBody>
      </p:sp>
      <p:sp>
        <p:nvSpPr>
          <p:cNvPr id="50" name="Rounded Rectangle 49"/>
          <p:cNvSpPr/>
          <p:nvPr/>
        </p:nvSpPr>
        <p:spPr>
          <a:xfrm>
            <a:off x="6375400" y="5372100"/>
            <a:ext cx="5156200" cy="508000"/>
          </a:xfrm>
          <a:prstGeom prst="roundRect">
            <a:avLst>
              <a:gd name="adj" fmla="val 15000"/>
            </a:avLst>
          </a:prstGeom>
          <a:solidFill>
            <a:srgbClr val="A44A3F">
              <a:alpha val="8000"/>
            </a:srgbClr>
          </a:solidFill>
          <a:ln>
            <a:noFill/>
          </a:ln>
          <a:effectLst/>
        </p:spPr>
        <p:txBody>
          <a:bodyPr rtlCol="0" anchor="ctr"/>
          <a:lstStyle/>
          <a:p>
            <a:endParaRPr/>
          </a:p>
        </p:txBody>
      </p:sp>
      <p:sp>
        <p:nvSpPr>
          <p:cNvPr id="51" name="TextBox 50"/>
          <p:cNvSpPr txBox="1"/>
          <p:nvPr/>
        </p:nvSpPr>
        <p:spPr>
          <a:xfrm>
            <a:off x="6489700" y="5448300"/>
            <a:ext cx="5432266" cy="184150"/>
          </a:xfrm>
          <a:prstGeom prst="rect">
            <a:avLst/>
          </a:prstGeom>
          <a:noFill/>
        </p:spPr>
        <p:txBody>
          <a:bodyPr wrap="none" lIns="0" tIns="0" rIns="0" bIns="0" anchor="t">
            <a:noAutofit/>
          </a:bodyPr>
          <a:lstStyle/>
          <a:p>
            <a:pPr algn="l">
              <a:lnSpc>
                <a:spcPts val="1400"/>
              </a:lnSpc>
            </a:pPr>
            <a:r>
              <a:rPr sz="1000" b="1">
                <a:solidFill>
                  <a:srgbClr val="A44A3F"/>
                </a:solidFill>
                <a:latin typeface="Microsoft JhengHei"/>
                <a:ea typeface="Microsoft JhengHei"/>
                <a:cs typeface="Microsoft JhengHei"/>
              </a:rPr>
              <a:t>Reserved for very-high-risk patients not at goal on oral dual therapy</a:t>
            </a:r>
          </a:p>
        </p:txBody>
      </p:sp>
      <p:sp>
        <p:nvSpPr>
          <p:cNvPr id="52" name="TextBox 51"/>
          <p:cNvSpPr txBox="1"/>
          <p:nvPr/>
        </p:nvSpPr>
        <p:spPr>
          <a:xfrm>
            <a:off x="6489700" y="5645150"/>
            <a:ext cx="3913188" cy="158750"/>
          </a:xfrm>
          <a:prstGeom prst="rect">
            <a:avLst/>
          </a:prstGeom>
          <a:noFill/>
        </p:spPr>
        <p:txBody>
          <a:bodyPr wrap="none" lIns="0" tIns="0" rIns="0" bIns="0" anchor="t">
            <a:noAutofit/>
          </a:bodyPr>
          <a:lstStyle/>
          <a:p>
            <a:pPr algn="l">
              <a:lnSpc>
                <a:spcPts val="1190"/>
              </a:lnSpc>
            </a:pPr>
            <a:r>
              <a:rPr sz="850" b="1">
                <a:solidFill>
                  <a:srgbClr val="AD5C52"/>
                </a:solidFill>
                <a:latin typeface="Microsoft JhengHei"/>
                <a:ea typeface="Microsoft JhengHei"/>
                <a:cs typeface="Microsoft JhengHei"/>
              </a:rPr>
              <a:t>專門針對口服雙藥仍未達標的極高風險患者，作為第三線堅強防線</a:t>
            </a:r>
          </a:p>
        </p:txBody>
      </p:sp>
      <p:sp>
        <p:nvSpPr>
          <p:cNvPr id="53" name="Rectangle 52"/>
          <p:cNvSpPr/>
          <p:nvPr/>
        </p:nvSpPr>
        <p:spPr>
          <a:xfrm>
            <a:off x="482600" y="6184900"/>
            <a:ext cx="11226800" cy="12700"/>
          </a:xfrm>
          <a:prstGeom prst="rect">
            <a:avLst/>
          </a:prstGeom>
          <a:solidFill>
            <a:srgbClr val="EFECE6"/>
          </a:solidFill>
          <a:ln>
            <a:noFill/>
          </a:ln>
          <a:effectLst/>
        </p:spPr>
        <p:txBody>
          <a:bodyPr rtlCol="0" anchor="ctr"/>
          <a:lstStyle/>
          <a:p>
            <a:endParaRPr/>
          </a:p>
        </p:txBody>
      </p:sp>
      <p:sp>
        <p:nvSpPr>
          <p:cNvPr id="54" name="TextBox 53"/>
          <p:cNvSpPr txBox="1"/>
          <p:nvPr/>
        </p:nvSpPr>
        <p:spPr>
          <a:xfrm>
            <a:off x="482600" y="6235700"/>
            <a:ext cx="9666049" cy="266700"/>
          </a:xfrm>
          <a:prstGeom prst="rect">
            <a:avLst/>
          </a:prstGeom>
          <a:noFill/>
        </p:spPr>
        <p:txBody>
          <a:bodyPr wrap="none" lIns="0" tIns="0" rIns="0" bIns="0" anchor="t">
            <a:noAutofit/>
          </a:bodyPr>
          <a:lstStyle/>
          <a:p>
            <a:pPr algn="l">
              <a:lnSpc>
                <a:spcPts val="1050"/>
              </a:lnSpc>
            </a:pPr>
            <a:r>
              <a:rPr sz="750" b="0">
                <a:solidFill>
                  <a:srgbClr val="78716C"/>
                </a:solidFill>
                <a:latin typeface="Microsoft JhengHei"/>
                <a:ea typeface="Microsoft JhengHei"/>
                <a:cs typeface="Microsoft JhengHei"/>
              </a:rPr>
              <a:t>1. Sabatine MS, et al. Evolocumab and Clinical Outcomes in Patients with Cardiovascular Disease (FOURIER). N Engl J Med. 2017;376(18):1713-1722. PMID: 28304224.</a:t>
            </a:r>
          </a:p>
          <a:p>
            <a:pPr algn="l">
              <a:lnSpc>
                <a:spcPts val="1050"/>
              </a:lnSpc>
            </a:pPr>
            <a:r>
              <a:rPr sz="750" b="0">
                <a:solidFill>
                  <a:srgbClr val="78716C"/>
                </a:solidFill>
                <a:latin typeface="Microsoft JhengHei"/>
                <a:ea typeface="Microsoft JhengHei"/>
                <a:cs typeface="Microsoft JhengHei"/>
              </a:rPr>
              <a:t>2. Schwartz GG, et al. Alirocumab and Cardiovascular Outcomes after Acute Coronary Syndrome (ODYSSEY OUTCOMES). N Engl J Med. 2018;379(22):2097-2107. PMID: 30403574.</a:t>
            </a:r>
          </a:p>
        </p:txBody>
      </p:sp>
      <p:sp>
        <p:nvSpPr>
          <p:cNvPr id="55" name="Rounded Rectangle 54"/>
          <p:cNvSpPr/>
          <p:nvPr/>
        </p:nvSpPr>
        <p:spPr>
          <a:xfrm>
            <a:off x="8915400" y="254000"/>
            <a:ext cx="555308"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56" name="TextBox 55"/>
          <p:cNvSpPr txBox="1"/>
          <p:nvPr/>
        </p:nvSpPr>
        <p:spPr>
          <a:xfrm>
            <a:off x="9017000" y="304800"/>
            <a:ext cx="441008"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1. Case</a:t>
            </a:r>
          </a:p>
        </p:txBody>
      </p:sp>
      <p:sp>
        <p:nvSpPr>
          <p:cNvPr id="57" name="Rounded Rectangle 56"/>
          <p:cNvSpPr/>
          <p:nvPr/>
        </p:nvSpPr>
        <p:spPr>
          <a:xfrm>
            <a:off x="9521508" y="254000"/>
            <a:ext cx="684022"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58" name="TextBox 57"/>
          <p:cNvSpPr txBox="1"/>
          <p:nvPr/>
        </p:nvSpPr>
        <p:spPr>
          <a:xfrm>
            <a:off x="9623108" y="304800"/>
            <a:ext cx="601028"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2. Targets</a:t>
            </a:r>
          </a:p>
        </p:txBody>
      </p:sp>
      <p:sp>
        <p:nvSpPr>
          <p:cNvPr id="59" name="Rounded Rectangle 58"/>
          <p:cNvSpPr/>
          <p:nvPr/>
        </p:nvSpPr>
        <p:spPr>
          <a:xfrm>
            <a:off x="10256330" y="254000"/>
            <a:ext cx="729932" cy="254000"/>
          </a:xfrm>
          <a:prstGeom prst="roundRect">
            <a:avLst>
              <a:gd name="adj" fmla="val 50000"/>
            </a:avLst>
          </a:prstGeom>
          <a:solidFill>
            <a:srgbClr val="1E2833"/>
          </a:solidFill>
          <a:ln w="12700">
            <a:solidFill>
              <a:srgbClr val="1E2833"/>
            </a:solidFill>
          </a:ln>
          <a:effectLst/>
        </p:spPr>
        <p:txBody>
          <a:bodyPr rtlCol="0" anchor="ctr"/>
          <a:lstStyle/>
          <a:p>
            <a:endParaRPr/>
          </a:p>
        </p:txBody>
      </p:sp>
      <p:sp>
        <p:nvSpPr>
          <p:cNvPr id="60" name="TextBox 59"/>
          <p:cNvSpPr txBox="1"/>
          <p:nvPr/>
        </p:nvSpPr>
        <p:spPr>
          <a:xfrm>
            <a:off x="10357930" y="304800"/>
            <a:ext cx="658416" cy="152400"/>
          </a:xfrm>
          <a:prstGeom prst="rect">
            <a:avLst/>
          </a:prstGeom>
          <a:noFill/>
        </p:spPr>
        <p:txBody>
          <a:bodyPr wrap="none" lIns="0" tIns="0" rIns="0" bIns="0" anchor="t">
            <a:noAutofit/>
          </a:bodyPr>
          <a:lstStyle/>
          <a:p>
            <a:pPr algn="l">
              <a:lnSpc>
                <a:spcPts val="1120"/>
              </a:lnSpc>
            </a:pPr>
            <a:r>
              <a:rPr sz="800" b="1">
                <a:solidFill>
                  <a:srgbClr val="FFFFFF"/>
                </a:solidFill>
                <a:latin typeface="Microsoft JhengHei"/>
                <a:ea typeface="Microsoft JhengHei"/>
                <a:cs typeface="Microsoft JhengHei"/>
              </a:rPr>
              <a:t>3. Therapy</a:t>
            </a:r>
          </a:p>
        </p:txBody>
      </p:sp>
      <p:sp>
        <p:nvSpPr>
          <p:cNvPr id="61" name="Rounded Rectangle 60"/>
          <p:cNvSpPr/>
          <p:nvPr/>
        </p:nvSpPr>
        <p:spPr>
          <a:xfrm>
            <a:off x="11037126" y="254000"/>
            <a:ext cx="757618"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62" name="TextBox 61"/>
          <p:cNvSpPr txBox="1"/>
          <p:nvPr/>
        </p:nvSpPr>
        <p:spPr>
          <a:xfrm>
            <a:off x="11138726" y="304800"/>
            <a:ext cx="693023"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4. Timeline</a:t>
            </a:r>
          </a:p>
        </p:txBody>
      </p:sp>
      <p:sp>
        <p:nvSpPr>
          <p:cNvPr id="63" name="Rectangle 62"/>
          <p:cNvSpPr/>
          <p:nvPr/>
        </p:nvSpPr>
        <p:spPr>
          <a:xfrm>
            <a:off x="0" y="6527800"/>
            <a:ext cx="12192000" cy="330200"/>
          </a:xfrm>
          <a:prstGeom prst="rect">
            <a:avLst/>
          </a:prstGeom>
          <a:solidFill>
            <a:srgbClr val="FFFFFF"/>
          </a:solidFill>
          <a:ln>
            <a:noFill/>
          </a:ln>
          <a:effectLst/>
        </p:spPr>
        <p:txBody>
          <a:bodyPr rtlCol="0" anchor="ctr"/>
          <a:lstStyle/>
          <a:p>
            <a:endParaRPr/>
          </a:p>
        </p:txBody>
      </p:sp>
      <p:sp>
        <p:nvSpPr>
          <p:cNvPr id="64" name="Rectangle 63"/>
          <p:cNvSpPr/>
          <p:nvPr/>
        </p:nvSpPr>
        <p:spPr>
          <a:xfrm>
            <a:off x="0" y="6527800"/>
            <a:ext cx="12192000" cy="12700"/>
          </a:xfrm>
          <a:prstGeom prst="rect">
            <a:avLst/>
          </a:prstGeom>
          <a:solidFill>
            <a:srgbClr val="EFECE6"/>
          </a:solidFill>
          <a:ln>
            <a:noFill/>
          </a:ln>
          <a:effectLst/>
        </p:spPr>
        <p:txBody>
          <a:bodyPr rtlCol="0" anchor="ctr"/>
          <a:lstStyle/>
          <a:p>
            <a:endParaRPr/>
          </a:p>
        </p:txBody>
      </p:sp>
      <p:sp>
        <p:nvSpPr>
          <p:cNvPr id="65" name="TextBox 64"/>
          <p:cNvSpPr txBox="1"/>
          <p:nvPr/>
        </p:nvSpPr>
        <p:spPr>
          <a:xfrm>
            <a:off x="482600" y="6613525"/>
            <a:ext cx="808038" cy="171450"/>
          </a:xfrm>
          <a:prstGeom prst="rect">
            <a:avLst/>
          </a:prstGeom>
          <a:noFill/>
        </p:spPr>
        <p:txBody>
          <a:bodyPr wrap="none" lIns="0" tIns="0" rIns="0" bIns="0" anchor="t">
            <a:noAutofit/>
          </a:bodyPr>
          <a:lstStyle/>
          <a:p>
            <a:pPr algn="l">
              <a:lnSpc>
                <a:spcPts val="1330"/>
              </a:lnSpc>
            </a:pPr>
            <a:r>
              <a:rPr sz="950" b="1">
                <a:solidFill>
                  <a:srgbClr val="1E2833"/>
                </a:solidFill>
                <a:latin typeface="Microsoft JhengHei"/>
                <a:ea typeface="Microsoft JhengHei"/>
                <a:cs typeface="Microsoft JhengHei"/>
              </a:rPr>
              <a:t>3. Therapy</a:t>
            </a:r>
          </a:p>
        </p:txBody>
      </p:sp>
      <p:sp>
        <p:nvSpPr>
          <p:cNvPr id="66" name="Rounded Rectangle 65"/>
          <p:cNvSpPr/>
          <p:nvPr/>
        </p:nvSpPr>
        <p:spPr>
          <a:xfrm>
            <a:off x="1268730" y="6680200"/>
            <a:ext cx="9905302" cy="38100"/>
          </a:xfrm>
          <a:prstGeom prst="roundRect">
            <a:avLst>
              <a:gd name="adj" fmla="val 50000"/>
            </a:avLst>
          </a:prstGeom>
          <a:solidFill>
            <a:srgbClr val="EFECE6"/>
          </a:solidFill>
          <a:ln>
            <a:noFill/>
          </a:ln>
          <a:effectLst/>
        </p:spPr>
        <p:txBody>
          <a:bodyPr rtlCol="0" anchor="ctr"/>
          <a:lstStyle/>
          <a:p>
            <a:endParaRPr/>
          </a:p>
        </p:txBody>
      </p:sp>
      <p:sp>
        <p:nvSpPr>
          <p:cNvPr id="67" name="Rectangle 66"/>
          <p:cNvSpPr/>
          <p:nvPr/>
        </p:nvSpPr>
        <p:spPr>
          <a:xfrm>
            <a:off x="1268730" y="6680200"/>
            <a:ext cx="7924229" cy="38100"/>
          </a:xfrm>
          <a:prstGeom prst="rect">
            <a:avLst/>
          </a:prstGeom>
          <a:solidFill>
            <a:srgbClr val="F3C84B"/>
          </a:solidFill>
          <a:ln>
            <a:noFill/>
          </a:ln>
          <a:effectLst/>
        </p:spPr>
        <p:txBody>
          <a:bodyPr rtlCol="0" anchor="ctr"/>
          <a:lstStyle/>
          <a:p>
            <a:endParaRPr/>
          </a:p>
        </p:txBody>
      </p:sp>
      <p:sp>
        <p:nvSpPr>
          <p:cNvPr id="68" name="TextBox 67"/>
          <p:cNvSpPr txBox="1"/>
          <p:nvPr/>
        </p:nvSpPr>
        <p:spPr>
          <a:xfrm>
            <a:off x="11313732" y="6613525"/>
            <a:ext cx="494586" cy="171450"/>
          </a:xfrm>
          <a:prstGeom prst="rect">
            <a:avLst/>
          </a:prstGeom>
          <a:noFill/>
        </p:spPr>
        <p:txBody>
          <a:bodyPr wrap="none" lIns="0" tIns="0" rIns="0" bIns="0" anchor="t">
            <a:noAutofit/>
          </a:bodyPr>
          <a:lstStyle/>
          <a:p>
            <a:pPr algn="l">
              <a:lnSpc>
                <a:spcPts val="1330"/>
              </a:lnSpc>
            </a:pPr>
            <a:r>
              <a:rPr sz="950" b="1">
                <a:solidFill>
                  <a:srgbClr val="44403C"/>
                </a:solidFill>
                <a:latin typeface="Microsoft JhengHei"/>
                <a:ea typeface="Microsoft JhengHei"/>
                <a:cs typeface="Microsoft JhengHei"/>
              </a:rPr>
              <a:t>08 / 10</a:t>
            </a:r>
          </a:p>
        </p:txBody>
      </p:sp>
      <p:sp>
        <p:nvSpPr>
          <p:cNvPr id="69" name="LINK_Rectangle 68">
            <a:hlinkClick r:id="rId3" action="ppaction://hlinksldjump"/>
          </p:cNvPr>
          <p:cNvSpPr/>
          <p:nvPr/>
        </p:nvSpPr>
        <p:spPr>
          <a:xfrm>
            <a:off x="8915400" y="254000"/>
            <a:ext cx="555327" cy="254000"/>
          </a:xfrm>
          <a:prstGeom prst="rect">
            <a:avLst/>
          </a:prstGeom>
          <a:solidFill>
            <a:srgbClr val="FFFFFF">
              <a:alpha val="0"/>
            </a:srgbClr>
          </a:solidFill>
          <a:ln>
            <a:noFill/>
          </a:ln>
          <a:effectLst/>
        </p:spPr>
        <p:txBody>
          <a:bodyPr rtlCol="0" anchor="ctr"/>
          <a:lstStyle/>
          <a:p>
            <a:pPr algn="ctr"/>
            <a:endParaRPr/>
          </a:p>
        </p:txBody>
      </p:sp>
      <p:sp>
        <p:nvSpPr>
          <p:cNvPr id="70" name="LINK_Rectangle 69">
            <a:hlinkClick r:id="rId4" action="ppaction://hlinksldjump"/>
          </p:cNvPr>
          <p:cNvSpPr/>
          <p:nvPr/>
        </p:nvSpPr>
        <p:spPr>
          <a:xfrm>
            <a:off x="9521527" y="254000"/>
            <a:ext cx="684014" cy="254000"/>
          </a:xfrm>
          <a:prstGeom prst="rect">
            <a:avLst/>
          </a:prstGeom>
          <a:solidFill>
            <a:srgbClr val="FFFFFF">
              <a:alpha val="0"/>
            </a:srgbClr>
          </a:solidFill>
          <a:ln>
            <a:noFill/>
          </a:ln>
          <a:effectLst/>
        </p:spPr>
        <p:txBody>
          <a:bodyPr rtlCol="0" anchor="ctr"/>
          <a:lstStyle/>
          <a:p>
            <a:pPr algn="ctr"/>
            <a:endParaRPr/>
          </a:p>
        </p:txBody>
      </p:sp>
      <p:sp>
        <p:nvSpPr>
          <p:cNvPr id="71" name="LINK_Rectangle 70">
            <a:hlinkClick r:id="rId5" action="ppaction://hlinksldjump"/>
          </p:cNvPr>
          <p:cNvSpPr/>
          <p:nvPr/>
        </p:nvSpPr>
        <p:spPr>
          <a:xfrm>
            <a:off x="10256341" y="254000"/>
            <a:ext cx="729952" cy="254000"/>
          </a:xfrm>
          <a:prstGeom prst="rect">
            <a:avLst/>
          </a:prstGeom>
          <a:solidFill>
            <a:srgbClr val="FFFFFF">
              <a:alpha val="0"/>
            </a:srgbClr>
          </a:solidFill>
          <a:ln>
            <a:noFill/>
          </a:ln>
          <a:effectLst/>
        </p:spPr>
        <p:txBody>
          <a:bodyPr rtlCol="0" anchor="ctr"/>
          <a:lstStyle/>
          <a:p>
            <a:pPr algn="ctr"/>
            <a:endParaRPr/>
          </a:p>
        </p:txBody>
      </p:sp>
      <p:sp>
        <p:nvSpPr>
          <p:cNvPr id="72" name="LINK_Rectangle 71">
            <a:hlinkClick r:id="rId6" action="ppaction://hlinksldjump"/>
          </p:cNvPr>
          <p:cNvSpPr/>
          <p:nvPr/>
        </p:nvSpPr>
        <p:spPr>
          <a:xfrm>
            <a:off x="11037094" y="254000"/>
            <a:ext cx="757634" cy="254000"/>
          </a:xfrm>
          <a:prstGeom prst="rect">
            <a:avLst/>
          </a:prstGeom>
          <a:solidFill>
            <a:srgbClr val="FFFFFF">
              <a:alpha val="0"/>
            </a:srgbClr>
          </a:solidFill>
          <a:ln>
            <a:noFill/>
          </a:ln>
          <a:effectLst/>
        </p:spPr>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482600" y="241300"/>
            <a:ext cx="9840119" cy="419100"/>
          </a:xfrm>
          <a:prstGeom prst="rect">
            <a:avLst/>
          </a:prstGeom>
          <a:noFill/>
        </p:spPr>
        <p:txBody>
          <a:bodyPr wrap="none" lIns="0" tIns="0" rIns="0" bIns="0" anchor="t">
            <a:noAutofit/>
          </a:bodyPr>
          <a:lstStyle/>
          <a:p>
            <a:pPr algn="l">
              <a:lnSpc>
                <a:spcPts val="2710"/>
              </a:lnSpc>
            </a:pPr>
            <a:r>
              <a:rPr sz="2300" b="1" spc="-23">
                <a:solidFill>
                  <a:srgbClr val="1C1917"/>
                </a:solidFill>
                <a:latin typeface="Microsoft JhengHei"/>
                <a:ea typeface="Microsoft JhengHei"/>
                <a:cs typeface="Microsoft JhengHei"/>
              </a:rPr>
              <a:t>From Acute to Chronic: Mr. Hong's Complete Journey</a:t>
            </a:r>
          </a:p>
        </p:txBody>
      </p:sp>
      <p:sp>
        <p:nvSpPr>
          <p:cNvPr id="4" name="TextBox 3"/>
          <p:cNvSpPr txBox="1"/>
          <p:nvPr/>
        </p:nvSpPr>
        <p:spPr>
          <a:xfrm>
            <a:off x="482600" y="649414"/>
            <a:ext cx="9100106" cy="215900"/>
          </a:xfrm>
          <a:prstGeom prst="rect">
            <a:avLst/>
          </a:prstGeom>
          <a:noFill/>
        </p:spPr>
        <p:txBody>
          <a:bodyPr wrap="none" lIns="0" tIns="0" rIns="0" bIns="0" anchor="t">
            <a:noAutofit/>
          </a:bodyPr>
          <a:lstStyle/>
          <a:p>
            <a:pPr algn="l">
              <a:lnSpc>
                <a:spcPts val="1550"/>
              </a:lnSpc>
            </a:pPr>
            <a:r>
              <a:rPr sz="1150" b="1">
                <a:solidFill>
                  <a:srgbClr val="1E2833"/>
                </a:solidFill>
                <a:latin typeface="Microsoft JhengHei"/>
                <a:ea typeface="Microsoft JhengHei"/>
                <a:cs typeface="Microsoft JhengHei"/>
              </a:rPr>
              <a:t>從急性期到慢性期：洪先生的全方位醫療歷程</a:t>
            </a:r>
            <a:r>
              <a:rPr sz="1150" b="0">
                <a:solidFill>
                  <a:srgbClr val="44403C"/>
                </a:solidFill>
                <a:latin typeface="Microsoft JhengHei"/>
                <a:ea typeface="Microsoft JhengHei"/>
                <a:cs typeface="Microsoft JhengHei"/>
              </a:rPr>
              <a:t> ｜ Synchronized Lifestyle, Cardiac Rehab, and Stepwise Therapy</a:t>
            </a:r>
          </a:p>
        </p:txBody>
      </p:sp>
      <p:sp>
        <p:nvSpPr>
          <p:cNvPr id="5" name="Rounded Rectangle 4"/>
          <p:cNvSpPr/>
          <p:nvPr/>
        </p:nvSpPr>
        <p:spPr>
          <a:xfrm>
            <a:off x="482600" y="998918"/>
            <a:ext cx="3666046" cy="2997200"/>
          </a:xfrm>
          <a:prstGeom prst="roundRect">
            <a:avLst>
              <a:gd name="adj" fmla="val 3813"/>
            </a:avLst>
          </a:prstGeom>
          <a:solidFill>
            <a:srgbClr val="FFFFFF"/>
          </a:solidFill>
          <a:ln>
            <a:noFill/>
          </a:ln>
          <a:effectLst/>
        </p:spPr>
        <p:txBody>
          <a:bodyPr rtlCol="0" anchor="ctr"/>
          <a:lstStyle/>
          <a:p>
            <a:endParaRPr/>
          </a:p>
        </p:txBody>
      </p:sp>
      <p:sp>
        <p:nvSpPr>
          <p:cNvPr id="6" name="Rectangle 5"/>
          <p:cNvSpPr/>
          <p:nvPr/>
        </p:nvSpPr>
        <p:spPr>
          <a:xfrm>
            <a:off x="482600" y="998918"/>
            <a:ext cx="3666046" cy="50800"/>
          </a:xfrm>
          <a:prstGeom prst="rect">
            <a:avLst/>
          </a:prstGeom>
          <a:solidFill>
            <a:srgbClr val="2D6A4F"/>
          </a:solidFill>
          <a:ln>
            <a:noFill/>
          </a:ln>
          <a:effectLst/>
        </p:spPr>
        <p:txBody>
          <a:bodyPr rtlCol="0" anchor="ctr"/>
          <a:lstStyle/>
          <a:p>
            <a:endParaRPr/>
          </a:p>
        </p:txBody>
      </p:sp>
      <p:sp>
        <p:nvSpPr>
          <p:cNvPr id="7" name="Rectangle 6"/>
          <p:cNvSpPr/>
          <p:nvPr/>
        </p:nvSpPr>
        <p:spPr>
          <a:xfrm>
            <a:off x="4135946" y="998918"/>
            <a:ext cx="12700" cy="2997200"/>
          </a:xfrm>
          <a:prstGeom prst="rect">
            <a:avLst/>
          </a:prstGeom>
          <a:solidFill>
            <a:srgbClr val="E2DDD5"/>
          </a:solidFill>
          <a:ln>
            <a:noFill/>
          </a:ln>
          <a:effectLst/>
        </p:spPr>
        <p:txBody>
          <a:bodyPr rtlCol="0" anchor="ctr"/>
          <a:lstStyle/>
          <a:p>
            <a:endParaRPr/>
          </a:p>
        </p:txBody>
      </p:sp>
      <p:sp>
        <p:nvSpPr>
          <p:cNvPr id="8" name="Rectangle 7"/>
          <p:cNvSpPr/>
          <p:nvPr/>
        </p:nvSpPr>
        <p:spPr>
          <a:xfrm>
            <a:off x="482600" y="3983418"/>
            <a:ext cx="3666046" cy="12700"/>
          </a:xfrm>
          <a:prstGeom prst="rect">
            <a:avLst/>
          </a:prstGeom>
          <a:solidFill>
            <a:srgbClr val="E2DDD5"/>
          </a:solidFill>
          <a:ln>
            <a:noFill/>
          </a:ln>
          <a:effectLst/>
        </p:spPr>
        <p:txBody>
          <a:bodyPr rtlCol="0" anchor="ctr"/>
          <a:lstStyle/>
          <a:p>
            <a:endParaRPr/>
          </a:p>
        </p:txBody>
      </p:sp>
      <p:sp>
        <p:nvSpPr>
          <p:cNvPr id="9" name="Rectangle 8"/>
          <p:cNvSpPr/>
          <p:nvPr/>
        </p:nvSpPr>
        <p:spPr>
          <a:xfrm>
            <a:off x="482600" y="998918"/>
            <a:ext cx="12700" cy="2997200"/>
          </a:xfrm>
          <a:prstGeom prst="rect">
            <a:avLst/>
          </a:prstGeom>
          <a:solidFill>
            <a:srgbClr val="E2DDD5"/>
          </a:solidFill>
          <a:ln>
            <a:noFill/>
          </a:ln>
          <a:effectLst/>
        </p:spPr>
        <p:txBody>
          <a:bodyPr rtlCol="0" anchor="ctr"/>
          <a:lstStyle/>
          <a:p>
            <a:endParaRPr/>
          </a:p>
        </p:txBody>
      </p:sp>
      <p:sp>
        <p:nvSpPr>
          <p:cNvPr id="10" name="Rounded Rectangle 9"/>
          <p:cNvSpPr/>
          <p:nvPr/>
        </p:nvSpPr>
        <p:spPr>
          <a:xfrm>
            <a:off x="635000" y="1176718"/>
            <a:ext cx="1864042" cy="209550"/>
          </a:xfrm>
          <a:prstGeom prst="roundRect">
            <a:avLst>
              <a:gd name="adj" fmla="val 50000"/>
            </a:avLst>
          </a:prstGeom>
          <a:solidFill>
            <a:srgbClr val="2D6A4F">
              <a:alpha val="8000"/>
            </a:srgbClr>
          </a:solidFill>
          <a:ln>
            <a:noFill/>
          </a:ln>
          <a:effectLst/>
        </p:spPr>
        <p:txBody>
          <a:bodyPr rtlCol="0" anchor="ctr"/>
          <a:lstStyle/>
          <a:p>
            <a:endParaRPr/>
          </a:p>
        </p:txBody>
      </p:sp>
      <p:sp>
        <p:nvSpPr>
          <p:cNvPr id="11" name="TextBox 10"/>
          <p:cNvSpPr txBox="1"/>
          <p:nvPr/>
        </p:nvSpPr>
        <p:spPr>
          <a:xfrm>
            <a:off x="723900" y="1202118"/>
            <a:ext cx="2107803" cy="158750"/>
          </a:xfrm>
          <a:prstGeom prst="rect">
            <a:avLst/>
          </a:prstGeom>
          <a:noFill/>
        </p:spPr>
        <p:txBody>
          <a:bodyPr wrap="none" lIns="0" tIns="0" rIns="0" bIns="0" anchor="t">
            <a:noAutofit/>
          </a:bodyPr>
          <a:lstStyle/>
          <a:p>
            <a:pPr algn="l">
              <a:lnSpc>
                <a:spcPts val="1190"/>
              </a:lnSpc>
            </a:pPr>
            <a:r>
              <a:rPr sz="850" b="1">
                <a:solidFill>
                  <a:srgbClr val="2D6A4F"/>
                </a:solidFill>
                <a:latin typeface="Microsoft JhengHei"/>
                <a:ea typeface="Microsoft JhengHei"/>
                <a:cs typeface="Microsoft JhengHei"/>
              </a:rPr>
              <a:t>Phase 1: Inpatient ｜ 急性住院期</a:t>
            </a:r>
          </a:p>
        </p:txBody>
      </p:sp>
      <p:sp>
        <p:nvSpPr>
          <p:cNvPr id="12" name="TextBox 11"/>
          <p:cNvSpPr txBox="1"/>
          <p:nvPr/>
        </p:nvSpPr>
        <p:spPr>
          <a:xfrm>
            <a:off x="635000" y="1602168"/>
            <a:ext cx="2228056" cy="234950"/>
          </a:xfrm>
          <a:prstGeom prst="rect">
            <a:avLst/>
          </a:prstGeom>
          <a:noFill/>
        </p:spPr>
        <p:txBody>
          <a:bodyPr wrap="none" lIns="0" tIns="0" rIns="0" bIns="0" anchor="t">
            <a:noAutofit/>
          </a:bodyPr>
          <a:lstStyle/>
          <a:p>
            <a:pPr algn="l">
              <a:lnSpc>
                <a:spcPts val="1820"/>
              </a:lnSpc>
            </a:pPr>
            <a:r>
              <a:rPr sz="1300" b="1">
                <a:solidFill>
                  <a:srgbClr val="2D6A4F"/>
                </a:solidFill>
                <a:latin typeface="Microsoft JhengHei"/>
                <a:ea typeface="Microsoft JhengHei"/>
                <a:cs typeface="Microsoft JhengHei"/>
              </a:rPr>
              <a:t>Acute Phase (Day 0–3)</a:t>
            </a:r>
          </a:p>
        </p:txBody>
      </p:sp>
      <p:sp>
        <p:nvSpPr>
          <p:cNvPr id="13" name="TextBox 12"/>
          <p:cNvSpPr txBox="1"/>
          <p:nvPr/>
        </p:nvSpPr>
        <p:spPr>
          <a:xfrm>
            <a:off x="889000" y="2002218"/>
            <a:ext cx="3830002" cy="152400"/>
          </a:xfrm>
          <a:prstGeom prst="rect">
            <a:avLst/>
          </a:prstGeom>
          <a:noFill/>
        </p:spPr>
        <p:txBody>
          <a:bodyPr wrap="none" lIns="0" tIns="0" rIns="0" bIns="0" anchor="t">
            <a:noAutofit/>
          </a:bodyPr>
          <a:lstStyle/>
          <a:p>
            <a:pPr algn="l">
              <a:lnSpc>
                <a:spcPts val="876"/>
              </a:lnSpc>
            </a:pPr>
            <a:r>
              <a:rPr sz="627" b="0">
                <a:solidFill>
                  <a:srgbClr val="1C1917"/>
                </a:solidFill>
                <a:latin typeface="Microsoft JhengHei"/>
                <a:ea typeface="Microsoft JhengHei"/>
                <a:cs typeface="Microsoft JhengHei"/>
              </a:rPr>
              <a:t>• </a:t>
            </a:r>
            <a:r>
              <a:rPr sz="627" b="1">
                <a:solidFill>
                  <a:srgbClr val="1C1917"/>
                </a:solidFill>
                <a:latin typeface="Microsoft JhengHei"/>
                <a:ea typeface="Microsoft JhengHei"/>
                <a:cs typeface="Microsoft JhengHei"/>
              </a:rPr>
              <a:t>PCI:</a:t>
            </a:r>
            <a:r>
              <a:rPr sz="627" b="0">
                <a:solidFill>
                  <a:srgbClr val="1C1917"/>
                </a:solidFill>
                <a:latin typeface="Microsoft JhengHei"/>
                <a:ea typeface="Microsoft JhengHei"/>
                <a:cs typeface="Microsoft JhengHei"/>
              </a:rPr>
              <a:t> Stent culprit LAD lesion within 90 min.</a:t>
            </a:r>
          </a:p>
          <a:p>
            <a:pPr algn="l">
              <a:lnSpc>
                <a:spcPts val="876"/>
              </a:lnSpc>
            </a:pPr>
            <a:r>
              <a:rPr sz="627" b="0">
                <a:solidFill>
                  <a:srgbClr val="1C1917"/>
                </a:solidFill>
                <a:latin typeface="Microsoft JhengHei"/>
                <a:ea typeface="Microsoft JhengHei"/>
                <a:cs typeface="Microsoft JhengHei"/>
              </a:rPr>
              <a:t> 完成心導管支架置放。</a:t>
            </a:r>
          </a:p>
        </p:txBody>
      </p:sp>
      <p:sp>
        <p:nvSpPr>
          <p:cNvPr id="14" name="TextBox 13"/>
          <p:cNvSpPr txBox="1"/>
          <p:nvPr/>
        </p:nvSpPr>
        <p:spPr>
          <a:xfrm>
            <a:off x="889000" y="2154618"/>
            <a:ext cx="3107246" cy="304800"/>
          </a:xfrm>
          <a:prstGeom prst="rect">
            <a:avLst/>
          </a:prstGeom>
          <a:noFill/>
        </p:spPr>
        <p:txBody>
          <a:bodyPr wrap="square" lIns="0" tIns="0" rIns="0" bIns="0" anchor="t">
            <a:noAutofit/>
          </a:bodyPr>
          <a:lstStyle/>
          <a:p>
            <a:pPr algn="l">
              <a:lnSpc>
                <a:spcPts val="1120"/>
              </a:lnSpc>
            </a:pPr>
            <a:r>
              <a:rPr sz="800" b="0">
                <a:solidFill>
                  <a:srgbClr val="1C1917"/>
                </a:solidFill>
                <a:latin typeface="Microsoft JhengHei"/>
                <a:ea typeface="Microsoft JhengHei"/>
                <a:cs typeface="Microsoft JhengHei"/>
              </a:rPr>
              <a:t>• </a:t>
            </a:r>
            <a:r>
              <a:rPr sz="800" b="1">
                <a:solidFill>
                  <a:srgbClr val="1C1917"/>
                </a:solidFill>
                <a:latin typeface="Microsoft JhengHei"/>
                <a:ea typeface="Microsoft JhengHei"/>
                <a:cs typeface="Microsoft JhengHei"/>
              </a:rPr>
              <a:t>Lipid Rx:</a:t>
            </a:r>
            <a:r>
              <a:rPr sz="800" b="0">
                <a:solidFill>
                  <a:srgbClr val="1C1917"/>
                </a:solidFill>
                <a:latin typeface="Microsoft JhengHei"/>
                <a:ea typeface="Microsoft JhengHei"/>
                <a:cs typeface="Microsoft JhengHei"/>
              </a:rPr>
              <a:t> Initiate Statin + Ezetimibe before discharge.</a:t>
            </a:r>
          </a:p>
          <a:p>
            <a:pPr algn="l">
              <a:lnSpc>
                <a:spcPts val="1120"/>
              </a:lnSpc>
            </a:pPr>
            <a:r>
              <a:rPr sz="800" b="0">
                <a:solidFill>
                  <a:srgbClr val="1C1917"/>
                </a:solidFill>
                <a:latin typeface="Microsoft JhengHei"/>
                <a:ea typeface="Microsoft JhengHei"/>
                <a:cs typeface="Microsoft JhengHei"/>
              </a:rPr>
              <a:t> 出院前及早給予口服雙藥。</a:t>
            </a:r>
          </a:p>
        </p:txBody>
      </p:sp>
      <p:sp>
        <p:nvSpPr>
          <p:cNvPr id="15" name="TextBox 14"/>
          <p:cNvSpPr txBox="1"/>
          <p:nvPr/>
        </p:nvSpPr>
        <p:spPr>
          <a:xfrm>
            <a:off x="889000" y="2459418"/>
            <a:ext cx="3107246" cy="304800"/>
          </a:xfrm>
          <a:prstGeom prst="rect">
            <a:avLst/>
          </a:prstGeom>
          <a:noFill/>
        </p:spPr>
        <p:txBody>
          <a:bodyPr wrap="square" lIns="0" tIns="0" rIns="0" bIns="0" anchor="t">
            <a:noAutofit/>
          </a:bodyPr>
          <a:lstStyle/>
          <a:p>
            <a:pPr algn="l">
              <a:lnSpc>
                <a:spcPts val="1120"/>
              </a:lnSpc>
            </a:pPr>
            <a:r>
              <a:rPr sz="800" b="0">
                <a:solidFill>
                  <a:srgbClr val="1C1917"/>
                </a:solidFill>
                <a:latin typeface="Microsoft JhengHei"/>
                <a:ea typeface="Microsoft JhengHei"/>
                <a:cs typeface="Microsoft JhengHei"/>
              </a:rPr>
              <a:t>• </a:t>
            </a:r>
            <a:r>
              <a:rPr sz="800" b="1">
                <a:solidFill>
                  <a:srgbClr val="1C1917"/>
                </a:solidFill>
                <a:latin typeface="Microsoft JhengHei"/>
                <a:ea typeface="Microsoft JhengHei"/>
                <a:cs typeface="Microsoft JhengHei"/>
              </a:rPr>
              <a:t>Lifestyle:</a:t>
            </a:r>
            <a:r>
              <a:rPr sz="800" b="0">
                <a:solidFill>
                  <a:srgbClr val="1C1917"/>
                </a:solidFill>
                <a:latin typeface="Microsoft JhengHei"/>
                <a:ea typeface="Microsoft JhengHei"/>
                <a:cs typeface="Microsoft JhengHei"/>
              </a:rPr>
              <a:t> Bedside smoking cessation &amp; diet education.</a:t>
            </a:r>
          </a:p>
          <a:p>
            <a:pPr algn="l">
              <a:lnSpc>
                <a:spcPts val="1120"/>
              </a:lnSpc>
            </a:pPr>
            <a:r>
              <a:rPr sz="800" b="0">
                <a:solidFill>
                  <a:srgbClr val="1C1917"/>
                </a:solidFill>
                <a:latin typeface="Microsoft JhengHei"/>
                <a:ea typeface="Microsoft JhengHei"/>
                <a:cs typeface="Microsoft JhengHei"/>
              </a:rPr>
              <a:t> 床邊啟動戒菸與飲食衛教。</a:t>
            </a:r>
          </a:p>
        </p:txBody>
      </p:sp>
      <p:sp>
        <p:nvSpPr>
          <p:cNvPr id="16" name="TextBox 15"/>
          <p:cNvSpPr txBox="1"/>
          <p:nvPr/>
        </p:nvSpPr>
        <p:spPr>
          <a:xfrm>
            <a:off x="889000" y="2764218"/>
            <a:ext cx="3107246" cy="304800"/>
          </a:xfrm>
          <a:prstGeom prst="rect">
            <a:avLst/>
          </a:prstGeom>
          <a:noFill/>
        </p:spPr>
        <p:txBody>
          <a:bodyPr wrap="square" lIns="0" tIns="0" rIns="0" bIns="0" anchor="t">
            <a:noAutofit/>
          </a:bodyPr>
          <a:lstStyle/>
          <a:p>
            <a:pPr algn="l">
              <a:lnSpc>
                <a:spcPts val="1120"/>
              </a:lnSpc>
            </a:pPr>
            <a:r>
              <a:rPr sz="800" b="0">
                <a:solidFill>
                  <a:srgbClr val="1C1917"/>
                </a:solidFill>
                <a:latin typeface="Microsoft JhengHei"/>
                <a:ea typeface="Microsoft JhengHei"/>
                <a:cs typeface="Microsoft JhengHei"/>
              </a:rPr>
              <a:t>• </a:t>
            </a:r>
            <a:r>
              <a:rPr sz="800" b="1">
                <a:solidFill>
                  <a:srgbClr val="1C1917"/>
                </a:solidFill>
                <a:latin typeface="Microsoft JhengHei"/>
                <a:ea typeface="Microsoft JhengHei"/>
                <a:cs typeface="Microsoft JhengHei"/>
              </a:rPr>
              <a:t>Rehab:</a:t>
            </a:r>
            <a:r>
              <a:rPr sz="800" b="0">
                <a:solidFill>
                  <a:srgbClr val="1C1917"/>
                </a:solidFill>
                <a:latin typeface="Microsoft JhengHei"/>
                <a:ea typeface="Microsoft JhengHei"/>
                <a:cs typeface="Microsoft JhengHei"/>
              </a:rPr>
              <a:t> Inpatient Phase I physical mobilization.</a:t>
            </a:r>
          </a:p>
          <a:p>
            <a:pPr algn="l">
              <a:lnSpc>
                <a:spcPts val="1120"/>
              </a:lnSpc>
            </a:pPr>
            <a:r>
              <a:rPr sz="800" b="0">
                <a:solidFill>
                  <a:srgbClr val="1C1917"/>
                </a:solidFill>
                <a:latin typeface="Microsoft JhengHei"/>
                <a:ea typeface="Microsoft JhengHei"/>
                <a:cs typeface="Microsoft JhengHei"/>
              </a:rPr>
              <a:t> 展開第一期住院復健活動。</a:t>
            </a:r>
          </a:p>
        </p:txBody>
      </p:sp>
      <p:sp>
        <p:nvSpPr>
          <p:cNvPr id="17" name="Rounded Rectangle 16"/>
          <p:cNvSpPr/>
          <p:nvPr/>
        </p:nvSpPr>
        <p:spPr>
          <a:xfrm>
            <a:off x="635000" y="3399218"/>
            <a:ext cx="3361246" cy="457200"/>
          </a:xfrm>
          <a:prstGeom prst="roundRect">
            <a:avLst>
              <a:gd name="adj" fmla="val 16666"/>
            </a:avLst>
          </a:prstGeom>
          <a:solidFill>
            <a:srgbClr val="2D6A4F">
              <a:alpha val="8000"/>
            </a:srgbClr>
          </a:solidFill>
          <a:ln>
            <a:noFill/>
          </a:ln>
          <a:effectLst/>
        </p:spPr>
        <p:txBody>
          <a:bodyPr rtlCol="0" anchor="ctr"/>
          <a:lstStyle/>
          <a:p>
            <a:endParaRPr/>
          </a:p>
        </p:txBody>
      </p:sp>
      <p:sp>
        <p:nvSpPr>
          <p:cNvPr id="18" name="TextBox 17"/>
          <p:cNvSpPr txBox="1"/>
          <p:nvPr/>
        </p:nvSpPr>
        <p:spPr>
          <a:xfrm>
            <a:off x="723900" y="3462718"/>
            <a:ext cx="2475627" cy="158750"/>
          </a:xfrm>
          <a:prstGeom prst="rect">
            <a:avLst/>
          </a:prstGeom>
          <a:noFill/>
        </p:spPr>
        <p:txBody>
          <a:bodyPr wrap="none" lIns="0" tIns="0" rIns="0" bIns="0" anchor="t">
            <a:noAutofit/>
          </a:bodyPr>
          <a:lstStyle/>
          <a:p>
            <a:pPr algn="l">
              <a:lnSpc>
                <a:spcPts val="1190"/>
              </a:lnSpc>
            </a:pPr>
            <a:r>
              <a:rPr sz="850" b="1">
                <a:solidFill>
                  <a:srgbClr val="2D6A4F"/>
                </a:solidFill>
                <a:latin typeface="Microsoft JhengHei"/>
                <a:ea typeface="Microsoft JhengHei"/>
                <a:cs typeface="Microsoft JhengHei"/>
              </a:rPr>
              <a:t>Discharge on dual therapy + lifestyle</a:t>
            </a:r>
          </a:p>
        </p:txBody>
      </p:sp>
      <p:sp>
        <p:nvSpPr>
          <p:cNvPr id="19" name="TextBox 18"/>
          <p:cNvSpPr txBox="1"/>
          <p:nvPr/>
        </p:nvSpPr>
        <p:spPr>
          <a:xfrm>
            <a:off x="723900" y="3634168"/>
            <a:ext cx="2563812" cy="158750"/>
          </a:xfrm>
          <a:prstGeom prst="rect">
            <a:avLst/>
          </a:prstGeom>
          <a:noFill/>
        </p:spPr>
        <p:txBody>
          <a:bodyPr wrap="none" lIns="0" tIns="0" rIns="0" bIns="0" anchor="t">
            <a:noAutofit/>
          </a:bodyPr>
          <a:lstStyle/>
          <a:p>
            <a:pPr algn="l">
              <a:lnSpc>
                <a:spcPts val="1190"/>
              </a:lnSpc>
            </a:pPr>
            <a:r>
              <a:rPr sz="850" b="1">
                <a:solidFill>
                  <a:srgbClr val="427860"/>
                </a:solidFill>
                <a:latin typeface="Microsoft JhengHei"/>
                <a:ea typeface="Microsoft JhengHei"/>
                <a:cs typeface="Microsoft JhengHei"/>
              </a:rPr>
              <a:t>目標：出院前確立雙藥處方與生活型態基石</a:t>
            </a:r>
          </a:p>
        </p:txBody>
      </p:sp>
      <p:sp>
        <p:nvSpPr>
          <p:cNvPr id="20" name="Rounded Rectangle 19"/>
          <p:cNvSpPr/>
          <p:nvPr/>
        </p:nvSpPr>
        <p:spPr>
          <a:xfrm>
            <a:off x="4262946" y="998918"/>
            <a:ext cx="3666046" cy="2997200"/>
          </a:xfrm>
          <a:prstGeom prst="roundRect">
            <a:avLst>
              <a:gd name="adj" fmla="val 3813"/>
            </a:avLst>
          </a:prstGeom>
          <a:solidFill>
            <a:srgbClr val="FFFFFF"/>
          </a:solidFill>
          <a:ln>
            <a:noFill/>
          </a:ln>
          <a:effectLst/>
        </p:spPr>
        <p:txBody>
          <a:bodyPr rtlCol="0" anchor="ctr"/>
          <a:lstStyle/>
          <a:p>
            <a:endParaRPr/>
          </a:p>
        </p:txBody>
      </p:sp>
      <p:sp>
        <p:nvSpPr>
          <p:cNvPr id="21" name="Rectangle 20"/>
          <p:cNvSpPr/>
          <p:nvPr/>
        </p:nvSpPr>
        <p:spPr>
          <a:xfrm>
            <a:off x="4262946" y="998918"/>
            <a:ext cx="3666046" cy="50800"/>
          </a:xfrm>
          <a:prstGeom prst="rect">
            <a:avLst/>
          </a:prstGeom>
          <a:solidFill>
            <a:srgbClr val="D4A373"/>
          </a:solidFill>
          <a:ln>
            <a:noFill/>
          </a:ln>
          <a:effectLst/>
        </p:spPr>
        <p:txBody>
          <a:bodyPr rtlCol="0" anchor="ctr"/>
          <a:lstStyle/>
          <a:p>
            <a:endParaRPr/>
          </a:p>
        </p:txBody>
      </p:sp>
      <p:sp>
        <p:nvSpPr>
          <p:cNvPr id="22" name="Rectangle 21"/>
          <p:cNvSpPr/>
          <p:nvPr/>
        </p:nvSpPr>
        <p:spPr>
          <a:xfrm>
            <a:off x="7916291" y="998918"/>
            <a:ext cx="12700" cy="2997200"/>
          </a:xfrm>
          <a:prstGeom prst="rect">
            <a:avLst/>
          </a:prstGeom>
          <a:solidFill>
            <a:srgbClr val="E2DDD5"/>
          </a:solidFill>
          <a:ln>
            <a:noFill/>
          </a:ln>
          <a:effectLst/>
        </p:spPr>
        <p:txBody>
          <a:bodyPr rtlCol="0" anchor="ctr"/>
          <a:lstStyle/>
          <a:p>
            <a:endParaRPr/>
          </a:p>
        </p:txBody>
      </p:sp>
      <p:sp>
        <p:nvSpPr>
          <p:cNvPr id="23" name="Rectangle 22"/>
          <p:cNvSpPr/>
          <p:nvPr/>
        </p:nvSpPr>
        <p:spPr>
          <a:xfrm>
            <a:off x="4262946" y="3983418"/>
            <a:ext cx="3666046" cy="12700"/>
          </a:xfrm>
          <a:prstGeom prst="rect">
            <a:avLst/>
          </a:prstGeom>
          <a:solidFill>
            <a:srgbClr val="E2DDD5"/>
          </a:solidFill>
          <a:ln>
            <a:noFill/>
          </a:ln>
          <a:effectLst/>
        </p:spPr>
        <p:txBody>
          <a:bodyPr rtlCol="0" anchor="ctr"/>
          <a:lstStyle/>
          <a:p>
            <a:endParaRPr/>
          </a:p>
        </p:txBody>
      </p:sp>
      <p:sp>
        <p:nvSpPr>
          <p:cNvPr id="24" name="Rectangle 23"/>
          <p:cNvSpPr/>
          <p:nvPr/>
        </p:nvSpPr>
        <p:spPr>
          <a:xfrm>
            <a:off x="4262946" y="998918"/>
            <a:ext cx="12700" cy="2997200"/>
          </a:xfrm>
          <a:prstGeom prst="rect">
            <a:avLst/>
          </a:prstGeom>
          <a:solidFill>
            <a:srgbClr val="E2DDD5"/>
          </a:solidFill>
          <a:ln>
            <a:noFill/>
          </a:ln>
          <a:effectLst/>
        </p:spPr>
        <p:txBody>
          <a:bodyPr rtlCol="0" anchor="ctr"/>
          <a:lstStyle/>
          <a:p>
            <a:endParaRPr/>
          </a:p>
        </p:txBody>
      </p:sp>
      <p:sp>
        <p:nvSpPr>
          <p:cNvPr id="25" name="Rounded Rectangle 24"/>
          <p:cNvSpPr/>
          <p:nvPr/>
        </p:nvSpPr>
        <p:spPr>
          <a:xfrm>
            <a:off x="4415346" y="1176718"/>
            <a:ext cx="2170494" cy="209550"/>
          </a:xfrm>
          <a:prstGeom prst="roundRect">
            <a:avLst>
              <a:gd name="adj" fmla="val 50000"/>
            </a:avLst>
          </a:prstGeom>
          <a:solidFill>
            <a:srgbClr val="D4A373">
              <a:alpha val="12000"/>
            </a:srgbClr>
          </a:solidFill>
          <a:ln>
            <a:noFill/>
          </a:ln>
          <a:effectLst/>
        </p:spPr>
        <p:txBody>
          <a:bodyPr rtlCol="0" anchor="ctr"/>
          <a:lstStyle/>
          <a:p>
            <a:endParaRPr/>
          </a:p>
        </p:txBody>
      </p:sp>
      <p:sp>
        <p:nvSpPr>
          <p:cNvPr id="26" name="TextBox 25"/>
          <p:cNvSpPr txBox="1"/>
          <p:nvPr/>
        </p:nvSpPr>
        <p:spPr>
          <a:xfrm>
            <a:off x="4504246" y="1202118"/>
            <a:ext cx="2490867" cy="158750"/>
          </a:xfrm>
          <a:prstGeom prst="rect">
            <a:avLst/>
          </a:prstGeom>
          <a:noFill/>
        </p:spPr>
        <p:txBody>
          <a:bodyPr wrap="none" lIns="0" tIns="0" rIns="0" bIns="0" anchor="t">
            <a:noAutofit/>
          </a:bodyPr>
          <a:lstStyle/>
          <a:p>
            <a:pPr algn="l">
              <a:lnSpc>
                <a:spcPts val="1190"/>
              </a:lnSpc>
            </a:pPr>
            <a:r>
              <a:rPr sz="850" b="1">
                <a:solidFill>
                  <a:srgbClr val="D4A373"/>
                </a:solidFill>
                <a:latin typeface="Microsoft JhengHei"/>
                <a:ea typeface="Microsoft JhengHei"/>
                <a:cs typeface="Microsoft JhengHei"/>
              </a:rPr>
              <a:t>Phase 2: Post-Discharge ｜ 亞急性門診</a:t>
            </a:r>
          </a:p>
        </p:txBody>
      </p:sp>
      <p:sp>
        <p:nvSpPr>
          <p:cNvPr id="27" name="TextBox 26"/>
          <p:cNvSpPr txBox="1"/>
          <p:nvPr/>
        </p:nvSpPr>
        <p:spPr>
          <a:xfrm>
            <a:off x="4415346" y="1602168"/>
            <a:ext cx="2532459" cy="234950"/>
          </a:xfrm>
          <a:prstGeom prst="rect">
            <a:avLst/>
          </a:prstGeom>
          <a:noFill/>
        </p:spPr>
        <p:txBody>
          <a:bodyPr wrap="none" lIns="0" tIns="0" rIns="0" bIns="0" anchor="t">
            <a:noAutofit/>
          </a:bodyPr>
          <a:lstStyle/>
          <a:p>
            <a:pPr algn="l">
              <a:lnSpc>
                <a:spcPts val="1820"/>
              </a:lnSpc>
            </a:pPr>
            <a:r>
              <a:rPr sz="1300" b="1">
                <a:solidFill>
                  <a:srgbClr val="8C5E2D"/>
                </a:solidFill>
                <a:latin typeface="Microsoft JhengHei"/>
                <a:ea typeface="Microsoft JhengHei"/>
                <a:cs typeface="Microsoft JhengHei"/>
              </a:rPr>
              <a:t>Subacute Phase (Wk 4–6)</a:t>
            </a:r>
          </a:p>
        </p:txBody>
      </p:sp>
      <p:sp>
        <p:nvSpPr>
          <p:cNvPr id="28" name="TextBox 27"/>
          <p:cNvSpPr txBox="1"/>
          <p:nvPr/>
        </p:nvSpPr>
        <p:spPr>
          <a:xfrm>
            <a:off x="4669346" y="2002218"/>
            <a:ext cx="3107246" cy="304800"/>
          </a:xfrm>
          <a:prstGeom prst="rect">
            <a:avLst/>
          </a:prstGeom>
          <a:noFill/>
        </p:spPr>
        <p:txBody>
          <a:bodyPr wrap="square" lIns="0" tIns="0" rIns="0" bIns="0" anchor="t">
            <a:noAutofit/>
          </a:bodyPr>
          <a:lstStyle/>
          <a:p>
            <a:pPr algn="l">
              <a:lnSpc>
                <a:spcPts val="1120"/>
              </a:lnSpc>
            </a:pPr>
            <a:r>
              <a:rPr sz="800" b="0">
                <a:solidFill>
                  <a:srgbClr val="1C1917"/>
                </a:solidFill>
                <a:latin typeface="Microsoft JhengHei"/>
                <a:ea typeface="Microsoft JhengHei"/>
                <a:cs typeface="Microsoft JhengHei"/>
              </a:rPr>
              <a:t>• </a:t>
            </a:r>
            <a:r>
              <a:rPr sz="800" b="1">
                <a:solidFill>
                  <a:srgbClr val="1C1917"/>
                </a:solidFill>
                <a:latin typeface="Microsoft JhengHei"/>
                <a:ea typeface="Microsoft JhengHei"/>
                <a:cs typeface="Microsoft JhengHei"/>
              </a:rPr>
              <a:t>Lipid Panel:</a:t>
            </a:r>
            <a:r>
              <a:rPr sz="800" b="0">
                <a:solidFill>
                  <a:srgbClr val="1C1917"/>
                </a:solidFill>
                <a:latin typeface="Microsoft JhengHei"/>
                <a:ea typeface="Microsoft JhengHei"/>
                <a:cs typeface="Microsoft JhengHei"/>
              </a:rPr>
              <a:t> Measure fasting response at 4–6 weeks.</a:t>
            </a:r>
          </a:p>
          <a:p>
            <a:pPr algn="l">
              <a:lnSpc>
                <a:spcPts val="1120"/>
              </a:lnSpc>
            </a:pPr>
            <a:r>
              <a:rPr sz="800" b="0">
                <a:solidFill>
                  <a:srgbClr val="1C1917"/>
                </a:solidFill>
                <a:latin typeface="Microsoft JhengHei"/>
                <a:ea typeface="Microsoft JhengHei"/>
                <a:cs typeface="Microsoft JhengHei"/>
              </a:rPr>
              <a:t> 4 到 6 週回診抽血追蹤血脂。</a:t>
            </a:r>
          </a:p>
        </p:txBody>
      </p:sp>
      <p:sp>
        <p:nvSpPr>
          <p:cNvPr id="29" name="TextBox 28"/>
          <p:cNvSpPr txBox="1"/>
          <p:nvPr/>
        </p:nvSpPr>
        <p:spPr>
          <a:xfrm>
            <a:off x="4669346" y="2307018"/>
            <a:ext cx="3107246" cy="304800"/>
          </a:xfrm>
          <a:prstGeom prst="rect">
            <a:avLst/>
          </a:prstGeom>
          <a:noFill/>
        </p:spPr>
        <p:txBody>
          <a:bodyPr wrap="square" lIns="0" tIns="0" rIns="0" bIns="0" anchor="t">
            <a:noAutofit/>
          </a:bodyPr>
          <a:lstStyle/>
          <a:p>
            <a:pPr algn="l">
              <a:lnSpc>
                <a:spcPts val="1120"/>
              </a:lnSpc>
            </a:pPr>
            <a:r>
              <a:rPr sz="800" b="0">
                <a:solidFill>
                  <a:srgbClr val="1C1917"/>
                </a:solidFill>
                <a:latin typeface="Microsoft JhengHei"/>
                <a:ea typeface="Microsoft JhengHei"/>
                <a:cs typeface="Microsoft JhengHei"/>
              </a:rPr>
              <a:t>• </a:t>
            </a:r>
            <a:r>
              <a:rPr sz="800" b="1">
                <a:solidFill>
                  <a:srgbClr val="1C1917"/>
                </a:solidFill>
                <a:latin typeface="Microsoft JhengHei"/>
                <a:ea typeface="Microsoft JhengHei"/>
                <a:cs typeface="Microsoft JhengHei"/>
              </a:rPr>
              <a:t>Target Evaluation:</a:t>
            </a:r>
            <a:r>
              <a:rPr sz="800" b="0">
                <a:solidFill>
                  <a:srgbClr val="1C1917"/>
                </a:solidFill>
                <a:latin typeface="Microsoft JhengHei"/>
                <a:ea typeface="Microsoft JhengHei"/>
                <a:cs typeface="Microsoft JhengHei"/>
              </a:rPr>
              <a:t> Confirm if LDL &lt; 55 mg/dL.</a:t>
            </a:r>
          </a:p>
          <a:p>
            <a:pPr algn="l">
              <a:lnSpc>
                <a:spcPts val="1120"/>
              </a:lnSpc>
            </a:pPr>
            <a:r>
              <a:rPr sz="800" b="0">
                <a:solidFill>
                  <a:srgbClr val="1C1917"/>
                </a:solidFill>
                <a:latin typeface="Microsoft JhengHei"/>
                <a:ea typeface="Microsoft JhengHei"/>
                <a:cs typeface="Microsoft JhengHei"/>
              </a:rPr>
              <a:t> 評估是否順利達標 &lt; 55 mg/dL。</a:t>
            </a:r>
          </a:p>
        </p:txBody>
      </p:sp>
      <p:sp>
        <p:nvSpPr>
          <p:cNvPr id="30" name="TextBox 29"/>
          <p:cNvSpPr txBox="1"/>
          <p:nvPr/>
        </p:nvSpPr>
        <p:spPr>
          <a:xfrm>
            <a:off x="4669346" y="2611818"/>
            <a:ext cx="3107246" cy="304800"/>
          </a:xfrm>
          <a:prstGeom prst="rect">
            <a:avLst/>
          </a:prstGeom>
          <a:noFill/>
        </p:spPr>
        <p:txBody>
          <a:bodyPr wrap="square" lIns="0" tIns="0" rIns="0" bIns="0" anchor="t">
            <a:noAutofit/>
          </a:bodyPr>
          <a:lstStyle/>
          <a:p>
            <a:pPr algn="l">
              <a:lnSpc>
                <a:spcPts val="1120"/>
              </a:lnSpc>
            </a:pPr>
            <a:r>
              <a:rPr sz="800" b="0">
                <a:solidFill>
                  <a:srgbClr val="1C1917"/>
                </a:solidFill>
                <a:latin typeface="Microsoft JhengHei"/>
                <a:ea typeface="Microsoft JhengHei"/>
                <a:cs typeface="Microsoft JhengHei"/>
              </a:rPr>
              <a:t>• </a:t>
            </a:r>
            <a:r>
              <a:rPr sz="800" b="1">
                <a:solidFill>
                  <a:srgbClr val="1C1917"/>
                </a:solidFill>
                <a:latin typeface="Microsoft JhengHei"/>
                <a:ea typeface="Microsoft JhengHei"/>
                <a:cs typeface="Microsoft JhengHei"/>
              </a:rPr>
              <a:t>Stepwise Escalation:</a:t>
            </a:r>
            <a:r>
              <a:rPr sz="800" b="0">
                <a:solidFill>
                  <a:srgbClr val="1C1917"/>
                </a:solidFill>
                <a:latin typeface="Microsoft JhengHei"/>
                <a:ea typeface="Microsoft JhengHei"/>
                <a:cs typeface="Microsoft JhengHei"/>
              </a:rPr>
              <a:t> If LDL ≥ 55, add PCSK9i.</a:t>
            </a:r>
          </a:p>
          <a:p>
            <a:pPr algn="l">
              <a:lnSpc>
                <a:spcPts val="1120"/>
              </a:lnSpc>
            </a:pPr>
            <a:r>
              <a:rPr sz="800" b="0">
                <a:solidFill>
                  <a:srgbClr val="1C1917"/>
                </a:solidFill>
                <a:latin typeface="Microsoft JhengHei"/>
                <a:ea typeface="Microsoft JhengHei"/>
                <a:cs typeface="Microsoft JhengHei"/>
              </a:rPr>
              <a:t> 若未達標，立即升級 PCSK9 抑制劑。</a:t>
            </a:r>
          </a:p>
        </p:txBody>
      </p:sp>
      <p:sp>
        <p:nvSpPr>
          <p:cNvPr id="31" name="TextBox 30"/>
          <p:cNvSpPr txBox="1"/>
          <p:nvPr/>
        </p:nvSpPr>
        <p:spPr>
          <a:xfrm>
            <a:off x="4669346" y="2916618"/>
            <a:ext cx="3107246" cy="304800"/>
          </a:xfrm>
          <a:prstGeom prst="rect">
            <a:avLst/>
          </a:prstGeom>
          <a:noFill/>
        </p:spPr>
        <p:txBody>
          <a:bodyPr wrap="square" lIns="0" tIns="0" rIns="0" bIns="0" anchor="t">
            <a:noAutofit/>
          </a:bodyPr>
          <a:lstStyle/>
          <a:p>
            <a:pPr algn="l">
              <a:lnSpc>
                <a:spcPts val="1120"/>
              </a:lnSpc>
            </a:pPr>
            <a:r>
              <a:rPr sz="800" b="0">
                <a:solidFill>
                  <a:srgbClr val="1C1917"/>
                </a:solidFill>
                <a:latin typeface="Microsoft JhengHei"/>
                <a:ea typeface="Microsoft JhengHei"/>
                <a:cs typeface="Microsoft JhengHei"/>
              </a:rPr>
              <a:t>• </a:t>
            </a:r>
            <a:r>
              <a:rPr sz="800" b="1">
                <a:solidFill>
                  <a:srgbClr val="1C1917"/>
                </a:solidFill>
                <a:latin typeface="Microsoft JhengHei"/>
                <a:ea typeface="Microsoft JhengHei"/>
                <a:cs typeface="Microsoft JhengHei"/>
              </a:rPr>
              <a:t>Rehab:</a:t>
            </a:r>
            <a:r>
              <a:rPr sz="800" b="0">
                <a:solidFill>
                  <a:srgbClr val="1C1917"/>
                </a:solidFill>
                <a:latin typeface="Microsoft JhengHei"/>
                <a:ea typeface="Microsoft JhengHei"/>
                <a:cs typeface="Microsoft JhengHei"/>
              </a:rPr>
              <a:t> Phase II supervised outpatient training.</a:t>
            </a:r>
          </a:p>
          <a:p>
            <a:pPr algn="l">
              <a:lnSpc>
                <a:spcPts val="1120"/>
              </a:lnSpc>
            </a:pPr>
            <a:r>
              <a:rPr sz="800" b="0">
                <a:solidFill>
                  <a:srgbClr val="1C1917"/>
                </a:solidFill>
                <a:latin typeface="Microsoft JhengHei"/>
                <a:ea typeface="Microsoft JhengHei"/>
                <a:cs typeface="Microsoft JhengHei"/>
              </a:rPr>
              <a:t> 銜接第二期門診運動與心臟復健。</a:t>
            </a:r>
          </a:p>
        </p:txBody>
      </p:sp>
      <p:sp>
        <p:nvSpPr>
          <p:cNvPr id="32" name="Rounded Rectangle 31"/>
          <p:cNvSpPr/>
          <p:nvPr/>
        </p:nvSpPr>
        <p:spPr>
          <a:xfrm>
            <a:off x="4415346" y="3399218"/>
            <a:ext cx="3361246" cy="457200"/>
          </a:xfrm>
          <a:prstGeom prst="roundRect">
            <a:avLst>
              <a:gd name="adj" fmla="val 16666"/>
            </a:avLst>
          </a:prstGeom>
          <a:solidFill>
            <a:srgbClr val="D4A373">
              <a:alpha val="12000"/>
            </a:srgbClr>
          </a:solidFill>
          <a:ln>
            <a:noFill/>
          </a:ln>
          <a:effectLst/>
        </p:spPr>
        <p:txBody>
          <a:bodyPr rtlCol="0" anchor="ctr"/>
          <a:lstStyle/>
          <a:p>
            <a:endParaRPr/>
          </a:p>
        </p:txBody>
      </p:sp>
      <p:sp>
        <p:nvSpPr>
          <p:cNvPr id="33" name="TextBox 32"/>
          <p:cNvSpPr txBox="1"/>
          <p:nvPr/>
        </p:nvSpPr>
        <p:spPr>
          <a:xfrm>
            <a:off x="4504246" y="3462718"/>
            <a:ext cx="2616121" cy="158750"/>
          </a:xfrm>
          <a:prstGeom prst="rect">
            <a:avLst/>
          </a:prstGeom>
          <a:noFill/>
        </p:spPr>
        <p:txBody>
          <a:bodyPr wrap="none" lIns="0" tIns="0" rIns="0" bIns="0" anchor="t">
            <a:noAutofit/>
          </a:bodyPr>
          <a:lstStyle/>
          <a:p>
            <a:pPr algn="l">
              <a:lnSpc>
                <a:spcPts val="1190"/>
              </a:lnSpc>
            </a:pPr>
            <a:r>
              <a:rPr sz="850" b="1">
                <a:solidFill>
                  <a:srgbClr val="8C5E2D"/>
                </a:solidFill>
                <a:latin typeface="Microsoft JhengHei"/>
                <a:ea typeface="Microsoft JhengHei"/>
                <a:cs typeface="Microsoft JhengHei"/>
              </a:rPr>
              <a:t>Confirm target &lt; 55; escalate if needed</a:t>
            </a:r>
          </a:p>
        </p:txBody>
      </p:sp>
      <p:sp>
        <p:nvSpPr>
          <p:cNvPr id="34" name="TextBox 33"/>
          <p:cNvSpPr txBox="1"/>
          <p:nvPr/>
        </p:nvSpPr>
        <p:spPr>
          <a:xfrm>
            <a:off x="4504246" y="3634168"/>
            <a:ext cx="2428875" cy="158750"/>
          </a:xfrm>
          <a:prstGeom prst="rect">
            <a:avLst/>
          </a:prstGeom>
          <a:noFill/>
        </p:spPr>
        <p:txBody>
          <a:bodyPr wrap="none" lIns="0" tIns="0" rIns="0" bIns="0" anchor="t">
            <a:noAutofit/>
          </a:bodyPr>
          <a:lstStyle/>
          <a:p>
            <a:pPr algn="l">
              <a:lnSpc>
                <a:spcPts val="1190"/>
              </a:lnSpc>
            </a:pPr>
            <a:r>
              <a:rPr sz="850" b="1">
                <a:solidFill>
                  <a:srgbClr val="976E42"/>
                </a:solidFill>
                <a:latin typeface="Microsoft JhengHei"/>
                <a:ea typeface="Microsoft JhengHei"/>
                <a:cs typeface="Microsoft JhengHei"/>
              </a:rPr>
              <a:t>目標：確認達標五十五，未達標果斷升級</a:t>
            </a:r>
          </a:p>
        </p:txBody>
      </p:sp>
      <p:sp>
        <p:nvSpPr>
          <p:cNvPr id="35" name="Rounded Rectangle 34"/>
          <p:cNvSpPr/>
          <p:nvPr/>
        </p:nvSpPr>
        <p:spPr>
          <a:xfrm>
            <a:off x="8043291" y="998918"/>
            <a:ext cx="3666046" cy="2997200"/>
          </a:xfrm>
          <a:prstGeom prst="roundRect">
            <a:avLst>
              <a:gd name="adj" fmla="val 3813"/>
            </a:avLst>
          </a:prstGeom>
          <a:solidFill>
            <a:srgbClr val="FFFFFF"/>
          </a:solidFill>
          <a:ln>
            <a:noFill/>
          </a:ln>
          <a:effectLst/>
        </p:spPr>
        <p:txBody>
          <a:bodyPr rtlCol="0" anchor="ctr"/>
          <a:lstStyle/>
          <a:p>
            <a:endParaRPr/>
          </a:p>
        </p:txBody>
      </p:sp>
      <p:sp>
        <p:nvSpPr>
          <p:cNvPr id="36" name="Rectangle 35"/>
          <p:cNvSpPr/>
          <p:nvPr/>
        </p:nvSpPr>
        <p:spPr>
          <a:xfrm>
            <a:off x="8043291" y="998918"/>
            <a:ext cx="3666046" cy="50800"/>
          </a:xfrm>
          <a:prstGeom prst="rect">
            <a:avLst/>
          </a:prstGeom>
          <a:solidFill>
            <a:srgbClr val="1E2833"/>
          </a:solidFill>
          <a:ln>
            <a:noFill/>
          </a:ln>
          <a:effectLst/>
        </p:spPr>
        <p:txBody>
          <a:bodyPr rtlCol="0" anchor="ctr"/>
          <a:lstStyle/>
          <a:p>
            <a:endParaRPr/>
          </a:p>
        </p:txBody>
      </p:sp>
      <p:sp>
        <p:nvSpPr>
          <p:cNvPr id="37" name="Rectangle 36"/>
          <p:cNvSpPr/>
          <p:nvPr/>
        </p:nvSpPr>
        <p:spPr>
          <a:xfrm>
            <a:off x="11696636" y="998918"/>
            <a:ext cx="12700" cy="2997200"/>
          </a:xfrm>
          <a:prstGeom prst="rect">
            <a:avLst/>
          </a:prstGeom>
          <a:solidFill>
            <a:srgbClr val="E2DDD5"/>
          </a:solidFill>
          <a:ln>
            <a:noFill/>
          </a:ln>
          <a:effectLst/>
        </p:spPr>
        <p:txBody>
          <a:bodyPr rtlCol="0" anchor="ctr"/>
          <a:lstStyle/>
          <a:p>
            <a:endParaRPr/>
          </a:p>
        </p:txBody>
      </p:sp>
      <p:sp>
        <p:nvSpPr>
          <p:cNvPr id="38" name="Rectangle 37"/>
          <p:cNvSpPr/>
          <p:nvPr/>
        </p:nvSpPr>
        <p:spPr>
          <a:xfrm>
            <a:off x="8043291" y="3983418"/>
            <a:ext cx="3666046" cy="12700"/>
          </a:xfrm>
          <a:prstGeom prst="rect">
            <a:avLst/>
          </a:prstGeom>
          <a:solidFill>
            <a:srgbClr val="E2DDD5"/>
          </a:solidFill>
          <a:ln>
            <a:noFill/>
          </a:ln>
          <a:effectLst/>
        </p:spPr>
        <p:txBody>
          <a:bodyPr rtlCol="0" anchor="ctr"/>
          <a:lstStyle/>
          <a:p>
            <a:endParaRPr/>
          </a:p>
        </p:txBody>
      </p:sp>
      <p:sp>
        <p:nvSpPr>
          <p:cNvPr id="39" name="Rectangle 38"/>
          <p:cNvSpPr/>
          <p:nvPr/>
        </p:nvSpPr>
        <p:spPr>
          <a:xfrm>
            <a:off x="8043291" y="998918"/>
            <a:ext cx="12700" cy="2997200"/>
          </a:xfrm>
          <a:prstGeom prst="rect">
            <a:avLst/>
          </a:prstGeom>
          <a:solidFill>
            <a:srgbClr val="E2DDD5"/>
          </a:solidFill>
          <a:ln>
            <a:noFill/>
          </a:ln>
          <a:effectLst/>
        </p:spPr>
        <p:txBody>
          <a:bodyPr rtlCol="0" anchor="ctr"/>
          <a:lstStyle/>
          <a:p>
            <a:endParaRPr/>
          </a:p>
        </p:txBody>
      </p:sp>
      <p:sp>
        <p:nvSpPr>
          <p:cNvPr id="40" name="Rounded Rectangle 39"/>
          <p:cNvSpPr/>
          <p:nvPr/>
        </p:nvSpPr>
        <p:spPr>
          <a:xfrm>
            <a:off x="8195691" y="1176718"/>
            <a:ext cx="2047304" cy="209550"/>
          </a:xfrm>
          <a:prstGeom prst="roundRect">
            <a:avLst>
              <a:gd name="adj" fmla="val 50000"/>
            </a:avLst>
          </a:prstGeom>
          <a:solidFill>
            <a:srgbClr val="1E2833">
              <a:alpha val="8000"/>
            </a:srgbClr>
          </a:solidFill>
          <a:ln>
            <a:noFill/>
          </a:ln>
          <a:effectLst/>
        </p:spPr>
        <p:txBody>
          <a:bodyPr rtlCol="0" anchor="ctr"/>
          <a:lstStyle/>
          <a:p>
            <a:endParaRPr/>
          </a:p>
        </p:txBody>
      </p:sp>
      <p:sp>
        <p:nvSpPr>
          <p:cNvPr id="41" name="TextBox 40"/>
          <p:cNvSpPr txBox="1"/>
          <p:nvPr/>
        </p:nvSpPr>
        <p:spPr>
          <a:xfrm>
            <a:off x="8284591" y="1202118"/>
            <a:ext cx="2336879" cy="158750"/>
          </a:xfrm>
          <a:prstGeom prst="rect">
            <a:avLst/>
          </a:prstGeom>
          <a:noFill/>
        </p:spPr>
        <p:txBody>
          <a:bodyPr wrap="none" lIns="0" tIns="0" rIns="0" bIns="0" anchor="t">
            <a:noAutofit/>
          </a:bodyPr>
          <a:lstStyle/>
          <a:p>
            <a:pPr algn="l">
              <a:lnSpc>
                <a:spcPts val="1190"/>
              </a:lnSpc>
            </a:pPr>
            <a:r>
              <a:rPr sz="850" b="1">
                <a:solidFill>
                  <a:srgbClr val="1E2833"/>
                </a:solidFill>
                <a:latin typeface="Microsoft JhengHei"/>
                <a:ea typeface="Microsoft JhengHei"/>
                <a:cs typeface="Microsoft JhengHei"/>
              </a:rPr>
              <a:t>Phase 3: Long-Term ｜ 慢性長期維護</a:t>
            </a:r>
          </a:p>
        </p:txBody>
      </p:sp>
      <p:sp>
        <p:nvSpPr>
          <p:cNvPr id="42" name="TextBox 41"/>
          <p:cNvSpPr txBox="1"/>
          <p:nvPr/>
        </p:nvSpPr>
        <p:spPr>
          <a:xfrm>
            <a:off x="8195691" y="1602168"/>
            <a:ext cx="2601992" cy="234950"/>
          </a:xfrm>
          <a:prstGeom prst="rect">
            <a:avLst/>
          </a:prstGeom>
          <a:noFill/>
        </p:spPr>
        <p:txBody>
          <a:bodyPr wrap="none" lIns="0" tIns="0" rIns="0" bIns="0" anchor="t">
            <a:noAutofit/>
          </a:bodyPr>
          <a:lstStyle/>
          <a:p>
            <a:pPr algn="l">
              <a:lnSpc>
                <a:spcPts val="1820"/>
              </a:lnSpc>
            </a:pPr>
            <a:r>
              <a:rPr sz="1300" b="1">
                <a:solidFill>
                  <a:srgbClr val="1E2833"/>
                </a:solidFill>
                <a:latin typeface="Microsoft JhengHei"/>
                <a:ea typeface="Microsoft JhengHei"/>
                <a:cs typeface="Microsoft JhengHei"/>
              </a:rPr>
              <a:t>Chronic Phase (Mo 3–12+)</a:t>
            </a:r>
          </a:p>
        </p:txBody>
      </p:sp>
      <p:sp>
        <p:nvSpPr>
          <p:cNvPr id="43" name="TextBox 42"/>
          <p:cNvSpPr txBox="1"/>
          <p:nvPr/>
        </p:nvSpPr>
        <p:spPr>
          <a:xfrm>
            <a:off x="8449691" y="2002218"/>
            <a:ext cx="3107246" cy="304800"/>
          </a:xfrm>
          <a:prstGeom prst="rect">
            <a:avLst/>
          </a:prstGeom>
          <a:noFill/>
        </p:spPr>
        <p:txBody>
          <a:bodyPr wrap="square" lIns="0" tIns="0" rIns="0" bIns="0" anchor="t">
            <a:noAutofit/>
          </a:bodyPr>
          <a:lstStyle/>
          <a:p>
            <a:pPr algn="l">
              <a:lnSpc>
                <a:spcPts val="1120"/>
              </a:lnSpc>
            </a:pPr>
            <a:r>
              <a:rPr sz="800" b="0">
                <a:solidFill>
                  <a:srgbClr val="1C1917"/>
                </a:solidFill>
                <a:latin typeface="Microsoft JhengHei"/>
                <a:ea typeface="Microsoft JhengHei"/>
                <a:cs typeface="Microsoft JhengHei"/>
              </a:rPr>
              <a:t>• </a:t>
            </a:r>
            <a:r>
              <a:rPr sz="800" b="1">
                <a:solidFill>
                  <a:srgbClr val="1C1917"/>
                </a:solidFill>
                <a:latin typeface="Microsoft JhengHei"/>
                <a:ea typeface="Microsoft JhengHei"/>
                <a:cs typeface="Microsoft JhengHei"/>
              </a:rPr>
              <a:t>Maintenance:</a:t>
            </a:r>
            <a:r>
              <a:rPr sz="800" b="0">
                <a:solidFill>
                  <a:srgbClr val="1C1917"/>
                </a:solidFill>
                <a:latin typeface="Microsoft JhengHei"/>
                <a:ea typeface="Microsoft JhengHei"/>
                <a:cs typeface="Microsoft JhengHei"/>
              </a:rPr>
              <a:t> Lipid panel testing every 6–12 months.</a:t>
            </a:r>
          </a:p>
          <a:p>
            <a:pPr algn="l">
              <a:lnSpc>
                <a:spcPts val="1120"/>
              </a:lnSpc>
            </a:pPr>
            <a:r>
              <a:rPr sz="800" b="0">
                <a:solidFill>
                  <a:srgbClr val="1C1917"/>
                </a:solidFill>
                <a:latin typeface="Microsoft JhengHei"/>
                <a:ea typeface="Microsoft JhengHei"/>
                <a:cs typeface="Microsoft JhengHei"/>
              </a:rPr>
              <a:t> 每半年至一年定期監測血脂。</a:t>
            </a:r>
          </a:p>
        </p:txBody>
      </p:sp>
      <p:sp>
        <p:nvSpPr>
          <p:cNvPr id="44" name="TextBox 43"/>
          <p:cNvSpPr txBox="1"/>
          <p:nvPr/>
        </p:nvSpPr>
        <p:spPr>
          <a:xfrm>
            <a:off x="8449691" y="2307018"/>
            <a:ext cx="3107246" cy="304800"/>
          </a:xfrm>
          <a:prstGeom prst="rect">
            <a:avLst/>
          </a:prstGeom>
          <a:noFill/>
        </p:spPr>
        <p:txBody>
          <a:bodyPr wrap="square" lIns="0" tIns="0" rIns="0" bIns="0" anchor="t">
            <a:noAutofit/>
          </a:bodyPr>
          <a:lstStyle/>
          <a:p>
            <a:pPr algn="l">
              <a:lnSpc>
                <a:spcPts val="1120"/>
              </a:lnSpc>
            </a:pPr>
            <a:r>
              <a:rPr sz="800" b="0">
                <a:solidFill>
                  <a:srgbClr val="1C1917"/>
                </a:solidFill>
                <a:latin typeface="Microsoft JhengHei"/>
                <a:ea typeface="Microsoft JhengHei"/>
                <a:cs typeface="Microsoft JhengHei"/>
              </a:rPr>
              <a:t>• </a:t>
            </a:r>
            <a:r>
              <a:rPr sz="800" b="1">
                <a:solidFill>
                  <a:srgbClr val="1C1917"/>
                </a:solidFill>
                <a:latin typeface="Microsoft JhengHei"/>
                <a:ea typeface="Microsoft JhengHei"/>
                <a:cs typeface="Microsoft JhengHei"/>
              </a:rPr>
              <a:t>Adherence:</a:t>
            </a:r>
            <a:r>
              <a:rPr sz="800" b="0">
                <a:solidFill>
                  <a:srgbClr val="1C1917"/>
                </a:solidFill>
                <a:latin typeface="Microsoft JhengHei"/>
                <a:ea typeface="Microsoft JhengHei"/>
                <a:cs typeface="Microsoft JhengHei"/>
              </a:rPr>
              <a:t> Safety monitoring, refill regularity.</a:t>
            </a:r>
          </a:p>
          <a:p>
            <a:pPr algn="l">
              <a:lnSpc>
                <a:spcPts val="1120"/>
              </a:lnSpc>
            </a:pPr>
            <a:r>
              <a:rPr sz="800" b="0">
                <a:solidFill>
                  <a:srgbClr val="1C1917"/>
                </a:solidFill>
                <a:latin typeface="Microsoft JhengHei"/>
                <a:ea typeface="Microsoft JhengHei"/>
                <a:cs typeface="Microsoft JhengHei"/>
              </a:rPr>
              <a:t> 監控服藥遵從性與肌肉耐受性。</a:t>
            </a:r>
          </a:p>
        </p:txBody>
      </p:sp>
      <p:sp>
        <p:nvSpPr>
          <p:cNvPr id="45" name="TextBox 44"/>
          <p:cNvSpPr txBox="1"/>
          <p:nvPr/>
        </p:nvSpPr>
        <p:spPr>
          <a:xfrm>
            <a:off x="8449691" y="2611818"/>
            <a:ext cx="3107246" cy="304800"/>
          </a:xfrm>
          <a:prstGeom prst="rect">
            <a:avLst/>
          </a:prstGeom>
          <a:noFill/>
        </p:spPr>
        <p:txBody>
          <a:bodyPr wrap="square" lIns="0" tIns="0" rIns="0" bIns="0" anchor="t">
            <a:noAutofit/>
          </a:bodyPr>
          <a:lstStyle/>
          <a:p>
            <a:pPr algn="l">
              <a:lnSpc>
                <a:spcPts val="1120"/>
              </a:lnSpc>
            </a:pPr>
            <a:r>
              <a:rPr sz="800" b="0">
                <a:solidFill>
                  <a:srgbClr val="1C1917"/>
                </a:solidFill>
                <a:latin typeface="Microsoft JhengHei"/>
                <a:ea typeface="Microsoft JhengHei"/>
                <a:cs typeface="Microsoft JhengHei"/>
              </a:rPr>
              <a:t>• </a:t>
            </a:r>
            <a:r>
              <a:rPr sz="800" b="1">
                <a:solidFill>
                  <a:srgbClr val="1C1917"/>
                </a:solidFill>
                <a:latin typeface="Microsoft JhengHei"/>
                <a:ea typeface="Microsoft JhengHei"/>
                <a:cs typeface="Microsoft JhengHei"/>
              </a:rPr>
              <a:t>Lifestyle Sustained:</a:t>
            </a:r>
            <a:r>
              <a:rPr sz="800" b="0">
                <a:solidFill>
                  <a:srgbClr val="1C1917"/>
                </a:solidFill>
                <a:latin typeface="Microsoft JhengHei"/>
                <a:ea typeface="Microsoft JhengHei"/>
                <a:cs typeface="Microsoft JhengHei"/>
              </a:rPr>
              <a:t> Permanent diet, exercise, zero tobacco.</a:t>
            </a:r>
          </a:p>
          <a:p>
            <a:pPr algn="l">
              <a:lnSpc>
                <a:spcPts val="1120"/>
              </a:lnSpc>
            </a:pPr>
            <a:r>
              <a:rPr sz="800" b="0">
                <a:solidFill>
                  <a:srgbClr val="1C1917"/>
                </a:solidFill>
                <a:latin typeface="Microsoft JhengHei"/>
                <a:ea typeface="Microsoft JhengHei"/>
                <a:cs typeface="Microsoft JhengHei"/>
              </a:rPr>
              <a:t> 維持地中海飲食、有氧運動與無菸環境。</a:t>
            </a:r>
          </a:p>
        </p:txBody>
      </p:sp>
      <p:sp>
        <p:nvSpPr>
          <p:cNvPr id="46" name="TextBox 45"/>
          <p:cNvSpPr txBox="1"/>
          <p:nvPr/>
        </p:nvSpPr>
        <p:spPr>
          <a:xfrm>
            <a:off x="8449691" y="2916618"/>
            <a:ext cx="3107246" cy="304800"/>
          </a:xfrm>
          <a:prstGeom prst="rect">
            <a:avLst/>
          </a:prstGeom>
          <a:noFill/>
        </p:spPr>
        <p:txBody>
          <a:bodyPr wrap="square" lIns="0" tIns="0" rIns="0" bIns="0" anchor="t">
            <a:noAutofit/>
          </a:bodyPr>
          <a:lstStyle/>
          <a:p>
            <a:pPr algn="l">
              <a:lnSpc>
                <a:spcPts val="1120"/>
              </a:lnSpc>
            </a:pPr>
            <a:r>
              <a:rPr sz="800" b="0">
                <a:solidFill>
                  <a:srgbClr val="1C1917"/>
                </a:solidFill>
                <a:latin typeface="Microsoft JhengHei"/>
                <a:ea typeface="Microsoft JhengHei"/>
                <a:cs typeface="Microsoft JhengHei"/>
              </a:rPr>
              <a:t>• </a:t>
            </a:r>
            <a:r>
              <a:rPr sz="800" b="1">
                <a:solidFill>
                  <a:srgbClr val="1C1917"/>
                </a:solidFill>
                <a:latin typeface="Microsoft JhengHei"/>
                <a:ea typeface="Microsoft JhengHei"/>
                <a:cs typeface="Microsoft JhengHei"/>
              </a:rPr>
              <a:t>Plaque Stability:</a:t>
            </a:r>
            <a:r>
              <a:rPr sz="800" b="0">
                <a:solidFill>
                  <a:srgbClr val="1C1917"/>
                </a:solidFill>
                <a:latin typeface="Microsoft JhengHei"/>
                <a:ea typeface="Microsoft JhengHei"/>
                <a:cs typeface="Microsoft JhengHei"/>
              </a:rPr>
              <a:t> Lifelong plaque quiescence.</a:t>
            </a:r>
          </a:p>
          <a:p>
            <a:pPr algn="l">
              <a:lnSpc>
                <a:spcPts val="1120"/>
              </a:lnSpc>
            </a:pPr>
            <a:r>
              <a:rPr sz="800" b="0">
                <a:solidFill>
                  <a:srgbClr val="1C1917"/>
                </a:solidFill>
                <a:latin typeface="Microsoft JhengHei"/>
                <a:ea typeface="Microsoft JhengHei"/>
                <a:cs typeface="Microsoft JhengHei"/>
              </a:rPr>
              <a:t> 長期維持斑塊穩定，實現零復發存活。</a:t>
            </a:r>
          </a:p>
        </p:txBody>
      </p:sp>
      <p:sp>
        <p:nvSpPr>
          <p:cNvPr id="47" name="TextBox 46"/>
          <p:cNvSpPr txBox="1"/>
          <p:nvPr/>
        </p:nvSpPr>
        <p:spPr>
          <a:xfrm>
            <a:off x="8284591" y="3462718"/>
            <a:ext cx="3079512" cy="158750"/>
          </a:xfrm>
          <a:prstGeom prst="rect">
            <a:avLst/>
          </a:prstGeom>
          <a:noFill/>
        </p:spPr>
        <p:txBody>
          <a:bodyPr wrap="none" lIns="0" tIns="0" rIns="0" bIns="0" anchor="t">
            <a:noAutofit/>
          </a:bodyPr>
          <a:lstStyle/>
          <a:p>
            <a:pPr algn="l">
              <a:lnSpc>
                <a:spcPts val="1190"/>
              </a:lnSpc>
            </a:pPr>
            <a:r>
              <a:rPr sz="850" b="1">
                <a:solidFill>
                  <a:srgbClr val="1C1917"/>
                </a:solidFill>
                <a:latin typeface="Microsoft JhengHei"/>
                <a:ea typeface="Microsoft JhengHei"/>
                <a:cs typeface="Microsoft JhengHei"/>
              </a:rPr>
              <a:t>Lifelong plaque quiescence &amp; zero recurrence</a:t>
            </a:r>
          </a:p>
        </p:txBody>
      </p:sp>
      <p:sp>
        <p:nvSpPr>
          <p:cNvPr id="48" name="TextBox 47"/>
          <p:cNvSpPr txBox="1"/>
          <p:nvPr/>
        </p:nvSpPr>
        <p:spPr>
          <a:xfrm>
            <a:off x="8284591" y="3634168"/>
            <a:ext cx="2563812" cy="158750"/>
          </a:xfrm>
          <a:prstGeom prst="rect">
            <a:avLst/>
          </a:prstGeom>
          <a:noFill/>
        </p:spPr>
        <p:txBody>
          <a:bodyPr wrap="none" lIns="0" tIns="0" rIns="0" bIns="0" anchor="t">
            <a:noAutofit/>
          </a:bodyPr>
          <a:lstStyle/>
          <a:p>
            <a:pPr algn="l">
              <a:lnSpc>
                <a:spcPts val="1190"/>
              </a:lnSpc>
            </a:pPr>
            <a:r>
              <a:rPr sz="850" b="1">
                <a:solidFill>
                  <a:srgbClr val="322F2E"/>
                </a:solidFill>
                <a:latin typeface="Microsoft JhengHei"/>
                <a:ea typeface="Microsoft JhengHei"/>
                <a:cs typeface="Microsoft JhengHei"/>
              </a:rPr>
              <a:t>目標：終身斑塊穩定無破裂，重拾健康人生</a:t>
            </a:r>
          </a:p>
        </p:txBody>
      </p:sp>
      <p:sp>
        <p:nvSpPr>
          <p:cNvPr id="49" name="Rectangle 48"/>
          <p:cNvSpPr/>
          <p:nvPr/>
        </p:nvSpPr>
        <p:spPr>
          <a:xfrm>
            <a:off x="482600" y="6184900"/>
            <a:ext cx="11226800" cy="12700"/>
          </a:xfrm>
          <a:prstGeom prst="rect">
            <a:avLst/>
          </a:prstGeom>
          <a:solidFill>
            <a:srgbClr val="EFECE6"/>
          </a:solidFill>
          <a:ln>
            <a:noFill/>
          </a:ln>
          <a:effectLst/>
        </p:spPr>
        <p:txBody>
          <a:bodyPr rtlCol="0" anchor="ctr"/>
          <a:lstStyle/>
          <a:p>
            <a:endParaRPr/>
          </a:p>
        </p:txBody>
      </p:sp>
      <p:sp>
        <p:nvSpPr>
          <p:cNvPr id="50" name="TextBox 49"/>
          <p:cNvSpPr txBox="1"/>
          <p:nvPr/>
        </p:nvSpPr>
        <p:spPr>
          <a:xfrm>
            <a:off x="482600" y="6235700"/>
            <a:ext cx="8377396" cy="266700"/>
          </a:xfrm>
          <a:prstGeom prst="rect">
            <a:avLst/>
          </a:prstGeom>
          <a:noFill/>
        </p:spPr>
        <p:txBody>
          <a:bodyPr wrap="none" lIns="0" tIns="0" rIns="0" bIns="0" anchor="t">
            <a:noAutofit/>
          </a:bodyPr>
          <a:lstStyle/>
          <a:p>
            <a:pPr algn="l">
              <a:lnSpc>
                <a:spcPts val="1050"/>
              </a:lnSpc>
            </a:pPr>
            <a:r>
              <a:rPr sz="750" b="0">
                <a:solidFill>
                  <a:srgbClr val="78716C"/>
                </a:solidFill>
                <a:latin typeface="Microsoft JhengHei"/>
                <a:ea typeface="Microsoft JhengHei"/>
                <a:cs typeface="Microsoft JhengHei"/>
              </a:rPr>
              <a:t>1. 2026 ACC/AHA Guideline on the Management of Blood Cholesterol. Circulation. 2026;153(4):e112-e198.</a:t>
            </a:r>
          </a:p>
          <a:p>
            <a:pPr algn="l">
              <a:lnSpc>
                <a:spcPts val="1050"/>
              </a:lnSpc>
            </a:pPr>
            <a:r>
              <a:rPr sz="750" b="0">
                <a:solidFill>
                  <a:srgbClr val="78716C"/>
                </a:solidFill>
                <a:latin typeface="Microsoft JhengHei"/>
                <a:ea typeface="Microsoft JhengHei"/>
                <a:cs typeface="Microsoft JhengHei"/>
              </a:rPr>
              <a:t>2. Visseren FLJ, et al. 2021 ESC Guidelines on Cardiovascular Disease Prevention in Clinical Practice. Eur Heart J. 2021;42(34):3227-3337. PMID: 34458905.</a:t>
            </a:r>
          </a:p>
        </p:txBody>
      </p:sp>
      <p:sp>
        <p:nvSpPr>
          <p:cNvPr id="51" name="Rounded Rectangle 50"/>
          <p:cNvSpPr/>
          <p:nvPr/>
        </p:nvSpPr>
        <p:spPr>
          <a:xfrm>
            <a:off x="8915400" y="254000"/>
            <a:ext cx="555308"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52" name="TextBox 51"/>
          <p:cNvSpPr txBox="1"/>
          <p:nvPr/>
        </p:nvSpPr>
        <p:spPr>
          <a:xfrm>
            <a:off x="9017000" y="304800"/>
            <a:ext cx="441008"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1. Case</a:t>
            </a:r>
          </a:p>
        </p:txBody>
      </p:sp>
      <p:sp>
        <p:nvSpPr>
          <p:cNvPr id="53" name="Rounded Rectangle 52"/>
          <p:cNvSpPr/>
          <p:nvPr/>
        </p:nvSpPr>
        <p:spPr>
          <a:xfrm>
            <a:off x="9521508" y="254000"/>
            <a:ext cx="684022"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54" name="TextBox 53"/>
          <p:cNvSpPr txBox="1"/>
          <p:nvPr/>
        </p:nvSpPr>
        <p:spPr>
          <a:xfrm>
            <a:off x="9623108" y="304800"/>
            <a:ext cx="601028"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2. Targets</a:t>
            </a:r>
          </a:p>
        </p:txBody>
      </p:sp>
      <p:sp>
        <p:nvSpPr>
          <p:cNvPr id="55" name="Rounded Rectangle 54"/>
          <p:cNvSpPr/>
          <p:nvPr/>
        </p:nvSpPr>
        <p:spPr>
          <a:xfrm>
            <a:off x="10256330" y="254000"/>
            <a:ext cx="729932"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56" name="TextBox 55"/>
          <p:cNvSpPr txBox="1"/>
          <p:nvPr/>
        </p:nvSpPr>
        <p:spPr>
          <a:xfrm>
            <a:off x="10357930" y="304800"/>
            <a:ext cx="658416"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3. Therapy</a:t>
            </a:r>
          </a:p>
        </p:txBody>
      </p:sp>
      <p:sp>
        <p:nvSpPr>
          <p:cNvPr id="57" name="Rounded Rectangle 56"/>
          <p:cNvSpPr/>
          <p:nvPr/>
        </p:nvSpPr>
        <p:spPr>
          <a:xfrm>
            <a:off x="11037126" y="254000"/>
            <a:ext cx="757618" cy="254000"/>
          </a:xfrm>
          <a:prstGeom prst="roundRect">
            <a:avLst>
              <a:gd name="adj" fmla="val 50000"/>
            </a:avLst>
          </a:prstGeom>
          <a:solidFill>
            <a:srgbClr val="1E2833"/>
          </a:solidFill>
          <a:ln w="12700">
            <a:solidFill>
              <a:srgbClr val="1E2833"/>
            </a:solidFill>
          </a:ln>
          <a:effectLst/>
        </p:spPr>
        <p:txBody>
          <a:bodyPr rtlCol="0" anchor="ctr"/>
          <a:lstStyle/>
          <a:p>
            <a:endParaRPr/>
          </a:p>
        </p:txBody>
      </p:sp>
      <p:sp>
        <p:nvSpPr>
          <p:cNvPr id="58" name="TextBox 57"/>
          <p:cNvSpPr txBox="1"/>
          <p:nvPr/>
        </p:nvSpPr>
        <p:spPr>
          <a:xfrm>
            <a:off x="11138726" y="304800"/>
            <a:ext cx="693023" cy="152400"/>
          </a:xfrm>
          <a:prstGeom prst="rect">
            <a:avLst/>
          </a:prstGeom>
          <a:noFill/>
        </p:spPr>
        <p:txBody>
          <a:bodyPr wrap="none" lIns="0" tIns="0" rIns="0" bIns="0" anchor="t">
            <a:noAutofit/>
          </a:bodyPr>
          <a:lstStyle/>
          <a:p>
            <a:pPr algn="l">
              <a:lnSpc>
                <a:spcPts val="1120"/>
              </a:lnSpc>
            </a:pPr>
            <a:r>
              <a:rPr sz="800" b="1">
                <a:solidFill>
                  <a:srgbClr val="FFFFFF"/>
                </a:solidFill>
                <a:latin typeface="Microsoft JhengHei"/>
                <a:ea typeface="Microsoft JhengHei"/>
                <a:cs typeface="Microsoft JhengHei"/>
              </a:rPr>
              <a:t>4. Timeline</a:t>
            </a:r>
          </a:p>
        </p:txBody>
      </p:sp>
      <p:sp>
        <p:nvSpPr>
          <p:cNvPr id="59" name="Rectangle 58"/>
          <p:cNvSpPr/>
          <p:nvPr/>
        </p:nvSpPr>
        <p:spPr>
          <a:xfrm>
            <a:off x="0" y="6527800"/>
            <a:ext cx="12192000" cy="330200"/>
          </a:xfrm>
          <a:prstGeom prst="rect">
            <a:avLst/>
          </a:prstGeom>
          <a:solidFill>
            <a:srgbClr val="FFFFFF"/>
          </a:solidFill>
          <a:ln>
            <a:noFill/>
          </a:ln>
          <a:effectLst/>
        </p:spPr>
        <p:txBody>
          <a:bodyPr rtlCol="0" anchor="ctr"/>
          <a:lstStyle/>
          <a:p>
            <a:endParaRPr/>
          </a:p>
        </p:txBody>
      </p:sp>
      <p:sp>
        <p:nvSpPr>
          <p:cNvPr id="60" name="Rectangle 59"/>
          <p:cNvSpPr/>
          <p:nvPr/>
        </p:nvSpPr>
        <p:spPr>
          <a:xfrm>
            <a:off x="0" y="6527800"/>
            <a:ext cx="12192000" cy="12700"/>
          </a:xfrm>
          <a:prstGeom prst="rect">
            <a:avLst/>
          </a:prstGeom>
          <a:solidFill>
            <a:srgbClr val="EFECE6"/>
          </a:solidFill>
          <a:ln>
            <a:noFill/>
          </a:ln>
          <a:effectLst/>
        </p:spPr>
        <p:txBody>
          <a:bodyPr rtlCol="0" anchor="ctr"/>
          <a:lstStyle/>
          <a:p>
            <a:endParaRPr/>
          </a:p>
        </p:txBody>
      </p:sp>
      <p:sp>
        <p:nvSpPr>
          <p:cNvPr id="61" name="TextBox 60"/>
          <p:cNvSpPr txBox="1"/>
          <p:nvPr/>
        </p:nvSpPr>
        <p:spPr>
          <a:xfrm>
            <a:off x="482600" y="6613525"/>
            <a:ext cx="850344" cy="171450"/>
          </a:xfrm>
          <a:prstGeom prst="rect">
            <a:avLst/>
          </a:prstGeom>
          <a:noFill/>
        </p:spPr>
        <p:txBody>
          <a:bodyPr wrap="none" lIns="0" tIns="0" rIns="0" bIns="0" anchor="t">
            <a:noAutofit/>
          </a:bodyPr>
          <a:lstStyle/>
          <a:p>
            <a:pPr algn="l">
              <a:lnSpc>
                <a:spcPts val="1330"/>
              </a:lnSpc>
            </a:pPr>
            <a:r>
              <a:rPr sz="950" b="1">
                <a:solidFill>
                  <a:srgbClr val="1E2833"/>
                </a:solidFill>
                <a:latin typeface="Microsoft JhengHei"/>
                <a:ea typeface="Microsoft JhengHei"/>
                <a:cs typeface="Microsoft JhengHei"/>
              </a:rPr>
              <a:t>4. Timeline</a:t>
            </a:r>
          </a:p>
        </p:txBody>
      </p:sp>
      <p:sp>
        <p:nvSpPr>
          <p:cNvPr id="62" name="Rounded Rectangle 61"/>
          <p:cNvSpPr/>
          <p:nvPr/>
        </p:nvSpPr>
        <p:spPr>
          <a:xfrm>
            <a:off x="1302576" y="6680200"/>
            <a:ext cx="9871456" cy="38100"/>
          </a:xfrm>
          <a:prstGeom prst="roundRect">
            <a:avLst>
              <a:gd name="adj" fmla="val 50000"/>
            </a:avLst>
          </a:prstGeom>
          <a:solidFill>
            <a:srgbClr val="EFECE6"/>
          </a:solidFill>
          <a:ln>
            <a:noFill/>
          </a:ln>
          <a:effectLst/>
        </p:spPr>
        <p:txBody>
          <a:bodyPr rtlCol="0" anchor="ctr"/>
          <a:lstStyle/>
          <a:p>
            <a:endParaRPr/>
          </a:p>
        </p:txBody>
      </p:sp>
      <p:sp>
        <p:nvSpPr>
          <p:cNvPr id="63" name="Rectangle 62"/>
          <p:cNvSpPr/>
          <p:nvPr/>
        </p:nvSpPr>
        <p:spPr>
          <a:xfrm>
            <a:off x="1302576" y="6680200"/>
            <a:ext cx="8884222" cy="38100"/>
          </a:xfrm>
          <a:prstGeom prst="rect">
            <a:avLst/>
          </a:prstGeom>
          <a:solidFill>
            <a:srgbClr val="F3C84B"/>
          </a:solidFill>
          <a:ln>
            <a:noFill/>
          </a:ln>
          <a:effectLst/>
        </p:spPr>
        <p:txBody>
          <a:bodyPr rtlCol="0" anchor="ctr"/>
          <a:lstStyle/>
          <a:p>
            <a:endParaRPr/>
          </a:p>
        </p:txBody>
      </p:sp>
      <p:sp>
        <p:nvSpPr>
          <p:cNvPr id="64" name="TextBox 63"/>
          <p:cNvSpPr txBox="1"/>
          <p:nvPr/>
        </p:nvSpPr>
        <p:spPr>
          <a:xfrm>
            <a:off x="11313732" y="6613525"/>
            <a:ext cx="494586" cy="171450"/>
          </a:xfrm>
          <a:prstGeom prst="rect">
            <a:avLst/>
          </a:prstGeom>
          <a:noFill/>
        </p:spPr>
        <p:txBody>
          <a:bodyPr wrap="none" lIns="0" tIns="0" rIns="0" bIns="0" anchor="t">
            <a:noAutofit/>
          </a:bodyPr>
          <a:lstStyle/>
          <a:p>
            <a:pPr algn="l">
              <a:lnSpc>
                <a:spcPts val="1330"/>
              </a:lnSpc>
            </a:pPr>
            <a:r>
              <a:rPr sz="950" b="1">
                <a:solidFill>
                  <a:srgbClr val="44403C"/>
                </a:solidFill>
                <a:latin typeface="Microsoft JhengHei"/>
                <a:ea typeface="Microsoft JhengHei"/>
                <a:cs typeface="Microsoft JhengHei"/>
              </a:rPr>
              <a:t>09 / 10</a:t>
            </a:r>
          </a:p>
        </p:txBody>
      </p:sp>
      <p:sp>
        <p:nvSpPr>
          <p:cNvPr id="65" name="LINK_Rectangle 64">
            <a:hlinkClick r:id="rId3" action="ppaction://hlinksldjump"/>
          </p:cNvPr>
          <p:cNvSpPr/>
          <p:nvPr/>
        </p:nvSpPr>
        <p:spPr>
          <a:xfrm>
            <a:off x="8915400" y="254000"/>
            <a:ext cx="555327" cy="254000"/>
          </a:xfrm>
          <a:prstGeom prst="rect">
            <a:avLst/>
          </a:prstGeom>
          <a:solidFill>
            <a:srgbClr val="FFFFFF">
              <a:alpha val="0"/>
            </a:srgbClr>
          </a:solidFill>
          <a:ln>
            <a:noFill/>
          </a:ln>
          <a:effectLst/>
        </p:spPr>
        <p:txBody>
          <a:bodyPr rtlCol="0" anchor="ctr"/>
          <a:lstStyle/>
          <a:p>
            <a:pPr algn="ctr"/>
            <a:endParaRPr/>
          </a:p>
        </p:txBody>
      </p:sp>
      <p:sp>
        <p:nvSpPr>
          <p:cNvPr id="66" name="LINK_Rectangle 65">
            <a:hlinkClick r:id="rId4" action="ppaction://hlinksldjump"/>
          </p:cNvPr>
          <p:cNvSpPr/>
          <p:nvPr/>
        </p:nvSpPr>
        <p:spPr>
          <a:xfrm>
            <a:off x="9521527" y="254000"/>
            <a:ext cx="684014" cy="254000"/>
          </a:xfrm>
          <a:prstGeom prst="rect">
            <a:avLst/>
          </a:prstGeom>
          <a:solidFill>
            <a:srgbClr val="FFFFFF">
              <a:alpha val="0"/>
            </a:srgbClr>
          </a:solidFill>
          <a:ln>
            <a:noFill/>
          </a:ln>
          <a:effectLst/>
        </p:spPr>
        <p:txBody>
          <a:bodyPr rtlCol="0" anchor="ctr"/>
          <a:lstStyle/>
          <a:p>
            <a:pPr algn="ctr"/>
            <a:endParaRPr/>
          </a:p>
        </p:txBody>
      </p:sp>
      <p:sp>
        <p:nvSpPr>
          <p:cNvPr id="67" name="LINK_Rectangle 66">
            <a:hlinkClick r:id="rId5" action="ppaction://hlinksldjump"/>
          </p:cNvPr>
          <p:cNvSpPr/>
          <p:nvPr/>
        </p:nvSpPr>
        <p:spPr>
          <a:xfrm>
            <a:off x="10256341" y="254000"/>
            <a:ext cx="729952" cy="254000"/>
          </a:xfrm>
          <a:prstGeom prst="rect">
            <a:avLst/>
          </a:prstGeom>
          <a:solidFill>
            <a:srgbClr val="FFFFFF">
              <a:alpha val="0"/>
            </a:srgbClr>
          </a:solidFill>
          <a:ln>
            <a:noFill/>
          </a:ln>
          <a:effectLst/>
        </p:spPr>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482600" y="241300"/>
            <a:ext cx="9126776" cy="419100"/>
          </a:xfrm>
          <a:prstGeom prst="rect">
            <a:avLst/>
          </a:prstGeom>
          <a:noFill/>
        </p:spPr>
        <p:txBody>
          <a:bodyPr wrap="none" lIns="0" tIns="0" rIns="0" bIns="0" anchor="t">
            <a:noAutofit/>
          </a:bodyPr>
          <a:lstStyle/>
          <a:p>
            <a:pPr algn="l">
              <a:lnSpc>
                <a:spcPts val="2710"/>
              </a:lnSpc>
            </a:pPr>
            <a:r>
              <a:rPr sz="2300" b="1" spc="-23">
                <a:solidFill>
                  <a:srgbClr val="1C1917"/>
                </a:solidFill>
                <a:latin typeface="Microsoft JhengHei"/>
                <a:ea typeface="Microsoft JhengHei"/>
                <a:cs typeface="Microsoft JhengHei"/>
              </a:rPr>
              <a:t>Conclusion: Returning Mr. Hong to a Healthy Life</a:t>
            </a:r>
          </a:p>
        </p:txBody>
      </p:sp>
      <p:sp>
        <p:nvSpPr>
          <p:cNvPr id="4" name="TextBox 3"/>
          <p:cNvSpPr txBox="1"/>
          <p:nvPr/>
        </p:nvSpPr>
        <p:spPr>
          <a:xfrm>
            <a:off x="482600" y="649414"/>
            <a:ext cx="8334137" cy="215900"/>
          </a:xfrm>
          <a:prstGeom prst="rect">
            <a:avLst/>
          </a:prstGeom>
          <a:noFill/>
        </p:spPr>
        <p:txBody>
          <a:bodyPr wrap="none" lIns="0" tIns="0" rIns="0" bIns="0" anchor="t">
            <a:noAutofit/>
          </a:bodyPr>
          <a:lstStyle/>
          <a:p>
            <a:pPr algn="l">
              <a:lnSpc>
                <a:spcPts val="1550"/>
              </a:lnSpc>
            </a:pPr>
            <a:r>
              <a:rPr sz="1150" b="1">
                <a:solidFill>
                  <a:srgbClr val="1E2833"/>
                </a:solidFill>
                <a:latin typeface="Microsoft JhengHei"/>
                <a:ea typeface="Microsoft JhengHei"/>
                <a:cs typeface="Microsoft JhengHei"/>
              </a:rPr>
              <a:t>臨床實證二級預防：化解危機、重拾健康生活</a:t>
            </a:r>
            <a:r>
              <a:rPr sz="1150" b="0">
                <a:solidFill>
                  <a:srgbClr val="44403C"/>
                </a:solidFill>
                <a:latin typeface="Microsoft JhengHei"/>
                <a:ea typeface="Microsoft JhengHei"/>
                <a:cs typeface="Microsoft JhengHei"/>
              </a:rPr>
              <a:t> ｜ Transforming Acute Survival into Lifelong Protection</a:t>
            </a:r>
          </a:p>
        </p:txBody>
      </p:sp>
      <p:sp>
        <p:nvSpPr>
          <p:cNvPr id="5" name="Rounded Rectangle 4"/>
          <p:cNvSpPr/>
          <p:nvPr/>
        </p:nvSpPr>
        <p:spPr>
          <a:xfrm>
            <a:off x="482600" y="960818"/>
            <a:ext cx="6338506" cy="5071682"/>
          </a:xfrm>
          <a:prstGeom prst="roundRect">
            <a:avLst>
              <a:gd name="adj" fmla="val 2504"/>
            </a:avLst>
          </a:prstGeom>
          <a:solidFill>
            <a:srgbClr val="2D6A4F">
              <a:alpha val="8000"/>
            </a:srgbClr>
          </a:solidFill>
          <a:ln>
            <a:noFill/>
          </a:ln>
          <a:effectLst/>
        </p:spPr>
        <p:txBody>
          <a:bodyPr rtlCol="0" anchor="ctr"/>
          <a:lstStyle/>
          <a:p>
            <a:endParaRPr/>
          </a:p>
        </p:txBody>
      </p:sp>
      <p:sp>
        <p:nvSpPr>
          <p:cNvPr id="6" name="Rectangle 5"/>
          <p:cNvSpPr/>
          <p:nvPr/>
        </p:nvSpPr>
        <p:spPr>
          <a:xfrm>
            <a:off x="482600" y="960818"/>
            <a:ext cx="6338506" cy="50800"/>
          </a:xfrm>
          <a:prstGeom prst="rect">
            <a:avLst/>
          </a:prstGeom>
          <a:solidFill>
            <a:srgbClr val="2D6A4F"/>
          </a:solidFill>
          <a:ln>
            <a:noFill/>
          </a:ln>
          <a:effectLst/>
        </p:spPr>
        <p:txBody>
          <a:bodyPr rtlCol="0" anchor="ctr"/>
          <a:lstStyle/>
          <a:p>
            <a:endParaRPr/>
          </a:p>
        </p:txBody>
      </p:sp>
      <p:sp>
        <p:nvSpPr>
          <p:cNvPr id="7" name="Rectangle 6"/>
          <p:cNvSpPr/>
          <p:nvPr/>
        </p:nvSpPr>
        <p:spPr>
          <a:xfrm>
            <a:off x="6808406" y="960818"/>
            <a:ext cx="12700" cy="5071682"/>
          </a:xfrm>
          <a:prstGeom prst="rect">
            <a:avLst/>
          </a:prstGeom>
          <a:solidFill>
            <a:srgbClr val="E2DDD5"/>
          </a:solidFill>
          <a:ln>
            <a:noFill/>
          </a:ln>
          <a:effectLst/>
        </p:spPr>
        <p:txBody>
          <a:bodyPr rtlCol="0" anchor="ctr"/>
          <a:lstStyle/>
          <a:p>
            <a:endParaRPr/>
          </a:p>
        </p:txBody>
      </p:sp>
      <p:sp>
        <p:nvSpPr>
          <p:cNvPr id="8" name="Rectangle 7"/>
          <p:cNvSpPr/>
          <p:nvPr/>
        </p:nvSpPr>
        <p:spPr>
          <a:xfrm>
            <a:off x="482600" y="6019800"/>
            <a:ext cx="6338506" cy="12700"/>
          </a:xfrm>
          <a:prstGeom prst="rect">
            <a:avLst/>
          </a:prstGeom>
          <a:solidFill>
            <a:srgbClr val="E2DDD5"/>
          </a:solidFill>
          <a:ln>
            <a:noFill/>
          </a:ln>
          <a:effectLst/>
        </p:spPr>
        <p:txBody>
          <a:bodyPr rtlCol="0" anchor="ctr"/>
          <a:lstStyle/>
          <a:p>
            <a:endParaRPr/>
          </a:p>
        </p:txBody>
      </p:sp>
      <p:sp>
        <p:nvSpPr>
          <p:cNvPr id="9" name="Rectangle 8"/>
          <p:cNvSpPr/>
          <p:nvPr/>
        </p:nvSpPr>
        <p:spPr>
          <a:xfrm>
            <a:off x="482600" y="960818"/>
            <a:ext cx="12700" cy="5071682"/>
          </a:xfrm>
          <a:prstGeom prst="rect">
            <a:avLst/>
          </a:prstGeom>
          <a:solidFill>
            <a:srgbClr val="E2DDD5"/>
          </a:solidFill>
          <a:ln>
            <a:noFill/>
          </a:ln>
          <a:effectLst/>
        </p:spPr>
        <p:txBody>
          <a:bodyPr rtlCol="0" anchor="ctr"/>
          <a:lstStyle/>
          <a:p>
            <a:endParaRPr/>
          </a:p>
        </p:txBody>
      </p:sp>
      <p:sp>
        <p:nvSpPr>
          <p:cNvPr id="10" name="Rounded Rectangle 9"/>
          <p:cNvSpPr/>
          <p:nvPr/>
        </p:nvSpPr>
        <p:spPr>
          <a:xfrm>
            <a:off x="660400" y="1151318"/>
            <a:ext cx="1807083" cy="209550"/>
          </a:xfrm>
          <a:prstGeom prst="roundRect">
            <a:avLst>
              <a:gd name="adj" fmla="val 50000"/>
            </a:avLst>
          </a:prstGeom>
          <a:solidFill>
            <a:srgbClr val="2D6A4F">
              <a:alpha val="8000"/>
            </a:srgbClr>
          </a:solidFill>
          <a:ln>
            <a:noFill/>
          </a:ln>
          <a:effectLst/>
        </p:spPr>
        <p:txBody>
          <a:bodyPr rtlCol="0" anchor="ctr"/>
          <a:lstStyle/>
          <a:p>
            <a:endParaRPr/>
          </a:p>
        </p:txBody>
      </p:sp>
      <p:sp>
        <p:nvSpPr>
          <p:cNvPr id="11" name="TextBox 10"/>
          <p:cNvSpPr txBox="1"/>
          <p:nvPr/>
        </p:nvSpPr>
        <p:spPr>
          <a:xfrm>
            <a:off x="749300" y="1176718"/>
            <a:ext cx="2036604" cy="158750"/>
          </a:xfrm>
          <a:prstGeom prst="rect">
            <a:avLst/>
          </a:prstGeom>
          <a:noFill/>
        </p:spPr>
        <p:txBody>
          <a:bodyPr wrap="none" lIns="0" tIns="0" rIns="0" bIns="0" anchor="t">
            <a:noAutofit/>
          </a:bodyPr>
          <a:lstStyle/>
          <a:p>
            <a:pPr algn="l">
              <a:lnSpc>
                <a:spcPts val="1190"/>
              </a:lnSpc>
            </a:pPr>
            <a:r>
              <a:rPr sz="850" b="1">
                <a:solidFill>
                  <a:srgbClr val="2D6A4F"/>
                </a:solidFill>
                <a:latin typeface="Microsoft JhengHei"/>
                <a:ea typeface="Microsoft JhengHei"/>
                <a:cs typeface="Microsoft JhengHei"/>
              </a:rPr>
              <a:t>Key Takeaways ｜ 核心臨床結論</a:t>
            </a:r>
          </a:p>
        </p:txBody>
      </p:sp>
      <p:sp>
        <p:nvSpPr>
          <p:cNvPr id="12" name="TextBox 11"/>
          <p:cNvSpPr txBox="1"/>
          <p:nvPr/>
        </p:nvSpPr>
        <p:spPr>
          <a:xfrm>
            <a:off x="660400" y="1386268"/>
            <a:ext cx="3999151" cy="279400"/>
          </a:xfrm>
          <a:prstGeom prst="rect">
            <a:avLst/>
          </a:prstGeom>
          <a:noFill/>
        </p:spPr>
        <p:txBody>
          <a:bodyPr wrap="none" lIns="0" tIns="0" rIns="0" bIns="0" anchor="t">
            <a:noAutofit/>
          </a:bodyPr>
          <a:lstStyle/>
          <a:p>
            <a:pPr algn="l">
              <a:lnSpc>
                <a:spcPts val="1880"/>
              </a:lnSpc>
            </a:pPr>
            <a:r>
              <a:rPr sz="1500" b="1">
                <a:solidFill>
                  <a:srgbClr val="2D6A4F"/>
                </a:solidFill>
                <a:latin typeface="Microsoft JhengHei"/>
                <a:ea typeface="Microsoft JhengHei"/>
                <a:cs typeface="Microsoft JhengHei"/>
              </a:rPr>
              <a:t>Summary of Evidence </a:t>
            </a:r>
            <a:r>
              <a:rPr sz="1200" b="1">
                <a:solidFill>
                  <a:srgbClr val="78716C"/>
                </a:solidFill>
                <a:latin typeface="Microsoft JhengHei"/>
                <a:ea typeface="Microsoft JhengHei"/>
                <a:cs typeface="Microsoft JhengHei"/>
              </a:rPr>
              <a:t>(實證結論精華)</a:t>
            </a:r>
          </a:p>
        </p:txBody>
      </p:sp>
      <p:sp>
        <p:nvSpPr>
          <p:cNvPr id="13" name="TextBox 12"/>
          <p:cNvSpPr txBox="1"/>
          <p:nvPr/>
        </p:nvSpPr>
        <p:spPr>
          <a:xfrm>
            <a:off x="825500" y="1706944"/>
            <a:ext cx="5817806"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Stents are Focal:</a:t>
            </a:r>
            <a:r>
              <a:rPr sz="1150" b="0">
                <a:solidFill>
                  <a:srgbClr val="44403C"/>
                </a:solidFill>
                <a:latin typeface="Microsoft JhengHei"/>
                <a:ea typeface="Microsoft JhengHei"/>
                <a:cs typeface="Microsoft JhengHei"/>
              </a:rPr>
              <a:t> Treats 48 mm of thrombosis; systemic LDL lowering protects the remaining 95% of vessels.</a:t>
            </a:r>
          </a:p>
        </p:txBody>
      </p:sp>
      <p:sp>
        <p:nvSpPr>
          <p:cNvPr id="14" name="TextBox 13"/>
          <p:cNvSpPr txBox="1"/>
          <p:nvPr/>
        </p:nvSpPr>
        <p:spPr>
          <a:xfrm>
            <a:off x="825500" y="2149475"/>
            <a:ext cx="3926681"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支架處理 48 毫米血栓，全身降脂保護其餘 95% 冠狀動脈。</a:t>
            </a:r>
          </a:p>
        </p:txBody>
      </p:sp>
      <p:sp>
        <p:nvSpPr>
          <p:cNvPr id="15" name="TextBox 14"/>
          <p:cNvSpPr txBox="1"/>
          <p:nvPr/>
        </p:nvSpPr>
        <p:spPr>
          <a:xfrm>
            <a:off x="825500" y="2356168"/>
            <a:ext cx="5817806"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Lifestyle is Fundamental:</a:t>
            </a:r>
            <a:r>
              <a:rPr sz="1150" b="0">
                <a:solidFill>
                  <a:srgbClr val="44403C"/>
                </a:solidFill>
                <a:latin typeface="Microsoft JhengHei"/>
                <a:ea typeface="Microsoft JhengHei"/>
                <a:cs typeface="Microsoft JhengHei"/>
              </a:rPr>
              <a:t> Diet, fiber, plant stanols, and cardiac rehab are non-negotiable foundations.</a:t>
            </a:r>
          </a:p>
        </p:txBody>
      </p:sp>
      <p:sp>
        <p:nvSpPr>
          <p:cNvPr id="16" name="TextBox 15"/>
          <p:cNvSpPr txBox="1"/>
          <p:nvPr/>
        </p:nvSpPr>
        <p:spPr>
          <a:xfrm>
            <a:off x="825500" y="2798636"/>
            <a:ext cx="4675188"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地中海飲食、膳食纖維、植物固醇與心臟復健是終生不可或缺的基石。</a:t>
            </a:r>
          </a:p>
        </p:txBody>
      </p:sp>
      <p:sp>
        <p:nvSpPr>
          <p:cNvPr id="17" name="TextBox 16"/>
          <p:cNvSpPr txBox="1"/>
          <p:nvPr/>
        </p:nvSpPr>
        <p:spPr>
          <a:xfrm>
            <a:off x="825500" y="3005328"/>
            <a:ext cx="5817806" cy="427609"/>
          </a:xfrm>
          <a:prstGeom prst="rect">
            <a:avLst/>
          </a:prstGeom>
          <a:noFill/>
        </p:spPr>
        <p:txBody>
          <a:bodyPr wrap="squar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Combination Upfront:</a:t>
            </a:r>
            <a:r>
              <a:rPr sz="1150" b="0">
                <a:solidFill>
                  <a:srgbClr val="44403C"/>
                </a:solidFill>
                <a:latin typeface="Microsoft JhengHei"/>
                <a:ea typeface="Microsoft JhengHei"/>
                <a:cs typeface="Microsoft JhengHei"/>
              </a:rPr>
              <a:t> Statin + ezetimibe delivers a 65% drop without waiting delays.</a:t>
            </a:r>
          </a:p>
        </p:txBody>
      </p:sp>
      <p:sp>
        <p:nvSpPr>
          <p:cNvPr id="18" name="TextBox 17"/>
          <p:cNvSpPr txBox="1"/>
          <p:nvPr/>
        </p:nvSpPr>
        <p:spPr>
          <a:xfrm>
            <a:off x="825500" y="3447860"/>
            <a:ext cx="3993436"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出院前及早雙藥合併，兼顧 65% 強效達標率與高度安全性。</a:t>
            </a:r>
          </a:p>
        </p:txBody>
      </p:sp>
      <p:sp>
        <p:nvSpPr>
          <p:cNvPr id="19" name="TextBox 18"/>
          <p:cNvSpPr txBox="1"/>
          <p:nvPr/>
        </p:nvSpPr>
        <p:spPr>
          <a:xfrm>
            <a:off x="825500" y="3654552"/>
            <a:ext cx="6850777" cy="215900"/>
          </a:xfrm>
          <a:prstGeom prst="rect">
            <a:avLst/>
          </a:prstGeom>
          <a:noFill/>
        </p:spPr>
        <p:txBody>
          <a:bodyPr wrap="none" lIns="0" tIns="0" rIns="0" bIns="0" anchor="t">
            <a:noAutofit/>
          </a:bodyPr>
          <a:lstStyle/>
          <a:p>
            <a:pPr algn="l">
              <a:lnSpc>
                <a:spcPts val="1670"/>
              </a:lnSpc>
            </a:pPr>
            <a:r>
              <a:rPr sz="1150" b="0">
                <a:solidFill>
                  <a:srgbClr val="44403C"/>
                </a:solidFill>
                <a:latin typeface="Microsoft JhengHei"/>
                <a:ea typeface="Microsoft JhengHei"/>
                <a:cs typeface="Microsoft JhengHei"/>
              </a:rPr>
              <a:t>• </a:t>
            </a:r>
            <a:r>
              <a:rPr sz="1150" b="1">
                <a:solidFill>
                  <a:srgbClr val="44403C"/>
                </a:solidFill>
                <a:latin typeface="Microsoft JhengHei"/>
                <a:ea typeface="Microsoft JhengHei"/>
                <a:cs typeface="Microsoft JhengHei"/>
              </a:rPr>
              <a:t>PCSK9i for High Risk:</a:t>
            </a:r>
            <a:r>
              <a:rPr sz="1150" b="0">
                <a:solidFill>
                  <a:srgbClr val="44403C"/>
                </a:solidFill>
                <a:latin typeface="Microsoft JhengHei"/>
                <a:ea typeface="Microsoft JhengHei"/>
                <a:cs typeface="Microsoft JhengHei"/>
              </a:rPr>
              <a:t> Rapidly escalate if LDL remains ≥ 55 mg/dL at 4–6 weeks.</a:t>
            </a:r>
          </a:p>
        </p:txBody>
      </p:sp>
      <p:sp>
        <p:nvSpPr>
          <p:cNvPr id="20" name="TextBox 19"/>
          <p:cNvSpPr txBox="1"/>
          <p:nvPr/>
        </p:nvSpPr>
        <p:spPr>
          <a:xfrm>
            <a:off x="825500" y="3885311"/>
            <a:ext cx="4059158" cy="171450"/>
          </a:xfrm>
          <a:prstGeom prst="rect">
            <a:avLst/>
          </a:prstGeom>
          <a:noFill/>
        </p:spPr>
        <p:txBody>
          <a:bodyPr wrap="none" lIns="0" tIns="0" rIns="0" bIns="0" anchor="t">
            <a:noAutofit/>
          </a:bodyPr>
          <a:lstStyle/>
          <a:p>
            <a:pPr algn="l">
              <a:lnSpc>
                <a:spcPts val="1380"/>
              </a:lnSpc>
            </a:pPr>
            <a:r>
              <a:rPr sz="950" b="0">
                <a:solidFill>
                  <a:srgbClr val="78716C"/>
                </a:solidFill>
                <a:latin typeface="Microsoft JhengHei"/>
                <a:ea typeface="Microsoft JhengHei"/>
                <a:cs typeface="Microsoft JhengHei"/>
              </a:rPr>
              <a:t>4–6 週回診未達標 55 者，果斷升級 PCSK9 抑制劑三聯療法。</a:t>
            </a:r>
          </a:p>
        </p:txBody>
      </p:sp>
      <p:sp>
        <p:nvSpPr>
          <p:cNvPr id="21" name="Rounded Rectangle 20"/>
          <p:cNvSpPr/>
          <p:nvPr/>
        </p:nvSpPr>
        <p:spPr>
          <a:xfrm>
            <a:off x="660400" y="5372100"/>
            <a:ext cx="5982906" cy="508000"/>
          </a:xfrm>
          <a:prstGeom prst="roundRect">
            <a:avLst>
              <a:gd name="adj" fmla="val 15000"/>
            </a:avLst>
          </a:prstGeom>
          <a:solidFill>
            <a:srgbClr val="2D6A4F">
              <a:alpha val="8000"/>
            </a:srgbClr>
          </a:solidFill>
          <a:ln>
            <a:noFill/>
          </a:ln>
          <a:effectLst/>
        </p:spPr>
        <p:txBody>
          <a:bodyPr rtlCol="0" anchor="ctr"/>
          <a:lstStyle/>
          <a:p>
            <a:endParaRPr/>
          </a:p>
        </p:txBody>
      </p:sp>
      <p:sp>
        <p:nvSpPr>
          <p:cNvPr id="22" name="TextBox 21"/>
          <p:cNvSpPr txBox="1"/>
          <p:nvPr/>
        </p:nvSpPr>
        <p:spPr>
          <a:xfrm>
            <a:off x="774700" y="5448300"/>
            <a:ext cx="5686346" cy="184150"/>
          </a:xfrm>
          <a:prstGeom prst="rect">
            <a:avLst/>
          </a:prstGeom>
          <a:noFill/>
        </p:spPr>
        <p:txBody>
          <a:bodyPr wrap="none" lIns="0" tIns="0" rIns="0" bIns="0" anchor="t">
            <a:noAutofit/>
          </a:bodyPr>
          <a:lstStyle/>
          <a:p>
            <a:pPr algn="l">
              <a:lnSpc>
                <a:spcPts val="1400"/>
              </a:lnSpc>
            </a:pPr>
            <a:r>
              <a:rPr sz="1000" b="1">
                <a:solidFill>
                  <a:srgbClr val="2D6A4F"/>
                </a:solidFill>
                <a:latin typeface="Microsoft JhengHei"/>
                <a:ea typeface="Microsoft JhengHei"/>
                <a:cs typeface="Microsoft JhengHei"/>
              </a:rPr>
              <a:t>✓ Mr. Hong achieved LDL 52 mg/dL at 6 weeks and resumed active work</a:t>
            </a:r>
          </a:p>
        </p:txBody>
      </p:sp>
      <p:sp>
        <p:nvSpPr>
          <p:cNvPr id="23" name="TextBox 22"/>
          <p:cNvSpPr txBox="1"/>
          <p:nvPr/>
        </p:nvSpPr>
        <p:spPr>
          <a:xfrm>
            <a:off x="774700" y="5645150"/>
            <a:ext cx="3771344" cy="158750"/>
          </a:xfrm>
          <a:prstGeom prst="rect">
            <a:avLst/>
          </a:prstGeom>
          <a:noFill/>
        </p:spPr>
        <p:txBody>
          <a:bodyPr wrap="none" lIns="0" tIns="0" rIns="0" bIns="0" anchor="t">
            <a:noAutofit/>
          </a:bodyPr>
          <a:lstStyle/>
          <a:p>
            <a:pPr algn="l">
              <a:lnSpc>
                <a:spcPts val="1190"/>
              </a:lnSpc>
            </a:pPr>
            <a:r>
              <a:rPr sz="850" b="1">
                <a:solidFill>
                  <a:srgbClr val="427860"/>
                </a:solidFill>
                <a:latin typeface="Microsoft JhengHei"/>
                <a:ea typeface="Microsoft JhengHei"/>
                <a:cs typeface="Microsoft JhengHei"/>
              </a:rPr>
              <a:t>洪先生 6 週回診順利達到 LDL 52 mg/dL，達標並重拾活力人生</a:t>
            </a:r>
          </a:p>
        </p:txBody>
      </p:sp>
      <p:sp>
        <p:nvSpPr>
          <p:cNvPr id="24" name="Rounded Rectangle 23"/>
          <p:cNvSpPr/>
          <p:nvPr/>
        </p:nvSpPr>
        <p:spPr>
          <a:xfrm>
            <a:off x="7024306" y="960818"/>
            <a:ext cx="4685094" cy="5071682"/>
          </a:xfrm>
          <a:prstGeom prst="roundRect">
            <a:avLst>
              <a:gd name="adj" fmla="val 2710"/>
            </a:avLst>
          </a:prstGeom>
          <a:solidFill>
            <a:srgbClr val="1E2833">
              <a:alpha val="8000"/>
            </a:srgbClr>
          </a:solidFill>
          <a:ln>
            <a:noFill/>
          </a:ln>
          <a:effectLst/>
        </p:spPr>
        <p:txBody>
          <a:bodyPr rtlCol="0" anchor="ctr"/>
          <a:lstStyle/>
          <a:p>
            <a:endParaRPr/>
          </a:p>
        </p:txBody>
      </p:sp>
      <p:sp>
        <p:nvSpPr>
          <p:cNvPr id="25" name="Rectangle 24"/>
          <p:cNvSpPr/>
          <p:nvPr/>
        </p:nvSpPr>
        <p:spPr>
          <a:xfrm>
            <a:off x="7024306" y="960818"/>
            <a:ext cx="4685094" cy="50800"/>
          </a:xfrm>
          <a:prstGeom prst="rect">
            <a:avLst/>
          </a:prstGeom>
          <a:solidFill>
            <a:srgbClr val="1E2833"/>
          </a:solidFill>
          <a:ln>
            <a:noFill/>
          </a:ln>
          <a:effectLst/>
        </p:spPr>
        <p:txBody>
          <a:bodyPr rtlCol="0" anchor="ctr"/>
          <a:lstStyle/>
          <a:p>
            <a:endParaRPr/>
          </a:p>
        </p:txBody>
      </p:sp>
      <p:sp>
        <p:nvSpPr>
          <p:cNvPr id="26" name="Rectangle 25"/>
          <p:cNvSpPr/>
          <p:nvPr/>
        </p:nvSpPr>
        <p:spPr>
          <a:xfrm>
            <a:off x="11696700" y="960818"/>
            <a:ext cx="12700" cy="5071682"/>
          </a:xfrm>
          <a:prstGeom prst="rect">
            <a:avLst/>
          </a:prstGeom>
          <a:solidFill>
            <a:srgbClr val="E2DDD5"/>
          </a:solidFill>
          <a:ln>
            <a:noFill/>
          </a:ln>
          <a:effectLst/>
        </p:spPr>
        <p:txBody>
          <a:bodyPr rtlCol="0" anchor="ctr"/>
          <a:lstStyle/>
          <a:p>
            <a:endParaRPr/>
          </a:p>
        </p:txBody>
      </p:sp>
      <p:sp>
        <p:nvSpPr>
          <p:cNvPr id="27" name="Rectangle 26"/>
          <p:cNvSpPr/>
          <p:nvPr/>
        </p:nvSpPr>
        <p:spPr>
          <a:xfrm>
            <a:off x="7024306" y="6019800"/>
            <a:ext cx="4685094" cy="12700"/>
          </a:xfrm>
          <a:prstGeom prst="rect">
            <a:avLst/>
          </a:prstGeom>
          <a:solidFill>
            <a:srgbClr val="E2DDD5"/>
          </a:solidFill>
          <a:ln>
            <a:noFill/>
          </a:ln>
          <a:effectLst/>
        </p:spPr>
        <p:txBody>
          <a:bodyPr rtlCol="0" anchor="ctr"/>
          <a:lstStyle/>
          <a:p>
            <a:endParaRPr/>
          </a:p>
        </p:txBody>
      </p:sp>
      <p:sp>
        <p:nvSpPr>
          <p:cNvPr id="28" name="Rectangle 27"/>
          <p:cNvSpPr/>
          <p:nvPr/>
        </p:nvSpPr>
        <p:spPr>
          <a:xfrm>
            <a:off x="7024306" y="960818"/>
            <a:ext cx="12700" cy="5071682"/>
          </a:xfrm>
          <a:prstGeom prst="rect">
            <a:avLst/>
          </a:prstGeom>
          <a:solidFill>
            <a:srgbClr val="E2DDD5"/>
          </a:solidFill>
          <a:ln>
            <a:noFill/>
          </a:ln>
          <a:effectLst/>
        </p:spPr>
        <p:txBody>
          <a:bodyPr rtlCol="0" anchor="ctr"/>
          <a:lstStyle/>
          <a:p>
            <a:endParaRPr/>
          </a:p>
        </p:txBody>
      </p:sp>
      <p:sp>
        <p:nvSpPr>
          <p:cNvPr id="29" name="Rounded Rectangle 28"/>
          <p:cNvSpPr/>
          <p:nvPr/>
        </p:nvSpPr>
        <p:spPr>
          <a:xfrm>
            <a:off x="8483473" y="1151318"/>
            <a:ext cx="1766697" cy="209550"/>
          </a:xfrm>
          <a:prstGeom prst="roundRect">
            <a:avLst>
              <a:gd name="adj" fmla="val 50000"/>
            </a:avLst>
          </a:prstGeom>
          <a:solidFill>
            <a:srgbClr val="1E2833">
              <a:alpha val="8000"/>
            </a:srgbClr>
          </a:solidFill>
          <a:ln>
            <a:noFill/>
          </a:ln>
          <a:effectLst/>
        </p:spPr>
        <p:txBody>
          <a:bodyPr rtlCol="0" anchor="ctr"/>
          <a:lstStyle/>
          <a:p>
            <a:endParaRPr/>
          </a:p>
        </p:txBody>
      </p:sp>
      <p:sp>
        <p:nvSpPr>
          <p:cNvPr id="30" name="TextBox 29"/>
          <p:cNvSpPr txBox="1"/>
          <p:nvPr/>
        </p:nvSpPr>
        <p:spPr>
          <a:xfrm>
            <a:off x="8373761" y="1176718"/>
            <a:ext cx="1986121" cy="158750"/>
          </a:xfrm>
          <a:prstGeom prst="rect">
            <a:avLst/>
          </a:prstGeom>
          <a:noFill/>
        </p:spPr>
        <p:txBody>
          <a:bodyPr wrap="none" lIns="0" tIns="0" rIns="0" bIns="0" anchor="t">
            <a:noAutofit/>
          </a:bodyPr>
          <a:lstStyle/>
          <a:p>
            <a:pPr algn="ctr">
              <a:lnSpc>
                <a:spcPts val="1190"/>
              </a:lnSpc>
            </a:pPr>
            <a:r>
              <a:rPr sz="850" b="1">
                <a:solidFill>
                  <a:srgbClr val="1E2833"/>
                </a:solidFill>
                <a:latin typeface="Microsoft JhengHei"/>
                <a:ea typeface="Microsoft JhengHei"/>
                <a:cs typeface="Microsoft JhengHei"/>
              </a:rPr>
              <a:t>Bilingual Deck ｜ 雙語互動簡報</a:t>
            </a:r>
          </a:p>
        </p:txBody>
      </p:sp>
      <p:sp>
        <p:nvSpPr>
          <p:cNvPr id="31" name="TextBox 30"/>
          <p:cNvSpPr txBox="1"/>
          <p:nvPr/>
        </p:nvSpPr>
        <p:spPr>
          <a:xfrm>
            <a:off x="7591830" y="1392618"/>
            <a:ext cx="3550047" cy="234950"/>
          </a:xfrm>
          <a:prstGeom prst="rect">
            <a:avLst/>
          </a:prstGeom>
          <a:noFill/>
        </p:spPr>
        <p:txBody>
          <a:bodyPr wrap="none" lIns="0" tIns="0" rIns="0" bIns="0" anchor="t">
            <a:noAutofit/>
          </a:bodyPr>
          <a:lstStyle/>
          <a:p>
            <a:pPr algn="ctr">
              <a:lnSpc>
                <a:spcPts val="1620"/>
              </a:lnSpc>
            </a:pPr>
            <a:r>
              <a:rPr sz="1300" b="1">
                <a:solidFill>
                  <a:srgbClr val="1E2833"/>
                </a:solidFill>
                <a:latin typeface="Microsoft JhengHei"/>
                <a:ea typeface="Microsoft JhengHei"/>
                <a:cs typeface="Microsoft JhengHei"/>
              </a:rPr>
              <a:t>Scan for Mobile Deck </a:t>
            </a:r>
            <a:r>
              <a:rPr sz="1200" b="1">
                <a:solidFill>
                  <a:srgbClr val="78716C"/>
                </a:solidFill>
                <a:latin typeface="Microsoft JhengHei"/>
                <a:ea typeface="Microsoft JhengHei"/>
                <a:cs typeface="Microsoft JhengHei"/>
              </a:rPr>
              <a:t>(手機掃描即閱)</a:t>
            </a:r>
          </a:p>
        </p:txBody>
      </p:sp>
      <p:sp>
        <p:nvSpPr>
          <p:cNvPr id="32" name="TextBox 31"/>
          <p:cNvSpPr txBox="1"/>
          <p:nvPr/>
        </p:nvSpPr>
        <p:spPr>
          <a:xfrm>
            <a:off x="7758033" y="1681544"/>
            <a:ext cx="3217704" cy="165100"/>
          </a:xfrm>
          <a:prstGeom prst="rect">
            <a:avLst/>
          </a:prstGeom>
          <a:noFill/>
        </p:spPr>
        <p:txBody>
          <a:bodyPr wrap="none" lIns="0" tIns="0" rIns="0" bIns="0" anchor="t">
            <a:noAutofit/>
          </a:bodyPr>
          <a:lstStyle/>
          <a:p>
            <a:pPr algn="ctr">
              <a:lnSpc>
                <a:spcPts val="1300"/>
              </a:lnSpc>
            </a:pPr>
            <a:r>
              <a:rPr sz="900" b="0">
                <a:solidFill>
                  <a:srgbClr val="78716C"/>
                </a:solidFill>
                <a:latin typeface="Microsoft JhengHei"/>
                <a:ea typeface="Microsoft JhengHei"/>
                <a:cs typeface="Microsoft JhengHei"/>
              </a:rPr>
              <a:t>雙語配音切換 (Will 英文 ｜ 大豪2 中文) ＋ 同步字幕</a:t>
            </a:r>
          </a:p>
        </p:txBody>
      </p:sp>
      <p:pic>
        <p:nvPicPr>
          <p:cNvPr id="33" name="Picture 32" descr="qrcode.png"/>
          <p:cNvPicPr>
            <a:picLocks noChangeAspect="1"/>
          </p:cNvPicPr>
          <p:nvPr/>
        </p:nvPicPr>
        <p:blipFill>
          <a:blip r:embed="rId3"/>
          <a:stretch>
            <a:fillRect/>
          </a:stretch>
        </p:blipFill>
        <p:spPr>
          <a:xfrm>
            <a:off x="8842946" y="1910779"/>
            <a:ext cx="1047750" cy="1047750"/>
          </a:xfrm>
          <a:prstGeom prst="rect">
            <a:avLst/>
          </a:prstGeom>
        </p:spPr>
      </p:pic>
      <p:sp>
        <p:nvSpPr>
          <p:cNvPr id="34" name="TextBox 33"/>
          <p:cNvSpPr txBox="1"/>
          <p:nvPr/>
        </p:nvSpPr>
        <p:spPr>
          <a:xfrm>
            <a:off x="7665728" y="3015678"/>
            <a:ext cx="3402251" cy="158750"/>
          </a:xfrm>
          <a:prstGeom prst="rect">
            <a:avLst/>
          </a:prstGeom>
          <a:noFill/>
        </p:spPr>
        <p:txBody>
          <a:bodyPr wrap="none" lIns="0" tIns="0" rIns="0" bIns="0" anchor="t">
            <a:noAutofit/>
          </a:bodyPr>
          <a:lstStyle/>
          <a:p>
            <a:pPr algn="ctr">
              <a:lnSpc>
                <a:spcPts val="1230"/>
              </a:lnSpc>
            </a:pPr>
            <a:r>
              <a:rPr sz="850" b="1">
                <a:solidFill>
                  <a:srgbClr val="1E2833"/>
                </a:solidFill>
                <a:latin typeface="Microsoft JhengHei"/>
                <a:ea typeface="Microsoft JhengHei"/>
                <a:cs typeface="Microsoft JhengHei"/>
              </a:rPr>
              <a:t>https://a7662888.github.io/stemi-ldl-management/</a:t>
            </a:r>
          </a:p>
        </p:txBody>
      </p:sp>
      <p:sp>
        <p:nvSpPr>
          <p:cNvPr id="35" name="TextBox 34"/>
          <p:cNvSpPr txBox="1"/>
          <p:nvPr/>
        </p:nvSpPr>
        <p:spPr>
          <a:xfrm>
            <a:off x="7893860" y="3197542"/>
            <a:ext cx="2945924" cy="152400"/>
          </a:xfrm>
          <a:prstGeom prst="rect">
            <a:avLst/>
          </a:prstGeom>
          <a:noFill/>
        </p:spPr>
        <p:txBody>
          <a:bodyPr wrap="none" lIns="0" tIns="0" rIns="0" bIns="0" anchor="t">
            <a:noAutofit/>
          </a:bodyPr>
          <a:lstStyle/>
          <a:p>
            <a:pPr algn="ctr">
              <a:lnSpc>
                <a:spcPts val="1160"/>
              </a:lnSpc>
            </a:pPr>
            <a:r>
              <a:rPr sz="800" b="0">
                <a:solidFill>
                  <a:srgbClr val="78716C"/>
                </a:solidFill>
                <a:latin typeface="Microsoft JhengHei"/>
                <a:ea typeface="Microsoft JhengHei"/>
                <a:cs typeface="Microsoft JhengHei"/>
              </a:rPr>
              <a:t>Author: CHEN, CHIH-WEI (陳致瑋) ｜ NTU Medicine</a:t>
            </a:r>
          </a:p>
        </p:txBody>
      </p:sp>
      <p:sp>
        <p:nvSpPr>
          <p:cNvPr id="36" name="Rounded Rectangle 35"/>
          <p:cNvSpPr/>
          <p:nvPr/>
        </p:nvSpPr>
        <p:spPr>
          <a:xfrm>
            <a:off x="7202106" y="5384800"/>
            <a:ext cx="4329494" cy="495300"/>
          </a:xfrm>
          <a:prstGeom prst="roundRect">
            <a:avLst>
              <a:gd name="adj" fmla="val 15384"/>
            </a:avLst>
          </a:prstGeom>
          <a:solidFill>
            <a:srgbClr val="D4A373">
              <a:alpha val="12000"/>
            </a:srgbClr>
          </a:solidFill>
          <a:ln>
            <a:noFill/>
          </a:ln>
          <a:effectLst/>
        </p:spPr>
        <p:txBody>
          <a:bodyPr rtlCol="0" anchor="ctr"/>
          <a:lstStyle/>
          <a:p>
            <a:endParaRPr/>
          </a:p>
        </p:txBody>
      </p:sp>
      <p:sp>
        <p:nvSpPr>
          <p:cNvPr id="37" name="TextBox 36"/>
          <p:cNvSpPr txBox="1"/>
          <p:nvPr/>
        </p:nvSpPr>
        <p:spPr>
          <a:xfrm>
            <a:off x="8105061" y="5461000"/>
            <a:ext cx="2523649" cy="171450"/>
          </a:xfrm>
          <a:prstGeom prst="rect">
            <a:avLst/>
          </a:prstGeom>
          <a:noFill/>
        </p:spPr>
        <p:txBody>
          <a:bodyPr wrap="none" lIns="0" tIns="0" rIns="0" bIns="0" anchor="t">
            <a:noAutofit/>
          </a:bodyPr>
          <a:lstStyle/>
          <a:p>
            <a:pPr algn="ctr">
              <a:lnSpc>
                <a:spcPts val="1330"/>
              </a:lnSpc>
            </a:pPr>
            <a:r>
              <a:rPr sz="950" b="1">
                <a:solidFill>
                  <a:srgbClr val="8C5E2D"/>
                </a:solidFill>
                <a:latin typeface="Microsoft JhengHei"/>
                <a:ea typeface="Microsoft JhengHei"/>
                <a:cs typeface="Microsoft JhengHei"/>
              </a:rPr>
              <a:t>Thank You ｜ Open for Discussion</a:t>
            </a:r>
          </a:p>
        </p:txBody>
      </p:sp>
      <p:sp>
        <p:nvSpPr>
          <p:cNvPr id="38" name="TextBox 37"/>
          <p:cNvSpPr txBox="1"/>
          <p:nvPr/>
        </p:nvSpPr>
        <p:spPr>
          <a:xfrm>
            <a:off x="8121745" y="5645150"/>
            <a:ext cx="2490152" cy="158750"/>
          </a:xfrm>
          <a:prstGeom prst="rect">
            <a:avLst/>
          </a:prstGeom>
          <a:noFill/>
        </p:spPr>
        <p:txBody>
          <a:bodyPr wrap="none" lIns="0" tIns="0" rIns="0" bIns="0" anchor="t">
            <a:noAutofit/>
          </a:bodyPr>
          <a:lstStyle/>
          <a:p>
            <a:pPr algn="ctr">
              <a:lnSpc>
                <a:spcPts val="1190"/>
              </a:lnSpc>
            </a:pPr>
            <a:r>
              <a:rPr sz="850" b="1">
                <a:solidFill>
                  <a:srgbClr val="976E42"/>
                </a:solidFill>
                <a:latin typeface="Microsoft JhengHei"/>
                <a:ea typeface="Microsoft JhengHei"/>
                <a:cs typeface="Microsoft JhengHei"/>
              </a:rPr>
              <a:t>感謝各位聆聽 ｜ 歡迎教授與同仁提問交流</a:t>
            </a:r>
          </a:p>
        </p:txBody>
      </p:sp>
      <p:sp>
        <p:nvSpPr>
          <p:cNvPr id="39" name="Rectangle 38"/>
          <p:cNvSpPr/>
          <p:nvPr/>
        </p:nvSpPr>
        <p:spPr>
          <a:xfrm>
            <a:off x="482600" y="6184900"/>
            <a:ext cx="11226800" cy="12700"/>
          </a:xfrm>
          <a:prstGeom prst="rect">
            <a:avLst/>
          </a:prstGeom>
          <a:solidFill>
            <a:srgbClr val="EFECE6"/>
          </a:solidFill>
          <a:ln>
            <a:noFill/>
          </a:ln>
          <a:effectLst/>
        </p:spPr>
        <p:txBody>
          <a:bodyPr rtlCol="0" anchor="ctr"/>
          <a:lstStyle/>
          <a:p>
            <a:endParaRPr/>
          </a:p>
        </p:txBody>
      </p:sp>
      <p:sp>
        <p:nvSpPr>
          <p:cNvPr id="40" name="TextBox 39"/>
          <p:cNvSpPr txBox="1"/>
          <p:nvPr/>
        </p:nvSpPr>
        <p:spPr>
          <a:xfrm>
            <a:off x="482600" y="6235700"/>
            <a:ext cx="7146766" cy="266700"/>
          </a:xfrm>
          <a:prstGeom prst="rect">
            <a:avLst/>
          </a:prstGeom>
          <a:noFill/>
        </p:spPr>
        <p:txBody>
          <a:bodyPr wrap="none" lIns="0" tIns="0" rIns="0" bIns="0" anchor="t">
            <a:noAutofit/>
          </a:bodyPr>
          <a:lstStyle/>
          <a:p>
            <a:pPr algn="l">
              <a:lnSpc>
                <a:spcPts val="1050"/>
              </a:lnSpc>
            </a:pPr>
            <a:r>
              <a:rPr sz="750" b="0">
                <a:solidFill>
                  <a:srgbClr val="78716C"/>
                </a:solidFill>
                <a:latin typeface="Microsoft JhengHei"/>
                <a:ea typeface="Microsoft JhengHei"/>
                <a:cs typeface="Microsoft JhengHei"/>
              </a:rPr>
              <a:t>1. 2026 ACC/AHA Guideline on the Management of Blood Cholesterol. Circulation. 2026;153(4):e112-e198.</a:t>
            </a:r>
          </a:p>
          <a:p>
            <a:pPr algn="l">
              <a:lnSpc>
                <a:spcPts val="1050"/>
              </a:lnSpc>
            </a:pPr>
            <a:r>
              <a:rPr sz="750" b="0">
                <a:solidFill>
                  <a:srgbClr val="78716C"/>
                </a:solidFill>
                <a:latin typeface="Microsoft JhengHei"/>
                <a:ea typeface="Microsoft JhengHei"/>
                <a:cs typeface="Microsoft JhengHei"/>
              </a:rPr>
              <a:t>2. Mach F, et al. 2019 ESC/EAS Guidelines for the Management of Dyslipidaemias. Eur Heart J. 2020;41(1):111-188. PMID: 31504422.</a:t>
            </a:r>
          </a:p>
        </p:txBody>
      </p:sp>
      <p:sp>
        <p:nvSpPr>
          <p:cNvPr id="41" name="Rounded Rectangle 40"/>
          <p:cNvSpPr/>
          <p:nvPr/>
        </p:nvSpPr>
        <p:spPr>
          <a:xfrm>
            <a:off x="8915400" y="254000"/>
            <a:ext cx="555308"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42" name="TextBox 41"/>
          <p:cNvSpPr txBox="1"/>
          <p:nvPr/>
        </p:nvSpPr>
        <p:spPr>
          <a:xfrm>
            <a:off x="9017000" y="304800"/>
            <a:ext cx="441008"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1. Case</a:t>
            </a:r>
          </a:p>
        </p:txBody>
      </p:sp>
      <p:sp>
        <p:nvSpPr>
          <p:cNvPr id="43" name="Rounded Rectangle 42"/>
          <p:cNvSpPr/>
          <p:nvPr/>
        </p:nvSpPr>
        <p:spPr>
          <a:xfrm>
            <a:off x="9521508" y="254000"/>
            <a:ext cx="684022"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44" name="TextBox 43"/>
          <p:cNvSpPr txBox="1"/>
          <p:nvPr/>
        </p:nvSpPr>
        <p:spPr>
          <a:xfrm>
            <a:off x="9623108" y="304800"/>
            <a:ext cx="601028"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2. Targets</a:t>
            </a:r>
          </a:p>
        </p:txBody>
      </p:sp>
      <p:sp>
        <p:nvSpPr>
          <p:cNvPr id="45" name="Rounded Rectangle 44"/>
          <p:cNvSpPr/>
          <p:nvPr/>
        </p:nvSpPr>
        <p:spPr>
          <a:xfrm>
            <a:off x="10256330" y="254000"/>
            <a:ext cx="729932" cy="254000"/>
          </a:xfrm>
          <a:prstGeom prst="roundRect">
            <a:avLst>
              <a:gd name="adj" fmla="val 50000"/>
            </a:avLst>
          </a:prstGeom>
          <a:solidFill>
            <a:srgbClr val="FFFFFF"/>
          </a:solidFill>
          <a:ln w="12700">
            <a:solidFill>
              <a:srgbClr val="E2DDD5"/>
            </a:solidFill>
          </a:ln>
          <a:effectLst/>
        </p:spPr>
        <p:txBody>
          <a:bodyPr rtlCol="0" anchor="ctr"/>
          <a:lstStyle/>
          <a:p>
            <a:endParaRPr/>
          </a:p>
        </p:txBody>
      </p:sp>
      <p:sp>
        <p:nvSpPr>
          <p:cNvPr id="46" name="TextBox 45"/>
          <p:cNvSpPr txBox="1"/>
          <p:nvPr/>
        </p:nvSpPr>
        <p:spPr>
          <a:xfrm>
            <a:off x="10357930" y="304800"/>
            <a:ext cx="658416" cy="152400"/>
          </a:xfrm>
          <a:prstGeom prst="rect">
            <a:avLst/>
          </a:prstGeom>
          <a:noFill/>
        </p:spPr>
        <p:txBody>
          <a:bodyPr wrap="none" lIns="0" tIns="0" rIns="0" bIns="0" anchor="t">
            <a:noAutofit/>
          </a:bodyPr>
          <a:lstStyle/>
          <a:p>
            <a:pPr algn="l">
              <a:lnSpc>
                <a:spcPts val="1120"/>
              </a:lnSpc>
            </a:pPr>
            <a:r>
              <a:rPr sz="800" b="1">
                <a:solidFill>
                  <a:srgbClr val="78716C"/>
                </a:solidFill>
                <a:latin typeface="Microsoft JhengHei"/>
                <a:ea typeface="Microsoft JhengHei"/>
                <a:cs typeface="Microsoft JhengHei"/>
              </a:rPr>
              <a:t>3. Therapy</a:t>
            </a:r>
          </a:p>
        </p:txBody>
      </p:sp>
      <p:sp>
        <p:nvSpPr>
          <p:cNvPr id="47" name="Rounded Rectangle 46"/>
          <p:cNvSpPr/>
          <p:nvPr/>
        </p:nvSpPr>
        <p:spPr>
          <a:xfrm>
            <a:off x="11037126" y="254000"/>
            <a:ext cx="757618" cy="254000"/>
          </a:xfrm>
          <a:prstGeom prst="roundRect">
            <a:avLst>
              <a:gd name="adj" fmla="val 50000"/>
            </a:avLst>
          </a:prstGeom>
          <a:solidFill>
            <a:srgbClr val="1E2833"/>
          </a:solidFill>
          <a:ln w="12700">
            <a:solidFill>
              <a:srgbClr val="1E2833"/>
            </a:solidFill>
          </a:ln>
          <a:effectLst/>
        </p:spPr>
        <p:txBody>
          <a:bodyPr rtlCol="0" anchor="ctr"/>
          <a:lstStyle/>
          <a:p>
            <a:endParaRPr/>
          </a:p>
        </p:txBody>
      </p:sp>
      <p:sp>
        <p:nvSpPr>
          <p:cNvPr id="48" name="TextBox 47"/>
          <p:cNvSpPr txBox="1"/>
          <p:nvPr/>
        </p:nvSpPr>
        <p:spPr>
          <a:xfrm>
            <a:off x="11138726" y="304800"/>
            <a:ext cx="693023" cy="152400"/>
          </a:xfrm>
          <a:prstGeom prst="rect">
            <a:avLst/>
          </a:prstGeom>
          <a:noFill/>
        </p:spPr>
        <p:txBody>
          <a:bodyPr wrap="none" lIns="0" tIns="0" rIns="0" bIns="0" anchor="t">
            <a:noAutofit/>
          </a:bodyPr>
          <a:lstStyle/>
          <a:p>
            <a:pPr algn="l">
              <a:lnSpc>
                <a:spcPts val="1120"/>
              </a:lnSpc>
            </a:pPr>
            <a:r>
              <a:rPr sz="800" b="1">
                <a:solidFill>
                  <a:srgbClr val="FFFFFF"/>
                </a:solidFill>
                <a:latin typeface="Microsoft JhengHei"/>
                <a:ea typeface="Microsoft JhengHei"/>
                <a:cs typeface="Microsoft JhengHei"/>
              </a:rPr>
              <a:t>4. Timeline</a:t>
            </a:r>
          </a:p>
        </p:txBody>
      </p:sp>
      <p:sp>
        <p:nvSpPr>
          <p:cNvPr id="49" name="Rectangle 48"/>
          <p:cNvSpPr/>
          <p:nvPr/>
        </p:nvSpPr>
        <p:spPr>
          <a:xfrm>
            <a:off x="0" y="6527800"/>
            <a:ext cx="12192000" cy="330200"/>
          </a:xfrm>
          <a:prstGeom prst="rect">
            <a:avLst/>
          </a:prstGeom>
          <a:solidFill>
            <a:srgbClr val="FFFFFF"/>
          </a:solidFill>
          <a:ln>
            <a:noFill/>
          </a:ln>
          <a:effectLst/>
        </p:spPr>
        <p:txBody>
          <a:bodyPr rtlCol="0" anchor="ctr"/>
          <a:lstStyle/>
          <a:p>
            <a:endParaRPr/>
          </a:p>
        </p:txBody>
      </p:sp>
      <p:sp>
        <p:nvSpPr>
          <p:cNvPr id="50" name="Rectangle 49"/>
          <p:cNvSpPr/>
          <p:nvPr/>
        </p:nvSpPr>
        <p:spPr>
          <a:xfrm>
            <a:off x="0" y="6527800"/>
            <a:ext cx="12192000" cy="12700"/>
          </a:xfrm>
          <a:prstGeom prst="rect">
            <a:avLst/>
          </a:prstGeom>
          <a:solidFill>
            <a:srgbClr val="EFECE6"/>
          </a:solidFill>
          <a:ln>
            <a:noFill/>
          </a:ln>
          <a:effectLst/>
        </p:spPr>
        <p:txBody>
          <a:bodyPr rtlCol="0" anchor="ctr"/>
          <a:lstStyle/>
          <a:p>
            <a:endParaRPr/>
          </a:p>
        </p:txBody>
      </p:sp>
      <p:sp>
        <p:nvSpPr>
          <p:cNvPr id="51" name="TextBox 50"/>
          <p:cNvSpPr txBox="1"/>
          <p:nvPr/>
        </p:nvSpPr>
        <p:spPr>
          <a:xfrm>
            <a:off x="482600" y="6613525"/>
            <a:ext cx="850344" cy="171450"/>
          </a:xfrm>
          <a:prstGeom prst="rect">
            <a:avLst/>
          </a:prstGeom>
          <a:noFill/>
        </p:spPr>
        <p:txBody>
          <a:bodyPr wrap="none" lIns="0" tIns="0" rIns="0" bIns="0" anchor="t">
            <a:noAutofit/>
          </a:bodyPr>
          <a:lstStyle/>
          <a:p>
            <a:pPr algn="l">
              <a:lnSpc>
                <a:spcPts val="1330"/>
              </a:lnSpc>
            </a:pPr>
            <a:r>
              <a:rPr sz="950" b="1">
                <a:solidFill>
                  <a:srgbClr val="1E2833"/>
                </a:solidFill>
                <a:latin typeface="Microsoft JhengHei"/>
                <a:ea typeface="Microsoft JhengHei"/>
                <a:cs typeface="Microsoft JhengHei"/>
              </a:rPr>
              <a:t>4. Timeline</a:t>
            </a:r>
          </a:p>
        </p:txBody>
      </p:sp>
      <p:sp>
        <p:nvSpPr>
          <p:cNvPr id="52" name="Rounded Rectangle 51"/>
          <p:cNvSpPr/>
          <p:nvPr/>
        </p:nvSpPr>
        <p:spPr>
          <a:xfrm>
            <a:off x="1302576" y="6680200"/>
            <a:ext cx="9871456" cy="38100"/>
          </a:xfrm>
          <a:prstGeom prst="roundRect">
            <a:avLst>
              <a:gd name="adj" fmla="val 50000"/>
            </a:avLst>
          </a:prstGeom>
          <a:solidFill>
            <a:srgbClr val="EFECE6"/>
          </a:solidFill>
          <a:ln>
            <a:noFill/>
          </a:ln>
          <a:effectLst/>
        </p:spPr>
        <p:txBody>
          <a:bodyPr rtlCol="0" anchor="ctr"/>
          <a:lstStyle/>
          <a:p>
            <a:endParaRPr/>
          </a:p>
        </p:txBody>
      </p:sp>
      <p:sp>
        <p:nvSpPr>
          <p:cNvPr id="53" name="Rectangle 52"/>
          <p:cNvSpPr/>
          <p:nvPr/>
        </p:nvSpPr>
        <p:spPr>
          <a:xfrm>
            <a:off x="1302576" y="6680200"/>
            <a:ext cx="9871456" cy="38100"/>
          </a:xfrm>
          <a:prstGeom prst="rect">
            <a:avLst/>
          </a:prstGeom>
          <a:solidFill>
            <a:srgbClr val="F3C84B"/>
          </a:solidFill>
          <a:ln>
            <a:noFill/>
          </a:ln>
          <a:effectLst/>
        </p:spPr>
        <p:txBody>
          <a:bodyPr rtlCol="0" anchor="ctr"/>
          <a:lstStyle/>
          <a:p>
            <a:endParaRPr/>
          </a:p>
        </p:txBody>
      </p:sp>
      <p:sp>
        <p:nvSpPr>
          <p:cNvPr id="54" name="TextBox 53"/>
          <p:cNvSpPr txBox="1"/>
          <p:nvPr/>
        </p:nvSpPr>
        <p:spPr>
          <a:xfrm>
            <a:off x="11313732" y="6613525"/>
            <a:ext cx="494586" cy="171450"/>
          </a:xfrm>
          <a:prstGeom prst="rect">
            <a:avLst/>
          </a:prstGeom>
          <a:noFill/>
        </p:spPr>
        <p:txBody>
          <a:bodyPr wrap="none" lIns="0" tIns="0" rIns="0" bIns="0" anchor="t">
            <a:noAutofit/>
          </a:bodyPr>
          <a:lstStyle/>
          <a:p>
            <a:pPr algn="l">
              <a:lnSpc>
                <a:spcPts val="1330"/>
              </a:lnSpc>
            </a:pPr>
            <a:r>
              <a:rPr sz="950" b="1">
                <a:solidFill>
                  <a:srgbClr val="44403C"/>
                </a:solidFill>
                <a:latin typeface="Microsoft JhengHei"/>
                <a:ea typeface="Microsoft JhengHei"/>
                <a:cs typeface="Microsoft JhengHei"/>
              </a:rPr>
              <a:t>10 / 10</a:t>
            </a:r>
          </a:p>
        </p:txBody>
      </p:sp>
      <p:sp>
        <p:nvSpPr>
          <p:cNvPr id="55" name="LINK_Rectangle 54">
            <a:hlinkClick r:id="rId4" action="ppaction://hlinksldjump"/>
          </p:cNvPr>
          <p:cNvSpPr/>
          <p:nvPr/>
        </p:nvSpPr>
        <p:spPr>
          <a:xfrm>
            <a:off x="8915400" y="254000"/>
            <a:ext cx="555327" cy="254000"/>
          </a:xfrm>
          <a:prstGeom prst="rect">
            <a:avLst/>
          </a:prstGeom>
          <a:solidFill>
            <a:srgbClr val="FFFFFF">
              <a:alpha val="0"/>
            </a:srgbClr>
          </a:solidFill>
          <a:ln>
            <a:noFill/>
          </a:ln>
          <a:effectLst/>
        </p:spPr>
        <p:txBody>
          <a:bodyPr rtlCol="0" anchor="ctr"/>
          <a:lstStyle/>
          <a:p>
            <a:pPr algn="ctr"/>
            <a:endParaRPr/>
          </a:p>
        </p:txBody>
      </p:sp>
      <p:sp>
        <p:nvSpPr>
          <p:cNvPr id="56" name="LINK_Rectangle 55">
            <a:hlinkClick r:id="rId5" action="ppaction://hlinksldjump"/>
          </p:cNvPr>
          <p:cNvSpPr/>
          <p:nvPr/>
        </p:nvSpPr>
        <p:spPr>
          <a:xfrm>
            <a:off x="9521527" y="254000"/>
            <a:ext cx="684014" cy="254000"/>
          </a:xfrm>
          <a:prstGeom prst="rect">
            <a:avLst/>
          </a:prstGeom>
          <a:solidFill>
            <a:srgbClr val="FFFFFF">
              <a:alpha val="0"/>
            </a:srgbClr>
          </a:solidFill>
          <a:ln>
            <a:noFill/>
          </a:ln>
          <a:effectLst/>
        </p:spPr>
        <p:txBody>
          <a:bodyPr rtlCol="0" anchor="ctr"/>
          <a:lstStyle/>
          <a:p>
            <a:pPr algn="ctr"/>
            <a:endParaRPr/>
          </a:p>
        </p:txBody>
      </p:sp>
      <p:sp>
        <p:nvSpPr>
          <p:cNvPr id="57" name="LINK_Rectangle 56">
            <a:hlinkClick r:id="rId6" action="ppaction://hlinksldjump"/>
          </p:cNvPr>
          <p:cNvSpPr/>
          <p:nvPr/>
        </p:nvSpPr>
        <p:spPr>
          <a:xfrm>
            <a:off x="10256341" y="254000"/>
            <a:ext cx="729952" cy="254000"/>
          </a:xfrm>
          <a:prstGeom prst="rect">
            <a:avLst/>
          </a:prstGeom>
          <a:solidFill>
            <a:srgbClr val="FFFFFF">
              <a:alpha val="0"/>
            </a:srgbClr>
          </a:solidFill>
          <a:ln>
            <a:noFill/>
          </a:ln>
          <a:effectLst/>
        </p:spPr>
        <p:txBody>
          <a:bodyPr rtlCol="0" anchor="ctr"/>
          <a:lstStyle/>
          <a:p>
            <a:pPr algn="ctr"/>
            <a:endParaRPr/>
          </a:p>
        </p:txBody>
      </p:sp>
      <p:sp>
        <p:nvSpPr>
          <p:cNvPr id="58" name="LINK_Rectangle 57">
            <a:hlinkClick r:id="rId7" action="ppaction://hlinksldjump"/>
          </p:cNvPr>
          <p:cNvSpPr/>
          <p:nvPr/>
        </p:nvSpPr>
        <p:spPr>
          <a:xfrm>
            <a:off x="11037094" y="254000"/>
            <a:ext cx="757634" cy="254000"/>
          </a:xfrm>
          <a:prstGeom prst="rect">
            <a:avLst/>
          </a:prstGeom>
          <a:solidFill>
            <a:srgbClr val="FFFFFF">
              <a:alpha val="0"/>
            </a:srgbClr>
          </a:solidFill>
          <a:ln>
            <a:noFill/>
          </a:ln>
          <a:effectLst/>
        </p:spPr>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3709</Words>
  <Application>Microsoft Office PowerPoint</Application>
  <PresentationFormat>寬螢幕</PresentationFormat>
  <Paragraphs>422</Paragraphs>
  <Slides>10</Slides>
  <Notes>10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10</vt:i4>
      </vt:variant>
    </vt:vector>
  </HeadingPairs>
  <TitlesOfParts>
    <vt:vector size="14" baseType="lpstr">
      <vt:lpstr>Microsoft JhengHei</vt:lpstr>
      <vt:lpstr>Arial</vt:lpstr>
      <vt:lpstr>Calibri</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Pei-Hao Chen</cp:lastModifiedBy>
  <cp:revision>2</cp:revision>
  <dcterms:created xsi:type="dcterms:W3CDTF">2013-01-27T09:14:16Z</dcterms:created>
  <dcterms:modified xsi:type="dcterms:W3CDTF">2026-10-29T14:17:46Z</dcterms:modified>
  <cp:category/>
</cp:coreProperties>
</file>